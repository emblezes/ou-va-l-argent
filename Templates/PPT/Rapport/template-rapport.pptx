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Dette (% PIB)</c:v>
                </c:pt>
              </c:strCache>
            </c:strRef>
          </c:tx>
          <c:spPr>
            <a:solidFill>
              <a:srgbClr val="00D4FF"/>
            </a:solidFill>
            <a:ln w="38100" cap="flat">
              <a:solidFill>
                <a:srgbClr val="00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D4FF"/>
              </a:solidFill>
              <a:ln w="9525" cap="flat">
                <a:solidFill>
                  <a:srgbClr val="00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2000</c:v>
                  </c:pt>
                  <c:pt idx="1">
                    <c:v>2005</c:v>
                  </c:pt>
                  <c:pt idx="2">
                    <c:v>2007</c:v>
                  </c:pt>
                  <c:pt idx="3">
                    <c:v>2010</c:v>
                  </c:pt>
                  <c:pt idx="4">
                    <c:v>2015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2023</c:v>
                  </c:pt>
                  <c:pt idx="8">
                    <c:v>2025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58.9</c:v>
                </c:pt>
                <c:pt idx="1">
                  <c:v>67.4</c:v>
                </c:pt>
                <c:pt idx="2">
                  <c:v>64.5</c:v>
                </c:pt>
                <c:pt idx="3">
                  <c:v>83</c:v>
                </c:pt>
                <c:pt idx="4">
                  <c:v>95.6</c:v>
                </c:pt>
                <c:pt idx="5">
                  <c:v>97.6</c:v>
                </c:pt>
                <c:pt idx="6">
                  <c:v>115</c:v>
                </c:pt>
                <c:pt idx="7">
                  <c:v>110.6</c:v>
                </c:pt>
                <c:pt idx="8">
                  <c:v>117.4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1a2430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9A8"/>
                </a:solidFill>
                <a:latin typeface="Syn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a243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9A8"/>
                </a:solidFill>
                <a:latin typeface="JetBrains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6080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8899A8"/>
              </a:solidFill>
              <a:latin typeface="Syne"/>
              <a:cs typeface="Syne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</p:sp>
      <p:pic>
        <p:nvPicPr>
          <p:cNvPr id="3" name="Image 0" descr="/Users/emmanuelblezes/Documents/08_Où va l'argent /Templates/PPT/workspace/glow-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457200"/>
            <a:ext cx="594360" cy="594360"/>
          </a:xfrm>
          <a:prstGeom prst="roundRect">
            <a:avLst>
              <a:gd name="adj" fmla="val 15385"/>
            </a:avLst>
          </a:prstGeom>
          <a:solidFill>
            <a:srgbClr val="00D4FF"/>
          </a:solidFill>
          <a:ln/>
          <a:effectLst>
            <a:outerShdw sx="100000" sy="100000" kx="0" ky="0" algn="bl" rotWithShape="0" blurRad="101600" dist="50800" dir="16200000">
              <a:srgbClr val="00d4ff">
                <a:alpha val="4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48640" y="457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1280160" y="5029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3749040" y="521208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749040" y="52120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ÉTUDES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48640" y="164592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 dette publique française :</a:t>
            </a:r>
            <a:endParaRPr lang="en-US" sz="3400" dirty="0"/>
          </a:p>
          <a:p>
            <a:pPr indent="0" marL="0">
              <a:buNone/>
            </a:pPr>
            <a:r>
              <a:rPr lang="en-US" sz="34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Analyse, trajectoire et perspectives</a:t>
            </a:r>
            <a:endParaRPr lang="en-US" sz="3400" dirty="0"/>
          </a:p>
        </p:txBody>
      </p:sp>
      <p:sp>
        <p:nvSpPr>
          <p:cNvPr id="24" name="Shape 21"/>
          <p:cNvSpPr/>
          <p:nvPr/>
        </p:nvSpPr>
        <p:spPr>
          <a:xfrm>
            <a:off x="548640" y="3108960"/>
            <a:ext cx="1371600" cy="45720"/>
          </a:xfrm>
          <a:prstGeom prst="rect">
            <a:avLst/>
          </a:prstGeom>
          <a:solidFill>
            <a:srgbClr val="00D4FF"/>
          </a:solidFill>
          <a:ln/>
          <a:effectLst>
            <a:outerShdw sx="100000" sy="100000" kx="0" ky="0" algn="bl" rotWithShape="0" blurRad="76200" dist="50800" dir="16200000">
              <a:srgbClr val="00d4ff">
                <a:alpha val="5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548640" y="32918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Étude approfondie des finances publiques 2020-2026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Février 2026 — Où Va l'Argent — Études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858000" y="457200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</p:sp>
      <p:pic>
        <p:nvPicPr>
          <p:cNvPr id="3" name="Image 0" descr="/Users/emmanuelblezes/Documents/08_Où va l'argent /Templates/PPT/workspace/glow-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SOMMAIRE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Sommaire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457200" y="1417320"/>
            <a:ext cx="8229600" cy="3017520"/>
          </a:xfrm>
          <a:prstGeom prst="roundRect">
            <a:avLst>
              <a:gd name="adj" fmla="val 3636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40080" y="15544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280160" y="15544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Résumé exécutif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1280160" y="1874520"/>
            <a:ext cx="6675120" cy="0"/>
          </a:xfrm>
          <a:prstGeom prst="line">
            <a:avLst/>
          </a:prstGeom>
          <a:noFill/>
          <a:ln w="6350">
            <a:solidFill>
              <a:srgbClr val="1A2430"/>
            </a:solidFill>
            <a:prstDash val="dot"/>
          </a:ln>
        </p:spPr>
      </p:sp>
      <p:sp>
        <p:nvSpPr>
          <p:cNvPr id="30" name="Text 27"/>
          <p:cNvSpPr/>
          <p:nvPr/>
        </p:nvSpPr>
        <p:spPr>
          <a:xfrm>
            <a:off x="7772400" y="155448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A5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40080" y="193852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1280160" y="193852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Contexte macroéconomique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1280160" y="2258568"/>
            <a:ext cx="6675120" cy="0"/>
          </a:xfrm>
          <a:prstGeom prst="line">
            <a:avLst/>
          </a:prstGeom>
          <a:noFill/>
          <a:ln w="6350">
            <a:solidFill>
              <a:srgbClr val="1A2430"/>
            </a:solidFill>
            <a:prstDash val="dot"/>
          </a:ln>
        </p:spPr>
      </p:sp>
      <p:sp>
        <p:nvSpPr>
          <p:cNvPr id="34" name="Text 31"/>
          <p:cNvSpPr/>
          <p:nvPr/>
        </p:nvSpPr>
        <p:spPr>
          <a:xfrm>
            <a:off x="7772400" y="1938528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A5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640080" y="2322576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1280160" y="2322576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Analyse de la dette publique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1280160" y="2642616"/>
            <a:ext cx="6675120" cy="0"/>
          </a:xfrm>
          <a:prstGeom prst="line">
            <a:avLst/>
          </a:prstGeom>
          <a:noFill/>
          <a:ln w="6350">
            <a:solidFill>
              <a:srgbClr val="1A2430"/>
            </a:solidFill>
            <a:prstDash val="dot"/>
          </a:ln>
        </p:spPr>
      </p:sp>
      <p:sp>
        <p:nvSpPr>
          <p:cNvPr id="38" name="Text 35"/>
          <p:cNvSpPr/>
          <p:nvPr/>
        </p:nvSpPr>
        <p:spPr>
          <a:xfrm>
            <a:off x="7772400" y="2322576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A5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640080" y="2706624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1280160" y="2706624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Comparaisons internationales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280160" y="3026664"/>
            <a:ext cx="6675120" cy="0"/>
          </a:xfrm>
          <a:prstGeom prst="line">
            <a:avLst/>
          </a:prstGeom>
          <a:noFill/>
          <a:ln w="6350">
            <a:solidFill>
              <a:srgbClr val="1A2430"/>
            </a:solidFill>
            <a:prstDash val="dot"/>
          </a:ln>
        </p:spPr>
      </p:sp>
      <p:sp>
        <p:nvSpPr>
          <p:cNvPr id="42" name="Text 39"/>
          <p:cNvSpPr/>
          <p:nvPr/>
        </p:nvSpPr>
        <p:spPr>
          <a:xfrm>
            <a:off x="7772400" y="270662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A5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640080" y="3090672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1280160" y="3090672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Scénarios et projections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1280160" y="3410712"/>
            <a:ext cx="6675120" cy="0"/>
          </a:xfrm>
          <a:prstGeom prst="line">
            <a:avLst/>
          </a:prstGeom>
          <a:noFill/>
          <a:ln w="6350">
            <a:solidFill>
              <a:srgbClr val="1A2430"/>
            </a:solidFill>
            <a:prstDash val="dot"/>
          </a:ln>
        </p:spPr>
      </p:sp>
      <p:sp>
        <p:nvSpPr>
          <p:cNvPr id="46" name="Text 43"/>
          <p:cNvSpPr/>
          <p:nvPr/>
        </p:nvSpPr>
        <p:spPr>
          <a:xfrm>
            <a:off x="7772400" y="309067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A5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1200" dirty="0"/>
          </a:p>
        </p:txBody>
      </p:sp>
      <p:sp>
        <p:nvSpPr>
          <p:cNvPr id="47" name="Text 44"/>
          <p:cNvSpPr/>
          <p:nvPr/>
        </p:nvSpPr>
        <p:spPr>
          <a:xfrm>
            <a:off x="640080" y="3474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400" dirty="0"/>
          </a:p>
        </p:txBody>
      </p:sp>
      <p:sp>
        <p:nvSpPr>
          <p:cNvPr id="48" name="Text 45"/>
          <p:cNvSpPr/>
          <p:nvPr/>
        </p:nvSpPr>
        <p:spPr>
          <a:xfrm>
            <a:off x="1280160" y="347472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Recommandations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1280160" y="3794760"/>
            <a:ext cx="6675120" cy="0"/>
          </a:xfrm>
          <a:prstGeom prst="line">
            <a:avLst/>
          </a:prstGeom>
          <a:noFill/>
          <a:ln w="6350">
            <a:solidFill>
              <a:srgbClr val="1A2430"/>
            </a:solidFill>
            <a:prstDash val="dot"/>
          </a:ln>
        </p:spPr>
      </p:sp>
      <p:sp>
        <p:nvSpPr>
          <p:cNvPr id="50" name="Text 47"/>
          <p:cNvSpPr/>
          <p:nvPr/>
        </p:nvSpPr>
        <p:spPr>
          <a:xfrm>
            <a:off x="7772400" y="34747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A5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640080" y="385876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1400" dirty="0"/>
          </a:p>
        </p:txBody>
      </p:sp>
      <p:sp>
        <p:nvSpPr>
          <p:cNvPr id="52" name="Text 49"/>
          <p:cNvSpPr/>
          <p:nvPr/>
        </p:nvSpPr>
        <p:spPr>
          <a:xfrm>
            <a:off x="1280160" y="385876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Sources &amp; Méthodologie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1280160" y="4178808"/>
            <a:ext cx="6675120" cy="0"/>
          </a:xfrm>
          <a:prstGeom prst="line">
            <a:avLst/>
          </a:prstGeom>
          <a:noFill/>
          <a:ln w="6350">
            <a:solidFill>
              <a:srgbClr val="1A2430"/>
            </a:solidFill>
            <a:prstDash val="dot"/>
          </a:ln>
        </p:spPr>
      </p:sp>
      <p:sp>
        <p:nvSpPr>
          <p:cNvPr id="54" name="Text 51"/>
          <p:cNvSpPr/>
          <p:nvPr/>
        </p:nvSpPr>
        <p:spPr>
          <a:xfrm>
            <a:off x="7772400" y="3858768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A5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</p:sp>
      <p:pic>
        <p:nvPicPr>
          <p:cNvPr id="3" name="Image 0" descr="/Users/emmanuelblezes/Documents/08_Où va l'argent /Templates/PPT/workspace/glow-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RÉSUMÉ EXÉCUTIF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pPr indent="0" marL="0">
              <a:buNone/>
            </a:pP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INSEE, Banque de France, Eurostat, Cour des comptes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1148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 dette publique atteint 117,4% du PIB, un niveau sans précédent qui menace la soutenabilité budgétaire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457200" y="1463040"/>
            <a:ext cx="8229600" cy="621792"/>
          </a:xfrm>
          <a:prstGeom prst="roundRect">
            <a:avLst>
              <a:gd name="adj" fmla="val 17647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7200" y="1463040"/>
            <a:ext cx="54864" cy="621792"/>
          </a:xfrm>
          <a:prstGeom prst="rect">
            <a:avLst/>
          </a:prstGeom>
          <a:solidFill>
            <a:srgbClr val="00D4FF"/>
          </a:solidFill>
          <a:ln/>
          <a:effectLst>
            <a:outerShdw sx="100000" sy="100000" kx="0" ky="0" algn="bl" rotWithShape="0" blurRad="50800" dist="50800" dir="16200000">
              <a:srgbClr val="00d4ff">
                <a:alpha val="4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685800" y="15087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La dette publique a franchi 3 480 Md€ fin 2025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85800" y="181051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Soit 117,4% du PIB, en hausse de 15 points depuis le Covid. La France est désormais le 3e pays le plus endetté de la zone euro.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57200" y="2176272"/>
            <a:ext cx="8229600" cy="621792"/>
          </a:xfrm>
          <a:prstGeom prst="roundRect">
            <a:avLst>
              <a:gd name="adj" fmla="val 17647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57200" y="2176272"/>
            <a:ext cx="54864" cy="621792"/>
          </a:xfrm>
          <a:prstGeom prst="rect">
            <a:avLst/>
          </a:prstGeom>
          <a:solidFill>
            <a:srgbClr val="FFD700"/>
          </a:solidFill>
          <a:ln/>
          <a:effectLst>
            <a:outerShdw sx="100000" sy="100000" kx="0" ky="0" algn="bl" rotWithShape="0" blurRad="50800" dist="50800" dir="16200000">
              <a:srgbClr val="ffd700">
                <a:alpha val="40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685800" y="222199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La charge d'intérêts dépasse 70 Md€ en 2026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685800" y="2523744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Premier poste budgétaire devant l'Éducation nationale. Chaque hausse de 1% des taux coûte 40 Md€ supplémentaires.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57200" y="2889504"/>
            <a:ext cx="8229600" cy="621792"/>
          </a:xfrm>
          <a:prstGeom prst="roundRect">
            <a:avLst>
              <a:gd name="adj" fmla="val 17647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57200" y="2889504"/>
            <a:ext cx="54864" cy="621792"/>
          </a:xfrm>
          <a:prstGeom prst="rect">
            <a:avLst/>
          </a:prstGeom>
          <a:solidFill>
            <a:srgbClr val="00FF88"/>
          </a:solidFill>
          <a:ln/>
          <a:effectLst>
            <a:outerShdw sx="100000" sy="100000" kx="0" ky="0" algn="bl" rotWithShape="0" blurRad="50800" dist="50800" dir="16200000">
              <a:srgbClr val="00ff88">
                <a:alpha val="40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685800" y="2935224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Le déficit structurel reste élevé à 4,5% du PIB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685800" y="3236976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Malgré les efforts affichés, le déficit corrigé du cycle reste bien au-dessus de la moyenne européenne (2,8%).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57200" y="3602736"/>
            <a:ext cx="8229600" cy="621792"/>
          </a:xfrm>
          <a:prstGeom prst="roundRect">
            <a:avLst>
              <a:gd name="adj" fmla="val 17647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57200" y="3602736"/>
            <a:ext cx="54864" cy="621792"/>
          </a:xfrm>
          <a:prstGeom prst="rect">
            <a:avLst/>
          </a:prstGeom>
          <a:solidFill>
            <a:srgbClr val="A855F7"/>
          </a:solidFill>
          <a:ln/>
          <a:effectLst>
            <a:outerShdw sx="100000" sy="100000" kx="0" ky="0" algn="bl" rotWithShape="0" blurRad="50800" dist="50800" dir="16200000">
              <a:srgbClr val="a855f7">
                <a:alpha val="40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685800" y="36484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La trajectoire actuelle n'est pas soutenable sans réformes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685800" y="3950208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Sans ajustement, la dette dépasserait 130% du PIB en 2030 selon nos projections. Le ratio dette/PIB ne se stabilise dans aucun scénario passif.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</p:sp>
      <p:pic>
        <p:nvPicPr>
          <p:cNvPr id="3" name="Image 0" descr="/Users/emmanuelblezes/Documents/08_Où va l'argent /Templates/PPT/workspace/glow-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9040" y="1280160"/>
            <a:ext cx="1645920" cy="1645920"/>
          </a:xfrm>
          <a:prstGeom prst="ellipse">
            <a:avLst/>
          </a:prstGeom>
          <a:solidFill>
            <a:srgbClr val="00D4FF"/>
          </a:solidFill>
          <a:ln/>
          <a:effectLst>
            <a:outerShdw sx="100000" sy="100000" kx="0" ky="0" algn="bl" rotWithShape="0" blurRad="152400" dist="50800" dir="16200000">
              <a:srgbClr val="00d4ff">
                <a:alpha val="5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3749040" y="128016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4800" dirty="0"/>
          </a:p>
        </p:txBody>
      </p:sp>
      <p:sp>
        <p:nvSpPr>
          <p:cNvPr id="20" name="Text 17"/>
          <p:cNvSpPr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Contexte macroéconomique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14400" y="3794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Croissance, inflation et emploi : l'environnement économique français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</p:sp>
      <p:pic>
        <p:nvPicPr>
          <p:cNvPr id="3" name="Image 0" descr="/Users/emmanuelblezes/Documents/08_Où va l'argent /Templates/PPT/workspace/glow-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CONTEXTE MACRO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pPr indent="0" marL="0">
              <a:buNone/>
            </a:pP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INSEE, BCE, Banque de France — Données au 10/02/2026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1148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L'économie française ralentit sur tous les indicateurs clés en 2025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457200" y="1463040"/>
            <a:ext cx="2560320" cy="1325880"/>
          </a:xfrm>
          <a:prstGeom prst="roundRect">
            <a:avLst>
              <a:gd name="adj" fmla="val 8276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457200" y="1463040"/>
            <a:ext cx="2560320" cy="36576"/>
          </a:xfrm>
          <a:prstGeom prst="rect">
            <a:avLst/>
          </a:prstGeom>
          <a:solidFill>
            <a:srgbClr val="00D4FF"/>
          </a:solidFill>
          <a:ln/>
          <a:effectLst>
            <a:outerShdw sx="100000" sy="100000" kx="0" ky="0" algn="bl" rotWithShape="0" blurRad="50800" dist="50800" dir="16200000">
              <a:srgbClr val="00d4ff">
                <a:alpha val="3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594360" y="157276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Croissance PIB 2025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94360" y="1783080"/>
            <a:ext cx="228600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00d4ff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+0,9%</a:t>
            </a:r>
            <a:endParaRPr lang="en-US" sz="2400" dirty="0"/>
          </a:p>
        </p:txBody>
      </p:sp>
      <p:sp>
        <p:nvSpPr>
          <p:cNvPr id="32" name="Text 29"/>
          <p:cNvSpPr/>
          <p:nvPr/>
        </p:nvSpPr>
        <p:spPr>
          <a:xfrm>
            <a:off x="594360" y="228600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354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▼ vs +1,1% en 2024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594360" y="251460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Plus faible croissance depuis 2020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3291840" y="1463040"/>
            <a:ext cx="2560320" cy="1325880"/>
          </a:xfrm>
          <a:prstGeom prst="roundRect">
            <a:avLst>
              <a:gd name="adj" fmla="val 8276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3291840" y="1463040"/>
            <a:ext cx="2560320" cy="36576"/>
          </a:xfrm>
          <a:prstGeom prst="rect">
            <a:avLst/>
          </a:prstGeom>
          <a:solidFill>
            <a:srgbClr val="00D4FF"/>
          </a:solidFill>
          <a:ln/>
          <a:effectLst>
            <a:outerShdw sx="100000" sy="100000" kx="0" ky="0" algn="bl" rotWithShape="0" blurRad="50800" dist="50800" dir="16200000">
              <a:srgbClr val="00d4ff">
                <a:alpha val="30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3429000" y="157276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Inflation (janv. 2026)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3429000" y="1783080"/>
            <a:ext cx="228600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00d4ff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0,3%</a:t>
            </a:r>
            <a:endParaRPr lang="en-US" sz="2400" dirty="0"/>
          </a:p>
        </p:txBody>
      </p:sp>
      <p:sp>
        <p:nvSpPr>
          <p:cNvPr id="38" name="Text 35"/>
          <p:cNvSpPr/>
          <p:nvPr/>
        </p:nvSpPr>
        <p:spPr>
          <a:xfrm>
            <a:off x="3429000" y="228600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8A74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▼ vs 4,9% en 2023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3429000" y="251460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Objectif BCE atteint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6126480" y="1463040"/>
            <a:ext cx="2560320" cy="1325880"/>
          </a:xfrm>
          <a:prstGeom prst="roundRect">
            <a:avLst>
              <a:gd name="adj" fmla="val 8276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6126480" y="1463040"/>
            <a:ext cx="2560320" cy="36576"/>
          </a:xfrm>
          <a:prstGeom prst="rect">
            <a:avLst/>
          </a:prstGeom>
          <a:solidFill>
            <a:srgbClr val="00D4FF"/>
          </a:solidFill>
          <a:ln/>
          <a:effectLst>
            <a:outerShdw sx="100000" sy="100000" kx="0" ky="0" algn="bl" rotWithShape="0" blurRad="50800" dist="50800" dir="16200000">
              <a:srgbClr val="00d4ff">
                <a:alpha val="30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6263640" y="157276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Taux de chômage Q4 2025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6263640" y="1783080"/>
            <a:ext cx="228600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00d4ff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7,9%</a:t>
            </a:r>
            <a:endParaRPr lang="en-US" sz="2400" dirty="0"/>
          </a:p>
        </p:txBody>
      </p:sp>
      <p:sp>
        <p:nvSpPr>
          <p:cNvPr id="44" name="Text 41"/>
          <p:cNvSpPr/>
          <p:nvPr/>
        </p:nvSpPr>
        <p:spPr>
          <a:xfrm>
            <a:off x="6263640" y="228600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354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▲ +0,6 pts sur un an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6263640" y="251460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Plus haut depuis 2021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457200" y="3017520"/>
            <a:ext cx="2560320" cy="1325880"/>
          </a:xfrm>
          <a:prstGeom prst="roundRect">
            <a:avLst>
              <a:gd name="adj" fmla="val 8276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47" name="Shape 44"/>
          <p:cNvSpPr/>
          <p:nvPr/>
        </p:nvSpPr>
        <p:spPr>
          <a:xfrm>
            <a:off x="457200" y="3017520"/>
            <a:ext cx="2560320" cy="36576"/>
          </a:xfrm>
          <a:prstGeom prst="rect">
            <a:avLst/>
          </a:prstGeom>
          <a:solidFill>
            <a:srgbClr val="00D4FF"/>
          </a:solidFill>
          <a:ln/>
          <a:effectLst>
            <a:outerShdw sx="100000" sy="100000" kx="0" ky="0" algn="bl" rotWithShape="0" blurRad="50800" dist="50800" dir="16200000">
              <a:srgbClr val="00d4ff">
                <a:alpha val="30000"/>
              </a:srgbClr>
            </a:outerShdw>
          </a:effectLst>
        </p:spPr>
      </p:sp>
      <p:sp>
        <p:nvSpPr>
          <p:cNvPr id="48" name="Text 45"/>
          <p:cNvSpPr/>
          <p:nvPr/>
        </p:nvSpPr>
        <p:spPr>
          <a:xfrm>
            <a:off x="594360" y="312724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Chômage jeunes (15-24 ans)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594360" y="3337560"/>
            <a:ext cx="228600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00d4ff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21,5%</a:t>
            </a:r>
            <a:endParaRPr lang="en-US" sz="2400" dirty="0"/>
          </a:p>
        </p:txBody>
      </p:sp>
      <p:sp>
        <p:nvSpPr>
          <p:cNvPr id="50" name="Text 47"/>
          <p:cNvSpPr/>
          <p:nvPr/>
        </p:nvSpPr>
        <p:spPr>
          <a:xfrm>
            <a:off x="594360" y="384048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354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▲ +2,8 pts sur un an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594360" y="406908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Situation critique</a:t>
            </a:r>
            <a:endParaRPr lang="en-US" sz="800" dirty="0"/>
          </a:p>
        </p:txBody>
      </p:sp>
      <p:sp>
        <p:nvSpPr>
          <p:cNvPr id="52" name="Shape 49"/>
          <p:cNvSpPr/>
          <p:nvPr/>
        </p:nvSpPr>
        <p:spPr>
          <a:xfrm>
            <a:off x="3291840" y="3017520"/>
            <a:ext cx="2560320" cy="1325880"/>
          </a:xfrm>
          <a:prstGeom prst="roundRect">
            <a:avLst>
              <a:gd name="adj" fmla="val 8276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53" name="Shape 50"/>
          <p:cNvSpPr/>
          <p:nvPr/>
        </p:nvSpPr>
        <p:spPr>
          <a:xfrm>
            <a:off x="3291840" y="3017520"/>
            <a:ext cx="2560320" cy="36576"/>
          </a:xfrm>
          <a:prstGeom prst="rect">
            <a:avLst/>
          </a:prstGeom>
          <a:solidFill>
            <a:srgbClr val="00D4FF"/>
          </a:solidFill>
          <a:ln/>
          <a:effectLst>
            <a:outerShdw sx="100000" sy="100000" kx="0" ky="0" algn="bl" rotWithShape="0" blurRad="50800" dist="50800" dir="16200000">
              <a:srgbClr val="00d4ff">
                <a:alpha val="30000"/>
              </a:srgbClr>
            </a:outerShdw>
          </a:effectLst>
        </p:spPr>
      </p:sp>
      <p:sp>
        <p:nvSpPr>
          <p:cNvPr id="54" name="Text 51"/>
          <p:cNvSpPr/>
          <p:nvPr/>
        </p:nvSpPr>
        <p:spPr>
          <a:xfrm>
            <a:off x="3429000" y="312724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Taux directeur BCE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3429000" y="3337560"/>
            <a:ext cx="228600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00d4ff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2,15%</a:t>
            </a:r>
            <a:endParaRPr lang="en-US" sz="2400" dirty="0"/>
          </a:p>
        </p:txBody>
      </p:sp>
      <p:sp>
        <p:nvSpPr>
          <p:cNvPr id="56" name="Text 53"/>
          <p:cNvSpPr/>
          <p:nvPr/>
        </p:nvSpPr>
        <p:spPr>
          <a:xfrm>
            <a:off x="3429000" y="384048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 Inchangé depuis juin 2025</a:t>
            </a:r>
            <a:endParaRPr lang="en-US" sz="900" dirty="0"/>
          </a:p>
        </p:txBody>
      </p:sp>
      <p:sp>
        <p:nvSpPr>
          <p:cNvPr id="57" name="Text 54"/>
          <p:cNvSpPr/>
          <p:nvPr/>
        </p:nvSpPr>
        <p:spPr>
          <a:xfrm>
            <a:off x="3429000" y="406908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Pause monétaire prolongée</a:t>
            </a:r>
            <a:endParaRPr lang="en-US" sz="800" dirty="0"/>
          </a:p>
        </p:txBody>
      </p:sp>
      <p:sp>
        <p:nvSpPr>
          <p:cNvPr id="58" name="Shape 55"/>
          <p:cNvSpPr/>
          <p:nvPr/>
        </p:nvSpPr>
        <p:spPr>
          <a:xfrm>
            <a:off x="6126480" y="3017520"/>
            <a:ext cx="2560320" cy="1325880"/>
          </a:xfrm>
          <a:prstGeom prst="roundRect">
            <a:avLst>
              <a:gd name="adj" fmla="val 8276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59" name="Shape 56"/>
          <p:cNvSpPr/>
          <p:nvPr/>
        </p:nvSpPr>
        <p:spPr>
          <a:xfrm>
            <a:off x="6126480" y="3017520"/>
            <a:ext cx="2560320" cy="36576"/>
          </a:xfrm>
          <a:prstGeom prst="rect">
            <a:avLst/>
          </a:prstGeom>
          <a:solidFill>
            <a:srgbClr val="00D4FF"/>
          </a:solidFill>
          <a:ln/>
          <a:effectLst>
            <a:outerShdw sx="100000" sy="100000" kx="0" ky="0" algn="bl" rotWithShape="0" blurRad="50800" dist="50800" dir="16200000">
              <a:srgbClr val="00d4ff">
                <a:alpha val="30000"/>
              </a:srgbClr>
            </a:outerShdw>
          </a:effectLst>
        </p:spPr>
      </p:sp>
      <p:sp>
        <p:nvSpPr>
          <p:cNvPr id="60" name="Text 57"/>
          <p:cNvSpPr/>
          <p:nvPr/>
        </p:nvSpPr>
        <p:spPr>
          <a:xfrm>
            <a:off x="6263640" y="312724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Déficit public 2025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6263640" y="3337560"/>
            <a:ext cx="228600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00d4ff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-5,4%</a:t>
            </a:r>
            <a:endParaRPr lang="en-US" sz="2400" dirty="0"/>
          </a:p>
        </p:txBody>
      </p:sp>
      <p:sp>
        <p:nvSpPr>
          <p:cNvPr id="62" name="Text 59"/>
          <p:cNvSpPr/>
          <p:nvPr/>
        </p:nvSpPr>
        <p:spPr>
          <a:xfrm>
            <a:off x="6263640" y="384048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354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▼ vs -5,5% en 2024</a:t>
            </a:r>
            <a:endParaRPr lang="en-US" sz="900" dirty="0"/>
          </a:p>
        </p:txBody>
      </p:sp>
      <p:sp>
        <p:nvSpPr>
          <p:cNvPr id="63" name="Text 60"/>
          <p:cNvSpPr/>
          <p:nvPr/>
        </p:nvSpPr>
        <p:spPr>
          <a:xfrm>
            <a:off x="6263640" y="406908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Objectif 5,0% en 2026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</p:sp>
      <p:pic>
        <p:nvPicPr>
          <p:cNvPr id="3" name="Image 0" descr="/Users/emmanuelblezes/Documents/08_Où va l'argent /Templates/PPT/workspace/glow-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ANALYSE DE LA DETTE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pPr indent="0" marL="0">
              <a:buNone/>
            </a:pP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INSEE, comptes nationaux trimestriels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1148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 dette publique a connu une accélération sans précédent depuis 2007</a:t>
            </a:r>
            <a:endParaRPr lang="en-US" sz="220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365760" y="1371600"/>
          <a:ext cx="50292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9" name="Shape 25"/>
          <p:cNvSpPr/>
          <p:nvPr/>
        </p:nvSpPr>
        <p:spPr>
          <a:xfrm>
            <a:off x="5577840" y="1371600"/>
            <a:ext cx="3200400" cy="3108960"/>
          </a:xfrm>
          <a:prstGeom prst="roundRect">
            <a:avLst>
              <a:gd name="adj" fmla="val 3529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30" name="Text 26"/>
          <p:cNvSpPr/>
          <p:nvPr/>
        </p:nvSpPr>
        <p:spPr>
          <a:xfrm>
            <a:off x="5715000" y="14630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ANALYSE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5715000" y="1755648"/>
            <a:ext cx="274320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715000" y="1901952"/>
            <a:ext cx="45720" cy="50292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3" name="Text 29"/>
          <p:cNvSpPr/>
          <p:nvPr/>
        </p:nvSpPr>
        <p:spPr>
          <a:xfrm>
            <a:off x="5897880" y="187452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Trois phases distinctes : progression lente (2000-2007), accélération post-crise financière (2008-2012), et explosion Covid (2020).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5715000" y="2496312"/>
            <a:ext cx="45720" cy="50292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5" name="Text 31"/>
          <p:cNvSpPr/>
          <p:nvPr/>
        </p:nvSpPr>
        <p:spPr>
          <a:xfrm>
            <a:off x="5897880" y="246888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Le ratio dette/PIB n'a jamais diminué de plus de 5 points après un choc. Le "cliquet" de la dette est structurel.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5715000" y="3090672"/>
            <a:ext cx="45720" cy="50292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7" name="Text 33"/>
          <p:cNvSpPr/>
          <p:nvPr/>
        </p:nvSpPr>
        <p:spPr>
          <a:xfrm>
            <a:off x="5897880" y="306324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La charge d'intérêts (70 Md€) annule tout gain budgétaire. Chaque trimestre de taux élevés alourdit la facture.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5715000" y="3685032"/>
            <a:ext cx="45720" cy="50292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9" name="Text 35"/>
          <p:cNvSpPr/>
          <p:nvPr/>
        </p:nvSpPr>
        <p:spPr>
          <a:xfrm>
            <a:off x="5897880" y="365760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Comparaison : l'Allemagne est revenue à 63% du PIB. L'écart France-Allemagne est passé de 5 pts (2007) à 55 pts (2025).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</p:sp>
      <p:pic>
        <p:nvPicPr>
          <p:cNvPr id="3" name="Image 0" descr="/Users/emmanuelblezes/Documents/08_Où va l'argent /Templates/PPT/workspace/glow-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COMPARAISONS INTERNATIONALES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pPr indent="0" marL="0">
              <a:buNone/>
            </a:pP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Eurostat, Q4 2024 — S&amp;P Global Ratings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1148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 France se classe 3e parmi les pays les plus endettés de la zone euro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080C"/>
                          </a:solidFill>
                          <a:latin typeface="Syne" pitchFamily="34" charset="0"/>
                          <a:ea typeface="Syne" pitchFamily="34" charset="-122"/>
                          <a:cs typeface="Syne" pitchFamily="34" charset="-120"/>
                        </a:rPr>
                        <a:t>Pays</a:t>
                      </a:r>
                      <a:endParaRPr lang="en-US" sz="1000" dirty="0">
                        <a:latin typeface="Syne" charset="0"/>
                        <a:ea typeface="Syne" charset="0"/>
                        <a:cs typeface="Syn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080C"/>
                          </a:solidFill>
                          <a:latin typeface="Syne" pitchFamily="34" charset="0"/>
                          <a:ea typeface="Syne" pitchFamily="34" charset="-122"/>
                          <a:cs typeface="Syne" pitchFamily="34" charset="-120"/>
                        </a:rPr>
                        <a:t>Dette/PIB</a:t>
                      </a:r>
                      <a:endParaRPr lang="en-US" sz="1000" dirty="0">
                        <a:latin typeface="Syne" charset="0"/>
                        <a:ea typeface="Syne" charset="0"/>
                        <a:cs typeface="Syn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080C"/>
                          </a:solidFill>
                          <a:latin typeface="Syne" pitchFamily="34" charset="0"/>
                          <a:ea typeface="Syne" pitchFamily="34" charset="-122"/>
                          <a:cs typeface="Syne" pitchFamily="34" charset="-120"/>
                        </a:rPr>
                        <a:t>Déficit/PIB</a:t>
                      </a:r>
                      <a:endParaRPr lang="en-US" sz="1000" dirty="0">
                        <a:latin typeface="Syne" charset="0"/>
                        <a:ea typeface="Syne" charset="0"/>
                        <a:cs typeface="Syn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080C"/>
                          </a:solidFill>
                          <a:latin typeface="Syne" pitchFamily="34" charset="0"/>
                          <a:ea typeface="Syne" pitchFamily="34" charset="-122"/>
                          <a:cs typeface="Syne" pitchFamily="34" charset="-120"/>
                        </a:rPr>
                        <a:t>Charge intérêts</a:t>
                      </a:r>
                      <a:endParaRPr lang="en-US" sz="1000" dirty="0">
                        <a:latin typeface="Syne" charset="0"/>
                        <a:ea typeface="Syne" charset="0"/>
                        <a:cs typeface="Syn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080C"/>
                          </a:solidFill>
                          <a:latin typeface="Syne" pitchFamily="34" charset="0"/>
                          <a:ea typeface="Syne" pitchFamily="34" charset="-122"/>
                          <a:cs typeface="Syne" pitchFamily="34" charset="-120"/>
                        </a:rPr>
                        <a:t>Taux 10 ans</a:t>
                      </a:r>
                      <a:endParaRPr lang="en-US" sz="1000" dirty="0">
                        <a:latin typeface="Syne" charset="0"/>
                        <a:ea typeface="Syne" charset="0"/>
                        <a:cs typeface="Syn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6080C"/>
                          </a:solidFill>
                          <a:latin typeface="Syne" pitchFamily="34" charset="0"/>
                          <a:ea typeface="Syne" pitchFamily="34" charset="-122"/>
                          <a:cs typeface="Syne" pitchFamily="34" charset="-120"/>
                        </a:rPr>
                        <a:t>Rating</a:t>
                      </a:r>
                      <a:endParaRPr lang="en-US" sz="1000" dirty="0">
                        <a:latin typeface="Syne" charset="0"/>
                        <a:ea typeface="Syne" charset="0"/>
                        <a:cs typeface="Syn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4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Syne" pitchFamily="34" charset="0"/>
                          <a:ea typeface="Syne" pitchFamily="34" charset="-122"/>
                          <a:cs typeface="Syne" pitchFamily="34" charset="-120"/>
                        </a:rPr>
                        <a:t>Grèce</a:t>
                      </a:r>
                      <a:endParaRPr lang="en-US" sz="1000" dirty="0">
                        <a:latin typeface="Syne" charset="0"/>
                        <a:ea typeface="Syne" charset="0"/>
                        <a:cs typeface="Syn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153,6%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-1,6%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6,8 Md€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3,45%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BBB-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Syne" pitchFamily="34" charset="0"/>
                          <a:ea typeface="Syne" pitchFamily="34" charset="-122"/>
                          <a:cs typeface="Syne" pitchFamily="34" charset="-120"/>
                        </a:rPr>
                        <a:t>Italie</a:t>
                      </a:r>
                      <a:endParaRPr lang="en-US" sz="1000" dirty="0">
                        <a:latin typeface="Syne" charset="0"/>
                        <a:ea typeface="Syne" charset="0"/>
                        <a:cs typeface="Syn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135,3%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-3,4%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83,2 Md€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3,52%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BBB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D4FF"/>
                          </a:solidFill>
                          <a:latin typeface="Syne" pitchFamily="34" charset="0"/>
                          <a:ea typeface="Syne" pitchFamily="34" charset="-122"/>
                          <a:cs typeface="Syne" pitchFamily="34" charset="-120"/>
                        </a:rPr>
                        <a:t>France</a:t>
                      </a:r>
                      <a:endParaRPr lang="en-US" sz="1000" dirty="0">
                        <a:latin typeface="Syne" charset="0"/>
                        <a:ea typeface="Syne" charset="0"/>
                        <a:cs typeface="Syn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117,4%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-5,4%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70,0 Md€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3,15%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AA-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04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Syne" pitchFamily="34" charset="0"/>
                          <a:ea typeface="Syne" pitchFamily="34" charset="-122"/>
                          <a:cs typeface="Syne" pitchFamily="34" charset="-120"/>
                        </a:rPr>
                        <a:t>Belgique</a:t>
                      </a:r>
                      <a:endParaRPr lang="en-US" sz="1000" dirty="0">
                        <a:latin typeface="Syne" charset="0"/>
                        <a:ea typeface="Syne" charset="0"/>
                        <a:cs typeface="Syn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104,7%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-4,5%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12,8 Md€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3,02%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AA-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Syne" pitchFamily="34" charset="0"/>
                          <a:ea typeface="Syne" pitchFamily="34" charset="-122"/>
                          <a:cs typeface="Syne" pitchFamily="34" charset="-120"/>
                        </a:rPr>
                        <a:t>Espagne</a:t>
                      </a:r>
                      <a:endParaRPr lang="en-US" sz="1000" dirty="0">
                        <a:latin typeface="Syne" charset="0"/>
                        <a:ea typeface="Syne" charset="0"/>
                        <a:cs typeface="Syn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101,8%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-3,2%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35,4 Md€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3,18%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Syne" pitchFamily="34" charset="0"/>
                          <a:ea typeface="Syne" pitchFamily="34" charset="-122"/>
                          <a:cs typeface="Syne" pitchFamily="34" charset="-120"/>
                        </a:rPr>
                        <a:t>Zone euro (moy.)</a:t>
                      </a:r>
                      <a:endParaRPr lang="en-US" sz="1000" dirty="0">
                        <a:latin typeface="Syne" charset="0"/>
                        <a:ea typeface="Syne" charset="0"/>
                        <a:cs typeface="Syn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87,4%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-3,1%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—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—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—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Syne" pitchFamily="34" charset="0"/>
                          <a:ea typeface="Syne" pitchFamily="34" charset="-122"/>
                          <a:cs typeface="Syne" pitchFamily="34" charset="-120"/>
                        </a:rPr>
                        <a:t>Allemagne</a:t>
                      </a:r>
                      <a:endParaRPr lang="en-US" sz="1000" dirty="0">
                        <a:latin typeface="Syne" charset="0"/>
                        <a:ea typeface="Syne" charset="0"/>
                        <a:cs typeface="Syn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62,5%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-1,5%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28,3 Md€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2,38%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AAA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Syne" pitchFamily="34" charset="0"/>
                          <a:ea typeface="Syne" pitchFamily="34" charset="-122"/>
                          <a:cs typeface="Syne" pitchFamily="34" charset="-120"/>
                        </a:rPr>
                        <a:t>Pays-Bas</a:t>
                      </a:r>
                      <a:endParaRPr lang="en-US" sz="1000" dirty="0">
                        <a:latin typeface="Syne" charset="0"/>
                        <a:ea typeface="Syne" charset="0"/>
                        <a:cs typeface="Syn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47,8%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-0,8%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8,2 Md€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2,55%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0F4F8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AAA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4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</p:sp>
      <p:pic>
        <p:nvPicPr>
          <p:cNvPr id="3" name="Image 0" descr="/Users/emmanuelblezes/Documents/08_Où va l'argent /Templates/PPT/workspace/glow-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ANALYSE STRATÉGIQUE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pPr indent="0" marL="0">
              <a:buNone/>
            </a:pP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Eurostat, analyse Où Va l'Argent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1148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Quatre profils budgétaires se distinguent en zone euro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1847088" y="2852928"/>
            <a:ext cx="2706624" cy="1243584"/>
          </a:xfrm>
          <a:prstGeom prst="rect">
            <a:avLst/>
          </a:prstGeom>
          <a:solidFill>
            <a:srgbClr val="00FF88">
              <a:alpha val="8000"/>
            </a:srgbClr>
          </a:solidFill>
          <a:ln w="6350">
            <a:solidFill>
              <a:srgbClr val="1A243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920240" y="288036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VERTUEUX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90288" y="2852928"/>
            <a:ext cx="2706624" cy="1243584"/>
          </a:xfrm>
          <a:prstGeom prst="rect">
            <a:avLst/>
          </a:prstGeom>
          <a:solidFill>
            <a:srgbClr val="FF9F43">
              <a:alpha val="8000"/>
            </a:srgbClr>
          </a:solidFill>
          <a:ln w="6350">
            <a:solidFill>
              <a:srgbClr val="1A243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663440" y="288036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DYNAMIQUES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1847088" y="1572768"/>
            <a:ext cx="2706624" cy="1243584"/>
          </a:xfrm>
          <a:prstGeom prst="rect">
            <a:avLst/>
          </a:prstGeom>
          <a:solidFill>
            <a:srgbClr val="FFD700">
              <a:alpha val="8000"/>
            </a:srgbClr>
          </a:solidFill>
          <a:ln w="6350">
            <a:solidFill>
              <a:srgbClr val="1A243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920240" y="160020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STRUCTURELS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4590288" y="1572768"/>
            <a:ext cx="2706624" cy="1243584"/>
          </a:xfrm>
          <a:prstGeom prst="rect">
            <a:avLst/>
          </a:prstGeom>
          <a:solidFill>
            <a:srgbClr val="FF4757">
              <a:alpha val="8000"/>
            </a:srgbClr>
          </a:solidFill>
          <a:ln w="6350">
            <a:solidFill>
              <a:srgbClr val="1A243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663440" y="160020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CRITIQUES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1828800" y="2834640"/>
            <a:ext cx="5486400" cy="0"/>
          </a:xfrm>
          <a:prstGeom prst="line">
            <a:avLst/>
          </a:prstGeom>
          <a:noFill/>
          <a:ln w="19050">
            <a:solidFill>
              <a:srgbClr val="4A5A6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572000" y="1554480"/>
            <a:ext cx="0" cy="2560320"/>
          </a:xfrm>
          <a:prstGeom prst="line">
            <a:avLst/>
          </a:prstGeom>
          <a:noFill/>
          <a:ln w="19050">
            <a:solidFill>
              <a:srgbClr val="4A5A6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828800" y="420624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Déficit (faible → élevé) →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 rot="16200000">
            <a:off x="457200" y="1554480"/>
            <a:ext cx="1097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Dette (faible → élevée) →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1965960" y="3108960"/>
            <a:ext cx="1143000" cy="640080"/>
          </a:xfrm>
          <a:prstGeom prst="roundRect">
            <a:avLst>
              <a:gd name="adj" fmla="val 17143"/>
            </a:avLst>
          </a:prstGeom>
          <a:solidFill>
            <a:srgbClr val="111820">
              <a:alpha val="85000"/>
            </a:srgbClr>
          </a:solidFill>
          <a:ln w="19050">
            <a:solidFill>
              <a:srgbClr val="00FF8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2039112" y="3145536"/>
            <a:ext cx="9966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Pays-Bas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2039112" y="3364992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Dette faible, déficit faible. Modèle de rigueur budgétaire.</a:t>
            </a:r>
            <a:endParaRPr lang="en-US" sz="700" dirty="0"/>
          </a:p>
        </p:txBody>
      </p:sp>
      <p:sp>
        <p:nvSpPr>
          <p:cNvPr id="43" name="Shape 40"/>
          <p:cNvSpPr/>
          <p:nvPr/>
        </p:nvSpPr>
        <p:spPr>
          <a:xfrm>
            <a:off x="3337560" y="3108960"/>
            <a:ext cx="1143000" cy="640080"/>
          </a:xfrm>
          <a:prstGeom prst="roundRect">
            <a:avLst>
              <a:gd name="adj" fmla="val 17143"/>
            </a:avLst>
          </a:prstGeom>
          <a:solidFill>
            <a:srgbClr val="111820">
              <a:alpha val="85000"/>
            </a:srgbClr>
          </a:solidFill>
          <a:ln w="19050">
            <a:solidFill>
              <a:srgbClr val="00FF8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3410712" y="3145536"/>
            <a:ext cx="9966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Allemagne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3410712" y="3364992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AAA stable. Frein à l'endettement constitutionnel.</a:t>
            </a:r>
            <a:endParaRPr lang="en-US" sz="700" dirty="0"/>
          </a:p>
        </p:txBody>
      </p:sp>
      <p:sp>
        <p:nvSpPr>
          <p:cNvPr id="46" name="Shape 43"/>
          <p:cNvSpPr/>
          <p:nvPr/>
        </p:nvSpPr>
        <p:spPr>
          <a:xfrm>
            <a:off x="4709160" y="3108960"/>
            <a:ext cx="1143000" cy="640080"/>
          </a:xfrm>
          <a:prstGeom prst="roundRect">
            <a:avLst>
              <a:gd name="adj" fmla="val 17143"/>
            </a:avLst>
          </a:prstGeom>
          <a:solidFill>
            <a:srgbClr val="111820">
              <a:alpha val="85000"/>
            </a:srgbClr>
          </a:solidFill>
          <a:ln w="19050">
            <a:solidFill>
              <a:srgbClr val="FF9F43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782312" y="3145536"/>
            <a:ext cx="9966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Espagne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4782312" y="3364992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Déficit élevé mais dette en baisse. Croissance dynamique.</a:t>
            </a:r>
            <a:endParaRPr lang="en-US" sz="700" dirty="0"/>
          </a:p>
        </p:txBody>
      </p:sp>
      <p:sp>
        <p:nvSpPr>
          <p:cNvPr id="49" name="Shape 46"/>
          <p:cNvSpPr/>
          <p:nvPr/>
        </p:nvSpPr>
        <p:spPr>
          <a:xfrm>
            <a:off x="1965960" y="1828800"/>
            <a:ext cx="1143000" cy="640080"/>
          </a:xfrm>
          <a:prstGeom prst="roundRect">
            <a:avLst>
              <a:gd name="adj" fmla="val 17143"/>
            </a:avLst>
          </a:prstGeom>
          <a:solidFill>
            <a:srgbClr val="111820">
              <a:alpha val="85000"/>
            </a:srgbClr>
          </a:solidFill>
          <a:ln w="19050">
            <a:solidFill>
              <a:srgbClr val="FFD700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2039112" y="1865376"/>
            <a:ext cx="9966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Italie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2039112" y="2084832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Dette très élevée mais déficit maîtrisé. Risque structurel.</a:t>
            </a:r>
            <a:endParaRPr lang="en-US" sz="700" dirty="0"/>
          </a:p>
        </p:txBody>
      </p:sp>
      <p:sp>
        <p:nvSpPr>
          <p:cNvPr id="52" name="Shape 49"/>
          <p:cNvSpPr/>
          <p:nvPr/>
        </p:nvSpPr>
        <p:spPr>
          <a:xfrm>
            <a:off x="4709160" y="1828800"/>
            <a:ext cx="1143000" cy="640080"/>
          </a:xfrm>
          <a:prstGeom prst="roundRect">
            <a:avLst>
              <a:gd name="adj" fmla="val 17143"/>
            </a:avLst>
          </a:prstGeom>
          <a:solidFill>
            <a:srgbClr val="111820">
              <a:alpha val="85000"/>
            </a:srgbClr>
          </a:solidFill>
          <a:ln w="19050">
            <a:solidFill>
              <a:srgbClr val="FF4757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4782312" y="1865376"/>
            <a:ext cx="9966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France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4782312" y="2084832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Dette ET déficit élevés. Seul pays du cadran critique.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6080760" y="1828800"/>
            <a:ext cx="1143000" cy="640080"/>
          </a:xfrm>
          <a:prstGeom prst="roundRect">
            <a:avLst>
              <a:gd name="adj" fmla="val 17143"/>
            </a:avLst>
          </a:prstGeom>
          <a:solidFill>
            <a:srgbClr val="111820">
              <a:alpha val="85000"/>
            </a:srgbClr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6153912" y="1865376"/>
            <a:ext cx="9966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Grèce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6153912" y="2084832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Dette record mais excédent primaire retrouvé.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</p:sp>
      <p:pic>
        <p:nvPicPr>
          <p:cNvPr id="3" name="Image 0" descr="/Users/emmanuelblezes/Documents/08_Où va l'argent /Templates/PPT/workspace/glow-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DÉCOMPOSITION DU DÉFICIT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pPr indent="0" marL="0">
              <a:buNone/>
            </a:pP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Loi de règlement 2025, Direction du Budget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1148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Le déficit 2025 s'explique par un dérapage des dépenses sociales (+18 Md€)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365760" y="137160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Md€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45236" y="2237458"/>
            <a:ext cx="594360" cy="1603022"/>
          </a:xfrm>
          <a:prstGeom prst="rect">
            <a:avLst/>
          </a:prstGeom>
          <a:solidFill>
            <a:srgbClr val="00D4FF"/>
          </a:solidFill>
          <a:ln/>
          <a:effectLst>
            <a:outerShdw sx="100000" sy="100000" kx="0" ky="0" algn="bl" rotWithShape="0" blurRad="50800" dist="50800" dir="16200000">
              <a:srgbClr val="00d4ff">
                <a:alpha val="3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608076" y="1981426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1420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1339596" y="2237458"/>
            <a:ext cx="288036" cy="0"/>
          </a:xfrm>
          <a:prstGeom prst="line">
            <a:avLst/>
          </a:prstGeom>
          <a:noFill/>
          <a:ln w="12700">
            <a:solidFill>
              <a:srgbClr val="4A5A6A"/>
            </a:solidFill>
            <a:prstDash val="dash"/>
          </a:ln>
        </p:spPr>
      </p:sp>
      <p:sp>
        <p:nvSpPr>
          <p:cNvPr id="32" name="Text 29"/>
          <p:cNvSpPr/>
          <p:nvPr/>
        </p:nvSpPr>
        <p:spPr>
          <a:xfrm>
            <a:off x="562356" y="3913632"/>
            <a:ext cx="960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Recettes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fiscales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1627632" y="1650436"/>
            <a:ext cx="594360" cy="587022"/>
          </a:xfrm>
          <a:prstGeom prst="rect">
            <a:avLst/>
          </a:prstGeom>
          <a:solidFill>
            <a:srgbClr val="00FF88"/>
          </a:solidFill>
          <a:ln/>
          <a:effectLst>
            <a:outerShdw sx="100000" sy="100000" kx="0" ky="0" algn="bl" rotWithShape="0" blurRad="50800" dist="50800" dir="16200000">
              <a:srgbClr val="00ff88">
                <a:alpha val="30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1490472" y="1394404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FF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+520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2221992" y="1650436"/>
            <a:ext cx="288036" cy="0"/>
          </a:xfrm>
          <a:prstGeom prst="line">
            <a:avLst/>
          </a:prstGeom>
          <a:noFill/>
          <a:ln w="12700">
            <a:solidFill>
              <a:srgbClr val="4A5A6A"/>
            </a:solidFill>
            <a:prstDash val="dash"/>
          </a:ln>
        </p:spPr>
      </p:sp>
      <p:sp>
        <p:nvSpPr>
          <p:cNvPr id="36" name="Text 33"/>
          <p:cNvSpPr/>
          <p:nvPr/>
        </p:nvSpPr>
        <p:spPr>
          <a:xfrm>
            <a:off x="1444752" y="3913632"/>
            <a:ext cx="960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Cotisations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sociales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2510028" y="1554480"/>
            <a:ext cx="594360" cy="95956"/>
          </a:xfrm>
          <a:prstGeom prst="rect">
            <a:avLst/>
          </a:prstGeom>
          <a:solidFill>
            <a:srgbClr val="00FF88"/>
          </a:solidFill>
          <a:ln/>
          <a:effectLst>
            <a:outerShdw sx="100000" sy="100000" kx="0" ky="0" algn="bl" rotWithShape="0" blurRad="50800" dist="50800" dir="16200000">
              <a:srgbClr val="00ff88">
                <a:alpha val="30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2372868" y="1298448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FF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+85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3104388" y="1554480"/>
            <a:ext cx="288036" cy="0"/>
          </a:xfrm>
          <a:prstGeom prst="line">
            <a:avLst/>
          </a:prstGeom>
          <a:noFill/>
          <a:ln w="12700">
            <a:solidFill>
              <a:srgbClr val="4A5A6A"/>
            </a:solidFill>
            <a:prstDash val="dash"/>
          </a:ln>
        </p:spPr>
      </p:sp>
      <p:sp>
        <p:nvSpPr>
          <p:cNvPr id="40" name="Text 37"/>
          <p:cNvSpPr/>
          <p:nvPr/>
        </p:nvSpPr>
        <p:spPr>
          <a:xfrm>
            <a:off x="2327148" y="3913632"/>
            <a:ext cx="960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Autres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recettes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3392424" y="1554480"/>
            <a:ext cx="594360" cy="654756"/>
          </a:xfrm>
          <a:prstGeom prst="rect">
            <a:avLst/>
          </a:prstGeom>
          <a:solidFill>
            <a:srgbClr val="FF4757"/>
          </a:solidFill>
          <a:ln/>
          <a:effectLst>
            <a:outerShdw sx="100000" sy="100000" kx="0" ky="0" algn="bl" rotWithShape="0" blurRad="50800" dist="50800" dir="16200000">
              <a:srgbClr val="ff4757">
                <a:alpha val="30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3255264" y="1298448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47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-580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986784" y="2209236"/>
            <a:ext cx="288036" cy="0"/>
          </a:xfrm>
          <a:prstGeom prst="line">
            <a:avLst/>
          </a:prstGeom>
          <a:noFill/>
          <a:ln w="12700">
            <a:solidFill>
              <a:srgbClr val="4A5A6A"/>
            </a:solidFill>
            <a:prstDash val="dash"/>
          </a:ln>
        </p:spPr>
      </p:sp>
      <p:sp>
        <p:nvSpPr>
          <p:cNvPr id="44" name="Text 41"/>
          <p:cNvSpPr/>
          <p:nvPr/>
        </p:nvSpPr>
        <p:spPr>
          <a:xfrm>
            <a:off x="3209544" y="3913632"/>
            <a:ext cx="960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Dépenses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État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4274820" y="2209236"/>
            <a:ext cx="594360" cy="982133"/>
          </a:xfrm>
          <a:prstGeom prst="rect">
            <a:avLst/>
          </a:prstGeom>
          <a:solidFill>
            <a:srgbClr val="FF4757"/>
          </a:solidFill>
          <a:ln/>
          <a:effectLst>
            <a:outerShdw sx="100000" sy="100000" kx="0" ky="0" algn="bl" rotWithShape="0" blurRad="50800" dist="50800" dir="16200000">
              <a:srgbClr val="ff4757">
                <a:alpha val="30000"/>
              </a:srgbClr>
            </a:outerShdw>
          </a:effectLst>
        </p:spPr>
      </p:sp>
      <p:sp>
        <p:nvSpPr>
          <p:cNvPr id="46" name="Text 43"/>
          <p:cNvSpPr/>
          <p:nvPr/>
        </p:nvSpPr>
        <p:spPr>
          <a:xfrm>
            <a:off x="4137660" y="1953204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47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-870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4869180" y="3191369"/>
            <a:ext cx="288036" cy="0"/>
          </a:xfrm>
          <a:prstGeom prst="line">
            <a:avLst/>
          </a:prstGeom>
          <a:noFill/>
          <a:ln w="12700">
            <a:solidFill>
              <a:srgbClr val="4A5A6A"/>
            </a:solidFill>
            <a:prstDash val="dash"/>
          </a:ln>
        </p:spPr>
      </p:sp>
      <p:sp>
        <p:nvSpPr>
          <p:cNvPr id="48" name="Text 45"/>
          <p:cNvSpPr/>
          <p:nvPr/>
        </p:nvSpPr>
        <p:spPr>
          <a:xfrm>
            <a:off x="4091940" y="3913632"/>
            <a:ext cx="960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Protection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sociale</a:t>
            </a:r>
            <a:endParaRPr lang="en-US" sz="800" dirty="0"/>
          </a:p>
        </p:txBody>
      </p:sp>
      <p:sp>
        <p:nvSpPr>
          <p:cNvPr id="49" name="Shape 46"/>
          <p:cNvSpPr/>
          <p:nvPr/>
        </p:nvSpPr>
        <p:spPr>
          <a:xfrm>
            <a:off x="5157216" y="3191369"/>
            <a:ext cx="594360" cy="327378"/>
          </a:xfrm>
          <a:prstGeom prst="rect">
            <a:avLst/>
          </a:prstGeom>
          <a:solidFill>
            <a:srgbClr val="FF4757"/>
          </a:solidFill>
          <a:ln/>
          <a:effectLst>
            <a:outerShdw sx="100000" sy="100000" kx="0" ky="0" algn="bl" rotWithShape="0" blurRad="50800" dist="50800" dir="16200000">
              <a:srgbClr val="ff4757">
                <a:alpha val="30000"/>
              </a:srgbClr>
            </a:outerShdw>
          </a:effectLst>
        </p:spPr>
      </p:sp>
      <p:sp>
        <p:nvSpPr>
          <p:cNvPr id="50" name="Text 47"/>
          <p:cNvSpPr/>
          <p:nvPr/>
        </p:nvSpPr>
        <p:spPr>
          <a:xfrm>
            <a:off x="5020056" y="2935337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47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-290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5751576" y="3518747"/>
            <a:ext cx="288036" cy="0"/>
          </a:xfrm>
          <a:prstGeom prst="line">
            <a:avLst/>
          </a:prstGeom>
          <a:noFill/>
          <a:ln w="12700">
            <a:solidFill>
              <a:srgbClr val="4A5A6A"/>
            </a:solidFill>
            <a:prstDash val="dash"/>
          </a:ln>
        </p:spPr>
      </p:sp>
      <p:sp>
        <p:nvSpPr>
          <p:cNvPr id="52" name="Text 49"/>
          <p:cNvSpPr/>
          <p:nvPr/>
        </p:nvSpPr>
        <p:spPr>
          <a:xfrm>
            <a:off x="4974336" y="3913632"/>
            <a:ext cx="960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Collectivités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locales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6039612" y="3518747"/>
            <a:ext cx="594360" cy="79022"/>
          </a:xfrm>
          <a:prstGeom prst="rect">
            <a:avLst/>
          </a:prstGeom>
          <a:solidFill>
            <a:srgbClr val="FF4757"/>
          </a:solidFill>
          <a:ln/>
          <a:effectLst>
            <a:outerShdw sx="100000" sy="100000" kx="0" ky="0" algn="bl" rotWithShape="0" blurRad="50800" dist="50800" dir="16200000">
              <a:srgbClr val="ff4757">
                <a:alpha val="30000"/>
              </a:srgbClr>
            </a:outerShdw>
          </a:effectLst>
        </p:spPr>
      </p:sp>
      <p:sp>
        <p:nvSpPr>
          <p:cNvPr id="54" name="Text 51"/>
          <p:cNvSpPr/>
          <p:nvPr/>
        </p:nvSpPr>
        <p:spPr>
          <a:xfrm>
            <a:off x="5902452" y="3262715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47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-70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6633972" y="3597769"/>
            <a:ext cx="288036" cy="0"/>
          </a:xfrm>
          <a:prstGeom prst="line">
            <a:avLst/>
          </a:prstGeom>
          <a:noFill/>
          <a:ln w="12700">
            <a:solidFill>
              <a:srgbClr val="4A5A6A"/>
            </a:solidFill>
            <a:prstDash val="dash"/>
          </a:ln>
        </p:spPr>
      </p:sp>
      <p:sp>
        <p:nvSpPr>
          <p:cNvPr id="56" name="Text 53"/>
          <p:cNvSpPr/>
          <p:nvPr/>
        </p:nvSpPr>
        <p:spPr>
          <a:xfrm>
            <a:off x="5856732" y="3913632"/>
            <a:ext cx="960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Charge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dette</a:t>
            </a:r>
            <a:endParaRPr lang="en-US" sz="800" dirty="0"/>
          </a:p>
        </p:txBody>
      </p:sp>
      <p:sp>
        <p:nvSpPr>
          <p:cNvPr id="57" name="Shape 54"/>
          <p:cNvSpPr/>
          <p:nvPr/>
        </p:nvSpPr>
        <p:spPr>
          <a:xfrm>
            <a:off x="6922008" y="3597769"/>
            <a:ext cx="594360" cy="75636"/>
          </a:xfrm>
          <a:prstGeom prst="rect">
            <a:avLst/>
          </a:prstGeom>
          <a:solidFill>
            <a:srgbClr val="FF4757"/>
          </a:solidFill>
          <a:ln/>
          <a:effectLst>
            <a:outerShdw sx="100000" sy="100000" kx="0" ky="0" algn="bl" rotWithShape="0" blurRad="50800" dist="50800" dir="16200000">
              <a:srgbClr val="ff4757">
                <a:alpha val="30000"/>
              </a:srgbClr>
            </a:outerShdw>
          </a:effectLst>
        </p:spPr>
      </p:sp>
      <p:sp>
        <p:nvSpPr>
          <p:cNvPr id="58" name="Text 55"/>
          <p:cNvSpPr/>
          <p:nvPr/>
        </p:nvSpPr>
        <p:spPr>
          <a:xfrm>
            <a:off x="6784848" y="3341737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47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-67</a:t>
            </a:r>
            <a:endParaRPr lang="en-US" sz="900" dirty="0"/>
          </a:p>
        </p:txBody>
      </p:sp>
      <p:sp>
        <p:nvSpPr>
          <p:cNvPr id="59" name="Text 56"/>
          <p:cNvSpPr/>
          <p:nvPr/>
        </p:nvSpPr>
        <p:spPr>
          <a:xfrm>
            <a:off x="6739128" y="3913632"/>
            <a:ext cx="960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Autres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7804404" y="3673404"/>
            <a:ext cx="594360" cy="167076"/>
          </a:xfrm>
          <a:prstGeom prst="rect">
            <a:avLst/>
          </a:prstGeom>
          <a:solidFill>
            <a:srgbClr val="00D4FF"/>
          </a:solidFill>
          <a:ln/>
          <a:effectLst>
            <a:outerShdw sx="100000" sy="100000" kx="0" ky="0" algn="bl" rotWithShape="0" blurRad="50800" dist="50800" dir="16200000">
              <a:srgbClr val="00d4ff">
                <a:alpha val="30000"/>
              </a:srgbClr>
            </a:outerShdw>
          </a:effectLst>
        </p:spPr>
      </p:sp>
      <p:sp>
        <p:nvSpPr>
          <p:cNvPr id="61" name="Text 58"/>
          <p:cNvSpPr/>
          <p:nvPr/>
        </p:nvSpPr>
        <p:spPr>
          <a:xfrm>
            <a:off x="7667244" y="3417372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900" dirty="0"/>
          </a:p>
        </p:txBody>
      </p:sp>
      <p:sp>
        <p:nvSpPr>
          <p:cNvPr id="62" name="Text 59"/>
          <p:cNvSpPr/>
          <p:nvPr/>
        </p:nvSpPr>
        <p:spPr>
          <a:xfrm>
            <a:off x="7621524" y="3913632"/>
            <a:ext cx="960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SOLDE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2025</a:t>
            </a:r>
            <a:endParaRPr lang="en-US" sz="800" dirty="0"/>
          </a:p>
        </p:txBody>
      </p:sp>
      <p:sp>
        <p:nvSpPr>
          <p:cNvPr id="63" name="Shape 60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6350">
            <a:solidFill>
              <a:srgbClr val="4A5A6A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</p:sp>
      <p:pic>
        <p:nvPicPr>
          <p:cNvPr id="3" name="Image 0" descr="/Users/emmanuelblezes/Documents/08_Où va l'argent /Templates/PPT/workspace/glow-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SCÉNARIOS &amp; PROJECTIONS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Source : </a:t>
            </a:r>
            <a:pPr indent="0" marL="0">
              <a:buNone/>
            </a:pP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Projections Où Va l'Argent basées sur données INSEE, Banque de France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1148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Trois scénarios pour la trajectoire de la dette publique à horizon 2030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457200" y="1417320"/>
            <a:ext cx="2560320" cy="3017520"/>
          </a:xfrm>
          <a:prstGeom prst="roundRect">
            <a:avLst>
              <a:gd name="adj" fmla="val 4286"/>
            </a:avLst>
          </a:prstGeom>
          <a:solidFill>
            <a:srgbClr val="111820">
              <a:alpha val="85000"/>
            </a:srgbClr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457200" y="1417320"/>
            <a:ext cx="2560320" cy="45720"/>
          </a:xfrm>
          <a:prstGeom prst="rect">
            <a:avLst/>
          </a:prstGeom>
          <a:solidFill>
            <a:srgbClr val="00FF88"/>
          </a:solidFill>
          <a:ln/>
          <a:effectLst>
            <a:outerShdw sx="100000" sy="100000" kx="0" ky="0" algn="bl" rotWithShape="0" blurRad="50800" dist="50800" dir="16200000">
              <a:srgbClr val="00ff88">
                <a:alpha val="4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548640" y="1554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Scénario optimiste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40080" y="1965960"/>
            <a:ext cx="219456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94360" y="210312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Croissance moyenne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594360" y="22860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1,5%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594360" y="256032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Déficit 2030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94360" y="27432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-2,8%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94360" y="301752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Dette 2030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594360" y="32004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115% PIB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594360" y="347472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Charge intérêts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594360" y="36576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65 Md€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594360" y="393192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Hypothèse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594360" y="4114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Réformes structurelles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3291840" y="1417320"/>
            <a:ext cx="2560320" cy="3017520"/>
          </a:xfrm>
          <a:prstGeom prst="roundRect">
            <a:avLst>
              <a:gd name="adj" fmla="val 4286"/>
            </a:avLst>
          </a:prstGeom>
          <a:solidFill>
            <a:srgbClr val="111820">
              <a:alpha val="85000"/>
            </a:srgbClr>
          </a:solidFill>
          <a:ln w="19050">
            <a:solidFill>
              <a:srgbClr val="00D4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291840" y="1417320"/>
            <a:ext cx="2560320" cy="45720"/>
          </a:xfrm>
          <a:prstGeom prst="rect">
            <a:avLst/>
          </a:prstGeom>
          <a:solidFill>
            <a:srgbClr val="00D4FF"/>
          </a:solidFill>
          <a:ln/>
          <a:effectLst>
            <a:outerShdw sx="100000" sy="100000" kx="0" ky="0" algn="bl" rotWithShape="0" blurRad="50800" dist="50800" dir="16200000">
              <a:srgbClr val="00d4ff">
                <a:alpha val="40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3383280" y="1554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Scénario central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3474720" y="1965960"/>
            <a:ext cx="219456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3429000" y="210312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Croissance moyenne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3429000" y="22860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1,0%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3429000" y="256032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Déficit 2030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3429000" y="27432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-4,2%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3429000" y="301752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Dette 2030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3429000" y="32004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125% PIB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3429000" y="347472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Charge intérêts</a:t>
            </a:r>
            <a:endParaRPr lang="en-US" sz="900" dirty="0"/>
          </a:p>
        </p:txBody>
      </p:sp>
      <p:sp>
        <p:nvSpPr>
          <p:cNvPr id="53" name="Text 50"/>
          <p:cNvSpPr/>
          <p:nvPr/>
        </p:nvSpPr>
        <p:spPr>
          <a:xfrm>
            <a:off x="3429000" y="36576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85 Md€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3429000" y="393192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Hypothèse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3429000" y="4114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Tendance actuelle</a:t>
            </a:r>
            <a:endParaRPr lang="en-US" sz="1300" dirty="0"/>
          </a:p>
        </p:txBody>
      </p:sp>
      <p:sp>
        <p:nvSpPr>
          <p:cNvPr id="56" name="Shape 53"/>
          <p:cNvSpPr/>
          <p:nvPr/>
        </p:nvSpPr>
        <p:spPr>
          <a:xfrm>
            <a:off x="6126480" y="1417320"/>
            <a:ext cx="2560320" cy="3017520"/>
          </a:xfrm>
          <a:prstGeom prst="roundRect">
            <a:avLst>
              <a:gd name="adj" fmla="val 4286"/>
            </a:avLst>
          </a:prstGeom>
          <a:solidFill>
            <a:srgbClr val="111820">
              <a:alpha val="85000"/>
            </a:srgbClr>
          </a:solidFill>
          <a:ln w="19050">
            <a:solidFill>
              <a:srgbClr val="FF475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6126480" y="1417320"/>
            <a:ext cx="2560320" cy="45720"/>
          </a:xfrm>
          <a:prstGeom prst="rect">
            <a:avLst/>
          </a:prstGeom>
          <a:solidFill>
            <a:srgbClr val="FF4757"/>
          </a:solidFill>
          <a:ln/>
          <a:effectLst>
            <a:outerShdw sx="100000" sy="100000" kx="0" ky="0" algn="bl" rotWithShape="0" blurRad="50800" dist="50800" dir="16200000">
              <a:srgbClr val="ff4757">
                <a:alpha val="40000"/>
              </a:srgbClr>
            </a:outerShdw>
          </a:effectLst>
        </p:spPr>
      </p:sp>
      <p:sp>
        <p:nvSpPr>
          <p:cNvPr id="58" name="Text 55"/>
          <p:cNvSpPr/>
          <p:nvPr/>
        </p:nvSpPr>
        <p:spPr>
          <a:xfrm>
            <a:off x="6217920" y="1554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Scénario pessimiste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6309360" y="1965960"/>
            <a:ext cx="219456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263640" y="210312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Croissance moyenne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6263640" y="22860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0,5%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6263640" y="256032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Déficit 2030</a:t>
            </a:r>
            <a:endParaRPr lang="en-US" sz="900" dirty="0"/>
          </a:p>
        </p:txBody>
      </p:sp>
      <p:sp>
        <p:nvSpPr>
          <p:cNvPr id="63" name="Text 60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-6,0%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263640" y="301752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Dette 2030</a:t>
            </a:r>
            <a:endParaRPr lang="en-US" sz="900" dirty="0"/>
          </a:p>
        </p:txBody>
      </p:sp>
      <p:sp>
        <p:nvSpPr>
          <p:cNvPr id="65" name="Text 62"/>
          <p:cNvSpPr/>
          <p:nvPr/>
        </p:nvSpPr>
        <p:spPr>
          <a:xfrm>
            <a:off x="6263640" y="32004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140% PIB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6263640" y="347472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Charge intérêts</a:t>
            </a:r>
            <a:endParaRPr lang="en-US" sz="900" dirty="0"/>
          </a:p>
        </p:txBody>
      </p:sp>
      <p:sp>
        <p:nvSpPr>
          <p:cNvPr id="67" name="Text 64"/>
          <p:cNvSpPr/>
          <p:nvPr/>
        </p:nvSpPr>
        <p:spPr>
          <a:xfrm>
            <a:off x="6263640" y="36576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110 Md€</a:t>
            </a:r>
            <a:endParaRPr lang="en-US" sz="1300" dirty="0"/>
          </a:p>
        </p:txBody>
      </p:sp>
      <p:sp>
        <p:nvSpPr>
          <p:cNvPr id="68" name="Text 65"/>
          <p:cNvSpPr/>
          <p:nvPr/>
        </p:nvSpPr>
        <p:spPr>
          <a:xfrm>
            <a:off x="6263640" y="393192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Hypothèse</a:t>
            </a:r>
            <a:endParaRPr lang="en-US" sz="900" dirty="0"/>
          </a:p>
        </p:txBody>
      </p:sp>
      <p:sp>
        <p:nvSpPr>
          <p:cNvPr id="69" name="Text 66"/>
          <p:cNvSpPr/>
          <p:nvPr/>
        </p:nvSpPr>
        <p:spPr>
          <a:xfrm>
            <a:off x="6263640" y="4114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Choc externe + inaction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</p:sp>
      <p:pic>
        <p:nvPicPr>
          <p:cNvPr id="3" name="Image 0" descr="/Users/emmanuelblezes/Documents/08_Où va l'argent /Templates/PPT/workspace/glow-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RECOMMANDATIONS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1148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Quatre leviers d'action pour restaurer la soutenabilité budgétaire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457200" y="1463040"/>
            <a:ext cx="8229600" cy="621792"/>
          </a:xfrm>
          <a:prstGeom prst="roundRect">
            <a:avLst>
              <a:gd name="adj" fmla="val 17647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57200" y="1463040"/>
            <a:ext cx="54864" cy="621792"/>
          </a:xfrm>
          <a:prstGeom prst="rect">
            <a:avLst/>
          </a:prstGeom>
          <a:solidFill>
            <a:srgbClr val="00D4FF"/>
          </a:solidFill>
          <a:ln/>
          <a:effectLst>
            <a:outerShdw sx="100000" sy="100000" kx="0" ky="0" algn="bl" rotWithShape="0" blurRad="50800" dist="50800" dir="16200000">
              <a:srgbClr val="00d4ff">
                <a:alpha val="40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640080" y="1463040"/>
            <a:ext cx="457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188720" y="1508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Plafonner la dépense publique à +1% par an en volume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188720" y="181051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Alignement sur la règle allemande du frein à l'endettement. Économie estimée : 15-20 Md€/an d'ici 2030.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2176272"/>
            <a:ext cx="8229600" cy="621792"/>
          </a:xfrm>
          <a:prstGeom prst="roundRect">
            <a:avLst>
              <a:gd name="adj" fmla="val 17647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57200" y="2176272"/>
            <a:ext cx="54864" cy="621792"/>
          </a:xfrm>
          <a:prstGeom prst="rect">
            <a:avLst/>
          </a:prstGeom>
          <a:solidFill>
            <a:srgbClr val="FFD700"/>
          </a:solidFill>
          <a:ln/>
          <a:effectLst>
            <a:outerShdw sx="100000" sy="100000" kx="0" ky="0" algn="bl" rotWithShape="0" blurRad="50800" dist="50800" dir="16200000">
              <a:srgbClr val="ffd700">
                <a:alpha val="40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640080" y="2176272"/>
            <a:ext cx="457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1188720" y="222199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Réformer les retraites pour stabiliser les dépenses sociales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1188720" y="252374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Les pensions représentent 14% du PIB (vs 10% en Allemagne). Un alignement partiel économiserait 25 Md€/an.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57200" y="2889504"/>
            <a:ext cx="8229600" cy="621792"/>
          </a:xfrm>
          <a:prstGeom prst="roundRect">
            <a:avLst>
              <a:gd name="adj" fmla="val 17647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57200" y="2889504"/>
            <a:ext cx="54864" cy="621792"/>
          </a:xfrm>
          <a:prstGeom prst="rect">
            <a:avLst/>
          </a:prstGeom>
          <a:solidFill>
            <a:srgbClr val="00FF88"/>
          </a:solidFill>
          <a:ln/>
          <a:effectLst>
            <a:outerShdw sx="100000" sy="100000" kx="0" ky="0" algn="bl" rotWithShape="0" blurRad="50800" dist="50800" dir="16200000">
              <a:srgbClr val="00ff88">
                <a:alpha val="40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640080" y="2889504"/>
            <a:ext cx="457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FF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188720" y="2935224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Élargir l'assiette fiscale plutôt qu'augmenter les taux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1188720" y="32369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La France a déjà le taux de prélèvement le plus élevé de l'OCDE (46,1%). Priorité : lutter contre les niches fiscales.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457200" y="3602736"/>
            <a:ext cx="8229600" cy="621792"/>
          </a:xfrm>
          <a:prstGeom prst="roundRect">
            <a:avLst>
              <a:gd name="adj" fmla="val 17647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602736"/>
            <a:ext cx="54864" cy="621792"/>
          </a:xfrm>
          <a:prstGeom prst="rect">
            <a:avLst/>
          </a:prstGeom>
          <a:solidFill>
            <a:srgbClr val="A855F7"/>
          </a:solidFill>
          <a:ln/>
          <a:effectLst>
            <a:outerShdw sx="100000" sy="100000" kx="0" ky="0" algn="bl" rotWithShape="0" blurRad="50800" dist="50800" dir="16200000">
              <a:srgbClr val="a855f7">
                <a:alpha val="40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640080" y="3602736"/>
            <a:ext cx="457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5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1800" dirty="0"/>
          </a:p>
        </p:txBody>
      </p:sp>
      <p:sp>
        <p:nvSpPr>
          <p:cNvPr id="45" name="Text 42"/>
          <p:cNvSpPr/>
          <p:nvPr/>
        </p:nvSpPr>
        <p:spPr>
          <a:xfrm>
            <a:off x="1188720" y="3648456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Investir dans la croissance pour améliorer le dénominateur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188720" y="39502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La compétitivité française se dégrade. Priorités : formation, innovation, simplification administrative. Chaque +0,5% de croissance réduit le ratio de 2 pts.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</p:sp>
      <p:pic>
        <p:nvPicPr>
          <p:cNvPr id="3" name="Image 0" descr="/Users/emmanuelblezes/Documents/08_Où va l'argent /Templates/PPT/workspace/glow-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65760" y="274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D4FF"/>
          </a:solidFill>
          <a:ln/>
        </p:spPr>
      </p:sp>
      <p:sp>
        <p:nvSpPr>
          <p:cNvPr id="19" name="Text 16"/>
          <p:cNvSpPr/>
          <p:nvPr/>
        </p:nvSpPr>
        <p:spPr>
          <a:xfrm>
            <a:off x="365760" y="274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60120" y="320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15200" y="292608"/>
            <a:ext cx="1463040" cy="411480"/>
          </a:xfrm>
          <a:prstGeom prst="roundRect">
            <a:avLst>
              <a:gd name="adj" fmla="val 55556"/>
            </a:avLst>
          </a:prstGeom>
          <a:solidFill>
            <a:srgbClr val="00D4FF">
              <a:alpha val="15000"/>
            </a:srgbClr>
          </a:solidFill>
          <a:ln w="12700">
            <a:solidFill>
              <a:srgbClr val="00D4FF">
                <a:alpha val="30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0" y="29260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ANNEXES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65760" y="4663440"/>
            <a:ext cx="8412480" cy="0"/>
          </a:xfrm>
          <a:prstGeom prst="line">
            <a:avLst/>
          </a:prstGeom>
          <a:noFill/>
          <a:ln w="12700">
            <a:solidFill>
              <a:srgbClr val="1A243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5800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1148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Sources &amp; Méthodologie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365760" y="1371600"/>
            <a:ext cx="8412480" cy="3200400"/>
          </a:xfrm>
          <a:prstGeom prst="roundRect">
            <a:avLst>
              <a:gd name="adj" fmla="val 3429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548640" y="15087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[1]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960120" y="150876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INSEE — Comptes nationaux trimestriels, T4 2025 (publiés le 30/01/2026)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180136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[2]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960120" y="1801368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Eurostat — Government finance statistics, Q4 2024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48640" y="209397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[3]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960120" y="2093976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Banque de France — Bulletin mensuel, janvier 2026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48640" y="238658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[4]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960120" y="2386584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Cour des comptes — Rapport sur la situation et les perspectives des finances publiques, juin 2025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48640" y="267919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[5]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960120" y="2679192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Direction du Budget — Projet de loi de finances 2026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548640" y="2971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[6]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960120" y="29718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Agence France Trésor — Programme d'émissions 2026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548640" y="326440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[7]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960120" y="3264408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S&amp;P Global Ratings — Sovereign rating France, décembre 2025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548640" y="35570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[8]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960120" y="3557016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OCDE — Études économiques France, novembre 2025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548640" y="384962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[9]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960120" y="3849624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FMI — Article IV Consultation France, octobre 2025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548640" y="414223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[10]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960120" y="4142232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Haut Conseil des finances publiques — Avis sur le PLF 2026, septembre 2025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0C"/>
          </a:solidFill>
          <a:ln/>
        </p:spPr>
      </p:sp>
      <p:pic>
        <p:nvPicPr>
          <p:cNvPr id="3" name="Image 0" descr="/Users/emmanuelblezes/Documents/08_Où va l'argent /Templates/PPT/workspace/glow-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82296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246888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00D4FF">
                <a:alpha val="4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023360" y="1371600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00D4FF"/>
          </a:solidFill>
          <a:ln/>
          <a:effectLst>
            <a:outerShdw sx="100000" sy="100000" kx="0" ky="0" algn="bl" rotWithShape="0" blurRad="127000" dist="50800" dir="16200000">
              <a:srgbClr val="00d4ff">
                <a:alpha val="5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4023360" y="13716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6080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€</a:t>
            </a:r>
            <a:endParaRPr lang="en-US" sz="3600" dirty="0"/>
          </a:p>
        </p:txBody>
      </p:sp>
      <p:sp>
        <p:nvSpPr>
          <p:cNvPr id="20" name="Text 17"/>
          <p:cNvSpPr/>
          <p:nvPr/>
        </p:nvSpPr>
        <p:spPr>
          <a:xfrm>
            <a:off x="4846320" y="14630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4F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Où Va l'Argent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457200" y="2377440"/>
            <a:ext cx="822960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00d4ff">
                <a:alpha val="3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i="1" dirty="0">
                <a:solidFill>
                  <a:srgbClr val="F0F4F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Merci !</a:t>
            </a:r>
            <a:endParaRPr lang="en-US" sz="4800" dirty="0"/>
          </a:p>
        </p:txBody>
      </p:sp>
      <p:sp>
        <p:nvSpPr>
          <p:cNvPr id="22" name="Text 19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9A8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Des questions ?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2743200" y="3749040"/>
            <a:ext cx="3657600" cy="731520"/>
          </a:xfrm>
          <a:prstGeom prst="roundRect">
            <a:avLst>
              <a:gd name="adj" fmla="val 15000"/>
            </a:avLst>
          </a:prstGeom>
          <a:solidFill>
            <a:srgbClr val="111820">
              <a:alpha val="85000"/>
            </a:srgbClr>
          </a:solidFill>
          <a:ln w="12700">
            <a:solidFill>
              <a:srgbClr val="1A243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2743200" y="374904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ouvalargent.fr</a:t>
            </a:r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8899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contact@ouvalargent.fr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Rapport</dc:title>
  <dc:subject>Rapport d'étude</dc:subject>
  <dc:creator>Où Va l'Argent — Études</dc:creator>
  <cp:lastModifiedBy>Où Va l'Argent — Études</cp:lastModifiedBy>
  <cp:revision>1</cp:revision>
  <dcterms:created xsi:type="dcterms:W3CDTF">2026-02-10T13:56:10Z</dcterms:created>
  <dcterms:modified xsi:type="dcterms:W3CDTF">2026-02-10T13:56:10Z</dcterms:modified>
</cp:coreProperties>
</file>