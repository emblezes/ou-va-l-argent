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48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510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2985866" y="109728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2985866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3808825" y="1188720"/>
            <a:ext cx="2987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Titre de la présentation</a:t>
            </a:r>
            <a:endParaRPr lang="en-US" sz="4200" dirty="0"/>
          </a:p>
        </p:txBody>
      </p:sp>
      <p:sp>
        <p:nvSpPr>
          <p:cNvPr id="22" name="Text 19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Sous-titre ou description courte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3200400" y="3566160"/>
            <a:ext cx="118872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200400" y="3566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THÈME 1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0" y="3566160"/>
            <a:ext cx="118872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6" name="Text 23"/>
          <p:cNvSpPr/>
          <p:nvPr/>
        </p:nvSpPr>
        <p:spPr>
          <a:xfrm>
            <a:off x="4572000" y="3566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THÈME 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6576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Emmanuel </a:t>
            </a:r>
            <a:r>
              <a:rPr lang="en-US" sz="1100" dirty="0" err="1">
                <a:solidFill>
                  <a:schemeClr val="bg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Blézès</a:t>
            </a:r>
            <a:r>
              <a:rPr lang="en-US" sz="1100" dirty="0">
                <a:solidFill>
                  <a:schemeClr val="bg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| Date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98080" y="292608"/>
            <a:ext cx="128016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498080" y="29260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AGENDA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Sommaire</a:t>
            </a:r>
            <a:endParaRPr lang="en-US" sz="3200" dirty="0"/>
          </a:p>
        </p:txBody>
      </p:sp>
      <p:sp>
        <p:nvSpPr>
          <p:cNvPr id="24" name="Shape 21"/>
          <p:cNvSpPr/>
          <p:nvPr/>
        </p:nvSpPr>
        <p:spPr>
          <a:xfrm>
            <a:off x="365760" y="1554480"/>
            <a:ext cx="2011680" cy="2834640"/>
          </a:xfrm>
          <a:prstGeom prst="roundRect">
            <a:avLst>
              <a:gd name="adj" fmla="val 681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Shape 22"/>
          <p:cNvSpPr/>
          <p:nvPr/>
        </p:nvSpPr>
        <p:spPr>
          <a:xfrm>
            <a:off x="502920" y="1737360"/>
            <a:ext cx="457200" cy="457200"/>
          </a:xfrm>
          <a:prstGeom prst="ellipse">
            <a:avLst/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6" name="Text 23"/>
          <p:cNvSpPr/>
          <p:nvPr/>
        </p:nvSpPr>
        <p:spPr>
          <a:xfrm>
            <a:off x="5029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0292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Contexte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02920" y="26974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Description de la première partie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514600" y="1554480"/>
            <a:ext cx="2011680" cy="2834640"/>
          </a:xfrm>
          <a:prstGeom prst="roundRect">
            <a:avLst>
              <a:gd name="adj" fmla="val 681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2651760" y="1737360"/>
            <a:ext cx="457200" cy="457200"/>
          </a:xfrm>
          <a:prstGeom prst="ellipse">
            <a:avLst/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26517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265176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Analyse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2651760" y="26974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Description de la deuxième partie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663440" y="1554480"/>
            <a:ext cx="2011680" cy="2834640"/>
          </a:xfrm>
          <a:prstGeom prst="roundRect">
            <a:avLst>
              <a:gd name="adj" fmla="val 681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Shape 32"/>
          <p:cNvSpPr/>
          <p:nvPr/>
        </p:nvSpPr>
        <p:spPr>
          <a:xfrm>
            <a:off x="4800600" y="1737360"/>
            <a:ext cx="457200" cy="457200"/>
          </a:xfrm>
          <a:prstGeom prst="ellipse">
            <a:avLst/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48006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480060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Propositions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4800600" y="26974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Description de la troisième partie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812280" y="1554480"/>
            <a:ext cx="2011680" cy="2834640"/>
          </a:xfrm>
          <a:prstGeom prst="roundRect">
            <a:avLst>
              <a:gd name="adj" fmla="val 681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0" name="Shape 37"/>
          <p:cNvSpPr/>
          <p:nvPr/>
        </p:nvSpPr>
        <p:spPr>
          <a:xfrm>
            <a:off x="6949440" y="1737360"/>
            <a:ext cx="457200" cy="457200"/>
          </a:xfrm>
          <a:prstGeom prst="ellipse">
            <a:avLst/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Text 38"/>
          <p:cNvSpPr/>
          <p:nvPr/>
        </p:nvSpPr>
        <p:spPr>
          <a:xfrm>
            <a:off x="69494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94944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6949440" y="26974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Description de la dernière partie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5" name="Text 42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Votre source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98080" y="292608"/>
            <a:ext cx="128016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498080" y="29260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SECTION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Titre de la </a:t>
            </a:r>
            <a:r>
              <a:rPr lang="en-US" sz="2800" i="1" dirty="0">
                <a:solidFill>
                  <a:srgbClr val="00D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section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365760" y="1463040"/>
            <a:ext cx="8412480" cy="3017520"/>
          </a:xfrm>
          <a:prstGeom prst="roundRect">
            <a:avLst>
              <a:gd name="adj" fmla="val 4545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Shape 22"/>
          <p:cNvSpPr/>
          <p:nvPr/>
        </p:nvSpPr>
        <p:spPr>
          <a:xfrm>
            <a:off x="594360" y="1691640"/>
            <a:ext cx="54864" cy="457200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6" name="Text 23"/>
          <p:cNvSpPr/>
          <p:nvPr/>
        </p:nvSpPr>
        <p:spPr>
          <a:xfrm>
            <a:off x="77724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Premier point important à développer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94360" y="2377440"/>
            <a:ext cx="54864" cy="457200"/>
          </a:xfrm>
          <a:prstGeom prst="rect">
            <a:avLst/>
          </a:prstGeom>
          <a:solidFill>
            <a:srgbClr val="FFD700"/>
          </a:solidFill>
          <a:ln/>
          <a:effectLst>
            <a:outerShdw blurRad="50800" dist="50800" dir="16200000" algn="bl" rotWithShape="0">
              <a:srgbClr val="FFD700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77724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Deuxième point avec des détails complémentaires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94360" y="3063240"/>
            <a:ext cx="54864" cy="457200"/>
          </a:xfrm>
          <a:prstGeom prst="rect">
            <a:avLst/>
          </a:prstGeom>
          <a:solidFill>
            <a:srgbClr val="A855F7"/>
          </a:solidFill>
          <a:ln/>
          <a:effectLst>
            <a:outerShdw blurRad="50800" dist="50800" dir="16200000" algn="bl" rotWithShape="0">
              <a:srgbClr val="A855F7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777240" y="3063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Troisième point pour conclure cette section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594360" y="3749040"/>
            <a:ext cx="54864" cy="457200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77724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Quatrième point optionnel si nécessaire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Votre source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98080" y="292608"/>
            <a:ext cx="128016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498080" y="29260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CHIFFRE CLÉ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 FRANCE, EN 2024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  <a:effectLst>
            <a:outerShdw blurRad="190500" dist="50800" dir="16200000" algn="bl" rotWithShape="0">
              <a:srgbClr val="00D4FF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4.2</a:t>
            </a:r>
            <a:endParaRPr lang="en-US" sz="14000" dirty="0"/>
          </a:p>
        </p:txBody>
      </p:sp>
      <p:sp>
        <p:nvSpPr>
          <p:cNvPr id="25" name="Text 2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millions de mal-logés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14400" y="3657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Soit </a:t>
            </a:r>
            <a:r>
              <a:rPr lang="en-US" sz="1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 Français sur 16</a:t>
            </a: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en situation de mal-logement 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sans-abri, hébergement précaire, surpeuplement ou habitat indigne.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Fondation Abbé Pierre, Rapport 2024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98080" y="292608"/>
            <a:ext cx="128016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498080" y="29260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COMPARAISON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Construction de logements :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dirty="0" err="1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l'</a:t>
            </a:r>
            <a:r>
              <a:rPr lang="en-US" sz="2600" i="1" dirty="0" err="1">
                <a:solidFill>
                  <a:srgbClr val="00D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effondrement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548640" y="182880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54864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 2017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437 000</a:t>
            </a:r>
            <a:endParaRPr lang="en-US" sz="4800" dirty="0"/>
          </a:p>
        </p:txBody>
      </p:sp>
      <p:sp>
        <p:nvSpPr>
          <p:cNvPr id="27" name="Text 24"/>
          <p:cNvSpPr/>
          <p:nvPr/>
        </p:nvSpPr>
        <p:spPr>
          <a:xfrm>
            <a:off x="548640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logements construits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754880" y="182880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blurRad="1524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754880" y="1828800"/>
            <a:ext cx="3840480" cy="54864"/>
          </a:xfrm>
          <a:prstGeom prst="rect">
            <a:avLst/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6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475488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 2024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754880" y="2468880"/>
            <a:ext cx="3840480" cy="914400"/>
          </a:xfrm>
          <a:prstGeom prst="rect">
            <a:avLst/>
          </a:prstGeom>
          <a:noFill/>
          <a:ln/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287 000</a:t>
            </a:r>
            <a:endParaRPr lang="en-US" sz="4800" dirty="0"/>
          </a:p>
        </p:txBody>
      </p:sp>
      <p:sp>
        <p:nvSpPr>
          <p:cNvPr id="32" name="Text 29"/>
          <p:cNvSpPr/>
          <p:nvPr/>
        </p:nvSpPr>
        <p:spPr>
          <a:xfrm>
            <a:off x="4754880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logements construits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114800" y="2743200"/>
            <a:ext cx="914400" cy="91440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1A2430"/>
            </a:solidFill>
            <a:prstDash val="solid"/>
          </a:ln>
          <a:effectLst>
            <a:outerShdw blurRad="101600" dist="508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411480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-34%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Ministère de la Transition écologique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98080" y="292608"/>
            <a:ext cx="128016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498080" y="29260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DONNÉES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Où va l'argent du logement ?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365760" y="1463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APL &amp; aides perso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743200" y="1508760"/>
            <a:ext cx="5943600" cy="411480"/>
          </a:xfrm>
          <a:prstGeom prst="roundRect">
            <a:avLst>
              <a:gd name="adj" fmla="val 17778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Shape 23"/>
          <p:cNvSpPr/>
          <p:nvPr/>
        </p:nvSpPr>
        <p:spPr>
          <a:xfrm>
            <a:off x="2743200" y="1508760"/>
            <a:ext cx="5052060" cy="411480"/>
          </a:xfrm>
          <a:prstGeom prst="roundRect">
            <a:avLst>
              <a:gd name="adj" fmla="val 17778"/>
            </a:avLst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7" name="Text 24"/>
          <p:cNvSpPr/>
          <p:nvPr/>
        </p:nvSpPr>
        <p:spPr>
          <a:xfrm>
            <a:off x="2743200" y="1508760"/>
            <a:ext cx="49606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15.8 Md€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6576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Dépenses fiscales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743200" y="2103120"/>
            <a:ext cx="5943600" cy="411480"/>
          </a:xfrm>
          <a:prstGeom prst="roundRect">
            <a:avLst>
              <a:gd name="adj" fmla="val 17778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2743200" y="2103120"/>
            <a:ext cx="4160520" cy="411480"/>
          </a:xfrm>
          <a:prstGeom prst="roundRect">
            <a:avLst>
              <a:gd name="adj" fmla="val 17778"/>
            </a:avLst>
          </a:prstGeom>
          <a:solidFill>
            <a:srgbClr val="FFD700"/>
          </a:solidFill>
          <a:ln/>
          <a:effectLst>
            <a:outerShdw blurRad="762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2743200" y="21031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13.2 Md€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65760" y="2651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Logement social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743200" y="2697480"/>
            <a:ext cx="5943600" cy="411480"/>
          </a:xfrm>
          <a:prstGeom prst="roundRect">
            <a:avLst>
              <a:gd name="adj" fmla="val 17778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4" name="Shape 31"/>
          <p:cNvSpPr/>
          <p:nvPr/>
        </p:nvSpPr>
        <p:spPr>
          <a:xfrm>
            <a:off x="2743200" y="2697480"/>
            <a:ext cx="2971800" cy="411480"/>
          </a:xfrm>
          <a:prstGeom prst="roundRect">
            <a:avLst>
              <a:gd name="adj" fmla="val 17778"/>
            </a:avLst>
          </a:prstGeom>
          <a:solidFill>
            <a:srgbClr val="A855F7"/>
          </a:solidFill>
          <a:ln/>
          <a:effectLst>
            <a:outerShdw blurRad="76200" dist="50800" dir="16200000" algn="bl" rotWithShape="0">
              <a:srgbClr val="A855F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2743200" y="26974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9.4 Md€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65760" y="3246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Rénovation (ANAH)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743200" y="3291840"/>
            <a:ext cx="5943600" cy="411480"/>
          </a:xfrm>
          <a:prstGeom prst="roundRect">
            <a:avLst>
              <a:gd name="adj" fmla="val 17778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8" name="Shape 35"/>
          <p:cNvSpPr/>
          <p:nvPr/>
        </p:nvSpPr>
        <p:spPr>
          <a:xfrm>
            <a:off x="2743200" y="329184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0FF88"/>
          </a:solidFill>
          <a:ln/>
          <a:effectLst>
            <a:outerShdw blurRad="762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9" name="Text 36"/>
          <p:cNvSpPr/>
          <p:nvPr/>
        </p:nvSpPr>
        <p:spPr>
          <a:xfrm>
            <a:off x="2743200" y="32918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5.6 Md€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365760" y="3840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Hébergement urgence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2743200" y="3886200"/>
            <a:ext cx="5943600" cy="411480"/>
          </a:xfrm>
          <a:prstGeom prst="roundRect">
            <a:avLst>
              <a:gd name="adj" fmla="val 17778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2" name="Shape 39"/>
          <p:cNvSpPr/>
          <p:nvPr/>
        </p:nvSpPr>
        <p:spPr>
          <a:xfrm>
            <a:off x="2743200" y="3886200"/>
            <a:ext cx="1069848" cy="411480"/>
          </a:xfrm>
          <a:prstGeom prst="roundRect">
            <a:avLst>
              <a:gd name="adj" fmla="val 17778"/>
            </a:avLst>
          </a:prstGeom>
          <a:solidFill>
            <a:srgbClr val="FF9F43"/>
          </a:solidFill>
          <a:ln/>
          <a:effectLst>
            <a:outerShdw blurRad="76200" dist="50800" dir="16200000" algn="bl" rotWithShape="0">
              <a:srgbClr val="FF9F43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3" name="Text 40"/>
          <p:cNvSpPr/>
          <p:nvPr/>
        </p:nvSpPr>
        <p:spPr>
          <a:xfrm>
            <a:off x="2743200" y="3886200"/>
            <a:ext cx="978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3.4 Md€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5" name="Text 42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PLF 2024, Cour des comptes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98080" y="292608"/>
            <a:ext cx="128016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498080" y="29260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FOCUS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🏠</a:t>
            </a:r>
            <a:endParaRPr lang="en-US" sz="4800" dirty="0"/>
          </a:p>
        </p:txBody>
      </p:sp>
      <p:sp>
        <p:nvSpPr>
          <p:cNvPr id="24" name="Text 21"/>
          <p:cNvSpPr/>
          <p:nvPr/>
        </p:nvSpPr>
        <p:spPr>
          <a:xfrm>
            <a:off x="731520" y="18288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 France, </a:t>
            </a:r>
            <a:r>
              <a:rPr lang="en-US" sz="2600" b="1" dirty="0">
                <a:solidFill>
                  <a:srgbClr val="00D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2.4 millions de ménages</a:t>
            </a: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
attendent un logement social.
Délai moyen d'attente : </a:t>
            </a:r>
            <a:r>
              <a:rPr lang="en-US" sz="2600" b="1" dirty="0">
                <a:solidFill>
                  <a:srgbClr val="FFD7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 ans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Dans les zones tendues, ce délai peut dépasser 10 ans.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7" name="Text 24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USH, Rapport 2024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4023360" y="13716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D4FF"/>
          </a:solidFill>
          <a:ln/>
          <a:effectLst>
            <a:outerShdw blurRad="1270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40233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484632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  <a:effectLst>
            <a:outerShdw blurRad="101600" dist="50800" dir="16200000" algn="bl" rotWithShape="0">
              <a:srgbClr val="00D4FF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Merci !</a:t>
            </a:r>
            <a:endParaRPr lang="en-US" sz="4800" dirty="0"/>
          </a:p>
        </p:txBody>
      </p:sp>
      <p:sp>
        <p:nvSpPr>
          <p:cNvPr id="22" name="Text 1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743200" y="374904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2743200" y="3749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@ouvalargent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304</Words>
  <Application>Microsoft Macintosh PowerPoint</Application>
  <PresentationFormat>On-screen Show (16:9)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Instrument Serif</vt:lpstr>
      <vt:lpstr>JetBrains Mono</vt:lpstr>
      <vt:lpstr>Syne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Présentation</dc:title>
  <dc:subject>Template basé sur le design Instagram</dc:subject>
  <dc:creator>Où Va l'Argent</dc:creator>
  <cp:lastModifiedBy>emmanuel blezes</cp:lastModifiedBy>
  <cp:revision>2</cp:revision>
  <dcterms:created xsi:type="dcterms:W3CDTF">2026-01-27T19:58:53Z</dcterms:created>
  <dcterms:modified xsi:type="dcterms:W3CDTF">2026-01-27T20:05:40Z</dcterms:modified>
</cp:coreProperties>
</file>