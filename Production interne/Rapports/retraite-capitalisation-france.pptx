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0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45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4023360" y="7315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blurRad="1270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402336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Retraite par Capitalisation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457200" y="2667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Une nécessité pour la France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346 Md€ | 17M retraités | 28% cotisations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82880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182880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9184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329184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Capitalisation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47548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Démographie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17920" y="3749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621792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65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Conférence 2025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228600" y="1463040"/>
            <a:ext cx="1645920" cy="29260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36576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2004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004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système français à bout de souffle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011680" y="1463040"/>
            <a:ext cx="1645920" cy="29260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14884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21488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10312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piège démographique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10312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Fécondité, vieillissement, dépendance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794760" y="1463040"/>
            <a:ext cx="1645920" cy="29260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931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388620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modèles qui marchent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88620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Pays-Bas, Suisse, Australie, Suède...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577840" y="1463040"/>
            <a:ext cx="1645920" cy="29260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0" name="Shape 37"/>
          <p:cNvSpPr/>
          <p:nvPr/>
        </p:nvSpPr>
        <p:spPr>
          <a:xfrm>
            <a:off x="571500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Text 38"/>
          <p:cNvSpPr/>
          <p:nvPr/>
        </p:nvSpPr>
        <p:spPr>
          <a:xfrm>
            <a:off x="57150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66928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puissance des marchés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66928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Intérêts composés et rendements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360920" y="1463040"/>
            <a:ext cx="1645920" cy="29260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5" name="Shape 42"/>
          <p:cNvSpPr/>
          <p:nvPr/>
        </p:nvSpPr>
        <p:spPr>
          <a:xfrm>
            <a:off x="749808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7498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45236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transition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745236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Quel modèle pour la France ?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FF4757"/>
          </a:solidFill>
          <a:ln/>
          <a:effectLst>
            <a:outerShdw blurRad="152400" dist="50800" dir="16200000" algn="bl" rotWithShape="0">
              <a:srgbClr val="FF4757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constat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système français à bout de souffle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PENSIONS DE RETRAITE VERSÉES PAR AN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FF4757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346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milliards d'euros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Soit 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14,4% du PIB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Plus que le budget de l'État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DREES, COR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COTISATIONS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Où passent vos cotisations ?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4932274" cy="329184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Maladie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2280514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CSG-CRDS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1697126" cy="329184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/>
          <a:effectLst>
            <a:outerShdw blurRad="635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9,7%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Chômage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689458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4,05%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Famille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636422" cy="32918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blurRad="635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3,45%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901598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cotisations retraite représentent 28% du salaire brut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URSSAF 2024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CONSTAT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système à </a:t>
            </a:r>
            <a:r>
              <a:rPr lang="en-US" sz="28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bout de souffle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97% du système repose sur la répartition pure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42 régimes différents, une complexité unique au monde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Aucun véritable fonds de réserve (FRR &lt; 30 Md€)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de remplacement en chute : 84% (1990) → 55% (2040)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OCDE 2024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DÉMOGRAPHIE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RATIO COTISANTS PAR RETRAITÉ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FF9F43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actifs par retraité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Contre 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4,7 en 1960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Projeté à </a:t>
            </a:r>
            <a:r>
              <a:rPr lang="en-US" sz="14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1,3 en 2070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INSEE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Déficit : de </a:t>
            </a:r>
            <a:r>
              <a:rPr lang="en-US" sz="2600" i="1" dirty="0">
                <a:solidFill>
                  <a:srgbClr val="FF9F4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mal</a:t>
            </a: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en </a:t>
            </a:r>
            <a:r>
              <a:rPr lang="en-US" sz="26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pire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FF9F43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-5,8 Md€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retraites 2024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Avant même la réforme 2023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Malgré report à 64 ans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-5,8 Md€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2028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-11 Md€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2030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-15 Md€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84632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2035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-20 Md€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8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 2025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Déficit projeté du système de retraites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3108960"/>
          </a:xfrm>
          <a:prstGeom prst="roundRect">
            <a:avLst>
              <a:gd name="adj" fmla="val 441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Solde du système de retraites (% du PIB)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-0,2%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-5,8 Md€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-0,5%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28346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-15 Md€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-0,8%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937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-25 Md€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2050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04088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-1,2%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-40 Md€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système est structurellement déficitaire, quelle que soit la croissance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 2025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REMPLACEMENT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taux de remplacement s'effondre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1990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4932274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2000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4614062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78%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2010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4242816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72%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2020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3871570" cy="329184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/>
          <a:effectLst>
            <a:outerShdw blurRad="635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2030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3553358" cy="329184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/>
          <a:effectLst>
            <a:outerShdw blurRad="635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2040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3235147" cy="329184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55%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salarié au SMIC reçoit 55% de son dernier salaire en 2040 vs 84% en 1990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DREES 2024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LEVIERS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3 leviers sont épuisés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1887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Âge de départ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92608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62→64 ans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Déjà repoussé, socialement explosif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4846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💶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Cotisations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2237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 brut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Parmi les plus élevées au monde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Pensions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-30% en 30 ans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de remplacement en chute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54864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4e levier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237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Capitalisation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seul levier non exploité en France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OCDE 2024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1520" y="1371600"/>
            <a:ext cx="7680960" cy="2286000"/>
          </a:xfrm>
          <a:prstGeom prst="roundRect">
            <a:avLst>
              <a:gd name="adj" fmla="val 8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91440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</a:t>
            </a:r>
            <a:endParaRPr lang="en-US" sz="7200" dirty="0"/>
          </a:p>
        </p:txBody>
      </p:sp>
      <p:sp>
        <p:nvSpPr>
          <p:cNvPr id="25" name="Text 22"/>
          <p:cNvSpPr/>
          <p:nvPr/>
        </p:nvSpPr>
        <p:spPr>
          <a:xfrm>
            <a:off x="109728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question n'est plus de savoir si la France doit introduire la capitalisation, mais quand et comment.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FF9F43"/>
          </a:solidFill>
          <a:ln/>
          <a:effectLst>
            <a:outerShdw blurRad="152400" dist="50800" dir="16200000" algn="bl" rotWithShape="0">
              <a:srgbClr val="FF9F43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piège démographique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Fécondité, vieillissement, baby-boomers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DÉMOGRAPHIE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DE FÉCONDITÉ EN FRANCE (2024)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FF9F43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1,68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enfant par femme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Seuil de renouvellement = </a:t>
            </a:r>
            <a:r>
              <a:rPr lang="en-US" sz="14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2,1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Plus bas historique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L'effondrement du ratio cotisants/retraités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1828800" y="1463040"/>
            <a:ext cx="0" cy="292608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1691640" y="1371600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27432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1960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1945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4,7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Baby-boom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691640" y="2029968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274320" y="19842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194560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3,2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572000" y="1984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691640" y="2688336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74320" y="26426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2194560" y="26426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572000" y="2642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Passage sous 2,5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691640" y="3346704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274320" y="3300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2194560" y="3300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4572000" y="3300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Niveau actuel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691640" y="4005072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274320" y="3959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2070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2194560" y="3959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1,3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4572000" y="3959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 COR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INSEE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LONGÉVITÉ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ESPÉRANCE DE VIE À 60 ANS (FEMMES)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A855F7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années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23 ans pour les hommes — Contre 20 ans en 1980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DÉPENDANCE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Ratio de dépendance vieillesse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Japon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Italie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4030675" cy="329184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/>
          <a:effectLst>
            <a:outerShdw blurRad="635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3871570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Allemagne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3765499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Moyenne OCDE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3129077" cy="32918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blurRad="635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États-Unis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2810866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27%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Population 65+ / Population 15-64 — Projeté à 50%+ pour la France en 2050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Eurostat, OCDE 2024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VIEILLISSEMENT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vieillissement </a:t>
            </a:r>
            <a:r>
              <a:rPr lang="en-US" sz="2600" i="1" dirty="0">
                <a:solidFill>
                  <a:srgbClr val="FF9F4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accélère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FF9F43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22% → 30%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 65+ d'ici 2050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Baby-boomers en retraite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+5M de retraités d'ici 2040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Monde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Japon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29,1%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Italie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24,1%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21,7%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84632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Monde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10,5%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8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ONU, Eurostat 2024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TRIPLE CHOC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triple choc démographique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27432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4757"/>
            </a:solidFill>
            <a:prstDash val="solid"/>
          </a:ln>
          <a:effectLst>
            <a:outerShdw blurRad="101600" dist="50800" dir="16200000" algn="bl" rotWithShape="0">
              <a:srgbClr val="FF4757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27432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👶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41148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Fécondité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1148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1,68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41148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Plus bas historique, bien sous le seuil de 2,1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9F43"/>
            </a:solidFill>
            <a:prstDash val="solid"/>
          </a:ln>
          <a:effectLst>
            <a:outerShdw blurRad="101600" dist="50800" dir="16200000" algn="bl" rotWithShape="0">
              <a:srgbClr val="FF9F43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320040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👴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333756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Longévité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+7 ans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333756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Espérance de vie à 60 ans en hausse depuis 1980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2648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blurRad="101600" dist="50800" dir="16200000" algn="bl" rotWithShape="0">
              <a:srgbClr val="FFD7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612648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36" name="Text 33"/>
          <p:cNvSpPr/>
          <p:nvPr/>
        </p:nvSpPr>
        <p:spPr>
          <a:xfrm>
            <a:off x="626364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Baby-boomers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26364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800K/an</a:t>
            </a:r>
            <a:endParaRPr lang="en-US" sz="3200" dirty="0"/>
          </a:p>
        </p:txBody>
      </p:sp>
      <p:sp>
        <p:nvSpPr>
          <p:cNvPr id="38" name="Text 35"/>
          <p:cNvSpPr/>
          <p:nvPr/>
        </p:nvSpPr>
        <p:spPr>
          <a:xfrm>
            <a:off x="626364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Départs en retraite massifs jusqu'en 2035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COR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L'équation est </a:t>
            </a:r>
            <a:r>
              <a:rPr lang="en-US" sz="28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impossible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Moins de naissances = moins de futurs cotisants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Plus de retraités vivant plus longtemps = plus de pensions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Ratio cotisants/retraités en chute libre (1,7 → 1,3)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Seule solution : diversifier avec la capitalisation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 OVA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FF88"/>
          </a:solidFill>
          <a:ln/>
          <a:effectLst>
            <a:outerShdw blurRad="152400" dist="50800" dir="16200000" algn="bl" rotWithShape="0">
              <a:srgbClr val="00FF88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Les modèles qui marchent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Pays-Bas, Suisse, Australie, Suède, Norvège...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CLASSEMENT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Classement Mercer des retraites (2025)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85,4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Islande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5250485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84,7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Danemark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5197450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83,5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Suisse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4667098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75,2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Australie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4614062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74,2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Suède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4561027" cy="32918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blurRad="635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73,6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82880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68880" y="427024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50" name="Shape 47"/>
          <p:cNvSpPr/>
          <p:nvPr/>
        </p:nvSpPr>
        <p:spPr>
          <a:xfrm>
            <a:off x="2468880" y="4270248"/>
            <a:ext cx="3712464" cy="329184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1" name="Text 48"/>
          <p:cNvSpPr/>
          <p:nvPr/>
        </p:nvSpPr>
        <p:spPr>
          <a:xfrm>
            <a:off x="7863840" y="42245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~60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systèmes les mieux notés intègrent tous une part de capitalisation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Mercer Global Pension Index 2025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Pays-Bas : le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champion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1887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Score Mercer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92608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85,4/100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#1 mondial depuis 2019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4846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Actifs pension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2237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213% PIB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1 900 Md€ de fonds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remplacement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93,2%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Quasi-intégralité du salaire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54864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Modèle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237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piliers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AOW + fonds pro + épargne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Mercer, OCDE 2024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SUISSE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Suisse : les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 piliers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FF88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piliers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système de retraite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1er pilier : AVS (public)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2e pilier : LPP (obligatoire)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3e pilier : épargne libre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8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Résultats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Pension médiane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3 200€/m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remplacement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68%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Score Mercer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75,2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OFAS Suisse 2024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AUSTRALIE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SUPERANNUATION — FONDS DE PENSION AUSTRALIENS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00FF8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3 500</a:t>
            </a:r>
            <a:endParaRPr lang="en-US" sz="12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milliards AUD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12% du salaire obligatoirement investi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Objectif : 15%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APRA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SUÈDE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Suède : le modèle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mixte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Comptes notionnels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16% du salaire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Ajustement automatique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Lié à la croissance du PIB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Capitalisation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Premium Pension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2,5%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Choix fonds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800+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Défaut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AP7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Swedish Pension Agency 2024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NORVÈGE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FONDS SOUVERAIN DE NORVÈGE (NBIM)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FFD7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1 800</a:t>
            </a:r>
            <a:endParaRPr lang="en-US" sz="12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milliards USD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plus grand fonds souverain au monde — </a:t>
            </a: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340 000$ par habitant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NBIM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FONDS PENSION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Actifs des fonds de pension (% PIB)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Pays-Bas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213%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Islande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4507992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182%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Suisse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3871570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155%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Australie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3235147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130%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Royaume-Uni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2492654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États-Unis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2386584" cy="32918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blurRad="635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95%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82880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France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68880" y="427024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50" name="Shape 47"/>
          <p:cNvSpPr/>
          <p:nvPr/>
        </p:nvSpPr>
        <p:spPr>
          <a:xfrm>
            <a:off x="2468880" y="4270248"/>
            <a:ext cx="265176" cy="329184"/>
          </a:xfrm>
          <a:prstGeom prst="roundRect">
            <a:avLst>
              <a:gd name="adj" fmla="val 20690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1" name="Text 48"/>
          <p:cNvSpPr/>
          <p:nvPr/>
        </p:nvSpPr>
        <p:spPr>
          <a:xfrm>
            <a:off x="7863840" y="42245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~10%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France est très loin derrière tous les pays développés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OCDE 2024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MONDE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ACTIFS MONDIAUX DES FONDS DE PENSION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00D4FF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69,8</a:t>
            </a:r>
            <a:endParaRPr lang="en-US" sz="12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trillions USD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+7,2% en 2024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Record historique absolu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WTW Global Pension Assets 2024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MODÈLES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D'autres modèles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inspirants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🇨🇦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15544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Canada — CPPIB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600 Md$ CAD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5448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Fonds public géré professionnellement, rendement ~10%/an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5760" y="29260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🇨🇱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155448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Chili — AFP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Pionnier (1981)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5544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Premier système de capitalisation obligatoire, modèle exporté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CPPIB, Superintendencia Chile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Point commun des meilleurs systèmes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Tous intègrent une part significative de capitalisation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Tous offrent un taux de remplacement supérieur à la France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Tous ont des fonds de pension &gt; 50% du PIB (France : ~10%)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Tous combinent répartition ET capitalisation (pas l'un ou l'autre)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Mercer, OCDE 2024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FFD700"/>
          </a:solidFill>
          <a:ln/>
          <a:effectLst>
            <a:outerShdw blurRad="152400" dist="50800" dir="16200000" algn="bl" rotWithShape="0">
              <a:srgbClr val="FFD700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puissance des marchés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Rendements, intérêts composés, horizons longs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RENDEMENTS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Rendements annuels moyens (long terme)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2880" y="13716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3"/>
          <p:cNvSpPr/>
          <p:nvPr/>
        </p:nvSpPr>
        <p:spPr>
          <a:xfrm>
            <a:off x="2468880" y="141732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00FF88"/>
          </a:solidFill>
          <a:ln/>
          <a:effectLst>
            <a:outerShdw blurRad="635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7863840" y="1371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10,5%/an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82880" y="18470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MSCI World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468880" y="18928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2468880" y="1892808"/>
            <a:ext cx="4189781" cy="329184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  <a:effectLst>
            <a:outerShdw blurRad="635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863840" y="1847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8,3%/an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8288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Immobilier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68880" y="2368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2468880" y="2368296"/>
            <a:ext cx="2545690" cy="329184"/>
          </a:xfrm>
          <a:prstGeom prst="roundRect">
            <a:avLst>
              <a:gd name="adj" fmla="val 16667"/>
            </a:avLst>
          </a:prstGeom>
          <a:solidFill>
            <a:srgbClr val="FFD700"/>
          </a:solidFill>
          <a:ln/>
          <a:effectLst>
            <a:outerShdw blurRad="635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786384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5%/an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288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Obligations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68880" y="284378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8" name="Shape 35"/>
          <p:cNvSpPr/>
          <p:nvPr/>
        </p:nvSpPr>
        <p:spPr>
          <a:xfrm>
            <a:off x="2468880" y="2843784"/>
            <a:ext cx="1538021" cy="329184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blurRad="635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7863840" y="2798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3%/an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82880" y="32735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Inflation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468880" y="331927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2" name="Shape 39"/>
          <p:cNvSpPr/>
          <p:nvPr/>
        </p:nvSpPr>
        <p:spPr>
          <a:xfrm>
            <a:off x="2468880" y="3319272"/>
            <a:ext cx="1007669" cy="329184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/>
          <a:effectLst>
            <a:outerShdw blurRad="63500" dist="50800" dir="16200000" algn="bl" rotWithShape="0">
              <a:srgbClr val="FF9F43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7863840" y="32735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2%/an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82880" y="37490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Répartition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468880" y="37947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182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46" name="Shape 43"/>
          <p:cNvSpPr/>
          <p:nvPr/>
        </p:nvSpPr>
        <p:spPr>
          <a:xfrm>
            <a:off x="2468880" y="3794760"/>
            <a:ext cx="742493" cy="329184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/>
          <a:effectLst>
            <a:outerShdw blurRad="635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7863840" y="37490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1,5%/an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S&amp;P 500 a rapporté 10,5%/an en moyenne sur 100 ans (1926-2024)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NYU Stern, MSCI, COR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Capitalisation </a:t>
            </a:r>
            <a:r>
              <a:rPr lang="en-US" sz="2600" b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7%</a:t>
            </a: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vs Répartition </a:t>
            </a:r>
            <a:r>
              <a:rPr lang="en-US" sz="2600" b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1,5%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FF88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~7%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rendement réel moyen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Marchés actions long terme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Intérêts composés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Ajusté de l'inflation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8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Répartition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Rendement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~1,5%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 de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PIB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Tendance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Baisse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NYU Stern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SIMULATION : 300€/MOIS PENDANT 42 ANS À 7%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00FF8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980K</a:t>
            </a:r>
            <a:endParaRPr lang="en-US" sz="12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euros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Capital investi : </a:t>
            </a: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151 200€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Gains : 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828 800€ (×6,5)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Simulation OVA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COMPOSÉS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magie des intérêts composés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3108960"/>
          </a:xfrm>
          <a:prstGeom prst="roundRect">
            <a:avLst>
              <a:gd name="adj" fmla="val 441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Valeur de 300€/mois investis pendant 42 ans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230K€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Livret 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530K€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28346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Obligations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980K€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937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Actions monde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04088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2,1M€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S&amp;P 500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À 7%, vos 151 200€ investis deviennent 980 000€ (+548%)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Calculs OVA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RISQUE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risque est un </a:t>
            </a:r>
            <a:r>
              <a:rPr lang="en-US" sz="28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mythe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0% de probabilité de perte sur un horizon de 20 ans (S&amp;P 500)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Après chaque crise, le marché récupère en 2-3 ans maximum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S&amp;P 500 a été positif dans 95% des périodes de 10 ans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vrai risque, c'est de ne PAS investir (inflation = -50% en 30 ans)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NYU Stern 1926-2024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HORIZONS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Probabilité de perte par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horizon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FF4757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probabilité de perte sur 1 an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Volatilité naturelle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Crises temporaires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Sur 10 ans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Sur 15 ans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Sur 20 ans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0%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NYU Stern 1926-2024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RÉPARTITION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RENDEMENT IMPLICITE DE LA RÉPARTITION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  <a:effectLst>
            <a:outerShdw blurRad="190500" dist="50800" dir="16200000" algn="bl" rotWithShape="0">
              <a:srgbClr val="FF4757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1,5</a:t>
            </a:r>
            <a:endParaRPr lang="en-US" sz="150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 par an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Contre </a:t>
            </a:r>
            <a:r>
              <a:rPr lang="en-US" sz="14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7% en capitalisation</a:t>
            </a: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Soit 4,7× moins performant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INSEE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Capitalisation : les chiffres parlent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27432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FF88"/>
            </a:solidFill>
            <a:prstDash val="solid"/>
          </a:ln>
          <a:effectLst>
            <a:outerShdw blurRad="101600" dist="50800" dir="16200000" algn="bl" rotWithShape="0">
              <a:srgbClr val="00FF88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914400" y="1554480"/>
            <a:ext cx="1463040" cy="914400"/>
          </a:xfrm>
          <a:prstGeom prst="ellipse">
            <a:avLst/>
          </a:prstGeom>
          <a:solidFill>
            <a:srgbClr val="00FF88"/>
          </a:solidFill>
          <a:ln/>
          <a:effectLst>
            <a:outerShdw blurRad="762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914400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×6,5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Multiplicateur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1148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300€→980K€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1148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42 ans à 7%/an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Shape 28"/>
          <p:cNvSpPr/>
          <p:nvPr/>
        </p:nvSpPr>
        <p:spPr>
          <a:xfrm>
            <a:off x="3840480" y="1554480"/>
            <a:ext cx="1463040" cy="91440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3840480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33756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Perte sur 20 ans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3375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Aucune perte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33375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S&amp;P 500 depuis 1926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2648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blurRad="101600" dist="50800" dir="16200000" algn="bl" rotWithShape="0">
              <a:srgbClr val="FFD7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7" name="Shape 34"/>
          <p:cNvSpPr/>
          <p:nvPr/>
        </p:nvSpPr>
        <p:spPr>
          <a:xfrm>
            <a:off x="6766560" y="1554480"/>
            <a:ext cx="1463040" cy="914400"/>
          </a:xfrm>
          <a:prstGeom prst="ellipse">
            <a:avLst/>
          </a:prstGeom>
          <a:solidFill>
            <a:srgbClr val="FFD700"/>
          </a:solidFill>
          <a:ln/>
          <a:effectLst>
            <a:outerShdw blurRad="762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6766560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69,8T$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Actifs mondiaux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626364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Record 2024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626364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Fonds de pension monde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3" name="Text 40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 OVA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A855F7"/>
          </a:solidFill>
          <a:ln/>
          <a:effectLst>
            <a:outerShdw blurRad="152400" dist="50800" dir="16200000" algn="bl" rotWithShape="0">
              <a:srgbClr val="A855F7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transition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Quel modèle pour la France ?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SCÉNARIOS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Trois voies possibles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943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Modèle suédois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436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Comptes notionnels + 2-5% en capitalisation obligatoire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00FF88"/>
            </a:solidFill>
            <a:prstDash val="solid"/>
          </a:ln>
          <a:effectLst>
            <a:outerShdw blurRad="101600" dist="50800" dir="16200000" algn="bl" rotWithShape="0">
              <a:srgbClr val="00FF88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Shape 27"/>
          <p:cNvSpPr/>
          <p:nvPr/>
        </p:nvSpPr>
        <p:spPr>
          <a:xfrm>
            <a:off x="4251960" y="1554480"/>
            <a:ext cx="731520" cy="731520"/>
          </a:xfrm>
          <a:prstGeom prst="ellipse">
            <a:avLst/>
          </a:prstGeom>
          <a:solidFill>
            <a:srgbClr val="00FF88"/>
          </a:solidFill>
          <a:ln/>
          <a:effectLst>
            <a:outerShdw blurRad="762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42519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34290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Modèle suisse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piliers : base + capitalisation obligatoire + libre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2648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11182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blurRad="101600" dist="50800" dir="16200000" algn="bl" rotWithShape="0">
              <a:srgbClr val="FFD7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FFD700"/>
          </a:solidFill>
          <a:ln/>
          <a:effectLst>
            <a:outerShdw blurRad="762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2636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Modèle australien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26364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Superannuation : 10-12% du salaire en capitalisation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OCDE, rapports nationaux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PLANNING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 de transition progressive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1828800" y="1463040"/>
            <a:ext cx="0" cy="292608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2"/>
          <p:cNvSpPr/>
          <p:nvPr/>
        </p:nvSpPr>
        <p:spPr>
          <a:xfrm>
            <a:off x="1691640" y="1371600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3"/>
          <p:cNvSpPr/>
          <p:nvPr/>
        </p:nvSpPr>
        <p:spPr>
          <a:xfrm>
            <a:off x="27432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1945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Lancement du pilier capitalisation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691640" y="2029968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274320" y="19842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194560" y="1984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572000" y="1984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Montée en charge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691640" y="2688336"/>
            <a:ext cx="274320" cy="27432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74320" y="26426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2194560" y="26426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6%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572000" y="2642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Milieu de parcours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691640" y="3346704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274320" y="3300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2040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2194560" y="3300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8%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4572000" y="3300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Résultats visibles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691640" y="4005072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274320" y="3959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2194560" y="3959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4572000" y="3959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Régime de croisière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Modélisation OVA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Répondre aux </a:t>
            </a:r>
            <a:r>
              <a:rPr lang="en-US" sz="2800" i="1" dirty="0">
                <a:solidFill>
                  <a:srgbClr val="A855F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objections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"C'est trop risqué" → 0% de perte sur 20 ans, gains moyens ×6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"Ça coûte trop cher" → 2% de cotisation, pas de hausse globale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"C'est inégalitaire" → Tous les salariés cotisent, pas les riches uniquement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"Et les crises ?" → Diversification + horizon long = protection naturelle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OCDE, données historiques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COÛTS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coût du </a:t>
            </a:r>
            <a:r>
              <a:rPr lang="en-US" sz="2600" i="1" dirty="0">
                <a:solidFill>
                  <a:srgbClr val="FF475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statu quo</a:t>
            </a: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vs la </a:t>
            </a:r>
            <a:r>
              <a:rPr lang="en-US" sz="2600" i="1" dirty="0">
                <a:solidFill>
                  <a:srgbClr val="00FF8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réforme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402336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FF4757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 Md€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cumulé d'ici 2040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Pensions en baisse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Cotisations en hausse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Système non viable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1417320"/>
            <a:ext cx="4206240" cy="3063240"/>
          </a:xfrm>
          <a:prstGeom prst="roundRect">
            <a:avLst>
              <a:gd name="adj" fmla="val 447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8"/>
          <p:cNvSpPr/>
          <p:nvPr/>
        </p:nvSpPr>
        <p:spPr>
          <a:xfrm>
            <a:off x="4572000" y="1417320"/>
            <a:ext cx="420624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Réforme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Coût/an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~15 Md€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Retour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&gt;500 Md€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+200-400€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COR, OCDE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BÉNÉFICIAIRES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Qui y gagne ?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👨‍🎓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1887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jeunes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92608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+200-400€/m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Retraite plus élevée que la répartition seule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4846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4864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Entreprises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22376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Attractivité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Avantage salarial pour attirer les talents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L'économie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+500 Md€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Épargne investie dans l'économie productive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663440" y="30632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👴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54864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Retraités actuels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2376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Protégés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répartition est maintenue pour eux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Modélisation OVA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Impact projeté à 20 ans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365760" y="1371600"/>
            <a:ext cx="8412480" cy="3108960"/>
          </a:xfrm>
          <a:prstGeom prst="roundRect">
            <a:avLst>
              <a:gd name="adj" fmla="val 4412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Actifs cumulés et impact sur les pensions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Md€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Fonds naissant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 Md€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28346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+100-200€/mois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93776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Md€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937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+200-400€/mois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2046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04088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 Md€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Croisière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Avec 10% du salaire investi, la France rejoint les standards internationaux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Modélisation OVA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SAGESSE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1520" y="1371600"/>
            <a:ext cx="7680960" cy="2286000"/>
          </a:xfrm>
          <a:prstGeom prst="roundRect">
            <a:avLst>
              <a:gd name="adj" fmla="val 8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91440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</a:t>
            </a:r>
            <a:endParaRPr lang="en-US" sz="7200" dirty="0"/>
          </a:p>
        </p:txBody>
      </p:sp>
      <p:sp>
        <p:nvSpPr>
          <p:cNvPr id="25" name="Text 22"/>
          <p:cNvSpPr/>
          <p:nvPr/>
        </p:nvSpPr>
        <p:spPr>
          <a:xfrm>
            <a:off x="109728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meilleur moment pour planter un arbre, c'était il y a 30 ans. Le deuxième meilleur moment, c'est maintenant.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— Proverbe chinois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 raisons d'agir </a:t>
            </a:r>
            <a:r>
              <a:rPr lang="en-US" sz="2800" i="1" dirty="0">
                <a:solidFill>
                  <a:srgbClr val="00D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maintenant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5760" y="1417320"/>
            <a:ext cx="8412480" cy="3063240"/>
          </a:xfrm>
          <a:prstGeom prst="roundRect">
            <a:avLst>
              <a:gd name="adj" fmla="val 4478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972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système actuel est structurellement déficitaire (-15 Md€/an dès 2030)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démographie rend la répartition pure non viable (1,3 cotisant/retraité)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9728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Tous les meilleurs systèmes mondiaux intègrent la capitalisation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4️⃣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marchés offrent 7%/an vs 1,5% pour la répartition (+4,7× plus)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5️⃣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109728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Chaque année perdue = des milliards de rendements composés en moins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 OVA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4023360" y="9144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blurRad="1270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402336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1005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Merci !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286000" y="32004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@ouvalargent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 : COR, DREES, INSEE, OCDE, Mercer, NYU Stern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ouvalargent.fr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2430</Words>
  <Application>Microsoft Macintosh PowerPoint</Application>
  <PresentationFormat>On-screen Show (16:9)</PresentationFormat>
  <Paragraphs>762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Instrument Serif</vt:lpstr>
      <vt:lpstr>JetBrains Mono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Retraite par Capitalisation — Une nécessité pour la France</dc:title>
  <dc:subject>Présentation conférence</dc:subject>
  <dc:creator>Où Va l'Argent</dc:creator>
  <cp:lastModifiedBy>emmanuel blezes</cp:lastModifiedBy>
  <cp:revision>2</cp:revision>
  <dcterms:created xsi:type="dcterms:W3CDTF">2026-02-10T10:33:30Z</dcterms:created>
  <dcterms:modified xsi:type="dcterms:W3CDTF">2026-02-10T10:36:29Z</dcterms:modified>
</cp:coreProperties>
</file>