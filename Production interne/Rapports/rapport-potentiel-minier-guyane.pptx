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3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rts/chart4.xml" ContentType="application/vnd.openxmlformats-officedocument.drawingml.chart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04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Gisements identifiés</c:v>
                </c:pt>
              </c:strCache>
            </c:strRef>
          </c:tx>
          <c:spPr>
            <a:solidFill>
              <a:srgbClr val="FFD7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Or</c:v>
                </c:pt>
                <c:pt idx="1">
                  <c:v>Tantale</c:v>
                </c:pt>
                <c:pt idx="2">
                  <c:v>Bauxite</c:v>
                </c:pt>
                <c:pt idx="3">
                  <c:v>Kaolin</c:v>
                </c:pt>
                <c:pt idx="4">
                  <c:v>Diamants</c:v>
                </c:pt>
                <c:pt idx="5">
                  <c:v>Terres rares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</c:v>
                </c:pt>
                <c:pt idx="1">
                  <c:v>30</c:v>
                </c:pt>
                <c:pt idx="2">
                  <c:v>12</c:v>
                </c:pt>
                <c:pt idx="3">
                  <c:v>8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8D-4B43-96F2-34B1A70C63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243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8"/>
                </a:solidFill>
                <a:latin typeface="Syn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4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8"/>
                </a:solidFill>
                <a:latin typeface="JetBrai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6080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99A8"/>
              </a:solidFill>
              <a:latin typeface="Syne"/>
              <a:cs typeface="Syne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tantale (tonnes)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1970</c:v>
                </c:pt>
                <c:pt idx="1">
                  <c:v>1975</c:v>
                </c:pt>
                <c:pt idx="2">
                  <c:v>1980</c:v>
                </c:pt>
                <c:pt idx="3">
                  <c:v>1985</c:v>
                </c:pt>
                <c:pt idx="4">
                  <c:v>1990</c:v>
                </c:pt>
                <c:pt idx="5">
                  <c:v>2000</c:v>
                </c:pt>
                <c:pt idx="6">
                  <c:v>2010</c:v>
                </c:pt>
                <c:pt idx="7">
                  <c:v>2024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28</c:v>
                </c:pt>
                <c:pt idx="2">
                  <c:v>42</c:v>
                </c:pt>
                <c:pt idx="3">
                  <c:v>35</c:v>
                </c:pt>
                <c:pt idx="4">
                  <c:v>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FD-3149-A7AE-43E6536BE0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243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8"/>
                </a:solidFill>
                <a:latin typeface="Syn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4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8"/>
                </a:solidFill>
                <a:latin typeface="JetBrai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6080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99A8"/>
              </a:solidFill>
              <a:latin typeface="Syne"/>
              <a:cs typeface="Syne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Sites illégaux détectés</c:v>
                </c:pt>
              </c:strCache>
            </c:strRef>
          </c:tx>
          <c:spPr>
            <a:ln w="25400" cap="flat">
              <a:solidFill>
                <a:srgbClr val="FF47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4757"/>
              </a:solidFill>
              <a:ln w="9525" cap="flat">
                <a:solidFill>
                  <a:srgbClr val="FF4757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2008</c:v>
                </c:pt>
                <c:pt idx="1">
                  <c:v>2010</c:v>
                </c:pt>
                <c:pt idx="2">
                  <c:v>2012</c:v>
                </c:pt>
                <c:pt idx="3">
                  <c:v>2014</c:v>
                </c:pt>
                <c:pt idx="4">
                  <c:v>2016</c:v>
                </c:pt>
                <c:pt idx="5">
                  <c:v>2018</c:v>
                </c:pt>
                <c:pt idx="6">
                  <c:v>2020</c:v>
                </c:pt>
                <c:pt idx="7">
                  <c:v>2022</c:v>
                </c:pt>
                <c:pt idx="8">
                  <c:v>2024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180</c:v>
                </c:pt>
                <c:pt idx="1">
                  <c:v>220</c:v>
                </c:pt>
                <c:pt idx="2">
                  <c:v>280</c:v>
                </c:pt>
                <c:pt idx="3">
                  <c:v>340</c:v>
                </c:pt>
                <c:pt idx="4">
                  <c:v>380</c:v>
                </c:pt>
                <c:pt idx="5">
                  <c:v>420</c:v>
                </c:pt>
                <c:pt idx="6">
                  <c:v>440</c:v>
                </c:pt>
                <c:pt idx="7">
                  <c:v>520</c:v>
                </c:pt>
                <c:pt idx="8">
                  <c:v>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00-7F45-8B43-88DBAEF42A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243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8"/>
                </a:solidFill>
                <a:latin typeface="Syn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4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8"/>
                </a:solidFill>
                <a:latin typeface="JetBrai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6080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99A8"/>
              </a:solidFill>
              <a:latin typeface="Syne"/>
              <a:cs typeface="Syne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Guyana</c:v>
                </c:pt>
              </c:strCache>
            </c:strRef>
          </c:tx>
          <c:spPr>
            <a:ln w="25400" cap="flat">
              <a:solidFill>
                <a:srgbClr val="00FF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FF88"/>
              </a:solidFill>
              <a:ln w="9525" cap="flat">
                <a:solidFill>
                  <a:srgbClr val="00FF88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2020</c:v>
                </c:pt>
                <c:pt idx="6">
                  <c:v>2022</c:v>
                </c:pt>
                <c:pt idx="7">
                  <c:v>2024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3200</c:v>
                </c:pt>
                <c:pt idx="1">
                  <c:v>3800</c:v>
                </c:pt>
                <c:pt idx="2">
                  <c:v>4200</c:v>
                </c:pt>
                <c:pt idx="3">
                  <c:v>4600</c:v>
                </c:pt>
                <c:pt idx="4">
                  <c:v>5100</c:v>
                </c:pt>
                <c:pt idx="5">
                  <c:v>6800</c:v>
                </c:pt>
                <c:pt idx="6">
                  <c:v>18000</c:v>
                </c:pt>
                <c:pt idx="7">
                  <c:v>25000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E4-3842-BA21-718BAEA2AC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Guyane française</c:v>
                </c:pt>
              </c:strCache>
            </c:strRef>
          </c:tx>
          <c:spPr>
            <a:ln w="25400" cap="flat">
              <a:solidFill>
                <a:srgbClr val="00D4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2020</c:v>
                </c:pt>
                <c:pt idx="6">
                  <c:v>2022</c:v>
                </c:pt>
                <c:pt idx="7">
                  <c:v>2024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14000</c:v>
                </c:pt>
                <c:pt idx="1">
                  <c:v>14500</c:v>
                </c:pt>
                <c:pt idx="2">
                  <c:v>15000</c:v>
                </c:pt>
                <c:pt idx="3">
                  <c:v>15500</c:v>
                </c:pt>
                <c:pt idx="4">
                  <c:v>16000</c:v>
                </c:pt>
                <c:pt idx="5">
                  <c:v>16200</c:v>
                </c:pt>
                <c:pt idx="6">
                  <c:v>16500</c:v>
                </c:pt>
                <c:pt idx="7">
                  <c:v>16800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E4-3842-BA21-718BAEA2AC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2430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8"/>
                </a:solidFill>
                <a:latin typeface="Syn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24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9A8"/>
                </a:solidFill>
                <a:latin typeface="JetBrai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6080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99A8"/>
              </a:solidFill>
              <a:latin typeface="Syne"/>
              <a:cs typeface="Syne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672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548640" y="45720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0D4FF"/>
          </a:solidFill>
          <a:ln/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548640" y="457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1280160" y="502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749040" y="52120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3749040" y="5212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ÉTUDES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" y="16459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potentiel minier de la</a:t>
            </a:r>
            <a:endParaRPr lang="en-US" sz="3400" dirty="0"/>
          </a:p>
          <a:p>
            <a:pPr marL="0" indent="0">
              <a:buNone/>
            </a:pPr>
            <a:r>
              <a:rPr lang="en-US" sz="34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Guyane française</a:t>
            </a:r>
            <a:endParaRPr lang="en-US" sz="3400" dirty="0"/>
          </a:p>
        </p:txBody>
      </p:sp>
      <p:sp>
        <p:nvSpPr>
          <p:cNvPr id="24" name="Shape 21"/>
          <p:cNvSpPr/>
          <p:nvPr/>
        </p:nvSpPr>
        <p:spPr>
          <a:xfrm>
            <a:off x="548640" y="3108960"/>
            <a:ext cx="1371600" cy="45720"/>
          </a:xfrm>
          <a:prstGeom prst="rect">
            <a:avLst/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Une ressource stratégique inexploitée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Février 2026 — Où Va l'Argent — Études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58000" y="4572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SOMMAIRE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Sommaire</a:t>
            </a:r>
            <a:endParaRPr lang="en-US" sz="2800" dirty="0"/>
          </a:p>
        </p:txBody>
      </p:sp>
      <p:sp>
        <p:nvSpPr>
          <p:cNvPr id="26" name="Shape 23"/>
          <p:cNvSpPr/>
          <p:nvPr/>
        </p:nvSpPr>
        <p:spPr>
          <a:xfrm>
            <a:off x="457200" y="1417320"/>
            <a:ext cx="8229600" cy="3017520"/>
          </a:xfrm>
          <a:prstGeom prst="roundRect">
            <a:avLst>
              <a:gd name="adj" fmla="val 363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7" name="Text 24"/>
          <p:cNvSpPr/>
          <p:nvPr/>
        </p:nvSpPr>
        <p:spPr>
          <a:xfrm>
            <a:off x="640080" y="1554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280160" y="1554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Pourquoi la Guyane maintenant ?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280160" y="1874520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777240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" y="19385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80160" y="19385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Géologie : un bouclier de 2 milliards d'années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1280160" y="2258568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7772400" y="19385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40080" y="23225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280160" y="232257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 sous-sol d'une richesse exceptionnelle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1280160" y="2642616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  <p:txBody>
          <a:bodyPr/>
          <a:lstStyle/>
          <a:p>
            <a:endParaRPr lang="en-FR"/>
          </a:p>
        </p:txBody>
      </p:sp>
      <p:sp>
        <p:nvSpPr>
          <p:cNvPr id="38" name="Text 35"/>
          <p:cNvSpPr/>
          <p:nvPr/>
        </p:nvSpPr>
        <p:spPr>
          <a:xfrm>
            <a:off x="7772400" y="232257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40080" y="270662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1280160" y="27066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L'or : entre potentiel et paralysie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1280160" y="3026664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7772400" y="270662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40080" y="30906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280160" y="30906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L'orpaillage illégal : un fléau souverain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1280160" y="3410712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  <p:txBody>
          <a:bodyPr/>
          <a:lstStyle/>
          <a:p>
            <a:endParaRPr lang="en-FR"/>
          </a:p>
        </p:txBody>
      </p:sp>
      <p:sp>
        <p:nvSpPr>
          <p:cNvPr id="46" name="Text 43"/>
          <p:cNvSpPr/>
          <p:nvPr/>
        </p:nvSpPr>
        <p:spPr>
          <a:xfrm>
            <a:off x="7772400" y="3090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40080" y="3474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1280160" y="3474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prix écologique de l'inaction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1280160" y="3794760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  <p:txBody>
          <a:bodyPr/>
          <a:lstStyle/>
          <a:p>
            <a:endParaRPr lang="en-FR"/>
          </a:p>
        </p:txBody>
      </p:sp>
      <p:sp>
        <p:nvSpPr>
          <p:cNvPr id="50" name="Text 47"/>
          <p:cNvSpPr/>
          <p:nvPr/>
        </p:nvSpPr>
        <p:spPr>
          <a:xfrm>
            <a:off x="7772400" y="3474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40080" y="38587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1280160" y="38587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Une économie fragile en quête de moteur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1280160" y="4178808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  <p:txBody>
          <a:bodyPr/>
          <a:lstStyle/>
          <a:p>
            <a:endParaRPr lang="en-FR"/>
          </a:p>
        </p:txBody>
      </p:sp>
      <p:sp>
        <p:nvSpPr>
          <p:cNvPr id="54" name="Text 51"/>
          <p:cNvSpPr/>
          <p:nvPr/>
        </p:nvSpPr>
        <p:spPr>
          <a:xfrm>
            <a:off x="7772400" y="38587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SOMMAIRE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Sommaire</a:t>
            </a:r>
            <a:endParaRPr lang="en-US" sz="2800" dirty="0"/>
          </a:p>
        </p:txBody>
      </p:sp>
      <p:sp>
        <p:nvSpPr>
          <p:cNvPr id="26" name="Shape 23"/>
          <p:cNvSpPr/>
          <p:nvPr/>
        </p:nvSpPr>
        <p:spPr>
          <a:xfrm>
            <a:off x="457200" y="1417320"/>
            <a:ext cx="8229600" cy="3017520"/>
          </a:xfrm>
          <a:prstGeom prst="roundRect">
            <a:avLst>
              <a:gd name="adj" fmla="val 363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7" name="Text 24"/>
          <p:cNvSpPr/>
          <p:nvPr/>
        </p:nvSpPr>
        <p:spPr>
          <a:xfrm>
            <a:off x="640080" y="1554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280160" y="1554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 cadre réglementaire qui freine le développement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280160" y="1874520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7772400" y="1554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" y="19385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80160" y="19385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Ce que font les voisins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1280160" y="2258568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7772400" y="19385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40080" y="23225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280160" y="232257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Combien vaut le sous-sol guyanais ?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1280160" y="2642616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  <p:txBody>
          <a:bodyPr/>
          <a:lstStyle/>
          <a:p>
            <a:endParaRPr lang="en-FR"/>
          </a:p>
        </p:txBody>
      </p:sp>
      <p:sp>
        <p:nvSpPr>
          <p:cNvPr id="38" name="Text 35"/>
          <p:cNvSpPr/>
          <p:nvPr/>
        </p:nvSpPr>
        <p:spPr>
          <a:xfrm>
            <a:off x="7772400" y="232257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40080" y="270662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1280160" y="27066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Au-delà des mines : hydrogène vert et nouvelles filières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1280160" y="3026664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7772400" y="270662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40080" y="30906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280160" y="30906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Recommandations et conclusion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1280160" y="3410712"/>
            <a:ext cx="6675120" cy="0"/>
          </a:xfrm>
          <a:prstGeom prst="line">
            <a:avLst/>
          </a:prstGeom>
          <a:noFill/>
          <a:ln w="6350">
            <a:solidFill>
              <a:srgbClr val="1A2430"/>
            </a:solidFill>
            <a:prstDash val="dot"/>
          </a:ln>
        </p:spPr>
        <p:txBody>
          <a:bodyPr/>
          <a:lstStyle/>
          <a:p>
            <a:endParaRPr lang="en-FR"/>
          </a:p>
        </p:txBody>
      </p:sp>
      <p:sp>
        <p:nvSpPr>
          <p:cNvPr id="46" name="Text 43"/>
          <p:cNvSpPr/>
          <p:nvPr/>
        </p:nvSpPr>
        <p:spPr>
          <a:xfrm>
            <a:off x="7772400" y="3090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5036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3266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1496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39725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SYNTHÈSE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52120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 sz="1600"/>
          </a:p>
        </p:txBody>
      </p:sp>
      <p:sp>
        <p:nvSpPr>
          <p:cNvPr id="24" name="Text 21"/>
          <p:cNvSpPr/>
          <p:nvPr/>
        </p:nvSpPr>
        <p:spPr>
          <a:xfrm>
            <a:off x="365761" y="482295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BRGM, INSEE, Eurostat, rapports parlementaires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040880" y="48051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114800" y="4612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Synthèse : cinq constats clés sur le potentiel minier guyanais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32080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 sz="1600"/>
          </a:p>
        </p:txBody>
      </p:sp>
      <p:sp>
        <p:nvSpPr>
          <p:cNvPr id="29" name="Shape 26"/>
          <p:cNvSpPr/>
          <p:nvPr/>
        </p:nvSpPr>
        <p:spPr>
          <a:xfrm>
            <a:off x="457200" y="1320800"/>
            <a:ext cx="54864" cy="621792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 sz="1600"/>
          </a:p>
        </p:txBody>
      </p:sp>
      <p:sp>
        <p:nvSpPr>
          <p:cNvPr id="30" name="Text 27"/>
          <p:cNvSpPr/>
          <p:nvPr/>
        </p:nvSpPr>
        <p:spPr>
          <a:xfrm>
            <a:off x="685800" y="1366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 sous-sol parmi les plus riches au monde, largement inexploré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5800" y="16682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craton guyanais (2 Md d'années) recèle or, coltan, tantale, terres rares, bauxite, kaolin, diamants. 98 % du territoire n'a fait l'objet d'aucune prospection minière moderne.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2034032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 sz="1600"/>
          </a:p>
        </p:txBody>
      </p:sp>
      <p:sp>
        <p:nvSpPr>
          <p:cNvPr id="33" name="Shape 30"/>
          <p:cNvSpPr/>
          <p:nvPr/>
        </p:nvSpPr>
        <p:spPr>
          <a:xfrm>
            <a:off x="457200" y="2034032"/>
            <a:ext cx="54864" cy="621792"/>
          </a:xfrm>
          <a:prstGeom prst="rect">
            <a:avLst/>
          </a:prstGeom>
          <a:solidFill>
            <a:srgbClr val="FFD700"/>
          </a:solidFill>
          <a:ln/>
          <a:effectLst>
            <a:outerShdw blurRad="508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 sz="1600"/>
          </a:p>
        </p:txBody>
      </p:sp>
      <p:sp>
        <p:nvSpPr>
          <p:cNvPr id="34" name="Text 31"/>
          <p:cNvSpPr/>
          <p:nvPr/>
        </p:nvSpPr>
        <p:spPr>
          <a:xfrm>
            <a:off x="685800" y="20797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L'orpaillage illégal représente un fléau souverain majeur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85800" y="23815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~6 t d'or extraites illégalement par an, 8 000 garimpeiros, ~500 sites actifs. 13 t de mercure déversées chaque année. Coût estimé &gt; 500 M€/an.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" y="2747264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 sz="1600"/>
          </a:p>
        </p:txBody>
      </p:sp>
      <p:sp>
        <p:nvSpPr>
          <p:cNvPr id="37" name="Shape 34"/>
          <p:cNvSpPr/>
          <p:nvPr/>
        </p:nvSpPr>
        <p:spPr>
          <a:xfrm>
            <a:off x="457200" y="2747264"/>
            <a:ext cx="54864" cy="621792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 sz="1600"/>
          </a:p>
        </p:txBody>
      </p:sp>
      <p:sp>
        <p:nvSpPr>
          <p:cNvPr id="38" name="Text 35"/>
          <p:cNvSpPr/>
          <p:nvPr/>
        </p:nvSpPr>
        <p:spPr>
          <a:xfrm>
            <a:off x="685800" y="27929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L'UE dépend à 98 % de la Chine pour ses terres rares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85800" y="30947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Critical Raw Materials Act (2024) et le plan ReSourceEU (3 Md€) ouvrent une fenêtre d'opportunité stratégique pour la Guyane.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57200" y="3460496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 sz="1600"/>
          </a:p>
        </p:txBody>
      </p:sp>
      <p:sp>
        <p:nvSpPr>
          <p:cNvPr id="41" name="Shape 38"/>
          <p:cNvSpPr/>
          <p:nvPr/>
        </p:nvSpPr>
        <p:spPr>
          <a:xfrm>
            <a:off x="457200" y="3460496"/>
            <a:ext cx="54864" cy="621792"/>
          </a:xfrm>
          <a:prstGeom prst="rect">
            <a:avLst/>
          </a:prstGeom>
          <a:solidFill>
            <a:srgbClr val="A855F7"/>
          </a:solidFill>
          <a:ln/>
          <a:effectLst>
            <a:outerShdw blurRad="50800" dist="50800" dir="16200000" algn="bl" rotWithShape="0">
              <a:srgbClr val="A855F7">
                <a:alpha val="40000"/>
              </a:srgbClr>
            </a:outerShdw>
          </a:effectLst>
        </p:spPr>
        <p:txBody>
          <a:bodyPr/>
          <a:lstStyle/>
          <a:p>
            <a:endParaRPr lang="en-FR" sz="1600"/>
          </a:p>
        </p:txBody>
      </p:sp>
      <p:sp>
        <p:nvSpPr>
          <p:cNvPr id="42" name="Text 39"/>
          <p:cNvSpPr/>
          <p:nvPr/>
        </p:nvSpPr>
        <p:spPr>
          <a:xfrm>
            <a:off x="685800" y="350621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Les voisins exploitent le même bouclier géologique avec succès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85800" y="380796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Guyana a connu +62 % de croissance en 2022 grâce à ses ressources naturelles. Le Suriname développe activement son secteur minier.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57200" y="4173728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 sz="1600"/>
          </a:p>
        </p:txBody>
      </p:sp>
      <p:sp>
        <p:nvSpPr>
          <p:cNvPr id="45" name="Shape 42"/>
          <p:cNvSpPr/>
          <p:nvPr/>
        </p:nvSpPr>
        <p:spPr>
          <a:xfrm>
            <a:off x="457200" y="4173728"/>
            <a:ext cx="54864" cy="621792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 sz="1600"/>
          </a:p>
        </p:txBody>
      </p:sp>
      <p:sp>
        <p:nvSpPr>
          <p:cNvPr id="46" name="Text 43"/>
          <p:cNvSpPr/>
          <p:nvPr/>
        </p:nvSpPr>
        <p:spPr>
          <a:xfrm>
            <a:off x="685800" y="42194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cadre réglementaire français paralyse tout développement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85800" y="45212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Délai moyen d'obtention d'un permis minier : ~10 ans en France vs 2 ans en Australie. Montagne d'Or (80 t d'or, 3 Md$) rejeté.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00D4FF"/>
          </a:solidFill>
          <a:ln/>
          <a:effectLst>
            <a:outerShdw blurRad="1524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Pourquoi la Guyane maintenant ?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Contexte géostratégique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GÉOSTRATÉGIE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Commission européenne, Eurostat, CRM Act 2024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dépendance européenne aux métaux critiques </a:t>
            </a:r>
            <a:r>
              <a:rPr lang="en-US" sz="2200" dirty="0" err="1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extérieurs</a:t>
            </a: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est </a:t>
            </a:r>
            <a:r>
              <a:rPr lang="en-US" sz="2200" dirty="0" err="1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totale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9436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Dépendance UE — terres rares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436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98%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9436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Provenance : Chine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Commission européenne, 2024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9184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Shape 32"/>
          <p:cNvSpPr/>
          <p:nvPr/>
        </p:nvSpPr>
        <p:spPr>
          <a:xfrm>
            <a:off x="329184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342900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Dépendance UE — lithium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42900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79%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342900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Importé de Chili et Australie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42900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Eurostat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12648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612648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626364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Dépendance UE — cobalt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6364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68%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26364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RDC premier fournisseur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6364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Commission européenne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720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Shape 44"/>
          <p:cNvSpPr/>
          <p:nvPr/>
        </p:nvSpPr>
        <p:spPr>
          <a:xfrm>
            <a:off x="45720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8" name="Text 45"/>
          <p:cNvSpPr/>
          <p:nvPr/>
        </p:nvSpPr>
        <p:spPr>
          <a:xfrm>
            <a:off x="59436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Objectif CRM Act 2030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9436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10%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59436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Extraction domestique UE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9436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Règlement (UE) 2024/1252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29184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3" name="Shape 50"/>
          <p:cNvSpPr/>
          <p:nvPr/>
        </p:nvSpPr>
        <p:spPr>
          <a:xfrm>
            <a:off x="329184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4" name="Text 51"/>
          <p:cNvSpPr/>
          <p:nvPr/>
        </p:nvSpPr>
        <p:spPr>
          <a:xfrm>
            <a:off x="342900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Budget ReSourceEU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342900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Md€</a:t>
            </a:r>
            <a:endParaRPr lang="en-US" sz="2400" dirty="0"/>
          </a:p>
        </p:txBody>
      </p:sp>
      <p:sp>
        <p:nvSpPr>
          <p:cNvPr id="56" name="Text 53"/>
          <p:cNvSpPr/>
          <p:nvPr/>
        </p:nvSpPr>
        <p:spPr>
          <a:xfrm>
            <a:off x="342900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Programme 2025-2030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42900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Commission européenne, nov. 2024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612648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9" name="Shape 56"/>
          <p:cNvSpPr/>
          <p:nvPr/>
        </p:nvSpPr>
        <p:spPr>
          <a:xfrm>
            <a:off x="612648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0" name="Text 57"/>
          <p:cNvSpPr/>
          <p:nvPr/>
        </p:nvSpPr>
        <p:spPr>
          <a:xfrm>
            <a:off x="626364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Métaux critiques identifiés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26364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</a:t>
            </a:r>
            <a:endParaRPr lang="en-US" sz="2400" dirty="0"/>
          </a:p>
        </p:txBody>
      </p:sp>
      <p:sp>
        <p:nvSpPr>
          <p:cNvPr id="62" name="Text 59"/>
          <p:cNvSpPr/>
          <p:nvPr/>
        </p:nvSpPr>
        <p:spPr>
          <a:xfrm>
            <a:off x="626364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Liste UE mise à jour 2023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26364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CRM Act Annexe 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GÉOSTRATÉGIE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Commission européenne — CRM Act 2024, BRGM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L'UE importe 98 % de ses terres rares de Chine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Matière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Part Chine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Part autres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Criticité UE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Guyane ?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Terres rares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98%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2% (Myanmar)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★★★★★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✓ Potentiel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Lithium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79%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Chili, Australie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★★★★★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✓ Indices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Tantale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34%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RDC, Rwanda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★★★★☆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✓ 30 gisements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Cobalt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68%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RDC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★★★★★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? À explorer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Niobium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85%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Brésil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★★★★☆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✓ Potentiel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Bauxite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30%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Guinée, Australie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★★★☆☆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✓ Gisements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Or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—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Diversifié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★★★☆☆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✓ 80+ tonnes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GÉOSTRATÉGIE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Commission européenne, Règlement (UE) 2024/1252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Critical Raw Materials Act ouvre une fenêtre d'opportunité stratégique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365760" y="1463040"/>
            <a:ext cx="8412480" cy="3017520"/>
          </a:xfrm>
          <a:prstGeom prst="roundRect">
            <a:avLst>
              <a:gd name="adj" fmla="val 363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Text 26"/>
          <p:cNvSpPr/>
          <p:nvPr/>
        </p:nvSpPr>
        <p:spPr>
          <a:xfrm>
            <a:off x="548640" y="16002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Critical Raw Materials Act (mars 2024)
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Règlement européen fixant des objectifs contraignants d'ici 2030 :
</a:t>
            </a:r>
            <a:r>
              <a:rPr lang="en-US" sz="1100" dirty="0">
                <a:solidFill>
                  <a:srgbClr val="00D4FF"/>
                </a:solidFill>
              </a:rPr>
              <a:t>• 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10 % d'extraction domestique (vs ~3 % aujourd'hui)
</a:t>
            </a:r>
            <a:r>
              <a:rPr lang="en-US" sz="1100" dirty="0">
                <a:solidFill>
                  <a:srgbClr val="00D4FF"/>
                </a:solidFill>
              </a:rPr>
              <a:t>• 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40 % de transformation sur le sol européen
</a:t>
            </a:r>
            <a:r>
              <a:rPr lang="en-US" sz="1100" dirty="0">
                <a:solidFill>
                  <a:srgbClr val="00D4FF"/>
                </a:solidFill>
              </a:rPr>
              <a:t>• 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25 % de recyclage des matières critiques
</a:t>
            </a:r>
            <a:r>
              <a:rPr lang="en-US" sz="1400" b="1" dirty="0">
                <a:solidFill>
                  <a:srgbClr val="FFD7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Plan ReSourceEU (novembre 2024)
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Budget : 3 milliards d'euros sur 2025-2030
• Financement de projets d'extraction et de raffinage en Europe
</a:t>
            </a:r>
            <a:r>
              <a:rPr lang="en-US" sz="1100" i="1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La Guyane, seul territoire européen sur un craton archéen riche en métaux critiques, pourrait capter une part significative de ces financements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00D4FF"/>
          </a:solidFill>
          <a:ln/>
          <a:effectLst>
            <a:outerShdw blurRad="1524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Géologie : un bouclier de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 milliards d'années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craton guyanais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GÉOLOGIE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BRGM — Inventaire minier de la Guyane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craton guyanais : l'une des formations géologiques les plus riches au monde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365760" y="1463040"/>
            <a:ext cx="8412480" cy="3017520"/>
          </a:xfrm>
          <a:prstGeom prst="roundRect">
            <a:avLst>
              <a:gd name="adj" fmla="val 363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Text 26"/>
          <p:cNvSpPr/>
          <p:nvPr/>
        </p:nvSpPr>
        <p:spPr>
          <a:xfrm>
            <a:off x="548640" y="16002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 socle précambrien exceptionnel
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bouclier guyanais est un craton archéen et protérozoïque âgé de 1,7 à 2,2 milliards d'années. Il s'étend sur 1,5 million de km² du Venezuela au Brésil, en passant par le Guyana, le Suriname et la Guyane française.
</a:t>
            </a:r>
            <a:r>
              <a:rPr lang="en-US" sz="1400" b="1" dirty="0">
                <a:solidFill>
                  <a:srgbClr val="FFD7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Pourquoi c'est important
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Les cratons archéens sont les formations géologiques les plus riches en minerais au monde. Les grands districts miniers — Pilbara (Australie), Witwatersrand (Afrique du Sud), Abitibi (Canada) — reposent tous sur ce type de socle.
</a:t>
            </a:r>
            <a:r>
              <a:rPr lang="en-US" sz="1400" b="1" dirty="0">
                <a:solidFill>
                  <a:srgbClr val="00FF8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Guyane : 84 000 km² sur ce bouclier
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C'est le seul territoire de l'UE situé sur un craton archéen. Recouvert à 96 % de forêt amazonienne, son sous-sol reste largement inexploré par les méthodes modernes. Le BRGM estime que seuls 2 % du territoire ont fait l'objet d'une cartographie géologique détaillée.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GÉOLOGIE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BRGM, Banque mondiale, statistiques nationales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Même géologie, trajectoires opposées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17320"/>
            <a:ext cx="2560320" cy="45720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🇬🇾 Guyana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1965960"/>
            <a:ext cx="219456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594360" y="2103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Secteur minier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28% du PIB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Production or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9436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t/an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94360" y="3017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Permis actifs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9436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1 000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9436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Croissance 2022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9436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+62%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329184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3291840" y="1417320"/>
            <a:ext cx="2560320" cy="45720"/>
          </a:xfrm>
          <a:prstGeom prst="rect">
            <a:avLst/>
          </a:prstGeom>
          <a:solidFill>
            <a:srgbClr val="FFD700"/>
          </a:solidFill>
          <a:ln/>
          <a:effectLst>
            <a:outerShdw blurRad="508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🇸🇷 Suriname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3474720" y="1965960"/>
            <a:ext cx="219456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4" name="Text 41"/>
          <p:cNvSpPr/>
          <p:nvPr/>
        </p:nvSpPr>
        <p:spPr>
          <a:xfrm>
            <a:off x="3429000" y="2103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Secteur minier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342900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20% du PIB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342900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Production or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42900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t/an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3429000" y="3017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Permis actifs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342900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200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342900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Projet Merian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342900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1,4 Md$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612648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FF475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3" name="Shape 50"/>
          <p:cNvSpPr/>
          <p:nvPr/>
        </p:nvSpPr>
        <p:spPr>
          <a:xfrm>
            <a:off x="6126480" y="1417320"/>
            <a:ext cx="2560320" cy="45720"/>
          </a:xfrm>
          <a:prstGeom prst="rect">
            <a:avLst/>
          </a:prstGeom>
          <a:solidFill>
            <a:srgbClr val="FF4757"/>
          </a:solidFill>
          <a:ln/>
          <a:effectLst>
            <a:outerShdw blurRad="50800" dist="50800" dir="16200000" algn="bl" rotWithShape="0">
              <a:srgbClr val="FF475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4" name="Text 51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🇫🇷 Guyane fr.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309360" y="1965960"/>
            <a:ext cx="219456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6" name="Text 53"/>
          <p:cNvSpPr/>
          <p:nvPr/>
        </p:nvSpPr>
        <p:spPr>
          <a:xfrm>
            <a:off x="6263640" y="2103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Secteur minier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626364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1% du PIB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626364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Production or légale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26364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~1,5 t/an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6263640" y="3017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Permis actifs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26364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~30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626364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Montagne d'Or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26364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Rejeté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GÉOLOGIE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BRGM — Inventaire du domaine minier guyanais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 inventaire BRGM identifie des gisements majeurs sur tout le territoire</a:t>
            </a:r>
            <a:endParaRPr lang="en-US" sz="22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65760" y="1463040"/>
          <a:ext cx="47548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Shape 25"/>
          <p:cNvSpPr/>
          <p:nvPr/>
        </p:nvSpPr>
        <p:spPr>
          <a:xfrm>
            <a:off x="5577840" y="137160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6"/>
          <p:cNvSpPr/>
          <p:nvPr/>
        </p:nvSpPr>
        <p:spPr>
          <a:xfrm>
            <a:off x="571500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ANALYSE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715000" y="1755648"/>
            <a:ext cx="274320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Shape 28"/>
          <p:cNvSpPr/>
          <p:nvPr/>
        </p:nvSpPr>
        <p:spPr>
          <a:xfrm>
            <a:off x="5715000" y="190195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3" name="Text 29"/>
          <p:cNvSpPr/>
          <p:nvPr/>
        </p:nvSpPr>
        <p:spPr>
          <a:xfrm>
            <a:off x="5897880" y="1874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47 gisements d'or répertoriés, dont Montagne d'Or (80+ t)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715000" y="249631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5" name="Text 31"/>
          <p:cNvSpPr/>
          <p:nvPr/>
        </p:nvSpPr>
        <p:spPr>
          <a:xfrm>
            <a:off x="5897880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30 indices de tantale/coltan — aucune exploitation depuis 1990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715000" y="309067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7" name="Text 33"/>
          <p:cNvSpPr/>
          <p:nvPr/>
        </p:nvSpPr>
        <p:spPr>
          <a:xfrm>
            <a:off x="5897880" y="30632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12 gisements de bauxite identifiés dans le nord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5715000" y="368503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9" name="Text 35"/>
          <p:cNvSpPr/>
          <p:nvPr/>
        </p:nvSpPr>
        <p:spPr>
          <a:xfrm>
            <a:off x="5897880" y="36576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Prospection moderne sur &lt; 2% du territoire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00D4FF"/>
          </a:solidFill>
          <a:ln/>
          <a:effectLst>
            <a:outerShdw blurRad="1524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 sous-sol d'une richesse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exceptionnelle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Inventaire des ressources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RESSOURCES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BRGM, NordGold, DREAL Guyane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Montagne d'Or seul représente 80+ tonnes de réserves identifiées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9436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Réserves Montagne d'Or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436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80+ t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9436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Projet avorté en 2024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NordGold / Oréa Mining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9184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Shape 32"/>
          <p:cNvSpPr/>
          <p:nvPr/>
        </p:nvSpPr>
        <p:spPr>
          <a:xfrm>
            <a:off x="329184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342900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Valeur estimée (cours 2025)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42900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~7 Md€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342900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 cours de ~2 200 $/oz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42900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Calcul sur réserves prouvées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12648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612648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626364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Production or légale/an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6364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1,5 t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26364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 6 t illégales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6364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DREAL Guyane, 2024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720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Shape 44"/>
          <p:cNvSpPr/>
          <p:nvPr/>
        </p:nvSpPr>
        <p:spPr>
          <a:xfrm>
            <a:off x="45720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8" name="Text 45"/>
          <p:cNvSpPr/>
          <p:nvPr/>
        </p:nvSpPr>
        <p:spPr>
          <a:xfrm>
            <a:off x="59436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Emplois directs projetés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9436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750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59436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Montagne d'Or seul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9436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Étude d'impact 2018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29184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3" name="Shape 50"/>
          <p:cNvSpPr/>
          <p:nvPr/>
        </p:nvSpPr>
        <p:spPr>
          <a:xfrm>
            <a:off x="329184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4" name="Text 51"/>
          <p:cNvSpPr/>
          <p:nvPr/>
        </p:nvSpPr>
        <p:spPr>
          <a:xfrm>
            <a:off x="342900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Gisements or identifiés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342900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47</a:t>
            </a:r>
            <a:endParaRPr lang="en-US" sz="2400" dirty="0"/>
          </a:p>
        </p:txBody>
      </p:sp>
      <p:sp>
        <p:nvSpPr>
          <p:cNvPr id="56" name="Text 53"/>
          <p:cNvSpPr/>
          <p:nvPr/>
        </p:nvSpPr>
        <p:spPr>
          <a:xfrm>
            <a:off x="342900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BRGM inventaire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42900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Sur 2% du territoire exploré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612648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9" name="Shape 56"/>
          <p:cNvSpPr/>
          <p:nvPr/>
        </p:nvSpPr>
        <p:spPr>
          <a:xfrm>
            <a:off x="612648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0" name="Text 57"/>
          <p:cNvSpPr/>
          <p:nvPr/>
        </p:nvSpPr>
        <p:spPr>
          <a:xfrm>
            <a:off x="626364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Durée de vie estimée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26364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ans</a:t>
            </a:r>
            <a:endParaRPr lang="en-US" sz="2400" dirty="0"/>
          </a:p>
        </p:txBody>
      </p:sp>
      <p:sp>
        <p:nvSpPr>
          <p:cNvPr id="62" name="Text 59"/>
          <p:cNvSpPr/>
          <p:nvPr/>
        </p:nvSpPr>
        <p:spPr>
          <a:xfrm>
            <a:off x="626364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Mine Montagne d'Or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26364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Phase exploitation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RESSOURCES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BRGM — Inventaire minier, DREAL Guyane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Inventaire complet des ressources identifiées en Guyane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7889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Ressource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Gisements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Réserves est.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Valeur est.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Statut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Or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47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100+ tonnes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~8 Md€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Exploitation très limitée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Tantale/Coltan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30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Non quantifié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Stratégique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Aucune prod. depuis 1990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Bauxite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12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&gt; 20 Mt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~500 M€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Non exploité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Kaolin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&gt; 5 Mt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~200 M€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Non exploité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Diamants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Non quantifié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Inconnu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Artisanal historique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Terres rares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 indices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À confirmer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Stratégique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Prospection BRGM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Niobium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 indices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À confirmer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Stratégique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Prospection BRGM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RESSOURCES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BRGM, estimations Où Va l'Argent (cours 2025)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Valeur estimée des réserves identifiées : plus de 10 milliards d'euros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6576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Md€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27463" y="2047539"/>
            <a:ext cx="822960" cy="1792941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790303" y="1791507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750423" y="2047539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744583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220686" y="1935480"/>
            <a:ext cx="822960" cy="112059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2083526" y="16794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+0.5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043646" y="1935480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2037806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Bauxite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513909" y="1890656"/>
            <a:ext cx="822960" cy="45720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8" name="Text 35"/>
          <p:cNvSpPr/>
          <p:nvPr/>
        </p:nvSpPr>
        <p:spPr>
          <a:xfrm>
            <a:off x="3376749" y="16346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+0.2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336869" y="1890656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3331029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Kaolin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807131" y="1666539"/>
            <a:ext cx="822960" cy="224118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4669971" y="1410507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630091" y="1666539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44" name="Text 41"/>
          <p:cNvSpPr/>
          <p:nvPr/>
        </p:nvSpPr>
        <p:spPr>
          <a:xfrm>
            <a:off x="4624251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Tantale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100354" y="1554480"/>
            <a:ext cx="822960" cy="112059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6" name="Text 43"/>
          <p:cNvSpPr/>
          <p:nvPr/>
        </p:nvSpPr>
        <p:spPr>
          <a:xfrm>
            <a:off x="5963194" y="12984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+0.5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917474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Autres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393577" y="1554480"/>
            <a:ext cx="822960" cy="2286000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9" name="Text 46"/>
          <p:cNvSpPr/>
          <p:nvPr/>
        </p:nvSpPr>
        <p:spPr>
          <a:xfrm>
            <a:off x="7256417" y="12984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210697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Total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6350">
            <a:solidFill>
              <a:srgbClr val="4A5A6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RESSOURCES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BRGM, USGS, London Metal Exchange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Coltan et tantale : 30 gisements identifiés, production nulle depuis 1990</a:t>
            </a:r>
            <a:endParaRPr lang="en-US" sz="22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65760" y="1463040"/>
          <a:ext cx="47548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Shape 25"/>
          <p:cNvSpPr/>
          <p:nvPr/>
        </p:nvSpPr>
        <p:spPr>
          <a:xfrm>
            <a:off x="5577840" y="137160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6"/>
          <p:cNvSpPr/>
          <p:nvPr/>
        </p:nvSpPr>
        <p:spPr>
          <a:xfrm>
            <a:off x="571500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ANALYSE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715000" y="1755648"/>
            <a:ext cx="274320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Shape 28"/>
          <p:cNvSpPr/>
          <p:nvPr/>
        </p:nvSpPr>
        <p:spPr>
          <a:xfrm>
            <a:off x="5715000" y="190195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3" name="Text 29"/>
          <p:cNvSpPr/>
          <p:nvPr/>
        </p:nvSpPr>
        <p:spPr>
          <a:xfrm>
            <a:off x="5897880" y="1874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Production arrêtée en 1990 malgré 30 gisements connus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715000" y="249631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5" name="Text 31"/>
          <p:cNvSpPr/>
          <p:nvPr/>
        </p:nvSpPr>
        <p:spPr>
          <a:xfrm>
            <a:off x="5897880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tantale est classé "critique" par l'UE (batteries, électronique)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715000" y="309067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7" name="Text 33"/>
          <p:cNvSpPr/>
          <p:nvPr/>
        </p:nvSpPr>
        <p:spPr>
          <a:xfrm>
            <a:off x="5897880" y="30632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Prix mondial x3 en 10 ans : de 40 $/lb à 120 $/lb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5715000" y="368503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9" name="Text 35"/>
          <p:cNvSpPr/>
          <p:nvPr/>
        </p:nvSpPr>
        <p:spPr>
          <a:xfrm>
            <a:off x="5897880" y="36576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RDC (conflit) et le Rwanda dominent le marché mondial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RESSOURCES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Commission européenne, BRGM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Ressources critiques UE : ce que la Guyane pourrait fournir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FF475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17320"/>
            <a:ext cx="2560320" cy="45720"/>
          </a:xfrm>
          <a:prstGeom prst="rect">
            <a:avLst/>
          </a:prstGeom>
          <a:solidFill>
            <a:srgbClr val="FF4757"/>
          </a:solidFill>
          <a:ln/>
          <a:effectLst>
            <a:outerShdw blurRad="50800" dist="50800" dir="16200000" algn="bl" rotWithShape="0">
              <a:srgbClr val="FF475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Imports UE actuels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1965960"/>
            <a:ext cx="219456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594360" y="2103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Terres rares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98% Chine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Tantale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9436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34% RDC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94360" y="3017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Bauxite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9436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30% Guinée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9436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9436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Diversifié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329184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3291840" y="1417320"/>
            <a:ext cx="2560320" cy="45720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Potentiel Guyane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3474720" y="1965960"/>
            <a:ext cx="219456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4" name="Text 41"/>
          <p:cNvSpPr/>
          <p:nvPr/>
        </p:nvSpPr>
        <p:spPr>
          <a:xfrm>
            <a:off x="3429000" y="2103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Terres rares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342900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Indices prometteurs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342900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Tantale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42900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gisements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3429000" y="3017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Bauxite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342900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20+ Mt réserves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342900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342900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100+ tonnes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612648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3" name="Shape 50"/>
          <p:cNvSpPr/>
          <p:nvPr/>
        </p:nvSpPr>
        <p:spPr>
          <a:xfrm>
            <a:off x="6126480" y="1417320"/>
            <a:ext cx="2560320" cy="45720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4" name="Text 51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Objectif CRM 2030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309360" y="1965960"/>
            <a:ext cx="219456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6" name="Text 53"/>
          <p:cNvSpPr/>
          <p:nvPr/>
        </p:nvSpPr>
        <p:spPr>
          <a:xfrm>
            <a:off x="6263640" y="2103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Extraction UE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626364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10%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626364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Transformation UE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26364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40%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6263640" y="3017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Recyclage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26364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25%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626364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Stock stratégique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26364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Oui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00D4FF"/>
          </a:solidFill>
          <a:ln/>
          <a:effectLst>
            <a:outerShdw blurRad="1524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L'or : entre potentiel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et paralysie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Production aurifère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DREAL Guyane, WWF, LBMA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Production légale quasi-nulle face à 6 tonnes/an d'extraction illégale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9436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Production légale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436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1,5 t/an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9436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Artisanal et petite mine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DREAL Guyane, 2024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9184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Shape 32"/>
          <p:cNvSpPr/>
          <p:nvPr/>
        </p:nvSpPr>
        <p:spPr>
          <a:xfrm>
            <a:off x="329184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342900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Extraction illégale estimée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42900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~6 t/an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342900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4x la prod. légale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42900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WWF, rapport Harpie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12648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612648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626364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Manque à gagner fiscal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6364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~200 M€/an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26364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Taxes + redevances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6364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Estimation parlementaire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720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Shape 44"/>
          <p:cNvSpPr/>
          <p:nvPr/>
        </p:nvSpPr>
        <p:spPr>
          <a:xfrm>
            <a:off x="45720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8" name="Text 45"/>
          <p:cNvSpPr/>
          <p:nvPr/>
        </p:nvSpPr>
        <p:spPr>
          <a:xfrm>
            <a:off x="59436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Cours or (fév. 2026)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9436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2 900 $/oz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59436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+85% en 5 ans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9436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London Bullion Market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NordGold, Oréa Mining, Conseil d'État, rapports parlementaires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Montagne d'Or : chronique d'un projet avorté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365760" y="1463040"/>
            <a:ext cx="8412480" cy="3017520"/>
          </a:xfrm>
          <a:prstGeom prst="roundRect">
            <a:avLst>
              <a:gd name="adj" fmla="val 363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Text 26"/>
          <p:cNvSpPr/>
          <p:nvPr/>
        </p:nvSpPr>
        <p:spPr>
          <a:xfrm>
            <a:off x="548640" y="16002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D7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plus grand projet minier de France
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Gisement : 80+ tonnes d'or, 2,5 km de long, à ciel ouvert
• Investissement prévu : 1 Md€ (NordGold + Oréa Mining)
• 750 emplois directs, 3 000 emplois indirects
• Durée de vie : 12 ans d'exploitation
</a:t>
            </a:r>
            <a:r>
              <a:rPr lang="en-US" sz="1400" b="1" dirty="0">
                <a:solidFill>
                  <a:srgbClr val="FF475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Chronologie du blocage
</a:t>
            </a:r>
            <a:r>
              <a:rPr lang="en-US" sz="10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2004 : Découverte du gisement par Iamgold
• 2017 : Macron qualifie le projet de "pas compatible" avec l'environnement
• 2019 : Refus des concessions par le Conseil d'État
• 2024 : Rejet définitif. NordGold lance un arbitrage international
</a:t>
            </a:r>
            <a:r>
              <a:rPr lang="en-US" sz="1000" dirty="0">
                <a:solidFill>
                  <a:srgbClr val="FF475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2025 : NordGold réclame 4,5 Md$ de dommages à la France
</a:t>
            </a:r>
            <a:r>
              <a:rPr lang="en-US" sz="10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Paradoxe : le rejet de Montagne d'Or n'a pas empêché l'orpaillage illégal, qui extrait autant d'or sans aucune norme environnementale.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Auplata Mining Group — rapports annuels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Auplata Mining Group : le seul acteur minier légal significatif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2402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Indicateur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2020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2022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2024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Tendance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Production or (kg)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350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480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520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↗ +49%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CA (M€)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12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22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28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↗ +133%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Employés Guyane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120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180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210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↗ +75%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Permis détenus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→ Stable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Investissement R&amp;D (M€)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1,2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2,5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3,8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↗ +217%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Cours action (€)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0,05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0,03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0,02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↘ -60%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00D4FF"/>
          </a:solidFill>
          <a:ln/>
          <a:effectLst>
            <a:outerShdw blurRad="1524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L'orpaillage illégal :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 fléau souverain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Criminalité organisée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ORPAILLAGE ILLÉGAL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Forces armées en Guyane, WWF, ARS, rapport Sénat 2023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~500 sites illégaux, 8 000 garimpeiros, 6 tonnes d'or par an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9436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Sites illégaux actifs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436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~500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9436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Estimations 400-600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ONF / Forces armées, 2024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9184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Shape 32"/>
          <p:cNvSpPr/>
          <p:nvPr/>
        </p:nvSpPr>
        <p:spPr>
          <a:xfrm>
            <a:off x="329184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342900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Garimpeiros estimés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42900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8 000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342900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Principalement brésiliens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42900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Rapport Sénat 2023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12648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612648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626364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 extrait illégalement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6364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~6 t/an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26364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Valeur : ~500 M€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6364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WWF / PAG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720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Shape 44"/>
          <p:cNvSpPr/>
          <p:nvPr/>
        </p:nvSpPr>
        <p:spPr>
          <a:xfrm>
            <a:off x="45720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8" name="Text 45"/>
          <p:cNvSpPr/>
          <p:nvPr/>
        </p:nvSpPr>
        <p:spPr>
          <a:xfrm>
            <a:off x="59436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Mercure déversé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9436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t/an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59436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Contamination irréversible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9436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ARS Guyane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29184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3" name="Shape 50"/>
          <p:cNvSpPr/>
          <p:nvPr/>
        </p:nvSpPr>
        <p:spPr>
          <a:xfrm>
            <a:off x="329184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4" name="Text 51"/>
          <p:cNvSpPr/>
          <p:nvPr/>
        </p:nvSpPr>
        <p:spPr>
          <a:xfrm>
            <a:off x="342900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Budget Harpie/an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342900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~80 M€</a:t>
            </a:r>
            <a:endParaRPr lang="en-US" sz="2400" dirty="0"/>
          </a:p>
        </p:txBody>
      </p:sp>
      <p:sp>
        <p:nvSpPr>
          <p:cNvPr id="56" name="Text 53"/>
          <p:cNvSpPr/>
          <p:nvPr/>
        </p:nvSpPr>
        <p:spPr>
          <a:xfrm>
            <a:off x="342900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Forces armées + gendarmerie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42900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Ministère des Armées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612648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9" name="Shape 56"/>
          <p:cNvSpPr/>
          <p:nvPr/>
        </p:nvSpPr>
        <p:spPr>
          <a:xfrm>
            <a:off x="612648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0" name="Text 57"/>
          <p:cNvSpPr/>
          <p:nvPr/>
        </p:nvSpPr>
        <p:spPr>
          <a:xfrm>
            <a:off x="626364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Matériel détruit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26364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M€</a:t>
            </a:r>
            <a:endParaRPr lang="en-US" sz="2400" dirty="0"/>
          </a:p>
        </p:txBody>
      </p:sp>
      <p:sp>
        <p:nvSpPr>
          <p:cNvPr id="62" name="Text 59"/>
          <p:cNvSpPr/>
          <p:nvPr/>
        </p:nvSpPr>
        <p:spPr>
          <a:xfrm>
            <a:off x="626364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Cumul 2008-2024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26364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Bilan Harpie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ORPAILLAGE ILLÉGAL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Forces armées en Guyane, ONF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nombre de sites illégaux a explosé malgré l'opération Harpie</a:t>
            </a:r>
            <a:endParaRPr lang="en-US" sz="22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65760" y="1463040"/>
          <a:ext cx="47548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Shape 25"/>
          <p:cNvSpPr/>
          <p:nvPr/>
        </p:nvSpPr>
        <p:spPr>
          <a:xfrm>
            <a:off x="5577840" y="137160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6"/>
          <p:cNvSpPr/>
          <p:nvPr/>
        </p:nvSpPr>
        <p:spPr>
          <a:xfrm>
            <a:off x="571500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ANALYSE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715000" y="1755648"/>
            <a:ext cx="274320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Shape 28"/>
          <p:cNvSpPr/>
          <p:nvPr/>
        </p:nvSpPr>
        <p:spPr>
          <a:xfrm>
            <a:off x="5715000" y="190195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3" name="Text 29"/>
          <p:cNvSpPr/>
          <p:nvPr/>
        </p:nvSpPr>
        <p:spPr>
          <a:xfrm>
            <a:off x="5897880" y="1874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Harpie lancée en 2008 : 2 500 militaires déployés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715000" y="249631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5" name="Text 31"/>
          <p:cNvSpPr/>
          <p:nvPr/>
        </p:nvSpPr>
        <p:spPr>
          <a:xfrm>
            <a:off x="5897880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Malgré les destructions, les garimpeiros reconstruisent en 48h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715000" y="309067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7" name="Text 33"/>
          <p:cNvSpPr/>
          <p:nvPr/>
        </p:nvSpPr>
        <p:spPr>
          <a:xfrm>
            <a:off x="5897880" y="30632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+228% de sites depuis le lancement de Harpie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5715000" y="368503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9" name="Text 35"/>
          <p:cNvSpPr/>
          <p:nvPr/>
        </p:nvSpPr>
        <p:spPr>
          <a:xfrm>
            <a:off x="5897880" y="36576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Filière alimentée par le crime organisé brésilien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ORPAILLAGE ILLÉGAL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Estimations croisées : Ministère des Armées, INSEE, ARS, rapports parlementaires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L'orpaillage illégal coûte plus de 500 M€/an à la France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6576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M€/an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27463" y="3488788"/>
            <a:ext cx="822960" cy="351692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790303" y="323275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750423" y="3488788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744583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Opérations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militaires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220686" y="2609557"/>
            <a:ext cx="822960" cy="879231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2083526" y="2353525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+200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043646" y="2609557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2037806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Manque à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gagner fiscal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513909" y="1950134"/>
            <a:ext cx="822960" cy="659423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8" name="Text 35"/>
          <p:cNvSpPr/>
          <p:nvPr/>
        </p:nvSpPr>
        <p:spPr>
          <a:xfrm>
            <a:off x="3376749" y="169410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+150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336869" y="1950134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3331029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Dégâts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environ.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807131" y="1730326"/>
            <a:ext cx="822960" cy="219808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4669971" y="147429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+50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630091" y="1730326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44" name="Text 41"/>
          <p:cNvSpPr/>
          <p:nvPr/>
        </p:nvSpPr>
        <p:spPr>
          <a:xfrm>
            <a:off x="4624251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Santé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publique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100354" y="1554480"/>
            <a:ext cx="822960" cy="175846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6" name="Text 43"/>
          <p:cNvSpPr/>
          <p:nvPr/>
        </p:nvSpPr>
        <p:spPr>
          <a:xfrm>
            <a:off x="5963194" y="12984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+40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917474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Perte éco.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locale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393577" y="1554480"/>
            <a:ext cx="822960" cy="2286000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9" name="Text 46"/>
          <p:cNvSpPr/>
          <p:nvPr/>
        </p:nvSpPr>
        <p:spPr>
          <a:xfrm>
            <a:off x="7256417" y="12984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210697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Coût total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estimé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6350">
            <a:solidFill>
              <a:srgbClr val="4A5A6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ORPAILLAGE ILLÉGAL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Ministère des Armées, Forces armées en Guyane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Opération Harpie : un effort coûteux mais insuffisant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365760" y="1463040"/>
            <a:ext cx="8412480" cy="3017520"/>
          </a:xfrm>
          <a:prstGeom prst="roundRect">
            <a:avLst>
              <a:gd name="adj" fmla="val 363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Text 26"/>
          <p:cNvSpPr/>
          <p:nvPr/>
        </p:nvSpPr>
        <p:spPr>
          <a:xfrm>
            <a:off x="548640" y="16002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Dispositif militaire permanent depuis 2008
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2 500 militaires (FAG) + 600 gendarmes mobilisés
• Patrouilles héliportées en forêt profonde
• 26 M€ de matériel saisi et détruit (pirogues, moteurs, pelles mécaniques)
• Coopération franco-brésilienne (accord de 2008, renouvelé)
</a:t>
            </a:r>
            <a:r>
              <a:rPr lang="en-US" sz="1400" b="1" dirty="0">
                <a:solidFill>
                  <a:srgbClr val="FF475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Pourquoi ça ne fonctionne pas
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Frontière de 730 km avec le Brésil, impossible à surveiller
• Les garimpeiros reconstruisent un site en 48h après destruction
• Crime organisé : filières logistiques sophistiquées depuis le Brésil
• Rentabilité : à 2 900 $/oz, l'orpaillage reste extrêmement lucratif
</a:t>
            </a:r>
            <a:r>
              <a:rPr lang="en-US" sz="1100" i="1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L'absence d'alternative économique légale pousse certains locaux vers l'illégal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00D4FF"/>
          </a:solidFill>
          <a:ln/>
          <a:effectLst>
            <a:outerShdw blurRad="1524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 prix écologique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 l'inaction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Impact environnemental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ENVIRONNEMENT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ONF, ARS Guyane, Parc amazonien de Guyane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~29 000 ha déforestés, 13 t de mercure, 5 840 km de cours d'eau contaminés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9436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Déforestation cumulée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436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~29 000 ha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9436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Depuis les années 2000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ONF / images satellites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9184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Shape 32"/>
          <p:cNvSpPr/>
          <p:nvPr/>
        </p:nvSpPr>
        <p:spPr>
          <a:xfrm>
            <a:off x="329184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342900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Mercure déversé/an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42900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tonnes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342900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Contamination chaîne alimentaire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42900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ARS Guyane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12648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612648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626364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Cours d'eau contaminés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6364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5 840 km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26364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Sur 15 000 km de réseau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6364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PAG / DEAL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720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Shape 44"/>
          <p:cNvSpPr/>
          <p:nvPr/>
        </p:nvSpPr>
        <p:spPr>
          <a:xfrm>
            <a:off x="45720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8" name="Text 45"/>
          <p:cNvSpPr/>
          <p:nvPr/>
        </p:nvSpPr>
        <p:spPr>
          <a:xfrm>
            <a:off x="59436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Population exposée au mercure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9436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10 000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59436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Communautés autochtones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9436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Santé publique France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ENVIRONNEMENT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DREAL Guyane, étude d'impact Montagne d'Or, ARS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Orpaillage illégal vs exploitation légale encadrée : le paradoxe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17320"/>
            <a:ext cx="3977640" cy="3017520"/>
          </a:xfrm>
          <a:prstGeom prst="roundRect">
            <a:avLst>
              <a:gd name="adj" fmla="val 363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FF475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17320"/>
            <a:ext cx="3977640" cy="45720"/>
          </a:xfrm>
          <a:prstGeom prst="rect">
            <a:avLst/>
          </a:prstGeom>
          <a:solidFill>
            <a:srgbClr val="FF4757"/>
          </a:solidFill>
          <a:ln/>
          <a:effectLst>
            <a:outerShdw blurRad="50800" dist="50800" dir="16200000" algn="bl" rotWithShape="0">
              <a:srgbClr val="FF475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48640" y="15544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Orpaillage illégal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1965960"/>
            <a:ext cx="36118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594360" y="210312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Mercure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2860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t/an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" y="256032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Déforestation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94360" y="27432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Non contrôlée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94360" y="301752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Réhabilitation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94360" y="32004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Aucune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94360" y="347472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Suivi environ.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94360" y="36576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Zéro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709160" y="1417320"/>
            <a:ext cx="3977640" cy="3017520"/>
          </a:xfrm>
          <a:prstGeom prst="roundRect">
            <a:avLst>
              <a:gd name="adj" fmla="val 363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4709160" y="1417320"/>
            <a:ext cx="3977640" cy="45720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4800600" y="15544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Mine légale (ex. Montagne d'Or)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892040" y="1965960"/>
            <a:ext cx="36118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4" name="Text 41"/>
          <p:cNvSpPr/>
          <p:nvPr/>
        </p:nvSpPr>
        <p:spPr>
          <a:xfrm>
            <a:off x="4846320" y="210312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Mercure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846320" y="22860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Interdit (cyanure encadré)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4846320" y="256032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Déforestation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846320" y="27432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Compensée 1:3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4846320" y="301752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Réhabilitation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846320" y="32004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Obligatoire + caution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4846320" y="347472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Suivi environ.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4846320" y="365760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DREAL + ICPE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ENVIRONNEMENT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DREAL Guyane, PAG, ONF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L'exploitation légale comme solution environnementale (le paradoxe)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365760" y="1463040"/>
            <a:ext cx="8412480" cy="3017520"/>
          </a:xfrm>
          <a:prstGeom prst="roundRect">
            <a:avLst>
              <a:gd name="adj" fmla="val 363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Text 26"/>
          <p:cNvSpPr/>
          <p:nvPr/>
        </p:nvSpPr>
        <p:spPr>
          <a:xfrm>
            <a:off x="548640" y="16002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FF8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constat contre-intuitif
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Bloquer les projets miniers légaux n'a pas protégé l'environnement guyanais — c'est l'inverse qui s'est produit. L'orpaillage illégal a explosé, causant des dégâts incomparablement plus graves que n'importe quelle mine encadrée.
</a:t>
            </a:r>
            <a:r>
              <a:rPr lang="en-US" sz="13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Une mine légale encadrée :
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N'utilise pas de mercure (procédés modernes : gravimétrie, cyanuration contrôlée)
• Compense la déforestation (ratio 1:3 imposé par la loi)
• Réhabilite le site après exploitation (caution financière obligatoire)
• Finance la surveillance et la lutte contre l'orpaillage illégal
• Crée des emplois locaux qui réduisent l'attractivité de l'illégal
</a:t>
            </a:r>
            <a:r>
              <a:rPr lang="en-US" sz="1000" i="1" dirty="0">
                <a:solidFill>
                  <a:srgbClr val="FFD7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vraie question n'est pas « mine ou pas mine » mais « mine légale ou mine illégale ».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D7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Aujourd'hui, c'est l'illégal qui gagne — avec des dégâts environnementaux catastrophiques.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00D4FF"/>
          </a:solidFill>
          <a:ln/>
          <a:effectLst>
            <a:outerShdw blurRad="1524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Une économie fragile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 quête de moteur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Économie guyanaise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ÉCONOMIE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INSEE, IEDOM, Douanes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PIB 5,1 Md€, chômage 17 %, déficit commercial 2,5 Md€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9436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PIB Guyane (2024)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436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5,1 Md€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9436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+2,8%/an en moyenne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 — Comptes régionaux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9184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Shape 32"/>
          <p:cNvSpPr/>
          <p:nvPr/>
        </p:nvSpPr>
        <p:spPr>
          <a:xfrm>
            <a:off x="329184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342900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PIB/habitant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42900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16 800 €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342900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 42 000 € métropole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42900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-60% vs moyenne nationale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12648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612648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626364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Taux de chômage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6364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17%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26364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 7,5% métropole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6364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 T3 2025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720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Shape 44"/>
          <p:cNvSpPr/>
          <p:nvPr/>
        </p:nvSpPr>
        <p:spPr>
          <a:xfrm>
            <a:off x="45720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8" name="Text 45"/>
          <p:cNvSpPr/>
          <p:nvPr/>
        </p:nvSpPr>
        <p:spPr>
          <a:xfrm>
            <a:off x="59436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Déficit commercial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9436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2,5 Md€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59436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Imports &gt;&gt; Exports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9436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Douanes, 2024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29184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3" name="Shape 50"/>
          <p:cNvSpPr/>
          <p:nvPr/>
        </p:nvSpPr>
        <p:spPr>
          <a:xfrm>
            <a:off x="329184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4" name="Text 51"/>
          <p:cNvSpPr/>
          <p:nvPr/>
        </p:nvSpPr>
        <p:spPr>
          <a:xfrm>
            <a:off x="342900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Transferts publics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342900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 Md€/an</a:t>
            </a:r>
            <a:endParaRPr lang="en-US" sz="2400" dirty="0"/>
          </a:p>
        </p:txBody>
      </p:sp>
      <p:sp>
        <p:nvSpPr>
          <p:cNvPr id="56" name="Text 53"/>
          <p:cNvSpPr/>
          <p:nvPr/>
        </p:nvSpPr>
        <p:spPr>
          <a:xfrm>
            <a:off x="342900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F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~60% du PIB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42900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IEDOM Guyane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612648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9" name="Shape 56"/>
          <p:cNvSpPr/>
          <p:nvPr/>
        </p:nvSpPr>
        <p:spPr>
          <a:xfrm>
            <a:off x="612648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0" name="Text 57"/>
          <p:cNvSpPr/>
          <p:nvPr/>
        </p:nvSpPr>
        <p:spPr>
          <a:xfrm>
            <a:off x="626364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Croissance démo.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26364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+2,4%/an</a:t>
            </a:r>
            <a:endParaRPr lang="en-US" sz="2400" dirty="0"/>
          </a:p>
        </p:txBody>
      </p:sp>
      <p:sp>
        <p:nvSpPr>
          <p:cNvPr id="62" name="Text 59"/>
          <p:cNvSpPr/>
          <p:nvPr/>
        </p:nvSpPr>
        <p:spPr>
          <a:xfrm>
            <a:off x="626364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Pop. 310 000 hab.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26364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 — démographie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ÉCONOMIE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IEDOM Guyane, INSEE, Douanes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D'où vient et où va l'argent en Guyane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6576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Md€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27463" y="2207623"/>
            <a:ext cx="822960" cy="1632857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790303" y="1951591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750423" y="2207623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744583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Transferts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publics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220686" y="1772194"/>
            <a:ext cx="822960" cy="435429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2083526" y="151616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+0.8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043646" y="1772194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2037806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Spatial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(CSG)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513909" y="1608909"/>
            <a:ext cx="822960" cy="163286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8" name="Text 35"/>
          <p:cNvSpPr/>
          <p:nvPr/>
        </p:nvSpPr>
        <p:spPr>
          <a:xfrm>
            <a:off x="3376749" y="1352877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+0.3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336869" y="1608909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3331029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Pêche +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agriculture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807131" y="1554480"/>
            <a:ext cx="822960" cy="54429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4669971" y="12984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+0.1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630091" y="1554480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44" name="Text 41"/>
          <p:cNvSpPr/>
          <p:nvPr/>
        </p:nvSpPr>
        <p:spPr>
          <a:xfrm>
            <a:off x="4624251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Mine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légale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100354" y="1554480"/>
            <a:ext cx="822960" cy="1905000"/>
          </a:xfrm>
          <a:prstGeom prst="rect">
            <a:avLst/>
          </a:prstGeom>
          <a:solidFill>
            <a:srgbClr val="FF4757"/>
          </a:solidFill>
          <a:ln/>
          <a:effectLst>
            <a:outerShdw blurRad="50800" dist="50800" dir="16200000" algn="bl" rotWithShape="0">
              <a:srgbClr val="FF4757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6" name="Text 43"/>
          <p:cNvSpPr/>
          <p:nvPr/>
        </p:nvSpPr>
        <p:spPr>
          <a:xfrm>
            <a:off x="5963194" y="12984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-3.5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917474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Imports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(-)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393577" y="3459480"/>
            <a:ext cx="822960" cy="381000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9" name="Text 46"/>
          <p:cNvSpPr/>
          <p:nvPr/>
        </p:nvSpPr>
        <p:spPr>
          <a:xfrm>
            <a:off x="7256417" y="32034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210697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Solde net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6350">
            <a:solidFill>
              <a:srgbClr val="4A5A6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ÉCONOMIE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 — Comptes régionaux 2024, IEDOM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Guyane reste le DOM le plus fragile économiquement</a:t>
            </a:r>
            <a:endParaRPr lang="en-US" sz="2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2402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Indicateur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Guyane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Martinique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Réunion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Métropole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PIB/hab. (€)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16 800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24 500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22 100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42 000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Chômage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17%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14%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18%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7,5%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Transferts/PIB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~60%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~45%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~50%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—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Secteur minier/PIB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&lt;1%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&lt;0,5%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Crois. démo./an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+2,4%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-0,3%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+0,5%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+0,3%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Pauvreté (seuil 60%)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53%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33%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39%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14%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00D4FF"/>
          </a:solidFill>
          <a:ln/>
          <a:effectLst>
            <a:outerShdw blurRad="1524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 cadre réglementaire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qui freine le développement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Réglementation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RÉGLEMENTATION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Code minier, SDOM Guyane, rapports CGEDD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SDOM, Code minier, moratoire : un millefeuille administratif paralysant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365760" y="1463040"/>
            <a:ext cx="8412480" cy="3017520"/>
          </a:xfrm>
          <a:prstGeom prst="roundRect">
            <a:avLst>
              <a:gd name="adj" fmla="val 363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Text 26"/>
          <p:cNvSpPr/>
          <p:nvPr/>
        </p:nvSpPr>
        <p:spPr>
          <a:xfrm>
            <a:off x="548640" y="16002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Schéma Départemental d'Orientation Minière (SDOM)
</a:t>
            </a:r>
            <a:r>
              <a:rPr lang="en-US" sz="10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Adopté en 2011, révisé en 2020 : interdit l'exploitation primaire sur ~60% du territoire
• Zone 0 (interdite) couvre la quasi-totalité de la forêt primaire
</a:t>
            </a:r>
            <a:r>
              <a:rPr lang="en-US" sz="1000" dirty="0">
                <a:solidFill>
                  <a:srgbClr val="FF475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Paradoxe : l'orpaillage illégal se concentre précisément en zone interdite
</a:t>
            </a:r>
            <a:r>
              <a:rPr lang="en-US" sz="1300" b="1" dirty="0">
                <a:solidFill>
                  <a:srgbClr val="FFD7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Code minier français (dernière réforme : 2023)
</a:t>
            </a:r>
            <a:r>
              <a:rPr lang="en-US" sz="10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Procédure d'obtention d'un PER : 2-5 ans
• Concession minière : 5-10 ans supplémentaires
• Durée totale découverte → production : ~10-15 ans
• Obligation de « participation du public » à chaque étape
</a:t>
            </a:r>
            <a:r>
              <a:rPr lang="en-US" sz="1300" b="1" dirty="0">
                <a:solidFill>
                  <a:srgbClr val="FF475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Moratoire de fait depuis 2017
</a:t>
            </a:r>
            <a:r>
              <a:rPr lang="en-US" sz="10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Aucun nouveau permis d'exploitation industrielle accordé depuis 2017
</a:t>
            </a:r>
            <a:r>
              <a:rPr lang="en-US" sz="1000" i="1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Signal envoyé aux investisseurs internationaux : la France n'est pas "mining-friendly"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RÉGLEMENTATION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Banque mondiale — Doing Business Mining, Fraser Institute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Délais d'obtention de permis miniers : la France 5x plus lente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17320"/>
            <a:ext cx="1851660" cy="3017520"/>
          </a:xfrm>
          <a:prstGeom prst="roundRect">
            <a:avLst>
              <a:gd name="adj" fmla="val 592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FF475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17320"/>
            <a:ext cx="1851660" cy="45720"/>
          </a:xfrm>
          <a:prstGeom prst="rect">
            <a:avLst/>
          </a:prstGeom>
          <a:solidFill>
            <a:srgbClr val="FF4757"/>
          </a:solidFill>
          <a:ln/>
          <a:effectLst>
            <a:outerShdw blurRad="50800" dist="50800" dir="16200000" algn="bl" rotWithShape="0">
              <a:srgbClr val="FF475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48640" y="1554480"/>
            <a:ext cx="16687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🇫🇷 France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1965960"/>
            <a:ext cx="148590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594360" y="21031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Exploration → Prod.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2860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10-15 ans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" y="25603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Permis recherche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94360" y="27432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2-5 ans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94360" y="30175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Concession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94360" y="32004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5-10 ans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94360" y="34747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Recours possibles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94360" y="36576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Illimités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2583180" y="1417320"/>
            <a:ext cx="1851660" cy="3017520"/>
          </a:xfrm>
          <a:prstGeom prst="roundRect">
            <a:avLst>
              <a:gd name="adj" fmla="val 592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2583180" y="1417320"/>
            <a:ext cx="1851660" cy="45720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2674620" y="1554480"/>
            <a:ext cx="16687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🇦🇺 Australie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2766060" y="1965960"/>
            <a:ext cx="148590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4" name="Text 41"/>
          <p:cNvSpPr/>
          <p:nvPr/>
        </p:nvSpPr>
        <p:spPr>
          <a:xfrm>
            <a:off x="2720340" y="21031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Exploration → Prod.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2720340" y="22860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2-4 ans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2720340" y="25603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Permis recherche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2720340" y="27432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3-6 mois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2720340" y="30175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Licence minière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2720340" y="32004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1-2 ans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2720340" y="34747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Guichet unique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2720340" y="36576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Oui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4709160" y="1417320"/>
            <a:ext cx="1851660" cy="3017520"/>
          </a:xfrm>
          <a:prstGeom prst="roundRect">
            <a:avLst>
              <a:gd name="adj" fmla="val 592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3" name="Shape 50"/>
          <p:cNvSpPr/>
          <p:nvPr/>
        </p:nvSpPr>
        <p:spPr>
          <a:xfrm>
            <a:off x="4709160" y="1417320"/>
            <a:ext cx="1851660" cy="45720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4" name="Text 51"/>
          <p:cNvSpPr/>
          <p:nvPr/>
        </p:nvSpPr>
        <p:spPr>
          <a:xfrm>
            <a:off x="4800600" y="1554480"/>
            <a:ext cx="16687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🇨🇦 Canada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4892040" y="1965960"/>
            <a:ext cx="148590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6" name="Text 53"/>
          <p:cNvSpPr/>
          <p:nvPr/>
        </p:nvSpPr>
        <p:spPr>
          <a:xfrm>
            <a:off x="4846320" y="21031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Exploration → Prod.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4846320" y="22860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3-5 ans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4846320" y="25603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Permis recherche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4846320" y="27432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6-12 mois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4846320" y="30175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Bail minier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4846320" y="32004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1-3 ans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4846320" y="34747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Free mining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4846320" y="36576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Oui (claim)</a:t>
            </a:r>
            <a:endParaRPr lang="en-US" sz="1300" dirty="0"/>
          </a:p>
        </p:txBody>
      </p:sp>
      <p:sp>
        <p:nvSpPr>
          <p:cNvPr id="64" name="Shape 61"/>
          <p:cNvSpPr/>
          <p:nvPr/>
        </p:nvSpPr>
        <p:spPr>
          <a:xfrm>
            <a:off x="6835140" y="1417320"/>
            <a:ext cx="1851660" cy="3017520"/>
          </a:xfrm>
          <a:prstGeom prst="roundRect">
            <a:avLst>
              <a:gd name="adj" fmla="val 592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5" name="Shape 62"/>
          <p:cNvSpPr/>
          <p:nvPr/>
        </p:nvSpPr>
        <p:spPr>
          <a:xfrm>
            <a:off x="6835140" y="1417320"/>
            <a:ext cx="1851660" cy="45720"/>
          </a:xfrm>
          <a:prstGeom prst="rect">
            <a:avLst/>
          </a:prstGeom>
          <a:solidFill>
            <a:srgbClr val="FFD700"/>
          </a:solidFill>
          <a:ln/>
          <a:effectLst>
            <a:outerShdw blurRad="508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6" name="Text 63"/>
          <p:cNvSpPr/>
          <p:nvPr/>
        </p:nvSpPr>
        <p:spPr>
          <a:xfrm>
            <a:off x="6926580" y="1554480"/>
            <a:ext cx="16687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🇬🇾 Guyana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7018020" y="1965960"/>
            <a:ext cx="148590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8" name="Text 65"/>
          <p:cNvSpPr/>
          <p:nvPr/>
        </p:nvSpPr>
        <p:spPr>
          <a:xfrm>
            <a:off x="6972300" y="21031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Exploration → Prod.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6972300" y="22860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1-3 ans</a:t>
            </a:r>
            <a:endParaRPr lang="en-US" sz="1300" dirty="0"/>
          </a:p>
        </p:txBody>
      </p:sp>
      <p:sp>
        <p:nvSpPr>
          <p:cNvPr id="70" name="Text 67"/>
          <p:cNvSpPr/>
          <p:nvPr/>
        </p:nvSpPr>
        <p:spPr>
          <a:xfrm>
            <a:off x="6972300" y="25603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Permis recherche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6972300" y="27432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3 mois</a:t>
            </a:r>
            <a:endParaRPr lang="en-US" sz="1300" dirty="0"/>
          </a:p>
        </p:txBody>
      </p:sp>
      <p:sp>
        <p:nvSpPr>
          <p:cNvPr id="72" name="Text 69"/>
          <p:cNvSpPr/>
          <p:nvPr/>
        </p:nvSpPr>
        <p:spPr>
          <a:xfrm>
            <a:off x="6972300" y="30175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Licence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6972300" y="32004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6-12 mois</a:t>
            </a:r>
            <a:endParaRPr lang="en-US" sz="1300" dirty="0"/>
          </a:p>
        </p:txBody>
      </p:sp>
      <p:sp>
        <p:nvSpPr>
          <p:cNvPr id="74" name="Text 71"/>
          <p:cNvSpPr/>
          <p:nvPr/>
        </p:nvSpPr>
        <p:spPr>
          <a:xfrm>
            <a:off x="6972300" y="3474720"/>
            <a:ext cx="15773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Fiscalité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6972300" y="3657600"/>
            <a:ext cx="15773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Attractive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00D4FF"/>
          </a:solidFill>
          <a:ln/>
          <a:effectLst>
            <a:outerShdw blurRad="1524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Ce que font les voisins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Comparaisons internationales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INTERNATIONAL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Banque mondiale, FMI, ExxonMobil Guyana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Guyana : de la pauvreté au boom économique grâce aux ressources naturelles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9436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Croissance PIB 2022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436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+62%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9436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Record mondial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Banque mondiale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9184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Shape 32"/>
          <p:cNvSpPr/>
          <p:nvPr/>
        </p:nvSpPr>
        <p:spPr>
          <a:xfrm>
            <a:off x="329184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342900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PIB/hab. 2025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42900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~25 000 $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342900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 5 000 $ en 2019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42900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FMI — WEO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12648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612648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626364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Production or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6364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t/an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26364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12x la Guyane légale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6364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Guyana Gold Board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720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Shape 44"/>
          <p:cNvSpPr/>
          <p:nvPr/>
        </p:nvSpPr>
        <p:spPr>
          <a:xfrm>
            <a:off x="45720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8" name="Text 45"/>
          <p:cNvSpPr/>
          <p:nvPr/>
        </p:nvSpPr>
        <p:spPr>
          <a:xfrm>
            <a:off x="59436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Production pétrole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9436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650 000 b/j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59436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Depuis 2020 (Liza)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9436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ExxonMobil Guyana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29184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3" name="Shape 50"/>
          <p:cNvSpPr/>
          <p:nvPr/>
        </p:nvSpPr>
        <p:spPr>
          <a:xfrm>
            <a:off x="329184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4" name="Text 51"/>
          <p:cNvSpPr/>
          <p:nvPr/>
        </p:nvSpPr>
        <p:spPr>
          <a:xfrm>
            <a:off x="342900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Secteur minier/PIB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342900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28%</a:t>
            </a:r>
            <a:endParaRPr lang="en-US" sz="2400" dirty="0"/>
          </a:p>
        </p:txBody>
      </p:sp>
      <p:sp>
        <p:nvSpPr>
          <p:cNvPr id="56" name="Text 53"/>
          <p:cNvSpPr/>
          <p:nvPr/>
        </p:nvSpPr>
        <p:spPr>
          <a:xfrm>
            <a:off x="342900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 &lt; 1% Guyane fr.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42900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Banque mondiale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612648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9" name="Shape 56"/>
          <p:cNvSpPr/>
          <p:nvPr/>
        </p:nvSpPr>
        <p:spPr>
          <a:xfrm>
            <a:off x="612648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0" name="Text 57"/>
          <p:cNvSpPr/>
          <p:nvPr/>
        </p:nvSpPr>
        <p:spPr>
          <a:xfrm>
            <a:off x="626364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IDE miniers 2024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26364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 Md$</a:t>
            </a:r>
            <a:endParaRPr lang="en-US" sz="2400" dirty="0"/>
          </a:p>
        </p:txBody>
      </p:sp>
      <p:sp>
        <p:nvSpPr>
          <p:cNvPr id="62" name="Text 59"/>
          <p:cNvSpPr/>
          <p:nvPr/>
        </p:nvSpPr>
        <p:spPr>
          <a:xfrm>
            <a:off x="626364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Boom investissements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26364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Guyana Investment Office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INTERNATIONAL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Banque mondiale, Fraser Institute Annual Survey 2024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Modèles de développement minier réussis</a:t>
            </a:r>
            <a:endParaRPr lang="en-US" sz="2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3164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Pays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Mine/PIB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Régulation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Délai permis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080C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Modèle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🇬🇾 Guyana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28%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Libérale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&lt; 1 an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Ouverture totale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🇸🇷 Suriname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20%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PPP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1-2 ans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Joint-ventures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🇬🇭 Ghana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Encadrée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1-2 ans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Redevances + emploi local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🇦🇺 Australie-Occ.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35%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Stricte mais rapide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2-4 ans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Guichet unique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🇨🇦 Québec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Free mining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1-3 ans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Claims + BAPE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🇫🇷 Guyane fr.</a:t>
                      </a:r>
                      <a:endParaRPr lang="en-US" sz="10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&lt;1%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Paralysante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10-15 ans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Moratoire de fait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INTERNATIONAL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Banque mondiale, FMI — WEO, INSEE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PIB par habitant : le Guyana a dépassé la Guyane française</a:t>
            </a:r>
            <a:endParaRPr lang="en-US" sz="22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65760" y="1463040"/>
          <a:ext cx="47548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Shape 25"/>
          <p:cNvSpPr/>
          <p:nvPr/>
        </p:nvSpPr>
        <p:spPr>
          <a:xfrm>
            <a:off x="5577840" y="137160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6"/>
          <p:cNvSpPr/>
          <p:nvPr/>
        </p:nvSpPr>
        <p:spPr>
          <a:xfrm>
            <a:off x="571500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ANALYSE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715000" y="1755648"/>
            <a:ext cx="274320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Shape 28"/>
          <p:cNvSpPr/>
          <p:nvPr/>
        </p:nvSpPr>
        <p:spPr>
          <a:xfrm>
            <a:off x="5715000" y="190195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3" name="Text 29"/>
          <p:cNvSpPr/>
          <p:nvPr/>
        </p:nvSpPr>
        <p:spPr>
          <a:xfrm>
            <a:off x="5897880" y="1874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 Guyana a dépassé la Guyane fr. en PIB/hab en 2023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715000" y="249631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5" name="Text 31"/>
          <p:cNvSpPr/>
          <p:nvPr/>
        </p:nvSpPr>
        <p:spPr>
          <a:xfrm>
            <a:off x="5897880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Même bouclier géologique, même localisation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715000" y="309067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7" name="Text 33"/>
          <p:cNvSpPr/>
          <p:nvPr/>
        </p:nvSpPr>
        <p:spPr>
          <a:xfrm>
            <a:off x="5897880" y="30632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Différence : le Guyana a ouvert ses ressources aux investisseurs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5715000" y="3685032"/>
            <a:ext cx="45720" cy="5029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9" name="Text 35"/>
          <p:cNvSpPr/>
          <p:nvPr/>
        </p:nvSpPr>
        <p:spPr>
          <a:xfrm>
            <a:off x="5897880" y="36576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 Guyane fr. stagne à ~16 800 €/hab depuis 2015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00D4FF"/>
          </a:solidFill>
          <a:ln/>
          <a:effectLst>
            <a:outerShdw blurRad="1524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Combien vaut le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sous-sol guyanais ?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Potentiel économique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POTENTIEL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BRGM, estimations Où Va l'Argent, benchmarks internationaux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Valeur estimée des réserves, emplois potentiels, recettes fiscales projetées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9436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Valeur réserves identifiées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436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10 Md€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9436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 + tantale + bauxite + autres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Estimation BRGM / cours 2025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9184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Shape 32"/>
          <p:cNvSpPr/>
          <p:nvPr/>
        </p:nvSpPr>
        <p:spPr>
          <a:xfrm>
            <a:off x="329184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342900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Potentiel total (exploré)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42900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~50 Md€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342900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 100% territoire prospecté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42900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Extrapolation géologique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12648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612648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626364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Emplois directs potentiels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6364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5 000+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26364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Filière minière structurée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6364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Benchmark pays similaires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720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Shape 44"/>
          <p:cNvSpPr/>
          <p:nvPr/>
        </p:nvSpPr>
        <p:spPr>
          <a:xfrm>
            <a:off x="45720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8" name="Text 45"/>
          <p:cNvSpPr/>
          <p:nvPr/>
        </p:nvSpPr>
        <p:spPr>
          <a:xfrm>
            <a:off x="59436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Emplois indirects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9436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15 000+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59436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Multiplicateur x3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9436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McKinsey Mining Practice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29184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3" name="Shape 50"/>
          <p:cNvSpPr/>
          <p:nvPr/>
        </p:nvSpPr>
        <p:spPr>
          <a:xfrm>
            <a:off x="329184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4" name="Text 51"/>
          <p:cNvSpPr/>
          <p:nvPr/>
        </p:nvSpPr>
        <p:spPr>
          <a:xfrm>
            <a:off x="342900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Recettes fiscales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342900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~300 M€/an</a:t>
            </a:r>
            <a:endParaRPr lang="en-US" sz="2400" dirty="0"/>
          </a:p>
        </p:txBody>
      </p:sp>
      <p:sp>
        <p:nvSpPr>
          <p:cNvPr id="56" name="Text 53"/>
          <p:cNvSpPr/>
          <p:nvPr/>
        </p:nvSpPr>
        <p:spPr>
          <a:xfrm>
            <a:off x="342900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Taxes + redevances + IS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42900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Projection à maturité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612648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9" name="Shape 56"/>
          <p:cNvSpPr/>
          <p:nvPr/>
        </p:nvSpPr>
        <p:spPr>
          <a:xfrm>
            <a:off x="612648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0" name="Text 57"/>
          <p:cNvSpPr/>
          <p:nvPr/>
        </p:nvSpPr>
        <p:spPr>
          <a:xfrm>
            <a:off x="626364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Réduction chômage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26364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-5 pts</a:t>
            </a:r>
            <a:endParaRPr lang="en-US" sz="2400" dirty="0"/>
          </a:p>
        </p:txBody>
      </p:sp>
      <p:sp>
        <p:nvSpPr>
          <p:cNvPr id="62" name="Text 59"/>
          <p:cNvSpPr/>
          <p:nvPr/>
        </p:nvSpPr>
        <p:spPr>
          <a:xfrm>
            <a:off x="626364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 17% à ~12%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26364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Impact emplois directs+indirects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POTENTIEL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Estimations Où Va l'Argent, benchmarks internationaux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Impact économique d'une filière minière structurée sur 20 ans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65760" y="13716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Md€ (cumulé 20 ans)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27463" y="3542306"/>
            <a:ext cx="822960" cy="45720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790303" y="328627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-3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750423" y="3840480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744583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Investissement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initial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220686" y="3045350"/>
            <a:ext cx="822960" cy="795130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4" name="Text 31"/>
          <p:cNvSpPr/>
          <p:nvPr/>
        </p:nvSpPr>
        <p:spPr>
          <a:xfrm>
            <a:off x="2083526" y="278931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+8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043646" y="3045350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2037806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Production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513909" y="2647784"/>
            <a:ext cx="822960" cy="397565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8" name="Text 35"/>
          <p:cNvSpPr/>
          <p:nvPr/>
        </p:nvSpPr>
        <p:spPr>
          <a:xfrm>
            <a:off x="3376749" y="2391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+4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336869" y="2647784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3331029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Autres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minerais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807131" y="2051437"/>
            <a:ext cx="822960" cy="596348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4669971" y="1795405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+6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630091" y="2051437"/>
            <a:ext cx="470263" cy="0"/>
          </a:xfrm>
          <a:prstGeom prst="line">
            <a:avLst/>
          </a:prstGeom>
          <a:noFill/>
          <a:ln w="12700">
            <a:solidFill>
              <a:srgbClr val="4A5A6A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44" name="Text 41"/>
          <p:cNvSpPr/>
          <p:nvPr/>
        </p:nvSpPr>
        <p:spPr>
          <a:xfrm>
            <a:off x="4624251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Recettes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fiscales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100354" y="1554480"/>
            <a:ext cx="822960" cy="496957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6" name="Text 43"/>
          <p:cNvSpPr/>
          <p:nvPr/>
        </p:nvSpPr>
        <p:spPr>
          <a:xfrm>
            <a:off x="5963194" y="12984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+5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917474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Emplois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(valeur)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393577" y="1554480"/>
            <a:ext cx="822960" cy="198782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9" name="Text 46"/>
          <p:cNvSpPr/>
          <p:nvPr/>
        </p:nvSpPr>
        <p:spPr>
          <a:xfrm>
            <a:off x="7256417" y="12984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210697" y="3913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Impact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net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3542306"/>
            <a:ext cx="8229600" cy="0"/>
          </a:xfrm>
          <a:prstGeom prst="line">
            <a:avLst/>
          </a:prstGeom>
          <a:noFill/>
          <a:ln w="6350">
            <a:solidFill>
              <a:srgbClr val="4A5A6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POTENTIEL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Estimations Où Va l'Argent, benchmarks Guyana/Suriname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Trois scénarios pour l'avenir minier de la Guyane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FF475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17320"/>
            <a:ext cx="2560320" cy="45720"/>
          </a:xfrm>
          <a:prstGeom prst="rect">
            <a:avLst/>
          </a:prstGeom>
          <a:solidFill>
            <a:srgbClr val="FF4757"/>
          </a:solidFill>
          <a:ln/>
          <a:effectLst>
            <a:outerShdw blurRad="50800" dist="50800" dir="16200000" algn="bl" rotWithShape="0">
              <a:srgbClr val="FF475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Statu quo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1965960"/>
            <a:ext cx="219456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Text 29"/>
          <p:cNvSpPr/>
          <p:nvPr/>
        </p:nvSpPr>
        <p:spPr>
          <a:xfrm>
            <a:off x="594360" y="2103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Orpaillage illégal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Continue (+35%/an)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Emplois créés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9436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94360" y="3017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Recettes fiscales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9436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0 €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9436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Dégâts environn.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9436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Exponentiels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329184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3291840" y="1417320"/>
            <a:ext cx="2560320" cy="45720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Exploitation raisonnée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3474720" y="1965960"/>
            <a:ext cx="219456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4" name="Text 41"/>
          <p:cNvSpPr/>
          <p:nvPr/>
        </p:nvSpPr>
        <p:spPr>
          <a:xfrm>
            <a:off x="3429000" y="2103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Projets autorisés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342900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3-5 mines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342900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Emplois créés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42900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~5 000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3429000" y="3017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Recettes fiscales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342900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~300 M€/an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342900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Cadre environ.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342900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ICPE strict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6126480" y="141732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1820">
              <a:alpha val="85000"/>
            </a:srgbClr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3" name="Shape 50"/>
          <p:cNvSpPr/>
          <p:nvPr/>
        </p:nvSpPr>
        <p:spPr>
          <a:xfrm>
            <a:off x="6126480" y="1417320"/>
            <a:ext cx="2560320" cy="45720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4" name="Text 51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Développement ambitieux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6309360" y="1965960"/>
            <a:ext cx="219456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6" name="Text 53"/>
          <p:cNvSpPr/>
          <p:nvPr/>
        </p:nvSpPr>
        <p:spPr>
          <a:xfrm>
            <a:off x="6263640" y="2103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Projets autorisés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6263640" y="2286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10+ mines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626364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Emplois créés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26364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~20 000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6263640" y="3017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Recettes fiscales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263640" y="3200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~800 M€/an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626364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Autonomie UE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26364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Contribution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749040" y="1280160"/>
            <a:ext cx="1645920" cy="1645920"/>
          </a:xfrm>
          <a:prstGeom prst="ellipse">
            <a:avLst/>
          </a:prstGeom>
          <a:solidFill>
            <a:srgbClr val="00D4FF"/>
          </a:solidFill>
          <a:ln/>
          <a:effectLst>
            <a:outerShdw blurRad="1524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749040" y="12801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Au-delà des mines :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hydrogène vert et nouvelles filières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Diversification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HYDROGÈNE VERT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Meridiam, HDF Energy, ADEME, BEI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Guyane pionnière de l'hydrogène vert avec CEOG et HYGUANE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59436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Projet CEOG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436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55 MW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9436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Plus grande centrale H2 monde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Meridiam + HDF Energy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9184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Shape 32"/>
          <p:cNvSpPr/>
          <p:nvPr/>
        </p:nvSpPr>
        <p:spPr>
          <a:xfrm>
            <a:off x="329184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6" name="Text 33"/>
          <p:cNvSpPr/>
          <p:nvPr/>
        </p:nvSpPr>
        <p:spPr>
          <a:xfrm>
            <a:off x="342900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Investissement CEOG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42900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170 M€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342900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Opérationnel 2025-2026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42900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Financé par BEI + AFD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126480" y="14630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1" name="Shape 38"/>
          <p:cNvSpPr/>
          <p:nvPr/>
        </p:nvSpPr>
        <p:spPr>
          <a:xfrm>
            <a:off x="6126480" y="146304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2" name="Text 39"/>
          <p:cNvSpPr/>
          <p:nvPr/>
        </p:nvSpPr>
        <p:spPr>
          <a:xfrm>
            <a:off x="626364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Projet HYGUANE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63640" y="178308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MW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6263640" y="22860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Électrolyse + stockage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63640" y="2514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Consortium local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720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7" name="Shape 44"/>
          <p:cNvSpPr/>
          <p:nvPr/>
        </p:nvSpPr>
        <p:spPr>
          <a:xfrm>
            <a:off x="457200" y="3017520"/>
            <a:ext cx="2560320" cy="36576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3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8" name="Text 45"/>
          <p:cNvSpPr/>
          <p:nvPr/>
        </p:nvSpPr>
        <p:spPr>
          <a:xfrm>
            <a:off x="59436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Capacité solaire Guyane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94360" y="3337560"/>
            <a:ext cx="2286000" cy="502920"/>
          </a:xfrm>
          <a:prstGeom prst="rect">
            <a:avLst/>
          </a:prstGeom>
          <a:noFill/>
          <a:ln/>
          <a:effectLst>
            <a:outerShdw blurRad="76200" dist="50800" dir="16200000" algn="bl" rotWithShape="0">
              <a:srgbClr val="00D4FF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 MW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594360" y="38404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Potentiel installable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9436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ADEME / Ensoleillement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AVENIR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BRGM, Ministère de la Transition écologique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Inventaire BRGM 2025 (53 M€ / 5 ans) : le tournant stratégique ?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365760" y="1463040"/>
            <a:ext cx="8412480" cy="3017520"/>
          </a:xfrm>
          <a:prstGeom prst="roundRect">
            <a:avLst>
              <a:gd name="adj" fmla="val 3636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9" name="Text 26"/>
          <p:cNvSpPr/>
          <p:nvPr/>
        </p:nvSpPr>
        <p:spPr>
          <a:xfrm>
            <a:off x="548640" y="16002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 programme sans précédent
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 2025, le BRGM lance le plus grand programme de cartographie géologique de la Guyane : 53 millions d'euros sur 5 ans, financé par l'État et l'UE (fonds CRM Act).
</a:t>
            </a:r>
            <a:r>
              <a:rPr lang="en-US" sz="1300" b="1" dirty="0">
                <a:solidFill>
                  <a:srgbClr val="FFD7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Objectifs :
</a:t>
            </a:r>
            <a:r>
              <a:rPr lang="en-US" sz="11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• Cartographier 100% du sous-sol guyanais (vs 2% aujourd'hui)
• Identifier et quantifier les gisements de métaux critiques (terres rares, lithium, tantale)
• Évaluer le potentiel en minerais stratégiques pour l'UE
• Constituer une base de données publique accessible aux investisseurs
</a:t>
            </a:r>
            <a:r>
              <a:rPr lang="en-US" sz="13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Enjeu politique
</a:t>
            </a:r>
            <a:r>
              <a:rPr lang="en-US" sz="1100" i="1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Ce programme est un signal fort : la France reconnaît enfin l'importance stratégique du sous-sol guyanais. Mais l'inventaire seul ne suffit pas — sans réforme du cadre réglementaire, les résultats resteront lettre morte.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RECOMMANDATIONS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6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 : </a:t>
            </a: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Analyse Où Va l'Argent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 recommandations stratégiques pour libérer le potentiel minier guyanais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146304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9" name="Shape 26"/>
          <p:cNvSpPr/>
          <p:nvPr/>
        </p:nvSpPr>
        <p:spPr>
          <a:xfrm>
            <a:off x="457200" y="1463040"/>
            <a:ext cx="54864" cy="621792"/>
          </a:xfrm>
          <a:prstGeom prst="rect">
            <a:avLst/>
          </a:prstGeom>
          <a:solidFill>
            <a:srgbClr val="00D4FF"/>
          </a:solidFill>
          <a:ln/>
          <a:effectLst>
            <a:outerShdw blurRad="50800" dist="50800" dir="16200000" algn="bl" rotWithShape="0">
              <a:srgbClr val="00D4FF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0" name="Text 27"/>
          <p:cNvSpPr/>
          <p:nvPr/>
        </p:nvSpPr>
        <p:spPr>
          <a:xfrm>
            <a:off x="640080" y="146304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18872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Réformer le Code minier : créer un guichet unique et diviser les délais par 3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188720" y="1810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S'inspirer du modèle australien (Mining One-Stop Shop). Objectif : passer de 10-15 ans à 3-5 ans.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57200" y="2176272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4" name="Shape 31"/>
          <p:cNvSpPr/>
          <p:nvPr/>
        </p:nvSpPr>
        <p:spPr>
          <a:xfrm>
            <a:off x="457200" y="2176272"/>
            <a:ext cx="54864" cy="621792"/>
          </a:xfrm>
          <a:prstGeom prst="rect">
            <a:avLst/>
          </a:prstGeom>
          <a:solidFill>
            <a:srgbClr val="00FF88"/>
          </a:solidFill>
          <a:ln/>
          <a:effectLst>
            <a:outerShdw blurRad="50800" dist="50800" dir="16200000" algn="bl" rotWithShape="0">
              <a:srgbClr val="00FF88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35" name="Text 32"/>
          <p:cNvSpPr/>
          <p:nvPr/>
        </p:nvSpPr>
        <p:spPr>
          <a:xfrm>
            <a:off x="640080" y="2176272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188720" y="2221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Réviser le SDOM : ouvrir des zones d'exploitation encadrée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188720" y="2523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Maintenir les zones protégées mais ouvrir des corridors miniers avec cadre environnemental strict (ICPE).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57200" y="2889504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9" name="Shape 36"/>
          <p:cNvSpPr/>
          <p:nvPr/>
        </p:nvSpPr>
        <p:spPr>
          <a:xfrm>
            <a:off x="457200" y="2889504"/>
            <a:ext cx="54864" cy="621792"/>
          </a:xfrm>
          <a:prstGeom prst="rect">
            <a:avLst/>
          </a:prstGeom>
          <a:solidFill>
            <a:srgbClr val="FF4757"/>
          </a:solidFill>
          <a:ln/>
          <a:effectLst>
            <a:outerShdw blurRad="50800" dist="50800" dir="16200000" algn="bl" rotWithShape="0">
              <a:srgbClr val="FF475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0" name="Text 37"/>
          <p:cNvSpPr/>
          <p:nvPr/>
        </p:nvSpPr>
        <p:spPr>
          <a:xfrm>
            <a:off x="640080" y="288950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4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188720" y="29352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Intensifier la lutte contre l'orpaillage illégal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188720" y="32369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Doubler le budget Harpie, renforcer la coopération avec le Brésil, criminaliser le commerce d'or illégal.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57200" y="3602736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4" name="Shape 41"/>
          <p:cNvSpPr/>
          <p:nvPr/>
        </p:nvSpPr>
        <p:spPr>
          <a:xfrm>
            <a:off x="457200" y="3602736"/>
            <a:ext cx="54864" cy="621792"/>
          </a:xfrm>
          <a:prstGeom prst="rect">
            <a:avLst/>
          </a:prstGeom>
          <a:solidFill>
            <a:srgbClr val="FFD700"/>
          </a:solidFill>
          <a:ln/>
          <a:effectLst>
            <a:outerShdw blurRad="50800" dist="50800" dir="16200000" algn="bl" rotWithShape="0">
              <a:srgbClr val="FFD700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5" name="Text 42"/>
          <p:cNvSpPr/>
          <p:nvPr/>
        </p:nvSpPr>
        <p:spPr>
          <a:xfrm>
            <a:off x="640080" y="3602736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188720" y="364845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Capter les fonds européens CRM Act / ReSourceEU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1188720" y="39502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Positionner la Guyane comme site pilote pour l'extraction de métaux critiques en Europe. Budget disponible : 3 Md€.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57200" y="4315968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9" name="Shape 46"/>
          <p:cNvSpPr/>
          <p:nvPr/>
        </p:nvSpPr>
        <p:spPr>
          <a:xfrm>
            <a:off x="457200" y="4315968"/>
            <a:ext cx="54864" cy="621792"/>
          </a:xfrm>
          <a:prstGeom prst="rect">
            <a:avLst/>
          </a:prstGeom>
          <a:solidFill>
            <a:srgbClr val="A855F7"/>
          </a:solidFill>
          <a:ln/>
          <a:effectLst>
            <a:outerShdw blurRad="50800" dist="50800" dir="16200000" algn="bl" rotWithShape="0">
              <a:srgbClr val="A855F7">
                <a:alpha val="4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50" name="Text 47"/>
          <p:cNvSpPr/>
          <p:nvPr/>
        </p:nvSpPr>
        <p:spPr>
          <a:xfrm>
            <a:off x="640080" y="431596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188720" y="43616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Former et employer localement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11887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Créer un centre de formation aux métiers miniers en Guyane. Objectif : 80% d'emplois locaux. Réduire le chômage de 17% à 12%.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365760" y="274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6012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15200" y="292608"/>
            <a:ext cx="1463040" cy="411480"/>
          </a:xfrm>
          <a:prstGeom prst="roundRect">
            <a:avLst>
              <a:gd name="adj" fmla="val 55556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19"/>
          <p:cNvSpPr/>
          <p:nvPr/>
        </p:nvSpPr>
        <p:spPr>
          <a:xfrm>
            <a:off x="7315200" y="292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SOURCES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4663440"/>
            <a:ext cx="8412480" cy="0"/>
          </a:xfrm>
          <a:prstGeom prst="line">
            <a:avLst/>
          </a:prstGeom>
          <a:noFill/>
          <a:ln w="12700">
            <a:solidFill>
              <a:srgbClr val="1A243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6858000" y="4754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148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A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Sources &amp; Méthodologie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365760" y="1371600"/>
            <a:ext cx="8412480" cy="3200400"/>
          </a:xfrm>
          <a:prstGeom prst="roundRect">
            <a:avLst>
              <a:gd name="adj" fmla="val 3429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8" name="Text 25"/>
          <p:cNvSpPr/>
          <p:nvPr/>
        </p:nvSpPr>
        <p:spPr>
          <a:xfrm>
            <a:off x="548640" y="1508760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[1]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60120" y="1508760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BRGM — Inventaire du domaine minier de la Guyane (2024)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1697355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[2]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60120" y="1697355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Commission européenne — Critical Raw Materials Act, Règlement (UE) 2024/1252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8640" y="1885950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[3]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60120" y="1885950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Commission européenne — Plan ReSourceEU (novembre 2024)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48640" y="2074545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[4]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60120" y="2074545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INSEE — Comptes économiques régionaux de la Guyane (2024)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48640" y="2263140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[5]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60120" y="2263140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IEDOM — Rapport annuel Guyane (2024)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48640" y="2451735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[6]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960120" y="2451735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Ministère des Armées — Bilan opération Harpie (2008-2024)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48640" y="2640330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[7]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960120" y="2640330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Rapport du Sénat — Mission d'information sur l'orpaillage illégal (2023)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48640" y="2828925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[8]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960120" y="2828925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WWF France — L'orpaillage illégal en Guyane (2023)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48640" y="3017520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[9]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960120" y="3017520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Banque mondiale — World Development Indicators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48640" y="3206115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[10]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60120" y="3206115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FMI — World Economic Outlook (octobre 2025)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48640" y="3394710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[11]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960120" y="3394710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Fraser Institute — Annual Survey of Mining Companies (2024)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48640" y="3583305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[12]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960120" y="3583305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NordGold / Oréa Mining — Projet Montagne d'Or, documentation publique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48640" y="3771900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[13]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960120" y="3771900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ARS Guyane — Surveillance sanitaire liée au mercure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548640" y="3960495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[14]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960120" y="3960495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Parc amazonien de Guyane — Rapports environnementaux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48640" y="4149090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[15]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960120" y="4149090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DREAL Guyane — Statistiques minières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548640" y="4337685"/>
            <a:ext cx="36576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[16]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960120" y="4337685"/>
            <a:ext cx="7589520" cy="170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Meridiam / HDF Energy — Projet CEOG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C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3" name="Image 0" descr="/Users/emmanuelblezes/Documents/08_Où va l'argent /Templates/PPT/workspace/glow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0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2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4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4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5"/>
          <p:cNvSpPr/>
          <p:nvPr/>
        </p:nvSpPr>
        <p:spPr>
          <a:xfrm>
            <a:off x="4023360" y="13716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D4FF"/>
          </a:solidFill>
          <a:ln/>
          <a:effectLst>
            <a:outerShdw blurRad="127000" dist="50800" dir="16200000" algn="bl" rotWithShape="0">
              <a:srgbClr val="00D4FF">
                <a:alpha val="50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40233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€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484632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4F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Où Va l'Argent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  <a:effectLst>
            <a:outerShdw blurRad="101600" dist="50800" dir="16200000" algn="bl" rotWithShape="0">
              <a:srgbClr val="00D4FF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F0F4F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Merci !</a:t>
            </a:r>
            <a:endParaRPr lang="en-US" sz="4800" dirty="0"/>
          </a:p>
        </p:txBody>
      </p:sp>
      <p:sp>
        <p:nvSpPr>
          <p:cNvPr id="22" name="Text 19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9A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743200" y="3749040"/>
            <a:ext cx="3657600" cy="731520"/>
          </a:xfrm>
          <a:prstGeom prst="roundRect">
            <a:avLst>
              <a:gd name="adj" fmla="val 15000"/>
            </a:avLst>
          </a:prstGeom>
          <a:solidFill>
            <a:srgbClr val="111820">
              <a:alpha val="85000"/>
            </a:srgbClr>
          </a:solidFill>
          <a:ln w="12700">
            <a:solidFill>
              <a:srgbClr val="1A243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24" name="Text 21"/>
          <p:cNvSpPr/>
          <p:nvPr/>
        </p:nvSpPr>
        <p:spPr>
          <a:xfrm>
            <a:off x="2743200" y="3749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ouvalargent.com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9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@ouvalargent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4484</Words>
  <Application>Microsoft Macintosh PowerPoint</Application>
  <PresentationFormat>On-screen Show (16:9)</PresentationFormat>
  <Paragraphs>1078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Instrument Serif</vt:lpstr>
      <vt:lpstr>JetBrains Mono</vt:lpstr>
      <vt:lpstr>Syne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potentiel minier de la Guyane française</dc:title>
  <dc:subject>Ressources stratégiques inexploitées</dc:subject>
  <dc:creator>Où Va l'Argent — Études</dc:creator>
  <cp:lastModifiedBy>emmanuel blezes</cp:lastModifiedBy>
  <cp:revision>2</cp:revision>
  <dcterms:created xsi:type="dcterms:W3CDTF">2026-02-16T11:36:47Z</dcterms:created>
  <dcterms:modified xsi:type="dcterms:W3CDTF">2026-02-16T11:54:25Z</dcterms:modified>
</cp:coreProperties>
</file>