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ppt/charts/chart4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5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4.xml" ContentType="application/vnd.openxmlformats-officedocument.presentationml.notesSlide+xml"/>
  <Override PartName="/ppt/charts/chart6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5.xml" ContentType="application/vnd.openxmlformats-officedocument.presentationml.notesSlide+xml"/>
  <Override PartName="/ppt/charts/chart7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8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6.xml" ContentType="application/vnd.openxmlformats-officedocument.presentationml.notesSlide+xml"/>
  <Override PartName="/ppt/charts/chart9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10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7.xml" ContentType="application/vnd.openxmlformats-officedocument.presentationml.notesSlide+xml"/>
  <Override PartName="/ppt/charts/chart11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notesSlides/notesSlide8.xml" ContentType="application/vnd.openxmlformats-officedocument.presentationml.notesSlide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4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5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8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notesSlides/notesSlide9.xml" ContentType="application/vnd.openxmlformats-officedocument.presentationml.notesSlide+xml"/>
  <Override PartName="/ppt/charts/chart19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20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21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harts/chart22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charts/chart23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charts/chart24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charts/chart25.xml" ContentType="application/vnd.openxmlformats-officedocument.drawingml.chart+xml"/>
  <Override PartName="/ppt/charts/style21.xml" ContentType="application/vnd.ms-office.chartstyle+xml"/>
  <Override PartName="/ppt/charts/colors21.xml" ContentType="application/vnd.ms-office.chartcolorstyle+xml"/>
  <Override PartName="/ppt/charts/chart26.xml" ContentType="application/vnd.openxmlformats-officedocument.drawingml.chart+xml"/>
  <Override PartName="/ppt/charts/style22.xml" ContentType="application/vnd.ms-office.chartstyle+xml"/>
  <Override PartName="/ppt/charts/colors22.xml" ContentType="application/vnd.ms-office.chartcolorstyle+xml"/>
  <Override PartName="/ppt/notesSlides/notesSlide10.xml" ContentType="application/vnd.openxmlformats-officedocument.presentationml.notesSlide+xml"/>
  <Override PartName="/ppt/charts/chart27.xml" ContentType="application/vnd.openxmlformats-officedocument.drawingml.chart+xml"/>
  <Override PartName="/ppt/charts/style23.xml" ContentType="application/vnd.ms-office.chartstyle+xml"/>
  <Override PartName="/ppt/charts/colors23.xml" ContentType="application/vnd.ms-office.chartcolorstyle+xml"/>
  <Override PartName="/ppt/charts/chart28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Ex1.xml" ContentType="application/vnd.ms-office.chartex+xml"/>
  <Override PartName="/ppt/charts/style24.xml" ContentType="application/vnd.ms-office.chartstyle+xml"/>
  <Override PartName="/ppt/charts/colors24.xml" ContentType="application/vnd.ms-office.chartcolorstyl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29.xml" ContentType="application/vnd.openxmlformats-officedocument.drawingml.chart+xml"/>
  <Override PartName="/ppt/charts/style25.xml" ContentType="application/vnd.ms-office.chartstyle+xml"/>
  <Override PartName="/ppt/charts/colors25.xml" ContentType="application/vnd.ms-office.chartcolorstyle+xml"/>
  <Override PartName="/ppt/charts/chart30.xml" ContentType="application/vnd.openxmlformats-officedocument.drawingml.chart+xml"/>
  <Override PartName="/ppt/charts/style26.xml" ContentType="application/vnd.ms-office.chartstyle+xml"/>
  <Override PartName="/ppt/charts/colors26.xml" ContentType="application/vnd.ms-office.chartcolorstyle+xml"/>
  <Override PartName="/ppt/charts/chart31.xml" ContentType="application/vnd.openxmlformats-officedocument.drawingml.chart+xml"/>
  <Override PartName="/ppt/charts/style27.xml" ContentType="application/vnd.ms-office.chartstyle+xml"/>
  <Override PartName="/ppt/charts/colors27.xml" ContentType="application/vnd.ms-office.chartcolorstyle+xml"/>
  <Override PartName="/ppt/notesSlides/notesSlide15.xml" ContentType="application/vnd.openxmlformats-officedocument.presentationml.notesSlide+xml"/>
  <Override PartName="/ppt/charts/chart32.xml" ContentType="application/vnd.openxmlformats-officedocument.drawingml.chart+xml"/>
  <Override PartName="/ppt/charts/style28.xml" ContentType="application/vnd.ms-office.chartstyle+xml"/>
  <Override PartName="/ppt/charts/colors28.xml" ContentType="application/vnd.ms-office.chartcolorstyle+xml"/>
  <Override PartName="/ppt/drawings/drawing1.xml" ContentType="application/vnd.openxmlformats-officedocument.drawingml.chartshapes+xml"/>
  <Override PartName="/ppt/charts/chart33.xml" ContentType="application/vnd.openxmlformats-officedocument.drawingml.chart+xml"/>
  <Override PartName="/ppt/charts/style29.xml" ContentType="application/vnd.ms-office.chartstyle+xml"/>
  <Override PartName="/ppt/charts/colors29.xml" ContentType="application/vnd.ms-office.chartcolorstyle+xml"/>
  <Override PartName="/ppt/drawings/drawing2.xml" ContentType="application/vnd.openxmlformats-officedocument.drawingml.chartshapes+xml"/>
  <Override PartName="/ppt/notesSlides/notesSlide16.xml" ContentType="application/vnd.openxmlformats-officedocument.presentationml.notesSlide+xml"/>
  <Override PartName="/ppt/charts/chart34.xml" ContentType="application/vnd.openxmlformats-officedocument.drawingml.chart+xml"/>
  <Override PartName="/ppt/charts/style30.xml" ContentType="application/vnd.ms-office.chartstyle+xml"/>
  <Override PartName="/ppt/charts/colors30.xml" ContentType="application/vnd.ms-office.chartcolorstyle+xml"/>
  <Override PartName="/ppt/notesSlides/notesSlide17.xml" ContentType="application/vnd.openxmlformats-officedocument.presentationml.notesSlide+xml"/>
  <Override PartName="/ppt/charts/chart35.xml" ContentType="application/vnd.openxmlformats-officedocument.drawingml.chart+xml"/>
  <Override PartName="/ppt/charts/style31.xml" ContentType="application/vnd.ms-office.chartstyle+xml"/>
  <Override PartName="/ppt/charts/colors31.xml" ContentType="application/vnd.ms-office.chartcolorstyle+xml"/>
  <Override PartName="/ppt/charts/chart36.xml" ContentType="application/vnd.openxmlformats-officedocument.drawingml.chart+xml"/>
  <Override PartName="/ppt/charts/style32.xml" ContentType="application/vnd.ms-office.chartstyle+xml"/>
  <Override PartName="/ppt/charts/colors32.xml" ContentType="application/vnd.ms-office.chartcolorstyle+xml"/>
  <Override PartName="/ppt/notesSlides/notesSlide18.xml" ContentType="application/vnd.openxmlformats-officedocument.presentationml.notesSlide+xml"/>
  <Override PartName="/ppt/charts/chart37.xml" ContentType="application/vnd.openxmlformats-officedocument.drawingml.chart+xml"/>
  <Override PartName="/ppt/charts/style33.xml" ContentType="application/vnd.ms-office.chartstyle+xml"/>
  <Override PartName="/ppt/charts/colors33.xml" ContentType="application/vnd.ms-office.chartcolorstyle+xml"/>
  <Override PartName="/ppt/notesSlides/notesSlide19.xml" ContentType="application/vnd.openxmlformats-officedocument.presentationml.notesSlide+xml"/>
  <Override PartName="/ppt/charts/chart38.xml" ContentType="application/vnd.openxmlformats-officedocument.drawingml.chart+xml"/>
  <Override PartName="/ppt/charts/style34.xml" ContentType="application/vnd.ms-office.chartstyle+xml"/>
  <Override PartName="/ppt/charts/colors34.xml" ContentType="application/vnd.ms-office.chartcolorstyle+xml"/>
  <Override PartName="/ppt/charts/chart39.xml" ContentType="application/vnd.openxmlformats-officedocument.drawingml.chart+xml"/>
  <Override PartName="/ppt/charts/style35.xml" ContentType="application/vnd.ms-office.chartstyle+xml"/>
  <Override PartName="/ppt/charts/colors35.xml" ContentType="application/vnd.ms-office.chartcolorstyle+xml"/>
  <Override PartName="/ppt/charts/chart40.xml" ContentType="application/vnd.openxmlformats-officedocument.drawingml.chart+xml"/>
  <Override PartName="/ppt/charts/style36.xml" ContentType="application/vnd.ms-office.chartstyle+xml"/>
  <Override PartName="/ppt/charts/colors36.xml" ContentType="application/vnd.ms-office.chartcolorstyle+xml"/>
  <Override PartName="/ppt/charts/chart41.xml" ContentType="application/vnd.openxmlformats-officedocument.drawingml.chart+xml"/>
  <Override PartName="/ppt/charts/style37.xml" ContentType="application/vnd.ms-office.chartstyle+xml"/>
  <Override PartName="/ppt/charts/colors37.xml" ContentType="application/vnd.ms-office.chartcolorstyle+xml"/>
  <Override PartName="/ppt/notesSlides/notesSlide20.xml" ContentType="application/vnd.openxmlformats-officedocument.presentationml.notesSlide+xml"/>
  <Override PartName="/ppt/charts/chart42.xml" ContentType="application/vnd.openxmlformats-officedocument.drawingml.chart+xml"/>
  <Override PartName="/ppt/charts/style38.xml" ContentType="application/vnd.ms-office.chartstyle+xml"/>
  <Override PartName="/ppt/charts/colors38.xml" ContentType="application/vnd.ms-office.chartcolorstyle+xml"/>
  <Override PartName="/ppt/charts/chart43.xml" ContentType="application/vnd.openxmlformats-officedocument.drawingml.chart+xml"/>
  <Override PartName="/ppt/charts/style39.xml" ContentType="application/vnd.ms-office.chartstyle+xml"/>
  <Override PartName="/ppt/charts/colors39.xml" ContentType="application/vnd.ms-office.chartcolorstyle+xml"/>
  <Override PartName="/ppt/charts/chart44.xml" ContentType="application/vnd.openxmlformats-officedocument.drawingml.chart+xml"/>
  <Override PartName="/ppt/charts/style40.xml" ContentType="application/vnd.ms-office.chartstyle+xml"/>
  <Override PartName="/ppt/charts/colors40.xml" ContentType="application/vnd.ms-office.chartcolorstyl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6"/>
  </p:notesMasterIdLst>
  <p:sldIdLst>
    <p:sldId id="256" r:id="rId2"/>
    <p:sldId id="488" r:id="rId3"/>
    <p:sldId id="524" r:id="rId4"/>
    <p:sldId id="515" r:id="rId5"/>
    <p:sldId id="410" r:id="rId6"/>
    <p:sldId id="416" r:id="rId7"/>
    <p:sldId id="271" r:id="rId8"/>
    <p:sldId id="441" r:id="rId9"/>
    <p:sldId id="268" r:id="rId10"/>
    <p:sldId id="420" r:id="rId11"/>
    <p:sldId id="525" r:id="rId12"/>
    <p:sldId id="427" r:id="rId13"/>
    <p:sldId id="267" r:id="rId14"/>
    <p:sldId id="445" r:id="rId15"/>
    <p:sldId id="417" r:id="rId16"/>
    <p:sldId id="418" r:id="rId17"/>
    <p:sldId id="422" r:id="rId18"/>
    <p:sldId id="425" r:id="rId19"/>
    <p:sldId id="426" r:id="rId20"/>
    <p:sldId id="423" r:id="rId21"/>
    <p:sldId id="428" r:id="rId22"/>
    <p:sldId id="523" r:id="rId23"/>
    <p:sldId id="516" r:id="rId24"/>
    <p:sldId id="424" r:id="rId25"/>
    <p:sldId id="475" r:id="rId26"/>
    <p:sldId id="495" r:id="rId27"/>
    <p:sldId id="419" r:id="rId28"/>
    <p:sldId id="522" r:id="rId29"/>
    <p:sldId id="526" r:id="rId30"/>
    <p:sldId id="430" r:id="rId31"/>
    <p:sldId id="404" r:id="rId32"/>
    <p:sldId id="431" r:id="rId33"/>
    <p:sldId id="432" r:id="rId34"/>
    <p:sldId id="433" r:id="rId35"/>
    <p:sldId id="384" r:id="rId36"/>
    <p:sldId id="434" r:id="rId37"/>
    <p:sldId id="313" r:id="rId38"/>
    <p:sldId id="429" r:id="rId39"/>
    <p:sldId id="405" r:id="rId40"/>
    <p:sldId id="435" r:id="rId41"/>
    <p:sldId id="288" r:id="rId42"/>
    <p:sldId id="282" r:id="rId43"/>
    <p:sldId id="395" r:id="rId44"/>
    <p:sldId id="383" r:id="rId45"/>
    <p:sldId id="263" r:id="rId46"/>
    <p:sldId id="266" r:id="rId47"/>
    <p:sldId id="436" r:id="rId48"/>
    <p:sldId id="337" r:id="rId49"/>
    <p:sldId id="342" r:id="rId50"/>
    <p:sldId id="262" r:id="rId51"/>
    <p:sldId id="322" r:id="rId52"/>
    <p:sldId id="323" r:id="rId53"/>
    <p:sldId id="439" r:id="rId54"/>
    <p:sldId id="324" r:id="rId55"/>
    <p:sldId id="379" r:id="rId56"/>
    <p:sldId id="336" r:id="rId57"/>
    <p:sldId id="438" r:id="rId58"/>
    <p:sldId id="265" r:id="rId59"/>
    <p:sldId id="381" r:id="rId60"/>
    <p:sldId id="345" r:id="rId61"/>
    <p:sldId id="440" r:id="rId62"/>
    <p:sldId id="297" r:id="rId63"/>
    <p:sldId id="273" r:id="rId64"/>
    <p:sldId id="274" r:id="rId65"/>
    <p:sldId id="442" r:id="rId66"/>
    <p:sldId id="351" r:id="rId67"/>
    <p:sldId id="352" r:id="rId68"/>
    <p:sldId id="290" r:id="rId69"/>
    <p:sldId id="356" r:id="rId70"/>
    <p:sldId id="330" r:id="rId71"/>
    <p:sldId id="444" r:id="rId72"/>
    <p:sldId id="443" r:id="rId73"/>
    <p:sldId id="278" r:id="rId74"/>
    <p:sldId id="521" r:id="rId75"/>
    <p:sldId id="393" r:id="rId76"/>
    <p:sldId id="517" r:id="rId77"/>
    <p:sldId id="411" r:id="rId78"/>
    <p:sldId id="446" r:id="rId79"/>
    <p:sldId id="415" r:id="rId80"/>
    <p:sldId id="514" r:id="rId81"/>
    <p:sldId id="505" r:id="rId82"/>
    <p:sldId id="506" r:id="rId83"/>
    <p:sldId id="507" r:id="rId84"/>
    <p:sldId id="519" r:id="rId8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Exec Sum" id="{3A4C5E4E-6F57-B547-9E57-FFB0EA05E6AA}">
          <p14:sldIdLst>
            <p14:sldId id="256"/>
            <p14:sldId id="488"/>
            <p14:sldId id="524"/>
            <p14:sldId id="515"/>
          </p14:sldIdLst>
        </p14:section>
        <p14:section name="Dépense publique" id="{211B21CC-15CE-F441-8456-2E4D1B66BEB9}">
          <p14:sldIdLst>
            <p14:sldId id="410"/>
            <p14:sldId id="416"/>
            <p14:sldId id="271"/>
            <p14:sldId id="441"/>
            <p14:sldId id="268"/>
            <p14:sldId id="420"/>
            <p14:sldId id="525"/>
            <p14:sldId id="427"/>
            <p14:sldId id="267"/>
            <p14:sldId id="445"/>
            <p14:sldId id="417"/>
            <p14:sldId id="418"/>
            <p14:sldId id="422"/>
            <p14:sldId id="425"/>
            <p14:sldId id="426"/>
            <p14:sldId id="423"/>
            <p14:sldId id="428"/>
            <p14:sldId id="523"/>
            <p14:sldId id="516"/>
            <p14:sldId id="424"/>
            <p14:sldId id="475"/>
            <p14:sldId id="495"/>
            <p14:sldId id="419"/>
            <p14:sldId id="522"/>
            <p14:sldId id="526"/>
          </p14:sldIdLst>
        </p14:section>
        <p14:section name="Retraites" id="{4B9D208F-5476-444E-84AB-CA41540D9ADF}">
          <p14:sldIdLst>
            <p14:sldId id="430"/>
            <p14:sldId id="404"/>
            <p14:sldId id="431"/>
            <p14:sldId id="432"/>
            <p14:sldId id="433"/>
            <p14:sldId id="384"/>
            <p14:sldId id="434"/>
            <p14:sldId id="313"/>
          </p14:sldIdLst>
        </p14:section>
        <p14:section name="Retraite par capitalisation" id="{A30A83CE-5CB7-FC41-8173-D2FDBA12C5C1}">
          <p14:sldIdLst>
            <p14:sldId id="429"/>
            <p14:sldId id="405"/>
            <p14:sldId id="435"/>
            <p14:sldId id="288"/>
            <p14:sldId id="282"/>
            <p14:sldId id="395"/>
            <p14:sldId id="383"/>
            <p14:sldId id="263"/>
            <p14:sldId id="266"/>
            <p14:sldId id="436"/>
            <p14:sldId id="337"/>
            <p14:sldId id="342"/>
            <p14:sldId id="262"/>
            <p14:sldId id="322"/>
            <p14:sldId id="323"/>
            <p14:sldId id="439"/>
            <p14:sldId id="324"/>
            <p14:sldId id="379"/>
            <p14:sldId id="336"/>
            <p14:sldId id="438"/>
            <p14:sldId id="265"/>
            <p14:sldId id="381"/>
            <p14:sldId id="345"/>
            <p14:sldId id="440"/>
            <p14:sldId id="297"/>
            <p14:sldId id="273"/>
            <p14:sldId id="274"/>
            <p14:sldId id="442"/>
            <p14:sldId id="351"/>
            <p14:sldId id="352"/>
            <p14:sldId id="290"/>
            <p14:sldId id="356"/>
            <p14:sldId id="330"/>
            <p14:sldId id="444"/>
            <p14:sldId id="443"/>
            <p14:sldId id="278"/>
            <p14:sldId id="521"/>
            <p14:sldId id="393"/>
          </p14:sldIdLst>
        </p14:section>
        <p14:section name="Inspirations étrangères" id="{49B66E72-1C21-4E46-9B75-A9846A721662}">
          <p14:sldIdLst>
            <p14:sldId id="517"/>
            <p14:sldId id="411"/>
            <p14:sldId id="446"/>
            <p14:sldId id="415"/>
            <p14:sldId id="514"/>
            <p14:sldId id="505"/>
            <p14:sldId id="506"/>
            <p14:sldId id="507"/>
            <p14:sldId id="51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A3EE2"/>
    <a:srgbClr val="CA2E4D"/>
    <a:srgbClr val="FFFFFF"/>
    <a:srgbClr val="1707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0650"/>
    <p:restoredTop sz="93701"/>
  </p:normalViewPr>
  <p:slideViewPr>
    <p:cSldViewPr snapToGrid="0">
      <p:cViewPr varScale="1">
        <p:scale>
          <a:sx n="95" d="100"/>
          <a:sy n="95" d="100"/>
        </p:scale>
        <p:origin x="216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32" d="100"/>
        <a:sy n="32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tableStyles" Target="tableStyles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emmanuelblezes/Downloads/gov_10a_main$defaultview_page_spreadsheet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emmanuelblezes/Downloads/econ-fin-pub-rec-dep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emmanuelblezes/Downloads/gov_10dd_edpt1$defaultview_spreadsheet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emmanuelblezes/Documents/Think%20tank%20-%20IAP/Recherches%20/1%20-%20Retraite%20par%20capitalisation/Modelisations%20-%20Retraite%20par%20capitalisation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emmanuelblezes/Documents/Think%20tank%20-%20IAP/Recherches%20/1%20-%20Retraite%20par%20capitalisation/Modelisations%20-%20Retraite%20par%20capitalisation.xlsx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oleObject" Target="file:////Users/emmanuelblezes/Documents/Think%20tank%20-%20IAP/Recherches%20/1%20-%20Retraite%20par%20capitalisation/Modelisations%20-%20Retraite%20par%20capitalisation.xlsx" TargetMode="Externa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emmanuelblezes/Documents/Think%20tank%20-%20IAP/Recherches%20/1%20-%20Retraite%20par%20capitalisation/Modelisations%20-%20Retraite%20par%20capitalisation.xlsx" TargetMode="External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emmanuelblezes/Documents/Think%20tank%20-%20IAP/Recherches%20/1%20-%20Retraite%20par%20capitalisation/Modelisations%20-%20Retraite%20par%20capitalisation.xlsx" TargetMode="External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emmanuelblezes/Documents/Think%20tank%20-%20IAP/Recherche%20:%20Rapport%20/1%20-%20Retraite%20par%20capitalisation/Rapport/Rapport/Data%20-%20Retraite%20par%20capitalisation%20-%2020012025.xlsx" TargetMode="External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21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emmanuelblezes/Documents/Think%20tank%20-%20IAP/Recherche%20:%20Rapport%20/1%20-%20Retraite%20par%20capitalisation/Rapport/Rapport/Data%20-%20Retraite%20par%20capitalisation%20-%2020012025.xlsx" TargetMode="External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22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emmanuelblezes/Documents/Think%20tank%20-%20IAP/Recherche%20:%20Rapport%20/1%20-%20Retraite%20par%20capitalisation/Rapport/Rapport/Data%20-%20Retraite%20par%20capitalisation%20-%2020012025.xlsx" TargetMode="External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2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_rels/chart24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emmanuelblezes/Documents/Think%20tank%20-%20IAP/Recherche%20:%20Rapport%20/1%20-%20Retraite%20par%20capitalisation/Rapport/Rapport/Data%20-%20Retraite%20par%20capitalisation%20-%2020012025.xlsx" TargetMode="External"/><Relationship Id="rId2" Type="http://schemas.microsoft.com/office/2011/relationships/chartColorStyle" Target="colors20.xml"/><Relationship Id="rId1" Type="http://schemas.microsoft.com/office/2011/relationships/chartStyle" Target="style20.xml"/></Relationships>
</file>

<file path=ppt/charts/_rels/chart25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emmanuelblezes/Documents/Think%20tank%20-%20IAP/Recherches%20/1%20-%20Retraite%20par%20capitalisation/Modelisations%20-%20Retraite%20par%20capitalisation.xlsx" TargetMode="External"/><Relationship Id="rId2" Type="http://schemas.microsoft.com/office/2011/relationships/chartColorStyle" Target="colors21.xml"/><Relationship Id="rId1" Type="http://schemas.microsoft.com/office/2011/relationships/chartStyle" Target="style21.xml"/></Relationships>
</file>

<file path=ppt/charts/_rels/chart26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emmanuelblezes/Documents/Think%20tank%20-%20IAP/Recherches%20/1%20-%20Retraite%20par%20capitalisation/Modelisations%20-%20Retraite%20par%20capitalisation.xlsx" TargetMode="External"/><Relationship Id="rId2" Type="http://schemas.microsoft.com/office/2011/relationships/chartColorStyle" Target="colors22.xml"/><Relationship Id="rId1" Type="http://schemas.microsoft.com/office/2011/relationships/chartStyle" Target="style22.xml"/></Relationships>
</file>

<file path=ppt/charts/_rels/chart27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emmanuelblezes/Documents/Think%20tank%20-%20IAP/Recherches%20/1%20-%20Retraite%20par%20capitalisation/Modelisations%20-%20Retraite%20par%20capitalisation.xlsx" TargetMode="External"/><Relationship Id="rId2" Type="http://schemas.microsoft.com/office/2011/relationships/chartColorStyle" Target="colors23.xml"/><Relationship Id="rId1" Type="http://schemas.microsoft.com/office/2011/relationships/chartStyle" Target="style23.xml"/></Relationships>
</file>

<file path=ppt/charts/_rels/chart28.xml.rels><?xml version="1.0" encoding="UTF-8" standalone="yes"?>
<Relationships xmlns="http://schemas.openxmlformats.org/package/2006/relationships"><Relationship Id="rId1" Type="http://schemas.openxmlformats.org/officeDocument/2006/relationships/oleObject" Target="file:////Users/emmanuelblezes/Documents/Think%20tank%20-%20IAP/Recherches%20/1%20-%20Retraite%20par%20capitalisation/Modelisations%20-%20Retraite%20par%20capitalisation.xlsx" TargetMode="External"/></Relationships>
</file>

<file path=ppt/charts/_rels/chart29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emmanuelblezes/Documents/Think%20tank%20-%20IAP/Recherche%20:%20Rapport%20/1%20-%20Retraite%20par%20capitalisation/Rapport/Rapport/Data%20-%20Retraite%20par%20capitalisation%20-%2020012025.xlsx" TargetMode="External"/><Relationship Id="rId2" Type="http://schemas.microsoft.com/office/2011/relationships/chartColorStyle" Target="colors25.xml"/><Relationship Id="rId1" Type="http://schemas.microsoft.com/office/2011/relationships/chartStyle" Target="style25.xml"/></Relationships>
</file>

<file path=ppt/charts/_rels/chart30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emmanuelblezes/Documents/Think%20tank%20-%20IAP/Recherches%20/1%20-%20Retraite%20par%20capitalisation/Modelisations%20-%20Retraite%20par%20capitalisation.xlsx" TargetMode="External"/><Relationship Id="rId2" Type="http://schemas.microsoft.com/office/2011/relationships/chartColorStyle" Target="colors26.xml"/><Relationship Id="rId1" Type="http://schemas.microsoft.com/office/2011/relationships/chartStyle" Target="style26.xml"/></Relationships>
</file>

<file path=ppt/charts/_rels/chart3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27.xml"/><Relationship Id="rId1" Type="http://schemas.microsoft.com/office/2011/relationships/chartStyle" Target="style27.xml"/></Relationships>
</file>

<file path=ppt/charts/_rels/chart3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28.xml"/><Relationship Id="rId1" Type="http://schemas.microsoft.com/office/2011/relationships/chartStyle" Target="style28.xml"/><Relationship Id="rId4" Type="http://schemas.openxmlformats.org/officeDocument/2006/relationships/chartUserShapes" Target="../drawings/drawing1.xml"/></Relationships>
</file>

<file path=ppt/charts/_rels/chart3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29.xml"/><Relationship Id="rId1" Type="http://schemas.microsoft.com/office/2011/relationships/chartStyle" Target="style29.xml"/><Relationship Id="rId4" Type="http://schemas.openxmlformats.org/officeDocument/2006/relationships/chartUserShapes" Target="../drawings/drawing2.xml"/></Relationships>
</file>

<file path=ppt/charts/_rels/chart3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2.xlsx"/><Relationship Id="rId2" Type="http://schemas.microsoft.com/office/2011/relationships/chartColorStyle" Target="colors30.xml"/><Relationship Id="rId1" Type="http://schemas.microsoft.com/office/2011/relationships/chartStyle" Target="style30.xml"/></Relationships>
</file>

<file path=ppt/charts/_rels/chart3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3.xlsx"/><Relationship Id="rId2" Type="http://schemas.microsoft.com/office/2011/relationships/chartColorStyle" Target="colors31.xml"/><Relationship Id="rId1" Type="http://schemas.microsoft.com/office/2011/relationships/chartStyle" Target="style31.xml"/></Relationships>
</file>

<file path=ppt/charts/_rels/chart3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4.xlsx"/><Relationship Id="rId2" Type="http://schemas.microsoft.com/office/2011/relationships/chartColorStyle" Target="colors32.xml"/><Relationship Id="rId1" Type="http://schemas.microsoft.com/office/2011/relationships/chartStyle" Target="style32.xml"/></Relationships>
</file>

<file path=ppt/charts/_rels/chart3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5.xlsx"/><Relationship Id="rId2" Type="http://schemas.microsoft.com/office/2011/relationships/chartColorStyle" Target="colors33.xml"/><Relationship Id="rId1" Type="http://schemas.microsoft.com/office/2011/relationships/chartStyle" Target="style33.xml"/></Relationships>
</file>

<file path=ppt/charts/_rels/chart3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6.xlsx"/><Relationship Id="rId2" Type="http://schemas.microsoft.com/office/2011/relationships/chartColorStyle" Target="colors34.xml"/><Relationship Id="rId1" Type="http://schemas.microsoft.com/office/2011/relationships/chartStyle" Target="style34.xml"/></Relationships>
</file>

<file path=ppt/charts/_rels/chart3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7.xlsx"/><Relationship Id="rId2" Type="http://schemas.microsoft.com/office/2011/relationships/chartColorStyle" Target="colors35.xml"/><Relationship Id="rId1" Type="http://schemas.microsoft.com/office/2011/relationships/chartStyle" Target="style35.xml"/></Relationships>
</file>

<file path=ppt/charts/_rels/chart4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8.xlsx"/><Relationship Id="rId2" Type="http://schemas.microsoft.com/office/2011/relationships/chartColorStyle" Target="colors36.xml"/><Relationship Id="rId1" Type="http://schemas.microsoft.com/office/2011/relationships/chartStyle" Target="style36.xml"/></Relationships>
</file>

<file path=ppt/charts/_rels/chart41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antoninferreira/Documents/Think%20tank/Recherche/Logement%20et%20HLM/Data%20cour%20des%20comptes.xlsx" TargetMode="External"/><Relationship Id="rId2" Type="http://schemas.microsoft.com/office/2011/relationships/chartColorStyle" Target="colors37.xml"/><Relationship Id="rId1" Type="http://schemas.microsoft.com/office/2011/relationships/chartStyle" Target="style37.xml"/></Relationships>
</file>

<file path=ppt/charts/_rels/chart4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9.xlsx"/><Relationship Id="rId2" Type="http://schemas.microsoft.com/office/2011/relationships/chartColorStyle" Target="colors38.xml"/><Relationship Id="rId1" Type="http://schemas.microsoft.com/office/2011/relationships/chartStyle" Target="style38.xml"/></Relationships>
</file>

<file path=ppt/charts/_rels/chart4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0.xlsx"/><Relationship Id="rId2" Type="http://schemas.microsoft.com/office/2011/relationships/chartColorStyle" Target="colors39.xml"/><Relationship Id="rId1" Type="http://schemas.microsoft.com/office/2011/relationships/chartStyle" Target="style39.xml"/></Relationships>
</file>

<file path=ppt/charts/_rels/chart4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1.xlsx"/><Relationship Id="rId2" Type="http://schemas.microsoft.com/office/2011/relationships/chartColorStyle" Target="colors40.xml"/><Relationship Id="rId1" Type="http://schemas.microsoft.com/office/2011/relationships/chartStyle" Target="style40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24.xml"/><Relationship Id="rId2" Type="http://schemas.microsoft.com/office/2011/relationships/chartStyle" Target="style24.xml"/><Relationship Id="rId1" Type="http://schemas.openxmlformats.org/officeDocument/2006/relationships/oleObject" Target="file:////Users/emmanuelblezes/Documents/Think%20tank%20-%20IAP/Recherches%20/1%20-%20Retraite%20par%20capitalisation/Modelisations%20-%20Retraite%20par%20capitalisation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title>
      <c:tx>
        <c:rich>
          <a:bodyPr/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lang="fr-FR" sz="2400" b="1">
                <a:solidFill>
                  <a:srgbClr val="FFFFFF"/>
                </a:solidFill>
              </a:rPr>
              <a:t>PIB par habitant en 2025 (€, parité de pouvoir d'achat)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PIB/hab</c:v>
          </c:tx>
          <c:invertIfNegative val="1"/>
          <c:dPt>
            <c:idx val="0"/>
            <c:invertIfNegative val="0"/>
            <c:bubble3D val="0"/>
            <c:spPr>
              <a:solidFill>
                <a:srgbClr val="7F8C8D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BB83-234E-8C52-E45B6C9BEBA8}"/>
              </c:ext>
            </c:extLst>
          </c:dPt>
          <c:dPt>
            <c:idx val="1"/>
            <c:invertIfNegative val="0"/>
            <c:bubble3D val="0"/>
            <c:spPr>
              <a:solidFill>
                <a:srgbClr val="7F8C8D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BB83-234E-8C52-E45B6C9BEBA8}"/>
              </c:ext>
            </c:extLst>
          </c:dPt>
          <c:dPt>
            <c:idx val="2"/>
            <c:invertIfNegative val="0"/>
            <c:bubble3D val="0"/>
            <c:spPr>
              <a:solidFill>
                <a:srgbClr val="7F8C8D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BB83-234E-8C52-E45B6C9BEBA8}"/>
              </c:ext>
            </c:extLst>
          </c:dPt>
          <c:dPt>
            <c:idx val="3"/>
            <c:invertIfNegative val="0"/>
            <c:bubble3D val="0"/>
            <c:spPr>
              <a:solidFill>
                <a:srgbClr val="7F8C8D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BB83-234E-8C52-E45B6C9BEBA8}"/>
              </c:ext>
            </c:extLst>
          </c:dPt>
          <c:dPt>
            <c:idx val="4"/>
            <c:invertIfNegative val="0"/>
            <c:bubble3D val="0"/>
            <c:spPr>
              <a:solidFill>
                <a:srgbClr val="7F8C8D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9-BB83-234E-8C52-E45B6C9BEBA8}"/>
              </c:ext>
            </c:extLst>
          </c:dPt>
          <c:dPt>
            <c:idx val="5"/>
            <c:invertIfNegative val="0"/>
            <c:bubble3D val="0"/>
            <c:spPr>
              <a:solidFill>
                <a:srgbClr val="F39C1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B-BB83-234E-8C52-E45B6C9BEBA8}"/>
              </c:ext>
            </c:extLst>
          </c:dPt>
          <c:dPt>
            <c:idx val="6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D-BB83-234E-8C52-E45B6C9BEBA8}"/>
              </c:ext>
            </c:extLst>
          </c:dPt>
          <c:dPt>
            <c:idx val="7"/>
            <c:invertIfNegative val="0"/>
            <c:bubble3D val="0"/>
            <c:spPr>
              <a:solidFill>
                <a:srgbClr val="7F8C8D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F-BB83-234E-8C52-E45B6C9BEBA8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>
                    <a:solidFill>
                      <a:srgbClr val="FFFFFF"/>
                    </a:solidFill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</c:f>
              <c:strCache>
                <c:ptCount val="8"/>
                <c:pt idx="0">
                  <c:v>Luxembourg</c:v>
                </c:pt>
                <c:pt idx="1">
                  <c:v>Irlande</c:v>
                </c:pt>
                <c:pt idx="2">
                  <c:v>Pays-Bas</c:v>
                </c:pt>
                <c:pt idx="3">
                  <c:v>Allemagne</c:v>
                </c:pt>
                <c:pt idx="4">
                  <c:v>Belgique</c:v>
                </c:pt>
                <c:pt idx="5">
                  <c:v>UE-27</c:v>
                </c:pt>
                <c:pt idx="6">
                  <c:v>France</c:v>
                </c:pt>
                <c:pt idx="7">
                  <c:v>Italie</c:v>
                </c:pt>
              </c:strCache>
            </c:strRef>
          </c:cat>
          <c:val>
            <c:numRef>
              <c:f>val</c:f>
              <c:numCache>
                <c:formatCode>#,##0</c:formatCode>
                <c:ptCount val="8"/>
                <c:pt idx="0">
                  <c:v>99300</c:v>
                </c:pt>
                <c:pt idx="1">
                  <c:v>98800</c:v>
                </c:pt>
                <c:pt idx="2">
                  <c:v>55600</c:v>
                </c:pt>
                <c:pt idx="3">
                  <c:v>47900</c:v>
                </c:pt>
                <c:pt idx="4">
                  <c:v>47700</c:v>
                </c:pt>
                <c:pt idx="5">
                  <c:v>41600</c:v>
                </c:pt>
                <c:pt idx="6">
                  <c:v>40700</c:v>
                </c:pt>
                <c:pt idx="7">
                  <c:v>39900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BB83-234E-8C52-E45B6C9BEBA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11"/>
        <c:axId val="222"/>
      </c:barChart>
      <c:catAx>
        <c:axId val="11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 rot="0"/>
          <a:lstStyle/>
          <a:p>
            <a:pPr>
              <a:defRPr sz="1400" b="1">
                <a:solidFill>
                  <a:srgbClr val="FFFFFF"/>
                </a:solidFill>
              </a:defRPr>
            </a:pPr>
            <a:endParaRPr lang="fr-FR"/>
          </a:p>
        </c:txPr>
        <c:crossAx val="222"/>
        <c:crosses val="autoZero"/>
        <c:auto val="1"/>
        <c:lblAlgn val="ctr"/>
        <c:lblOffset val="100"/>
        <c:noMultiLvlLbl val="1"/>
      </c:catAx>
      <c:valAx>
        <c:axId val="222"/>
        <c:scaling>
          <c:orientation val="minMax"/>
        </c:scaling>
        <c:delete val="1"/>
        <c:axPos val="l"/>
        <c:numFmt formatCode="#,##0" sourceLinked="1"/>
        <c:majorTickMark val="none"/>
        <c:minorTickMark val="none"/>
        <c:tickLblPos val="nextTo"/>
        <c:crossAx val="11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title>
      <c:tx>
        <c:rich>
          <a:bodyPr/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rPr lang="fr-FR" sz="2000" b="1">
                <a:solidFill>
                  <a:srgbClr val="FFFFFF"/>
                </a:solidFill>
              </a:rPr>
              <a:t>Part de l'industrie dans le PIB (%, 2024)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Industrie %PIB</c:v>
          </c:tx>
          <c:invertIfNegative val="1"/>
          <c:dPt>
            <c:idx val="0"/>
            <c:invertIfNegative val="0"/>
            <c:bubble3D val="0"/>
            <c:spPr>
              <a:solidFill>
                <a:srgbClr val="7F8C8D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88DB-AE44-A35D-3EFB0E88B2D2}"/>
              </c:ext>
            </c:extLst>
          </c:dPt>
          <c:dPt>
            <c:idx val="1"/>
            <c:invertIfNegative val="0"/>
            <c:bubble3D val="0"/>
            <c:spPr>
              <a:solidFill>
                <a:srgbClr val="7F8C8D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88DB-AE44-A35D-3EFB0E88B2D2}"/>
              </c:ext>
            </c:extLst>
          </c:dPt>
          <c:dPt>
            <c:idx val="2"/>
            <c:invertIfNegative val="0"/>
            <c:bubble3D val="0"/>
            <c:spPr>
              <a:solidFill>
                <a:srgbClr val="7F8C8D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88DB-AE44-A35D-3EFB0E88B2D2}"/>
              </c:ext>
            </c:extLst>
          </c:dPt>
          <c:dPt>
            <c:idx val="3"/>
            <c:invertIfNegative val="0"/>
            <c:bubble3D val="0"/>
            <c:spPr>
              <a:solidFill>
                <a:srgbClr val="F39C1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88DB-AE44-A35D-3EFB0E88B2D2}"/>
              </c:ext>
            </c:extLst>
          </c:dPt>
          <c:dPt>
            <c:idx val="4"/>
            <c:invertIfNegative val="0"/>
            <c:bubble3D val="0"/>
            <c:spPr>
              <a:solidFill>
                <a:srgbClr val="7F8C8D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9-88DB-AE44-A35D-3EFB0E88B2D2}"/>
              </c:ext>
            </c:extLst>
          </c:dPt>
          <c:dPt>
            <c:idx val="5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B-88DB-AE44-A35D-3EFB0E88B2D2}"/>
              </c:ext>
            </c:extLst>
          </c:dPt>
          <c:dPt>
            <c:idx val="6"/>
            <c:invertIfNegative val="0"/>
            <c:bubble3D val="0"/>
            <c:spPr>
              <a:solidFill>
                <a:srgbClr val="7F8C8D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D-88DB-AE44-A35D-3EFB0E88B2D2}"/>
              </c:ext>
            </c:extLst>
          </c:dPt>
          <c:dLbls>
            <c:numFmt formatCode="0&quot; 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>
                    <a:solidFill>
                      <a:srgbClr val="FFFFFF"/>
                    </a:solidFill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</c:f>
              <c:strCache>
                <c:ptCount val="7"/>
                <c:pt idx="0">
                  <c:v>Allemagne</c:v>
                </c:pt>
                <c:pt idx="1">
                  <c:v>Italie</c:v>
                </c:pt>
                <c:pt idx="2">
                  <c:v>Pologne</c:v>
                </c:pt>
                <c:pt idx="3">
                  <c:v>UE-27</c:v>
                </c:pt>
                <c:pt idx="4">
                  <c:v>Espagne</c:v>
                </c:pt>
                <c:pt idx="5">
                  <c:v>France</c:v>
                </c:pt>
                <c:pt idx="6">
                  <c:v>Royaume-Uni</c:v>
                </c:pt>
              </c:strCache>
            </c:strRef>
          </c:cat>
          <c:val>
            <c:numRef>
              <c:f>val</c:f>
              <c:numCache>
                <c:formatCode>0</c:formatCode>
                <c:ptCount val="7"/>
                <c:pt idx="0">
                  <c:v>20</c:v>
                </c:pt>
                <c:pt idx="1">
                  <c:v>17</c:v>
                </c:pt>
                <c:pt idx="2">
                  <c:v>17</c:v>
                </c:pt>
                <c:pt idx="3">
                  <c:v>15</c:v>
                </c:pt>
                <c:pt idx="4">
                  <c:v>14</c:v>
                </c:pt>
                <c:pt idx="5">
                  <c:v>10</c:v>
                </c:pt>
                <c:pt idx="6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88DB-AE44-A35D-3EFB0E88B2D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11"/>
        <c:axId val="222"/>
      </c:barChart>
      <c:catAx>
        <c:axId val="11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 rot="0"/>
          <a:lstStyle/>
          <a:p>
            <a:pPr>
              <a:defRPr sz="1200" b="1">
                <a:solidFill>
                  <a:srgbClr val="FFFFFF"/>
                </a:solidFill>
              </a:defRPr>
            </a:pPr>
            <a:endParaRPr lang="fr-FR"/>
          </a:p>
        </c:txPr>
        <c:crossAx val="222"/>
        <c:crosses val="autoZero"/>
        <c:auto val="1"/>
        <c:lblAlgn val="ctr"/>
        <c:lblOffset val="100"/>
        <c:tickLblSkip val="1"/>
        <c:noMultiLvlLbl val="1"/>
      </c:catAx>
      <c:valAx>
        <c:axId val="222"/>
        <c:scaling>
          <c:orientation val="minMax"/>
        </c:scaling>
        <c:delete val="1"/>
        <c:axPos val="l"/>
        <c:numFmt formatCode="0" sourceLinked="1"/>
        <c:majorTickMark val="none"/>
        <c:minorTickMark val="none"/>
        <c:tickLblPos val="nextTo"/>
        <c:crossAx val="11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80" b="0" i="0" u="none" strike="noStrike" kern="1200" spc="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r>
              <a:rPr lang="en-GB"/>
              <a:t>Dépenses publiques en 2023 (% PIB)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80" b="0" i="0" u="none" strike="noStrike" kern="1200" spc="0" baseline="0">
              <a:solidFill>
                <a:schemeClr val="bg1"/>
              </a:solidFill>
              <a:latin typeface="Questrial" pitchFamily="2" charset="77"/>
              <a:ea typeface="Questrial" pitchFamily="2" charset="77"/>
              <a:cs typeface="Questrial" pitchFamily="2" charset="77"/>
            </a:defRPr>
          </a:pPr>
          <a:endParaRPr lang="en-GB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BF4E-5E4B-B4F3-038D51D3DB14}"/>
              </c:ext>
            </c:extLst>
          </c:dPt>
          <c:dPt>
            <c:idx val="9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EBFC-A940-862A-1648C1269D62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endParaRPr lang="en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'Sheet 1'!$A$11:$A$41</c:f>
              <c:strCache>
                <c:ptCount val="31"/>
                <c:pt idx="0">
                  <c:v>France</c:v>
                </c:pt>
                <c:pt idx="1">
                  <c:v>Finlande</c:v>
                </c:pt>
                <c:pt idx="2">
                  <c:v>Italie</c:v>
                </c:pt>
                <c:pt idx="3">
                  <c:v>Belgique</c:v>
                </c:pt>
                <c:pt idx="4">
                  <c:v>Autriche</c:v>
                </c:pt>
                <c:pt idx="5">
                  <c:v>Suède</c:v>
                </c:pt>
                <c:pt idx="6">
                  <c:v>Zone euro</c:v>
                </c:pt>
                <c:pt idx="7">
                  <c:v>Grèce</c:v>
                </c:pt>
                <c:pt idx="8">
                  <c:v>Hongrie</c:v>
                </c:pt>
                <c:pt idx="9">
                  <c:v>UE</c:v>
                </c:pt>
                <c:pt idx="10">
                  <c:v>Allemagne</c:v>
                </c:pt>
                <c:pt idx="11">
                  <c:v>Slovaquie</c:v>
                </c:pt>
                <c:pt idx="12">
                  <c:v>Danemark</c:v>
                </c:pt>
                <c:pt idx="13">
                  <c:v>Luxembourg</c:v>
                </c:pt>
                <c:pt idx="14">
                  <c:v>Pologne</c:v>
                </c:pt>
                <c:pt idx="15">
                  <c:v>Croatie</c:v>
                </c:pt>
                <c:pt idx="16">
                  <c:v>Norvège</c:v>
                </c:pt>
                <c:pt idx="17">
                  <c:v>Slovénie</c:v>
                </c:pt>
                <c:pt idx="18">
                  <c:v>Espagne</c:v>
                </c:pt>
                <c:pt idx="19">
                  <c:v>Islande</c:v>
                </c:pt>
                <c:pt idx="20">
                  <c:v>Pays-Bas</c:v>
                </c:pt>
                <c:pt idx="21">
                  <c:v>Rep. Tchèque</c:v>
                </c:pt>
                <c:pt idx="22">
                  <c:v>Estonie</c:v>
                </c:pt>
                <c:pt idx="23">
                  <c:v>Lettonie</c:v>
                </c:pt>
                <c:pt idx="24">
                  <c:v>Portugal</c:v>
                </c:pt>
                <c:pt idx="25">
                  <c:v>Chypre</c:v>
                </c:pt>
                <c:pt idx="26">
                  <c:v>Roumanie</c:v>
                </c:pt>
                <c:pt idx="27">
                  <c:v>Bulgarie</c:v>
                </c:pt>
                <c:pt idx="28">
                  <c:v>Lituanie</c:v>
                </c:pt>
                <c:pt idx="29">
                  <c:v>Malte</c:v>
                </c:pt>
                <c:pt idx="30">
                  <c:v>Suisse</c:v>
                </c:pt>
              </c:strCache>
            </c:strRef>
          </c:cat>
          <c:val>
            <c:numRef>
              <c:f>'Sheet 1'!$R$11:$R$41</c:f>
              <c:numCache>
                <c:formatCode>#\ ##0.##########</c:formatCode>
                <c:ptCount val="31"/>
                <c:pt idx="0">
                  <c:v>56.9</c:v>
                </c:pt>
                <c:pt idx="1">
                  <c:v>55.9</c:v>
                </c:pt>
                <c:pt idx="2" formatCode="#\ ##0.0">
                  <c:v>54</c:v>
                </c:pt>
                <c:pt idx="3">
                  <c:v>53.3</c:v>
                </c:pt>
                <c:pt idx="4">
                  <c:v>52.7</c:v>
                </c:pt>
                <c:pt idx="5" formatCode="#\ ##0.0">
                  <c:v>50</c:v>
                </c:pt>
                <c:pt idx="6">
                  <c:v>49.5</c:v>
                </c:pt>
                <c:pt idx="7">
                  <c:v>49.5</c:v>
                </c:pt>
                <c:pt idx="8">
                  <c:v>49.2</c:v>
                </c:pt>
                <c:pt idx="9" formatCode="#\ ##0.0">
                  <c:v>49</c:v>
                </c:pt>
                <c:pt idx="10">
                  <c:v>48.4</c:v>
                </c:pt>
                <c:pt idx="11" formatCode="#\ ##0.0">
                  <c:v>48</c:v>
                </c:pt>
                <c:pt idx="12">
                  <c:v>47.4</c:v>
                </c:pt>
                <c:pt idx="13" formatCode="#\ ##0.0">
                  <c:v>47</c:v>
                </c:pt>
                <c:pt idx="14">
                  <c:v>46.9</c:v>
                </c:pt>
                <c:pt idx="15">
                  <c:v>46.8</c:v>
                </c:pt>
                <c:pt idx="16">
                  <c:v>46.7</c:v>
                </c:pt>
                <c:pt idx="17">
                  <c:v>46.5</c:v>
                </c:pt>
                <c:pt idx="18">
                  <c:v>45.4</c:v>
                </c:pt>
                <c:pt idx="19">
                  <c:v>45.2</c:v>
                </c:pt>
                <c:pt idx="20" formatCode="#\ ##0.0">
                  <c:v>44</c:v>
                </c:pt>
                <c:pt idx="21">
                  <c:v>43.9</c:v>
                </c:pt>
                <c:pt idx="22">
                  <c:v>43.7</c:v>
                </c:pt>
                <c:pt idx="23">
                  <c:v>43.7</c:v>
                </c:pt>
                <c:pt idx="24">
                  <c:v>42.3</c:v>
                </c:pt>
                <c:pt idx="25" formatCode="#\ ##0.0">
                  <c:v>42</c:v>
                </c:pt>
                <c:pt idx="26">
                  <c:v>40.6</c:v>
                </c:pt>
                <c:pt idx="27">
                  <c:v>38.799999999999997</c:v>
                </c:pt>
                <c:pt idx="28">
                  <c:v>37.4</c:v>
                </c:pt>
                <c:pt idx="29">
                  <c:v>36.700000000000003</c:v>
                </c:pt>
                <c:pt idx="30">
                  <c:v>33.6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F4E-5E4B-B4F3-038D51D3DB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610002847"/>
        <c:axId val="449148432"/>
      </c:barChart>
      <c:catAx>
        <c:axId val="161000284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en-FR"/>
          </a:p>
        </c:txPr>
        <c:crossAx val="449148432"/>
        <c:crosses val="autoZero"/>
        <c:auto val="1"/>
        <c:lblAlgn val="ctr"/>
        <c:lblOffset val="100"/>
        <c:noMultiLvlLbl val="0"/>
      </c:catAx>
      <c:valAx>
        <c:axId val="449148432"/>
        <c:scaling>
          <c:orientation val="minMax"/>
          <c:min val="2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en-FR"/>
          </a:p>
        </c:txPr>
        <c:crossAx val="161000284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400">
          <a:solidFill>
            <a:schemeClr val="bg1"/>
          </a:solidFill>
          <a:latin typeface="Questrial" pitchFamily="2" charset="77"/>
          <a:ea typeface="Questrial" pitchFamily="2" charset="77"/>
          <a:cs typeface="Questrial" pitchFamily="2" charset="77"/>
        </a:defRPr>
      </a:pPr>
      <a:endParaRPr lang="en-F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r>
              <a:rPr lang="en-US" sz="1400" dirty="0" err="1"/>
              <a:t>Déficit</a:t>
            </a:r>
            <a:r>
              <a:rPr lang="en-US" sz="1400" dirty="0"/>
              <a:t> public</a:t>
            </a:r>
            <a:r>
              <a:rPr lang="en-US" sz="1400" baseline="0" dirty="0"/>
              <a:t> au </a:t>
            </a:r>
            <a:r>
              <a:rPr lang="en-US" sz="1400" baseline="0" dirty="0" err="1"/>
              <a:t>sens</a:t>
            </a:r>
            <a:r>
              <a:rPr lang="en-US" sz="1400" baseline="0" dirty="0"/>
              <a:t> de Maastricht (% PIB)</a:t>
            </a:r>
            <a:endParaRPr lang="en-US" sz="1400" dirty="0"/>
          </a:p>
        </c:rich>
      </c:tx>
      <c:layout>
        <c:manualLayout>
          <c:xMode val="edge"/>
          <c:yMode val="edge"/>
          <c:x val="0.3257412045247971"/>
          <c:y val="1.585625790315846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bg1"/>
              </a:solidFill>
              <a:latin typeface="Questrial" pitchFamily="2" charset="77"/>
              <a:ea typeface="Questrial" pitchFamily="2" charset="77"/>
              <a:cs typeface="Questrial" pitchFamily="2" charset="77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Données!$A$9</c:f>
              <c:strCache>
                <c:ptCount val="1"/>
                <c:pt idx="0">
                  <c:v>Déficit au sens de Maastricht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1CEC-7C46-B048-C1DDD84F080E}"/>
              </c:ext>
            </c:extLst>
          </c:dPt>
          <c:dPt>
            <c:idx val="1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1CEC-7C46-B048-C1DDD84F080E}"/>
              </c:ext>
            </c:extLst>
          </c:dPt>
          <c:dPt>
            <c:idx val="2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1CEC-7C46-B048-C1DDD84F080E}"/>
              </c:ext>
            </c:extLst>
          </c:dPt>
          <c:dPt>
            <c:idx val="3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1CEC-7C46-B048-C1DDD84F080E}"/>
              </c:ext>
            </c:extLst>
          </c:dPt>
          <c:dPt>
            <c:idx val="4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1CEC-7C46-B048-C1DDD84F080E}"/>
              </c:ext>
            </c:extLst>
          </c:dPt>
          <c:dPt>
            <c:idx val="5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1CEC-7C46-B048-C1DDD84F080E}"/>
              </c:ext>
            </c:extLst>
          </c:dPt>
          <c:dPt>
            <c:idx val="6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1CEC-7C46-B048-C1DDD84F080E}"/>
              </c:ext>
            </c:extLst>
          </c:dPt>
          <c:dPt>
            <c:idx val="12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1CEC-7C46-B048-C1DDD84F080E}"/>
              </c:ext>
            </c:extLst>
          </c:dPt>
          <c:dPt>
            <c:idx val="14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1CEC-7C46-B048-C1DDD84F080E}"/>
              </c:ext>
            </c:extLst>
          </c:dPt>
          <c:dLbls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1CEC-7C46-B048-C1DDD84F080E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CEC-7C46-B048-C1DDD84F080E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1CEC-7C46-B048-C1DDD84F080E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1CEC-7C46-B048-C1DDD84F080E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1CEC-7C46-B048-C1DDD84F080E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9-4940-8840-8EAB-A068F02D1F7C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5-4940-8840-8EAB-A068F02D1F7C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A-4940-8840-8EAB-A068F02D1F7C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D-4940-8840-8EAB-A068F02D1F7C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E-4940-8840-8EAB-A068F02D1F7C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1CEC-7C46-B048-C1DDD84F080E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8-4940-8840-8EAB-A068F02D1F7C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C-4940-8840-8EAB-A068F02D1F7C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B-4940-8840-8EAB-A068F02D1F7C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E-4940-8840-8EAB-A068F02D1F7C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7-4940-8840-8EAB-A068F02D1F7C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4-4940-8840-8EAB-A068F02D1F7C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4940-8840-8EAB-A068F02D1F7C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A-4940-8840-8EAB-A068F02D1F7C}"/>
                </c:ext>
              </c:extLst>
            </c:dLbl>
            <c:dLbl>
              <c:idx val="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9-4940-8840-8EAB-A068F02D1F7C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6-4940-8840-8EAB-A068F02D1F7C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4-4940-8840-8EAB-A068F02D1F7C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C-4940-8840-8EAB-A068F02D1F7C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5-4940-8840-8EAB-A068F02D1F7C}"/>
                </c:ext>
              </c:extLst>
            </c:dLbl>
            <c:dLbl>
              <c:idx val="3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2-4940-8840-8EAB-A068F02D1F7C}"/>
                </c:ext>
              </c:extLst>
            </c:dLbl>
            <c:dLbl>
              <c:idx val="3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E-4940-8840-8EAB-A068F02D1F7C}"/>
                </c:ext>
              </c:extLst>
            </c:dLbl>
            <c:dLbl>
              <c:idx val="3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3-4940-8840-8EAB-A068F02D1F7C}"/>
                </c:ext>
              </c:extLst>
            </c:dLbl>
            <c:dLbl>
              <c:idx val="3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D-4940-8840-8EAB-A068F02D1F7C}"/>
                </c:ext>
              </c:extLst>
            </c:dLbl>
            <c:dLbl>
              <c:idx val="3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C-4940-8840-8EAB-A068F02D1F7C}"/>
                </c:ext>
              </c:extLst>
            </c:dLbl>
            <c:dLbl>
              <c:idx val="37"/>
              <c:layout>
                <c:manualLayout>
                  <c:x val="1.0703315718653485E-2"/>
                  <c:y val="-1.6265035552550152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D-4940-8840-8EAB-A068F02D1F7C}"/>
                </c:ext>
              </c:extLst>
            </c:dLbl>
            <c:dLbl>
              <c:idx val="3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6-4940-8840-8EAB-A068F02D1F7C}"/>
                </c:ext>
              </c:extLst>
            </c:dLbl>
            <c:dLbl>
              <c:idx val="4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F-4940-8840-8EAB-A068F02D1F7C}"/>
                </c:ext>
              </c:extLst>
            </c:dLbl>
            <c:dLbl>
              <c:idx val="4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0-4940-8840-8EAB-A068F02D1F7C}"/>
                </c:ext>
              </c:extLst>
            </c:dLbl>
            <c:dLbl>
              <c:idx val="4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7-4940-8840-8EAB-A068F02D1F7C}"/>
                </c:ext>
              </c:extLst>
            </c:dLbl>
            <c:dLbl>
              <c:idx val="4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2-4940-8840-8EAB-A068F02D1F7C}"/>
                </c:ext>
              </c:extLst>
            </c:dLbl>
            <c:dLbl>
              <c:idx val="4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1-4940-8840-8EAB-A068F02D1F7C}"/>
                </c:ext>
              </c:extLst>
            </c:dLbl>
            <c:dLbl>
              <c:idx val="4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8-4940-8840-8EAB-A068F02D1F7C}"/>
                </c:ext>
              </c:extLst>
            </c:dLbl>
            <c:dLbl>
              <c:idx val="4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3-4940-8840-8EAB-A068F02D1F7C}"/>
                </c:ext>
              </c:extLst>
            </c:dLbl>
            <c:dLbl>
              <c:idx val="48"/>
              <c:layout>
                <c:manualLayout>
                  <c:x val="-1.2843978862384262E-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A-4940-8840-8EAB-A068F02D1F7C}"/>
                </c:ext>
              </c:extLst>
            </c:dLbl>
            <c:dLbl>
              <c:idx val="5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1-4940-8840-8EAB-A068F02D1F7C}"/>
                </c:ext>
              </c:extLst>
            </c:dLbl>
            <c:dLbl>
              <c:idx val="5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4940-8840-8EAB-A068F02D1F7C}"/>
                </c:ext>
              </c:extLst>
            </c:dLbl>
            <c:dLbl>
              <c:idx val="5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8-4940-8840-8EAB-A068F02D1F7C}"/>
                </c:ext>
              </c:extLst>
            </c:dLbl>
            <c:dLbl>
              <c:idx val="5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9-4940-8840-8EAB-A068F02D1F7C}"/>
                </c:ext>
              </c:extLst>
            </c:dLbl>
            <c:dLbl>
              <c:idx val="5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F-4940-8840-8EAB-A068F02D1F7C}"/>
                </c:ext>
              </c:extLst>
            </c:dLbl>
            <c:dLbl>
              <c:idx val="5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6-4940-8840-8EAB-A068F02D1F7C}"/>
                </c:ext>
              </c:extLst>
            </c:dLbl>
            <c:dLbl>
              <c:idx val="57"/>
              <c:layout>
                <c:manualLayout>
                  <c:x val="8.5626525749227887E-3"/>
                  <c:y val="-2.0912005608784364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B-4940-8840-8EAB-A068F02D1F7C}"/>
                </c:ext>
              </c:extLst>
            </c:dLbl>
            <c:dLbl>
              <c:idx val="5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4940-8840-8EAB-A068F02D1F7C}"/>
                </c:ext>
              </c:extLst>
            </c:dLbl>
            <c:dLbl>
              <c:idx val="5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0-4940-8840-8EAB-A068F02D1F7C}"/>
                </c:ext>
              </c:extLst>
            </c:dLbl>
            <c:dLbl>
              <c:idx val="6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4940-8840-8EAB-A068F02D1F7C}"/>
                </c:ext>
              </c:extLst>
            </c:dLbl>
            <c:dLbl>
              <c:idx val="6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4940-8840-8EAB-A068F02D1F7C}"/>
                </c:ext>
              </c:extLst>
            </c:dLbl>
            <c:dLbl>
              <c:idx val="6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4940-8840-8EAB-A068F02D1F7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0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endParaRPr lang="en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Données!$B$4:$BN$4</c:f>
              <c:numCache>
                <c:formatCode>General</c:formatCode>
                <c:ptCount val="65"/>
                <c:pt idx="0">
                  <c:v>1960</c:v>
                </c:pt>
                <c:pt idx="1">
                  <c:v>1961</c:v>
                </c:pt>
                <c:pt idx="2">
                  <c:v>1962</c:v>
                </c:pt>
                <c:pt idx="3">
                  <c:v>1963</c:v>
                </c:pt>
                <c:pt idx="4">
                  <c:v>1964</c:v>
                </c:pt>
                <c:pt idx="5">
                  <c:v>1965</c:v>
                </c:pt>
                <c:pt idx="6">
                  <c:v>1966</c:v>
                </c:pt>
                <c:pt idx="7">
                  <c:v>1967</c:v>
                </c:pt>
                <c:pt idx="8">
                  <c:v>1968</c:v>
                </c:pt>
                <c:pt idx="9">
                  <c:v>1969</c:v>
                </c:pt>
                <c:pt idx="10">
                  <c:v>1970</c:v>
                </c:pt>
                <c:pt idx="11">
                  <c:v>1971</c:v>
                </c:pt>
                <c:pt idx="12">
                  <c:v>1972</c:v>
                </c:pt>
                <c:pt idx="13">
                  <c:v>1973</c:v>
                </c:pt>
                <c:pt idx="14">
                  <c:v>1974</c:v>
                </c:pt>
                <c:pt idx="15">
                  <c:v>1975</c:v>
                </c:pt>
                <c:pt idx="16">
                  <c:v>1976</c:v>
                </c:pt>
                <c:pt idx="17">
                  <c:v>1977</c:v>
                </c:pt>
                <c:pt idx="18">
                  <c:v>1978</c:v>
                </c:pt>
                <c:pt idx="19">
                  <c:v>1979</c:v>
                </c:pt>
                <c:pt idx="20">
                  <c:v>1980</c:v>
                </c:pt>
                <c:pt idx="21">
                  <c:v>1981</c:v>
                </c:pt>
                <c:pt idx="22" formatCode="0">
                  <c:v>1982</c:v>
                </c:pt>
                <c:pt idx="23" formatCode="0">
                  <c:v>1983</c:v>
                </c:pt>
                <c:pt idx="24" formatCode="0">
                  <c:v>1984</c:v>
                </c:pt>
                <c:pt idx="25">
                  <c:v>1985</c:v>
                </c:pt>
                <c:pt idx="26">
                  <c:v>1986</c:v>
                </c:pt>
                <c:pt idx="27">
                  <c:v>1987</c:v>
                </c:pt>
                <c:pt idx="28">
                  <c:v>1988</c:v>
                </c:pt>
                <c:pt idx="29">
                  <c:v>1989</c:v>
                </c:pt>
                <c:pt idx="30">
                  <c:v>1990</c:v>
                </c:pt>
                <c:pt idx="31">
                  <c:v>1991</c:v>
                </c:pt>
                <c:pt idx="32">
                  <c:v>1992</c:v>
                </c:pt>
                <c:pt idx="33">
                  <c:v>1993</c:v>
                </c:pt>
                <c:pt idx="34">
                  <c:v>1994</c:v>
                </c:pt>
                <c:pt idx="35">
                  <c:v>1995</c:v>
                </c:pt>
                <c:pt idx="36">
                  <c:v>1996</c:v>
                </c:pt>
                <c:pt idx="37">
                  <c:v>1997</c:v>
                </c:pt>
                <c:pt idx="38">
                  <c:v>1998</c:v>
                </c:pt>
                <c:pt idx="39">
                  <c:v>1999</c:v>
                </c:pt>
                <c:pt idx="40">
                  <c:v>2000</c:v>
                </c:pt>
                <c:pt idx="41">
                  <c:v>2001</c:v>
                </c:pt>
                <c:pt idx="42">
                  <c:v>2002</c:v>
                </c:pt>
                <c:pt idx="43">
                  <c:v>2003</c:v>
                </c:pt>
                <c:pt idx="44">
                  <c:v>2004</c:v>
                </c:pt>
                <c:pt idx="45">
                  <c:v>2005</c:v>
                </c:pt>
                <c:pt idx="46">
                  <c:v>2006</c:v>
                </c:pt>
                <c:pt idx="47">
                  <c:v>2007</c:v>
                </c:pt>
                <c:pt idx="48">
                  <c:v>2008</c:v>
                </c:pt>
                <c:pt idx="49">
                  <c:v>2009</c:v>
                </c:pt>
                <c:pt idx="50">
                  <c:v>2010</c:v>
                </c:pt>
                <c:pt idx="51">
                  <c:v>2011</c:v>
                </c:pt>
                <c:pt idx="52">
                  <c:v>2012</c:v>
                </c:pt>
                <c:pt idx="53">
                  <c:v>2013</c:v>
                </c:pt>
                <c:pt idx="54">
                  <c:v>2014</c:v>
                </c:pt>
                <c:pt idx="55">
                  <c:v>2015</c:v>
                </c:pt>
                <c:pt idx="56">
                  <c:v>2016</c:v>
                </c:pt>
                <c:pt idx="57">
                  <c:v>2017</c:v>
                </c:pt>
                <c:pt idx="58">
                  <c:v>2018</c:v>
                </c:pt>
                <c:pt idx="59">
                  <c:v>2019</c:v>
                </c:pt>
                <c:pt idx="60">
                  <c:v>2020</c:v>
                </c:pt>
                <c:pt idx="61">
                  <c:v>2021</c:v>
                </c:pt>
                <c:pt idx="62">
                  <c:v>2022</c:v>
                </c:pt>
                <c:pt idx="63">
                  <c:v>2023</c:v>
                </c:pt>
                <c:pt idx="64">
                  <c:v>2024</c:v>
                </c:pt>
              </c:numCache>
            </c:numRef>
          </c:cat>
          <c:val>
            <c:numRef>
              <c:f>Données!$B$9:$BN$9</c:f>
              <c:numCache>
                <c:formatCode>0.0</c:formatCode>
                <c:ptCount val="65"/>
                <c:pt idx="0">
                  <c:v>1.2</c:v>
                </c:pt>
                <c:pt idx="1">
                  <c:v>1.2</c:v>
                </c:pt>
                <c:pt idx="2">
                  <c:v>0.2</c:v>
                </c:pt>
                <c:pt idx="3">
                  <c:v>0.4</c:v>
                </c:pt>
                <c:pt idx="4">
                  <c:v>0.8</c:v>
                </c:pt>
                <c:pt idx="5">
                  <c:v>0.6</c:v>
                </c:pt>
                <c:pt idx="6">
                  <c:v>0.2</c:v>
                </c:pt>
                <c:pt idx="7">
                  <c:v>-0.5</c:v>
                </c:pt>
                <c:pt idx="8">
                  <c:v>-1.4</c:v>
                </c:pt>
                <c:pt idx="9">
                  <c:v>-0.2</c:v>
                </c:pt>
                <c:pt idx="10">
                  <c:v>0</c:v>
                </c:pt>
                <c:pt idx="11">
                  <c:v>-0.3</c:v>
                </c:pt>
                <c:pt idx="12">
                  <c:v>0.2</c:v>
                </c:pt>
                <c:pt idx="13">
                  <c:v>-0.1</c:v>
                </c:pt>
                <c:pt idx="14">
                  <c:v>0.1</c:v>
                </c:pt>
                <c:pt idx="15">
                  <c:v>-2.9</c:v>
                </c:pt>
                <c:pt idx="16">
                  <c:v>-1.6</c:v>
                </c:pt>
                <c:pt idx="17">
                  <c:v>-1.1000000000000001</c:v>
                </c:pt>
                <c:pt idx="18">
                  <c:v>-1.8</c:v>
                </c:pt>
                <c:pt idx="19">
                  <c:v>-0.5</c:v>
                </c:pt>
                <c:pt idx="20">
                  <c:v>-0.4</c:v>
                </c:pt>
                <c:pt idx="21">
                  <c:v>-2.4</c:v>
                </c:pt>
                <c:pt idx="22">
                  <c:v>-2.9</c:v>
                </c:pt>
                <c:pt idx="23">
                  <c:v>-2.6</c:v>
                </c:pt>
                <c:pt idx="24">
                  <c:v>-2.8</c:v>
                </c:pt>
                <c:pt idx="25">
                  <c:v>-3</c:v>
                </c:pt>
                <c:pt idx="26">
                  <c:v>-3.2</c:v>
                </c:pt>
                <c:pt idx="27">
                  <c:v>-2</c:v>
                </c:pt>
                <c:pt idx="28">
                  <c:v>-2.6</c:v>
                </c:pt>
                <c:pt idx="29">
                  <c:v>-1.8</c:v>
                </c:pt>
                <c:pt idx="30">
                  <c:v>-2.5</c:v>
                </c:pt>
                <c:pt idx="31">
                  <c:v>-2.9</c:v>
                </c:pt>
                <c:pt idx="32">
                  <c:v>-4.5999999999999996</c:v>
                </c:pt>
                <c:pt idx="33">
                  <c:v>-6.4</c:v>
                </c:pt>
                <c:pt idx="34">
                  <c:v>-5.5</c:v>
                </c:pt>
                <c:pt idx="35">
                  <c:v>-5.0999999999999996</c:v>
                </c:pt>
                <c:pt idx="36">
                  <c:v>-3.9</c:v>
                </c:pt>
                <c:pt idx="37">
                  <c:v>-3.7</c:v>
                </c:pt>
                <c:pt idx="38">
                  <c:v>-2.4</c:v>
                </c:pt>
                <c:pt idx="39">
                  <c:v>-1.5</c:v>
                </c:pt>
                <c:pt idx="40">
                  <c:v>-1.3</c:v>
                </c:pt>
                <c:pt idx="41">
                  <c:v>-1.4</c:v>
                </c:pt>
                <c:pt idx="42">
                  <c:v>-3.2</c:v>
                </c:pt>
                <c:pt idx="43">
                  <c:v>-4.0999999999999996</c:v>
                </c:pt>
                <c:pt idx="44">
                  <c:v>-3.6</c:v>
                </c:pt>
                <c:pt idx="45">
                  <c:v>-3.5</c:v>
                </c:pt>
                <c:pt idx="46">
                  <c:v>-2.7</c:v>
                </c:pt>
                <c:pt idx="47">
                  <c:v>-3</c:v>
                </c:pt>
                <c:pt idx="48">
                  <c:v>-3.5</c:v>
                </c:pt>
                <c:pt idx="49">
                  <c:v>-7.4</c:v>
                </c:pt>
                <c:pt idx="50">
                  <c:v>-7.2</c:v>
                </c:pt>
                <c:pt idx="51">
                  <c:v>-5.3</c:v>
                </c:pt>
                <c:pt idx="52">
                  <c:v>-5.2</c:v>
                </c:pt>
                <c:pt idx="53">
                  <c:v>-4.9000000000000004</c:v>
                </c:pt>
                <c:pt idx="54">
                  <c:v>-4.5999999999999996</c:v>
                </c:pt>
                <c:pt idx="55">
                  <c:v>-3.9</c:v>
                </c:pt>
                <c:pt idx="56">
                  <c:v>-3.8</c:v>
                </c:pt>
                <c:pt idx="57">
                  <c:v>-3.4</c:v>
                </c:pt>
                <c:pt idx="58">
                  <c:v>-2.2999999999999998</c:v>
                </c:pt>
                <c:pt idx="59">
                  <c:v>-2.4</c:v>
                </c:pt>
                <c:pt idx="60">
                  <c:v>-8.9</c:v>
                </c:pt>
                <c:pt idx="61">
                  <c:v>-6.6</c:v>
                </c:pt>
                <c:pt idx="62">
                  <c:v>-4.7</c:v>
                </c:pt>
                <c:pt idx="63">
                  <c:v>-5.4</c:v>
                </c:pt>
                <c:pt idx="64">
                  <c:v>-5.8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CEC-7C46-B048-C1DDD84F08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041158143"/>
        <c:axId val="2041159855"/>
      </c:barChart>
      <c:catAx>
        <c:axId val="20411581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en-FR"/>
          </a:p>
        </c:txPr>
        <c:crossAx val="2041159855"/>
        <c:crosses val="autoZero"/>
        <c:auto val="1"/>
        <c:lblAlgn val="ctr"/>
        <c:lblOffset val="1000"/>
        <c:noMultiLvlLbl val="0"/>
      </c:catAx>
      <c:valAx>
        <c:axId val="2041159855"/>
        <c:scaling>
          <c:orientation val="minMax"/>
          <c:min val="-9"/>
        </c:scaling>
        <c:delete val="0"/>
        <c:axPos val="l"/>
        <c:numFmt formatCode="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en-FR"/>
          </a:p>
        </c:txPr>
        <c:crossAx val="20411581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bg1"/>
          </a:solidFill>
          <a:latin typeface="Questrial" pitchFamily="2" charset="77"/>
          <a:ea typeface="Questrial" pitchFamily="2" charset="77"/>
          <a:cs typeface="Questrial" pitchFamily="2" charset="77"/>
        </a:defRPr>
      </a:pPr>
      <a:endParaRPr lang="en-F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r>
              <a:rPr lang="en-GB"/>
              <a:t>Déficits publics en 2024 (% PIB)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bg1"/>
              </a:solidFill>
              <a:latin typeface="Questrial" pitchFamily="2" charset="77"/>
              <a:ea typeface="Questrial" pitchFamily="2" charset="77"/>
              <a:cs typeface="Questrial" pitchFamily="2" charset="77"/>
            </a:defRPr>
          </a:pPr>
          <a:endParaRPr lang="en-GB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D97D-604E-9641-5B55CD59D1A2}"/>
              </c:ext>
            </c:extLst>
          </c:dPt>
          <c:dPt>
            <c:idx val="16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2F61-8647-9661-678BAF8C7AB3}"/>
              </c:ext>
            </c:extLst>
          </c:dPt>
          <c:dPt>
            <c:idx val="17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2F61-8647-9661-678BAF8C7AB3}"/>
              </c:ext>
            </c:extLst>
          </c:dPt>
          <c:dPt>
            <c:idx val="18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2F61-8647-9661-678BAF8C7AB3}"/>
              </c:ext>
            </c:extLst>
          </c:dPt>
          <c:dPt>
            <c:idx val="19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2F61-8647-9661-678BAF8C7AB3}"/>
              </c:ext>
            </c:extLst>
          </c:dPt>
          <c:dPt>
            <c:idx val="20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2F61-8647-9661-678BAF8C7AB3}"/>
              </c:ext>
            </c:extLst>
          </c:dPt>
          <c:dLbls>
            <c:dLbl>
              <c:idx val="0"/>
              <c:layout>
                <c:manualLayout>
                  <c:x val="0"/>
                  <c:y val="-4.3334410480379143E-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overflow" horzOverflow="overflow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800" b="0" i="0" u="none" strike="noStrike" kern="1200" baseline="0">
                      <a:solidFill>
                        <a:schemeClr val="bg1"/>
                      </a:solidFill>
                      <a:latin typeface="Questrial" pitchFamily="2" charset="77"/>
                      <a:ea typeface="Questrial" pitchFamily="2" charset="77"/>
                      <a:cs typeface="Questrial" pitchFamily="2" charset="77"/>
                    </a:defRPr>
                  </a:pPr>
                  <a:endParaRPr lang="en-F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F-D97D-604E-9641-5B55CD59D1A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endParaRPr lang="en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'Sheet 1'!$A$11:$A$31</c:f>
              <c:strCache>
                <c:ptCount val="21"/>
                <c:pt idx="0">
                  <c:v>France</c:v>
                </c:pt>
                <c:pt idx="1">
                  <c:v>Slovaquie</c:v>
                </c:pt>
                <c:pt idx="2">
                  <c:v>Autriche</c:v>
                </c:pt>
                <c:pt idx="3">
                  <c:v>Belgique</c:v>
                </c:pt>
                <c:pt idx="4">
                  <c:v>Finlande</c:v>
                </c:pt>
                <c:pt idx="5">
                  <c:v>Malte</c:v>
                </c:pt>
                <c:pt idx="6">
                  <c:v>Italie</c:v>
                </c:pt>
                <c:pt idx="7">
                  <c:v>Espagne</c:v>
                </c:pt>
                <c:pt idx="8">
                  <c:v>Zone euro</c:v>
                </c:pt>
                <c:pt idx="9">
                  <c:v>Allemagne</c:v>
                </c:pt>
                <c:pt idx="10">
                  <c:v>Croatie</c:v>
                </c:pt>
                <c:pt idx="11">
                  <c:v>Lettonie</c:v>
                </c:pt>
                <c:pt idx="12">
                  <c:v>Estonie</c:v>
                </c:pt>
                <c:pt idx="13">
                  <c:v>Lituanie</c:v>
                </c:pt>
                <c:pt idx="14">
                  <c:v>Pays-Bas</c:v>
                </c:pt>
                <c:pt idx="15">
                  <c:v>Slovénie</c:v>
                </c:pt>
                <c:pt idx="16">
                  <c:v>Portugal</c:v>
                </c:pt>
                <c:pt idx="17">
                  <c:v>Luxembourg</c:v>
                </c:pt>
                <c:pt idx="18">
                  <c:v>Grèce</c:v>
                </c:pt>
                <c:pt idx="19">
                  <c:v>Irlande</c:v>
                </c:pt>
                <c:pt idx="20">
                  <c:v>Chypre</c:v>
                </c:pt>
              </c:strCache>
            </c:strRef>
          </c:cat>
          <c:val>
            <c:numRef>
              <c:f>'Sheet 1'!$K$11:$K$31</c:f>
              <c:numCache>
                <c:formatCode>#\ ##0.##########</c:formatCode>
                <c:ptCount val="21"/>
                <c:pt idx="0">
                  <c:v>-5.8</c:v>
                </c:pt>
                <c:pt idx="1">
                  <c:v>-5.3</c:v>
                </c:pt>
                <c:pt idx="2">
                  <c:v>-4.7</c:v>
                </c:pt>
                <c:pt idx="3">
                  <c:v>-4.5</c:v>
                </c:pt>
                <c:pt idx="4">
                  <c:v>-4.4000000000000004</c:v>
                </c:pt>
                <c:pt idx="5">
                  <c:v>-3.7</c:v>
                </c:pt>
                <c:pt idx="6">
                  <c:v>-3.4</c:v>
                </c:pt>
                <c:pt idx="7">
                  <c:v>-3.2</c:v>
                </c:pt>
                <c:pt idx="8">
                  <c:v>-3.1</c:v>
                </c:pt>
                <c:pt idx="9">
                  <c:v>-2.8</c:v>
                </c:pt>
                <c:pt idx="10">
                  <c:v>-2.4</c:v>
                </c:pt>
                <c:pt idx="11">
                  <c:v>-1.8</c:v>
                </c:pt>
                <c:pt idx="12">
                  <c:v>-1.5</c:v>
                </c:pt>
                <c:pt idx="13">
                  <c:v>-1.3</c:v>
                </c:pt>
                <c:pt idx="14">
                  <c:v>-0.9</c:v>
                </c:pt>
                <c:pt idx="15">
                  <c:v>-0.9</c:v>
                </c:pt>
                <c:pt idx="16">
                  <c:v>0.7</c:v>
                </c:pt>
                <c:pt idx="17" formatCode="#\ ##0.0">
                  <c:v>1</c:v>
                </c:pt>
                <c:pt idx="18">
                  <c:v>1.3</c:v>
                </c:pt>
                <c:pt idx="19">
                  <c:v>4.3</c:v>
                </c:pt>
                <c:pt idx="20">
                  <c:v>4.3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CEC-1343-875C-1B731927F94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00668832"/>
        <c:axId val="463580224"/>
      </c:barChart>
      <c:catAx>
        <c:axId val="4006688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en-FR"/>
          </a:p>
        </c:txPr>
        <c:crossAx val="463580224"/>
        <c:crosses val="autoZero"/>
        <c:auto val="0"/>
        <c:lblAlgn val="ctr"/>
        <c:lblOffset val="100"/>
        <c:noMultiLvlLbl val="0"/>
      </c:catAx>
      <c:valAx>
        <c:axId val="463580224"/>
        <c:scaling>
          <c:orientation val="minMax"/>
        </c:scaling>
        <c:delete val="0"/>
        <c:axPos val="l"/>
        <c:numFmt formatCode="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en-FR"/>
          </a:p>
        </c:txPr>
        <c:crossAx val="4006688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bg1"/>
          </a:solidFill>
          <a:latin typeface="Questrial" pitchFamily="2" charset="77"/>
          <a:ea typeface="Questrial" pitchFamily="2" charset="77"/>
          <a:cs typeface="Questrial" pitchFamily="2" charset="77"/>
        </a:defRPr>
      </a:pPr>
      <a:endParaRPr lang="en-F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sng" strike="noStrike" kern="1200" spc="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r>
              <a:rPr lang="en-US" sz="1600" u="sng"/>
              <a:t>Répartition de la dépense publique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sng" strike="noStrike" kern="1200" spc="0" baseline="0">
              <a:solidFill>
                <a:schemeClr val="bg1"/>
              </a:solidFill>
              <a:latin typeface="Questrial" pitchFamily="2" charset="77"/>
              <a:ea typeface="Questrial" pitchFamily="2" charset="77"/>
              <a:cs typeface="Questrial" pitchFamily="2" charset="77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3645085040871392"/>
          <c:y val="8.3796875657922446E-2"/>
          <c:w val="0.57029204252416943"/>
          <c:h val="0.8926737125773717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Column1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Pt>
            <c:idx val="8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122A-6E46-B30A-DACF308C4F3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endParaRPr lang="en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Environnement</c:v>
                </c:pt>
                <c:pt idx="1">
                  <c:v>Logement &amp; urbanisme</c:v>
                </c:pt>
                <c:pt idx="2">
                  <c:v>Sport et culture</c:v>
                </c:pt>
                <c:pt idx="3">
                  <c:v>Régalien</c:v>
                </c:pt>
                <c:pt idx="4">
                  <c:v>Défense</c:v>
                </c:pt>
                <c:pt idx="5">
                  <c:v>Education</c:v>
                </c:pt>
                <c:pt idx="6">
                  <c:v>Services publics généraux</c:v>
                </c:pt>
                <c:pt idx="7">
                  <c:v>Politiques sectorielles</c:v>
                </c:pt>
                <c:pt idx="8">
                  <c:v>Santé et protection sociale</c:v>
                </c:pt>
              </c:strCache>
            </c:strRef>
          </c:cat>
          <c:val>
            <c:numRef>
              <c:f>Sheet1!$B$2:$B$10</c:f>
              <c:numCache>
                <c:formatCode>0%</c:formatCode>
                <c:ptCount val="9"/>
                <c:pt idx="0">
                  <c:v>1.8001701513475975E-2</c:v>
                </c:pt>
                <c:pt idx="1">
                  <c:v>2.2148790665627756E-2</c:v>
                </c:pt>
                <c:pt idx="2">
                  <c:v>2.5766575369737071E-2</c:v>
                </c:pt>
                <c:pt idx="3">
                  <c:v>3.0304919302534979E-2</c:v>
                </c:pt>
                <c:pt idx="4">
                  <c:v>3.1840263034697565E-2</c:v>
                </c:pt>
                <c:pt idx="5">
                  <c:v>8.806486281353175E-2</c:v>
                </c:pt>
                <c:pt idx="6">
                  <c:v>0.10872484474078349</c:v>
                </c:pt>
                <c:pt idx="7">
                  <c:v>0.11050213311310081</c:v>
                </c:pt>
                <c:pt idx="8">
                  <c:v>0.56464597165906916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22A-6E46-B30A-DACF308C4F3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20142464"/>
        <c:axId val="804419808"/>
      </c:barChart>
      <c:catAx>
        <c:axId val="12014246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en-FR"/>
          </a:p>
        </c:txPr>
        <c:crossAx val="804419808"/>
        <c:crosses val="autoZero"/>
        <c:auto val="1"/>
        <c:lblAlgn val="ctr"/>
        <c:lblOffset val="100"/>
        <c:noMultiLvlLbl val="0"/>
      </c:catAx>
      <c:valAx>
        <c:axId val="804419808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12014246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800">
          <a:solidFill>
            <a:schemeClr val="bg1"/>
          </a:solidFill>
          <a:latin typeface="Questrial" pitchFamily="2" charset="77"/>
          <a:ea typeface="Questrial" pitchFamily="2" charset="77"/>
          <a:cs typeface="Questrial" pitchFamily="2" charset="77"/>
        </a:defRPr>
      </a:pPr>
      <a:endParaRPr lang="en-F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sng" strike="noStrike" kern="1200" spc="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r>
              <a:rPr lang="en-US" sz="1800" u="sng" dirty="0" err="1"/>
              <a:t>Dépenses</a:t>
            </a:r>
            <a:r>
              <a:rPr lang="en-US" sz="1800" u="sng" dirty="0"/>
              <a:t> </a:t>
            </a:r>
            <a:r>
              <a:rPr lang="en-US" sz="1800" u="sng" dirty="0" err="1"/>
              <a:t>militaires</a:t>
            </a:r>
            <a:r>
              <a:rPr lang="en-US" sz="1800" u="sng" baseline="0" dirty="0"/>
              <a:t> par pays (Md USD)</a:t>
            </a:r>
            <a:endParaRPr lang="en-US" sz="1800" u="sng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sng" strike="noStrike" kern="1200" spc="0" baseline="0">
              <a:solidFill>
                <a:schemeClr val="bg1"/>
              </a:solidFill>
              <a:latin typeface="Questrial" pitchFamily="2" charset="77"/>
              <a:ea typeface="Questrial" pitchFamily="2" charset="77"/>
              <a:cs typeface="Questrial" pitchFamily="2" charset="77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32975784487023563"/>
          <c:y val="8.4765405680999106E-2"/>
          <c:w val="0.64774403614644105"/>
          <c:h val="0.89104104313864307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Dépenses (Milliards $)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1B02-B247-AAAD-52B5E132E1AF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0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endParaRPr lang="en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Japon</c:v>
                </c:pt>
                <c:pt idx="1">
                  <c:v>Ukraine</c:v>
                </c:pt>
                <c:pt idx="2">
                  <c:v>France</c:v>
                </c:pt>
                <c:pt idx="3">
                  <c:v>Arabie Saoudite</c:v>
                </c:pt>
                <c:pt idx="4">
                  <c:v>Royaume-Uni</c:v>
                </c:pt>
                <c:pt idx="5">
                  <c:v>Inde</c:v>
                </c:pt>
                <c:pt idx="6">
                  <c:v>Allemagne</c:v>
                </c:pt>
                <c:pt idx="7">
                  <c:v>Russie</c:v>
                </c:pt>
                <c:pt idx="8">
                  <c:v>Chine</c:v>
                </c:pt>
                <c:pt idx="9">
                  <c:v>États-Unis</c:v>
                </c:pt>
              </c:strCache>
            </c:strRef>
          </c:cat>
          <c:val>
            <c:numRef>
              <c:f>Sheet1!$B$2:$B$11</c:f>
              <c:numCache>
                <c:formatCode>0</c:formatCode>
                <c:ptCount val="10"/>
                <c:pt idx="0">
                  <c:v>55.3</c:v>
                </c:pt>
                <c:pt idx="1">
                  <c:v>64.7</c:v>
                </c:pt>
                <c:pt idx="2">
                  <c:v>64.7</c:v>
                </c:pt>
                <c:pt idx="3">
                  <c:v>80.3</c:v>
                </c:pt>
                <c:pt idx="4">
                  <c:v>81.8</c:v>
                </c:pt>
                <c:pt idx="5">
                  <c:v>86.1</c:v>
                </c:pt>
                <c:pt idx="6">
                  <c:v>88.5</c:v>
                </c:pt>
                <c:pt idx="7">
                  <c:v>149</c:v>
                </c:pt>
                <c:pt idx="8">
                  <c:v>314</c:v>
                </c:pt>
                <c:pt idx="9">
                  <c:v>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0D2-494C-8D76-B73125E816A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462457040"/>
        <c:axId val="1473728975"/>
      </c:barChart>
      <c:catAx>
        <c:axId val="46245704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en-FR"/>
          </a:p>
        </c:txPr>
        <c:crossAx val="1473728975"/>
        <c:crosses val="autoZero"/>
        <c:auto val="1"/>
        <c:lblAlgn val="ctr"/>
        <c:lblOffset val="100"/>
        <c:noMultiLvlLbl val="0"/>
      </c:catAx>
      <c:valAx>
        <c:axId val="1473728975"/>
        <c:scaling>
          <c:orientation val="minMax"/>
        </c:scaling>
        <c:delete val="1"/>
        <c:axPos val="b"/>
        <c:numFmt formatCode="0" sourceLinked="1"/>
        <c:majorTickMark val="none"/>
        <c:minorTickMark val="none"/>
        <c:tickLblPos val="nextTo"/>
        <c:crossAx val="4624570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bg1"/>
          </a:solidFill>
          <a:latin typeface="Questrial" pitchFamily="2" charset="77"/>
          <a:ea typeface="Questrial" pitchFamily="2" charset="77"/>
          <a:cs typeface="Questrial" pitchFamily="2" charset="77"/>
        </a:defRPr>
      </a:pPr>
      <a:endParaRPr lang="en-FR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r>
              <a:rPr lang="en-US" sz="1600" u="sng" dirty="0" err="1"/>
              <a:t>Dépenses</a:t>
            </a:r>
            <a:r>
              <a:rPr lang="en-US" sz="1600" u="sng" dirty="0"/>
              <a:t> </a:t>
            </a:r>
            <a:r>
              <a:rPr lang="en-US" sz="1600" u="sng" dirty="0" err="1"/>
              <a:t>sociales</a:t>
            </a:r>
            <a:r>
              <a:rPr lang="en-US" sz="1600" u="sng" dirty="0"/>
              <a:t> (% PIB) </a:t>
            </a:r>
          </a:p>
        </c:rich>
      </c:tx>
      <c:layout>
        <c:manualLayout>
          <c:xMode val="edge"/>
          <c:yMode val="edge"/>
          <c:x val="0.32803883832285369"/>
          <c:y val="5.568166990994125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bg1"/>
              </a:solidFill>
              <a:latin typeface="Questrial" pitchFamily="2" charset="77"/>
              <a:ea typeface="Questrial" pitchFamily="2" charset="77"/>
              <a:cs typeface="Questrial" pitchFamily="2" charset="77"/>
            </a:defRPr>
          </a:pPr>
          <a:endParaRPr lang="en-F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Dépenses sociales (2023)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BE2D-0C42-B252-FF65524D1C2D}"/>
              </c:ext>
            </c:extLst>
          </c:dPt>
          <c:dLbls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800" b="0" i="0" u="none" strike="noStrike" kern="1200" baseline="0">
                      <a:solidFill>
                        <a:schemeClr val="bg1"/>
                      </a:solidFill>
                      <a:latin typeface="Questrial" pitchFamily="2" charset="77"/>
                      <a:ea typeface="Questrial" pitchFamily="2" charset="77"/>
                      <a:cs typeface="Questrial" pitchFamily="2" charset="77"/>
                    </a:defRPr>
                  </a:pPr>
                  <a:endParaRPr lang="en-F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BE2D-0C42-B252-FF65524D1C2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endParaRPr lang="en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Sheet1!$A$2:$A$16</c:f>
              <c:strCache>
                <c:ptCount val="15"/>
                <c:pt idx="0">
                  <c:v>Finlande</c:v>
                </c:pt>
                <c:pt idx="1">
                  <c:v>France</c:v>
                </c:pt>
                <c:pt idx="2">
                  <c:v>Autriche</c:v>
                </c:pt>
                <c:pt idx="3">
                  <c:v>Danemark</c:v>
                </c:pt>
                <c:pt idx="4">
                  <c:v>Belgique</c:v>
                </c:pt>
                <c:pt idx="5">
                  <c:v>Italie</c:v>
                </c:pt>
                <c:pt idx="6">
                  <c:v>Zone €</c:v>
                </c:pt>
                <c:pt idx="7">
                  <c:v>Allemagne</c:v>
                </c:pt>
                <c:pt idx="8">
                  <c:v>Luxembourg</c:v>
                </c:pt>
                <c:pt idx="9">
                  <c:v>Japon</c:v>
                </c:pt>
                <c:pt idx="10">
                  <c:v>R-U</c:v>
                </c:pt>
                <c:pt idx="11">
                  <c:v>Pays-Bas</c:v>
                </c:pt>
                <c:pt idx="12">
                  <c:v>Portugal</c:v>
                </c:pt>
                <c:pt idx="13">
                  <c:v>Israel</c:v>
                </c:pt>
                <c:pt idx="14">
                  <c:v>Suisse</c:v>
                </c:pt>
              </c:strCache>
            </c:strRef>
          </c:cat>
          <c:val>
            <c:numRef>
              <c:f>Sheet1!$B$2:$B$16</c:f>
              <c:numCache>
                <c:formatCode>0%</c:formatCode>
                <c:ptCount val="15"/>
                <c:pt idx="0">
                  <c:v>0.33365463554799762</c:v>
                </c:pt>
                <c:pt idx="1">
                  <c:v>0.3211018483188734</c:v>
                </c:pt>
                <c:pt idx="2">
                  <c:v>0.30264525626895911</c:v>
                </c:pt>
                <c:pt idx="3">
                  <c:v>0.27956021359168309</c:v>
                </c:pt>
                <c:pt idx="4">
                  <c:v>0.27668751244031392</c:v>
                </c:pt>
                <c:pt idx="5">
                  <c:v>0.27437157358738212</c:v>
                </c:pt>
                <c:pt idx="6">
                  <c:v>0.27052388089730089</c:v>
                </c:pt>
                <c:pt idx="7">
                  <c:v>0.26960664184428312</c:v>
                </c:pt>
                <c:pt idx="8">
                  <c:v>0.24936555803675003</c:v>
                </c:pt>
                <c:pt idx="9">
                  <c:v>0.24244073237176139</c:v>
                </c:pt>
                <c:pt idx="10">
                  <c:v>0.23791714447249518</c:v>
                </c:pt>
                <c:pt idx="11">
                  <c:v>0.23644433609837973</c:v>
                </c:pt>
                <c:pt idx="12">
                  <c:v>0.23072079402671966</c:v>
                </c:pt>
                <c:pt idx="13">
                  <c:v>0.1649888403449869</c:v>
                </c:pt>
                <c:pt idx="14">
                  <c:v>0.15258133939502849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E2D-0C42-B252-FF65524D1C2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833587904"/>
        <c:axId val="133186575"/>
      </c:barChart>
      <c:catAx>
        <c:axId val="8335879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en-FR"/>
          </a:p>
        </c:txPr>
        <c:crossAx val="133186575"/>
        <c:crosses val="autoZero"/>
        <c:auto val="1"/>
        <c:lblAlgn val="ctr"/>
        <c:lblOffset val="100"/>
        <c:noMultiLvlLbl val="0"/>
      </c:catAx>
      <c:valAx>
        <c:axId val="133186575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8335879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bg1"/>
          </a:solidFill>
          <a:latin typeface="Questrial" pitchFamily="2" charset="77"/>
          <a:ea typeface="Questrial" pitchFamily="2" charset="77"/>
          <a:cs typeface="Questrial" pitchFamily="2" charset="77"/>
        </a:defRPr>
      </a:pPr>
      <a:endParaRPr lang="en-FR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09DE-B74C-96FA-ABDF943EDF1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3200" b="0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endParaRPr lang="en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Part de la France dans la population mondiale</c:v>
                </c:pt>
                <c:pt idx="1">
                  <c:v>Part de la France dans les dépenses sociales mondiales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8.4171990171990185E-3</c:v>
                </c:pt>
                <c:pt idx="1">
                  <c:v>5.0217942597659673E-2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9DE-B74C-96FA-ABDF943EDF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0292031"/>
        <c:axId val="150293743"/>
      </c:barChart>
      <c:catAx>
        <c:axId val="15029203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en-FR"/>
          </a:p>
        </c:txPr>
        <c:crossAx val="150293743"/>
        <c:crosses val="autoZero"/>
        <c:auto val="1"/>
        <c:lblAlgn val="ctr"/>
        <c:lblOffset val="100"/>
        <c:noMultiLvlLbl val="0"/>
      </c:catAx>
      <c:valAx>
        <c:axId val="150293743"/>
        <c:scaling>
          <c:orientation val="minMax"/>
        </c:scaling>
        <c:delete val="0"/>
        <c:axPos val="l"/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en-FR"/>
          </a:p>
        </c:txPr>
        <c:crossAx val="15029203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bg1"/>
          </a:solidFill>
          <a:latin typeface="Questrial" pitchFamily="2" charset="77"/>
          <a:ea typeface="Questrial" pitchFamily="2" charset="77"/>
          <a:cs typeface="Questrial" pitchFamily="2" charset="77"/>
        </a:defRPr>
      </a:pPr>
      <a:endParaRPr lang="en-FR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sng" strike="noStrike" kern="1200" spc="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r>
              <a:rPr lang="fr-FR" sz="1600" u="sng"/>
              <a:t>Evolution de la dépense publique française par fonction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sng" strike="noStrike" kern="1200" spc="0" baseline="0">
              <a:solidFill>
                <a:schemeClr val="bg1"/>
              </a:solidFill>
              <a:latin typeface="Questrial" pitchFamily="2" charset="77"/>
              <a:ea typeface="Questrial" pitchFamily="2" charset="77"/>
              <a:cs typeface="Questrial" pitchFamily="2" charset="77"/>
            </a:defRPr>
          </a:pPr>
          <a:endParaRPr lang="fr-FR"/>
        </a:p>
      </c:txPr>
    </c:title>
    <c:autoTitleDeleted val="0"/>
    <c:plotArea>
      <c:layout>
        <c:manualLayout>
          <c:layoutTarget val="inner"/>
          <c:xMode val="edge"/>
          <c:yMode val="edge"/>
          <c:x val="0.11675725430154564"/>
          <c:y val="0.13750000000000001"/>
          <c:w val="0.714261264216973"/>
          <c:h val="0.73800306211723532"/>
        </c:manualLayout>
      </c:layout>
      <c:lineChart>
        <c:grouping val="standard"/>
        <c:varyColors val="0"/>
        <c:ser>
          <c:idx val="0"/>
          <c:order val="0"/>
          <c:tx>
            <c:strRef>
              <c:f>Feuil1!$B$1</c:f>
              <c:strCache>
                <c:ptCount val="1"/>
                <c:pt idx="0">
                  <c:v>01 - Services généraux des administrations publiques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delete val="1"/>
          </c:dLbls>
          <c:cat>
            <c:numRef>
              <c:f>Feuil1!$A$2:$A$29</c:f>
              <c:numCache>
                <c:formatCode>General</c:formatCode>
                <c:ptCount val="28"/>
                <c:pt idx="0">
                  <c:v>1995</c:v>
                </c:pt>
                <c:pt idx="1">
                  <c:v>1996</c:v>
                </c:pt>
                <c:pt idx="2">
                  <c:v>1997</c:v>
                </c:pt>
                <c:pt idx="3">
                  <c:v>1998</c:v>
                </c:pt>
                <c:pt idx="4">
                  <c:v>1999</c:v>
                </c:pt>
                <c:pt idx="5">
                  <c:v>2000</c:v>
                </c:pt>
                <c:pt idx="6">
                  <c:v>2001</c:v>
                </c:pt>
                <c:pt idx="7">
                  <c:v>2002</c:v>
                </c:pt>
                <c:pt idx="8">
                  <c:v>2003</c:v>
                </c:pt>
                <c:pt idx="9">
                  <c:v>2004</c:v>
                </c:pt>
                <c:pt idx="10">
                  <c:v>2005</c:v>
                </c:pt>
                <c:pt idx="11">
                  <c:v>2006</c:v>
                </c:pt>
                <c:pt idx="12">
                  <c:v>2007</c:v>
                </c:pt>
                <c:pt idx="13">
                  <c:v>2008</c:v>
                </c:pt>
                <c:pt idx="14">
                  <c:v>2009</c:v>
                </c:pt>
                <c:pt idx="15">
                  <c:v>2010</c:v>
                </c:pt>
                <c:pt idx="16">
                  <c:v>2011</c:v>
                </c:pt>
                <c:pt idx="17">
                  <c:v>2012</c:v>
                </c:pt>
                <c:pt idx="18">
                  <c:v>2013</c:v>
                </c:pt>
                <c:pt idx="19">
                  <c:v>2014</c:v>
                </c:pt>
                <c:pt idx="20">
                  <c:v>2015</c:v>
                </c:pt>
                <c:pt idx="21">
                  <c:v>2016</c:v>
                </c:pt>
                <c:pt idx="22">
                  <c:v>2017</c:v>
                </c:pt>
                <c:pt idx="23">
                  <c:v>2018</c:v>
                </c:pt>
                <c:pt idx="24">
                  <c:v>2019</c:v>
                </c:pt>
                <c:pt idx="25">
                  <c:v>2020</c:v>
                </c:pt>
                <c:pt idx="26">
                  <c:v>2021</c:v>
                </c:pt>
                <c:pt idx="27">
                  <c:v>2022</c:v>
                </c:pt>
              </c:numCache>
            </c:numRef>
          </c:cat>
          <c:val>
            <c:numRef>
              <c:f>Feuil1!$B$2:$B$29</c:f>
              <c:numCache>
                <c:formatCode>General</c:formatCode>
                <c:ptCount val="28"/>
                <c:pt idx="0">
                  <c:v>101.2</c:v>
                </c:pt>
                <c:pt idx="1">
                  <c:v>105.1</c:v>
                </c:pt>
                <c:pt idx="2">
                  <c:v>112.6</c:v>
                </c:pt>
                <c:pt idx="3">
                  <c:v>110.8</c:v>
                </c:pt>
                <c:pt idx="4">
                  <c:v>111.7</c:v>
                </c:pt>
                <c:pt idx="5">
                  <c:v>115.3</c:v>
                </c:pt>
                <c:pt idx="6">
                  <c:v>120.2</c:v>
                </c:pt>
                <c:pt idx="7">
                  <c:v>122.2</c:v>
                </c:pt>
                <c:pt idx="8">
                  <c:v>121.8</c:v>
                </c:pt>
                <c:pt idx="9">
                  <c:v>126.1</c:v>
                </c:pt>
                <c:pt idx="10">
                  <c:v>130.80000000000001</c:v>
                </c:pt>
                <c:pt idx="11">
                  <c:v>127.4</c:v>
                </c:pt>
                <c:pt idx="12">
                  <c:v>139.30000000000001</c:v>
                </c:pt>
                <c:pt idx="13">
                  <c:v>143.6</c:v>
                </c:pt>
                <c:pt idx="14">
                  <c:v>141.5</c:v>
                </c:pt>
                <c:pt idx="15">
                  <c:v>138.30000000000001</c:v>
                </c:pt>
                <c:pt idx="16">
                  <c:v>142.69999999999999</c:v>
                </c:pt>
                <c:pt idx="17">
                  <c:v>145.5</c:v>
                </c:pt>
                <c:pt idx="18">
                  <c:v>145.4</c:v>
                </c:pt>
                <c:pt idx="19">
                  <c:v>141.4</c:v>
                </c:pt>
                <c:pt idx="20">
                  <c:v>138.1</c:v>
                </c:pt>
                <c:pt idx="21">
                  <c:v>137.4</c:v>
                </c:pt>
                <c:pt idx="22">
                  <c:v>141.6</c:v>
                </c:pt>
                <c:pt idx="23">
                  <c:v>137.9</c:v>
                </c:pt>
                <c:pt idx="24">
                  <c:v>135.69999999999999</c:v>
                </c:pt>
                <c:pt idx="25">
                  <c:v>132.5</c:v>
                </c:pt>
                <c:pt idx="26">
                  <c:v>144.80000000000001</c:v>
                </c:pt>
                <c:pt idx="27">
                  <c:v>163.6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5BD-F54A-A389-5F418D0D1527}"/>
            </c:ext>
          </c:extLst>
        </c:ser>
        <c:ser>
          <c:idx val="1"/>
          <c:order val="1"/>
          <c:tx>
            <c:strRef>
              <c:f>Feuil1!$C$1</c:f>
              <c:strCache>
                <c:ptCount val="1"/>
                <c:pt idx="0">
                  <c:v>02 - Défense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dLbls>
            <c:dLbl>
              <c:idx val="27"/>
              <c:tx>
                <c:rich>
                  <a:bodyPr/>
                  <a:lstStyle/>
                  <a:p>
                    <a:r>
                      <a:rPr lang="en-US"/>
                      <a:t>Autres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C5BD-F54A-A389-5F418D0D152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endParaRPr lang="fr-FR"/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Feuil1!$A$2:$A$29</c:f>
              <c:numCache>
                <c:formatCode>General</c:formatCode>
                <c:ptCount val="28"/>
                <c:pt idx="0">
                  <c:v>1995</c:v>
                </c:pt>
                <c:pt idx="1">
                  <c:v>1996</c:v>
                </c:pt>
                <c:pt idx="2">
                  <c:v>1997</c:v>
                </c:pt>
                <c:pt idx="3">
                  <c:v>1998</c:v>
                </c:pt>
                <c:pt idx="4">
                  <c:v>1999</c:v>
                </c:pt>
                <c:pt idx="5">
                  <c:v>2000</c:v>
                </c:pt>
                <c:pt idx="6">
                  <c:v>2001</c:v>
                </c:pt>
                <c:pt idx="7">
                  <c:v>2002</c:v>
                </c:pt>
                <c:pt idx="8">
                  <c:v>2003</c:v>
                </c:pt>
                <c:pt idx="9">
                  <c:v>2004</c:v>
                </c:pt>
                <c:pt idx="10">
                  <c:v>2005</c:v>
                </c:pt>
                <c:pt idx="11">
                  <c:v>2006</c:v>
                </c:pt>
                <c:pt idx="12">
                  <c:v>2007</c:v>
                </c:pt>
                <c:pt idx="13">
                  <c:v>2008</c:v>
                </c:pt>
                <c:pt idx="14">
                  <c:v>2009</c:v>
                </c:pt>
                <c:pt idx="15">
                  <c:v>2010</c:v>
                </c:pt>
                <c:pt idx="16">
                  <c:v>2011</c:v>
                </c:pt>
                <c:pt idx="17">
                  <c:v>2012</c:v>
                </c:pt>
                <c:pt idx="18">
                  <c:v>2013</c:v>
                </c:pt>
                <c:pt idx="19">
                  <c:v>2014</c:v>
                </c:pt>
                <c:pt idx="20">
                  <c:v>2015</c:v>
                </c:pt>
                <c:pt idx="21">
                  <c:v>2016</c:v>
                </c:pt>
                <c:pt idx="22">
                  <c:v>2017</c:v>
                </c:pt>
                <c:pt idx="23">
                  <c:v>2018</c:v>
                </c:pt>
                <c:pt idx="24">
                  <c:v>2019</c:v>
                </c:pt>
                <c:pt idx="25">
                  <c:v>2020</c:v>
                </c:pt>
                <c:pt idx="26">
                  <c:v>2021</c:v>
                </c:pt>
                <c:pt idx="27">
                  <c:v>2022</c:v>
                </c:pt>
              </c:numCache>
            </c:numRef>
          </c:cat>
          <c:val>
            <c:numRef>
              <c:f>Feuil1!$C$2:$C$29</c:f>
              <c:numCache>
                <c:formatCode>General</c:formatCode>
                <c:ptCount val="28"/>
                <c:pt idx="0">
                  <c:v>30.4</c:v>
                </c:pt>
                <c:pt idx="1">
                  <c:v>32.1</c:v>
                </c:pt>
                <c:pt idx="2">
                  <c:v>31.4</c:v>
                </c:pt>
                <c:pt idx="3">
                  <c:v>29.1</c:v>
                </c:pt>
                <c:pt idx="4">
                  <c:v>28.8</c:v>
                </c:pt>
                <c:pt idx="5">
                  <c:v>28.7</c:v>
                </c:pt>
                <c:pt idx="6">
                  <c:v>30.9</c:v>
                </c:pt>
                <c:pt idx="7">
                  <c:v>32.299999999999997</c:v>
                </c:pt>
                <c:pt idx="8">
                  <c:v>30.3</c:v>
                </c:pt>
                <c:pt idx="9">
                  <c:v>31.5</c:v>
                </c:pt>
                <c:pt idx="10">
                  <c:v>31.8</c:v>
                </c:pt>
                <c:pt idx="11">
                  <c:v>33.1</c:v>
                </c:pt>
                <c:pt idx="12">
                  <c:v>33.700000000000003</c:v>
                </c:pt>
                <c:pt idx="13">
                  <c:v>34.299999999999997</c:v>
                </c:pt>
                <c:pt idx="14">
                  <c:v>36.5</c:v>
                </c:pt>
                <c:pt idx="15">
                  <c:v>37.200000000000003</c:v>
                </c:pt>
                <c:pt idx="16">
                  <c:v>36.700000000000003</c:v>
                </c:pt>
                <c:pt idx="17">
                  <c:v>37.5</c:v>
                </c:pt>
                <c:pt idx="18">
                  <c:v>37.5</c:v>
                </c:pt>
                <c:pt idx="19">
                  <c:v>36.200000000000003</c:v>
                </c:pt>
                <c:pt idx="20">
                  <c:v>38.5</c:v>
                </c:pt>
                <c:pt idx="21">
                  <c:v>42.7</c:v>
                </c:pt>
                <c:pt idx="22">
                  <c:v>40.799999999999997</c:v>
                </c:pt>
                <c:pt idx="23">
                  <c:v>41.6</c:v>
                </c:pt>
                <c:pt idx="24">
                  <c:v>42.4</c:v>
                </c:pt>
                <c:pt idx="25">
                  <c:v>44.3</c:v>
                </c:pt>
                <c:pt idx="26">
                  <c:v>44.1</c:v>
                </c:pt>
                <c:pt idx="27">
                  <c:v>48.3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5BD-F54A-A389-5F418D0D1527}"/>
            </c:ext>
          </c:extLst>
        </c:ser>
        <c:ser>
          <c:idx val="2"/>
          <c:order val="2"/>
          <c:tx>
            <c:strRef>
              <c:f>Feuil1!$D$1</c:f>
              <c:strCache>
                <c:ptCount val="1"/>
                <c:pt idx="0">
                  <c:v>03 - Ordre et sécurité publics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6"/>
              </a:solidFill>
              <a:ln w="9525">
                <a:solidFill>
                  <a:schemeClr val="accent6"/>
                </a:solidFill>
              </a:ln>
              <a:effectLst/>
            </c:spPr>
          </c:marker>
          <c:dLbls>
            <c:delete val="1"/>
          </c:dLbls>
          <c:cat>
            <c:numRef>
              <c:f>Feuil1!$A$2:$A$29</c:f>
              <c:numCache>
                <c:formatCode>General</c:formatCode>
                <c:ptCount val="28"/>
                <c:pt idx="0">
                  <c:v>1995</c:v>
                </c:pt>
                <c:pt idx="1">
                  <c:v>1996</c:v>
                </c:pt>
                <c:pt idx="2">
                  <c:v>1997</c:v>
                </c:pt>
                <c:pt idx="3">
                  <c:v>1998</c:v>
                </c:pt>
                <c:pt idx="4">
                  <c:v>1999</c:v>
                </c:pt>
                <c:pt idx="5">
                  <c:v>2000</c:v>
                </c:pt>
                <c:pt idx="6">
                  <c:v>2001</c:v>
                </c:pt>
                <c:pt idx="7">
                  <c:v>2002</c:v>
                </c:pt>
                <c:pt idx="8">
                  <c:v>2003</c:v>
                </c:pt>
                <c:pt idx="9">
                  <c:v>2004</c:v>
                </c:pt>
                <c:pt idx="10">
                  <c:v>2005</c:v>
                </c:pt>
                <c:pt idx="11">
                  <c:v>2006</c:v>
                </c:pt>
                <c:pt idx="12">
                  <c:v>2007</c:v>
                </c:pt>
                <c:pt idx="13">
                  <c:v>2008</c:v>
                </c:pt>
                <c:pt idx="14">
                  <c:v>2009</c:v>
                </c:pt>
                <c:pt idx="15">
                  <c:v>2010</c:v>
                </c:pt>
                <c:pt idx="16">
                  <c:v>2011</c:v>
                </c:pt>
                <c:pt idx="17">
                  <c:v>2012</c:v>
                </c:pt>
                <c:pt idx="18">
                  <c:v>2013</c:v>
                </c:pt>
                <c:pt idx="19">
                  <c:v>2014</c:v>
                </c:pt>
                <c:pt idx="20">
                  <c:v>2015</c:v>
                </c:pt>
                <c:pt idx="21">
                  <c:v>2016</c:v>
                </c:pt>
                <c:pt idx="22">
                  <c:v>2017</c:v>
                </c:pt>
                <c:pt idx="23">
                  <c:v>2018</c:v>
                </c:pt>
                <c:pt idx="24">
                  <c:v>2019</c:v>
                </c:pt>
                <c:pt idx="25">
                  <c:v>2020</c:v>
                </c:pt>
                <c:pt idx="26">
                  <c:v>2021</c:v>
                </c:pt>
                <c:pt idx="27">
                  <c:v>2022</c:v>
                </c:pt>
              </c:numCache>
            </c:numRef>
          </c:cat>
          <c:val>
            <c:numRef>
              <c:f>Feuil1!$D$2:$D$29</c:f>
              <c:numCache>
                <c:formatCode>General</c:formatCode>
                <c:ptCount val="28"/>
                <c:pt idx="0">
                  <c:v>18.100000000000001</c:v>
                </c:pt>
                <c:pt idx="1">
                  <c:v>18.399999999999999</c:v>
                </c:pt>
                <c:pt idx="2">
                  <c:v>18.5</c:v>
                </c:pt>
                <c:pt idx="3">
                  <c:v>19.100000000000001</c:v>
                </c:pt>
                <c:pt idx="4">
                  <c:v>19.7</c:v>
                </c:pt>
                <c:pt idx="5">
                  <c:v>20.100000000000001</c:v>
                </c:pt>
                <c:pt idx="6">
                  <c:v>22.2</c:v>
                </c:pt>
                <c:pt idx="7">
                  <c:v>24.3</c:v>
                </c:pt>
                <c:pt idx="8">
                  <c:v>25.4</c:v>
                </c:pt>
                <c:pt idx="9">
                  <c:v>26</c:v>
                </c:pt>
                <c:pt idx="10">
                  <c:v>26.6</c:v>
                </c:pt>
                <c:pt idx="11">
                  <c:v>27.3</c:v>
                </c:pt>
                <c:pt idx="12">
                  <c:v>28.3</c:v>
                </c:pt>
                <c:pt idx="13">
                  <c:v>30.7</c:v>
                </c:pt>
                <c:pt idx="14">
                  <c:v>32.200000000000003</c:v>
                </c:pt>
                <c:pt idx="15">
                  <c:v>33.6</c:v>
                </c:pt>
                <c:pt idx="16">
                  <c:v>33.700000000000003</c:v>
                </c:pt>
                <c:pt idx="17">
                  <c:v>33.9</c:v>
                </c:pt>
                <c:pt idx="18">
                  <c:v>34.5</c:v>
                </c:pt>
                <c:pt idx="19">
                  <c:v>35.1</c:v>
                </c:pt>
                <c:pt idx="20">
                  <c:v>35.700000000000003</c:v>
                </c:pt>
                <c:pt idx="21">
                  <c:v>36.4</c:v>
                </c:pt>
                <c:pt idx="22">
                  <c:v>37.5</c:v>
                </c:pt>
                <c:pt idx="23">
                  <c:v>38.4</c:v>
                </c:pt>
                <c:pt idx="24">
                  <c:v>39.9</c:v>
                </c:pt>
                <c:pt idx="25">
                  <c:v>40.9</c:v>
                </c:pt>
                <c:pt idx="26">
                  <c:v>42.6</c:v>
                </c:pt>
                <c:pt idx="27">
                  <c:v>45.5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C5BD-F54A-A389-5F418D0D1527}"/>
            </c:ext>
          </c:extLst>
        </c:ser>
        <c:ser>
          <c:idx val="3"/>
          <c:order val="3"/>
          <c:tx>
            <c:strRef>
              <c:f>Feuil1!$E$1</c:f>
              <c:strCache>
                <c:ptCount val="1"/>
                <c:pt idx="0">
                  <c:v>04 - Affaires économiques</c:v>
                </c:pt>
              </c:strCache>
            </c:strRef>
          </c:tx>
          <c:spPr>
            <a:ln w="28575" cap="rnd">
              <a:solidFill>
                <a:schemeClr val="accent2">
                  <a:lumMod val="6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>
                  <a:lumMod val="60000"/>
                </a:schemeClr>
              </a:solidFill>
              <a:ln w="9525">
                <a:solidFill>
                  <a:schemeClr val="accent2">
                    <a:lumMod val="60000"/>
                  </a:schemeClr>
                </a:solidFill>
              </a:ln>
              <a:effectLst/>
            </c:spPr>
          </c:marker>
          <c:dLbls>
            <c:dLbl>
              <c:idx val="27"/>
              <c:layout>
                <c:manualLayout>
                  <c:x val="2.3148148148148147E-3"/>
                  <c:y val="2.7777777777777776E-2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Affaires économiques</a:t>
                    </a:r>
                    <a:r>
                      <a:rPr lang="en-US" baseline="0"/>
                      <a:t>; </a:t>
                    </a:r>
                  </a:p>
                  <a:p>
                    <a:fld id="{59B83163-ABBD-FE40-88F1-69721D0A2FFB}" type="VALUE">
                      <a:rPr lang="en-US" baseline="0"/>
                      <a:pPr/>
                      <a:t>[VALUE]</a:t>
                    </a:fld>
                    <a:endParaRPr lang="en-FR"/>
                  </a:p>
                </c:rich>
              </c:tx>
              <c:dLblPos val="r"/>
              <c:showLegendKey val="0"/>
              <c:showVal val="1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C5BD-F54A-A389-5F418D0D152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endParaRPr lang="fr-FR"/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Feuil1!$A$2:$A$29</c:f>
              <c:numCache>
                <c:formatCode>General</c:formatCode>
                <c:ptCount val="28"/>
                <c:pt idx="0">
                  <c:v>1995</c:v>
                </c:pt>
                <c:pt idx="1">
                  <c:v>1996</c:v>
                </c:pt>
                <c:pt idx="2">
                  <c:v>1997</c:v>
                </c:pt>
                <c:pt idx="3">
                  <c:v>1998</c:v>
                </c:pt>
                <c:pt idx="4">
                  <c:v>1999</c:v>
                </c:pt>
                <c:pt idx="5">
                  <c:v>2000</c:v>
                </c:pt>
                <c:pt idx="6">
                  <c:v>2001</c:v>
                </c:pt>
                <c:pt idx="7">
                  <c:v>2002</c:v>
                </c:pt>
                <c:pt idx="8">
                  <c:v>2003</c:v>
                </c:pt>
                <c:pt idx="9">
                  <c:v>2004</c:v>
                </c:pt>
                <c:pt idx="10">
                  <c:v>2005</c:v>
                </c:pt>
                <c:pt idx="11">
                  <c:v>2006</c:v>
                </c:pt>
                <c:pt idx="12">
                  <c:v>2007</c:v>
                </c:pt>
                <c:pt idx="13">
                  <c:v>2008</c:v>
                </c:pt>
                <c:pt idx="14">
                  <c:v>2009</c:v>
                </c:pt>
                <c:pt idx="15">
                  <c:v>2010</c:v>
                </c:pt>
                <c:pt idx="16">
                  <c:v>2011</c:v>
                </c:pt>
                <c:pt idx="17">
                  <c:v>2012</c:v>
                </c:pt>
                <c:pt idx="18">
                  <c:v>2013</c:v>
                </c:pt>
                <c:pt idx="19">
                  <c:v>2014</c:v>
                </c:pt>
                <c:pt idx="20">
                  <c:v>2015</c:v>
                </c:pt>
                <c:pt idx="21">
                  <c:v>2016</c:v>
                </c:pt>
                <c:pt idx="22">
                  <c:v>2017</c:v>
                </c:pt>
                <c:pt idx="23">
                  <c:v>2018</c:v>
                </c:pt>
                <c:pt idx="24">
                  <c:v>2019</c:v>
                </c:pt>
                <c:pt idx="25">
                  <c:v>2020</c:v>
                </c:pt>
                <c:pt idx="26">
                  <c:v>2021</c:v>
                </c:pt>
                <c:pt idx="27">
                  <c:v>2022</c:v>
                </c:pt>
              </c:numCache>
            </c:numRef>
          </c:cat>
          <c:val>
            <c:numRef>
              <c:f>Feuil1!$E$2:$E$29</c:f>
              <c:numCache>
                <c:formatCode>General</c:formatCode>
                <c:ptCount val="28"/>
                <c:pt idx="0">
                  <c:v>71.599999999999994</c:v>
                </c:pt>
                <c:pt idx="1">
                  <c:v>71</c:v>
                </c:pt>
                <c:pt idx="2">
                  <c:v>66.8</c:v>
                </c:pt>
                <c:pt idx="3">
                  <c:v>66.900000000000006</c:v>
                </c:pt>
                <c:pt idx="4">
                  <c:v>67.599999999999994</c:v>
                </c:pt>
                <c:pt idx="5">
                  <c:v>70.599999999999994</c:v>
                </c:pt>
                <c:pt idx="6">
                  <c:v>67.900000000000006</c:v>
                </c:pt>
                <c:pt idx="7">
                  <c:v>73.2</c:v>
                </c:pt>
                <c:pt idx="8">
                  <c:v>73.7</c:v>
                </c:pt>
                <c:pt idx="9">
                  <c:v>77.3</c:v>
                </c:pt>
                <c:pt idx="10">
                  <c:v>83.7</c:v>
                </c:pt>
                <c:pt idx="11">
                  <c:v>85.2</c:v>
                </c:pt>
                <c:pt idx="12">
                  <c:v>83.9</c:v>
                </c:pt>
                <c:pt idx="13">
                  <c:v>91.5</c:v>
                </c:pt>
                <c:pt idx="14">
                  <c:v>96.1</c:v>
                </c:pt>
                <c:pt idx="15">
                  <c:v>102.8</c:v>
                </c:pt>
                <c:pt idx="16">
                  <c:v>100.7</c:v>
                </c:pt>
                <c:pt idx="17">
                  <c:v>107.9</c:v>
                </c:pt>
                <c:pt idx="18">
                  <c:v>107</c:v>
                </c:pt>
                <c:pt idx="19">
                  <c:v>115.5</c:v>
                </c:pt>
                <c:pt idx="20">
                  <c:v>125.6</c:v>
                </c:pt>
                <c:pt idx="21">
                  <c:v>124.7</c:v>
                </c:pt>
                <c:pt idx="22">
                  <c:v>135.1</c:v>
                </c:pt>
                <c:pt idx="23">
                  <c:v>136.5</c:v>
                </c:pt>
                <c:pt idx="24">
                  <c:v>143.69999999999999</c:v>
                </c:pt>
                <c:pt idx="25">
                  <c:v>160.69999999999999</c:v>
                </c:pt>
                <c:pt idx="26">
                  <c:v>171.6</c:v>
                </c:pt>
                <c:pt idx="27">
                  <c:v>176.9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C5BD-F54A-A389-5F418D0D1527}"/>
            </c:ext>
          </c:extLst>
        </c:ser>
        <c:ser>
          <c:idx val="4"/>
          <c:order val="4"/>
          <c:tx>
            <c:strRef>
              <c:f>Feuil1!$F$1</c:f>
              <c:strCache>
                <c:ptCount val="1"/>
                <c:pt idx="0">
                  <c:v>05 - Protection de l'environnement</c:v>
                </c:pt>
              </c:strCache>
            </c:strRef>
          </c:tx>
          <c:spPr>
            <a:ln w="28575" cap="rnd">
              <a:solidFill>
                <a:schemeClr val="accent4">
                  <a:lumMod val="6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>
                  <a:lumMod val="60000"/>
                </a:schemeClr>
              </a:solidFill>
              <a:ln w="9525">
                <a:solidFill>
                  <a:schemeClr val="accent4">
                    <a:lumMod val="60000"/>
                  </a:schemeClr>
                </a:solidFill>
              </a:ln>
              <a:effectLst/>
            </c:spPr>
          </c:marker>
          <c:dLbls>
            <c:delete val="1"/>
          </c:dLbls>
          <c:cat>
            <c:numRef>
              <c:f>Feuil1!$A$2:$A$29</c:f>
              <c:numCache>
                <c:formatCode>General</c:formatCode>
                <c:ptCount val="28"/>
                <c:pt idx="0">
                  <c:v>1995</c:v>
                </c:pt>
                <c:pt idx="1">
                  <c:v>1996</c:v>
                </c:pt>
                <c:pt idx="2">
                  <c:v>1997</c:v>
                </c:pt>
                <c:pt idx="3">
                  <c:v>1998</c:v>
                </c:pt>
                <c:pt idx="4">
                  <c:v>1999</c:v>
                </c:pt>
                <c:pt idx="5">
                  <c:v>2000</c:v>
                </c:pt>
                <c:pt idx="6">
                  <c:v>2001</c:v>
                </c:pt>
                <c:pt idx="7">
                  <c:v>2002</c:v>
                </c:pt>
                <c:pt idx="8">
                  <c:v>2003</c:v>
                </c:pt>
                <c:pt idx="9">
                  <c:v>2004</c:v>
                </c:pt>
                <c:pt idx="10">
                  <c:v>2005</c:v>
                </c:pt>
                <c:pt idx="11">
                  <c:v>2006</c:v>
                </c:pt>
                <c:pt idx="12">
                  <c:v>2007</c:v>
                </c:pt>
                <c:pt idx="13">
                  <c:v>2008</c:v>
                </c:pt>
                <c:pt idx="14">
                  <c:v>2009</c:v>
                </c:pt>
                <c:pt idx="15">
                  <c:v>2010</c:v>
                </c:pt>
                <c:pt idx="16">
                  <c:v>2011</c:v>
                </c:pt>
                <c:pt idx="17">
                  <c:v>2012</c:v>
                </c:pt>
                <c:pt idx="18">
                  <c:v>2013</c:v>
                </c:pt>
                <c:pt idx="19">
                  <c:v>2014</c:v>
                </c:pt>
                <c:pt idx="20">
                  <c:v>2015</c:v>
                </c:pt>
                <c:pt idx="21">
                  <c:v>2016</c:v>
                </c:pt>
                <c:pt idx="22">
                  <c:v>2017</c:v>
                </c:pt>
                <c:pt idx="23">
                  <c:v>2018</c:v>
                </c:pt>
                <c:pt idx="24">
                  <c:v>2019</c:v>
                </c:pt>
                <c:pt idx="25">
                  <c:v>2020</c:v>
                </c:pt>
                <c:pt idx="26">
                  <c:v>2021</c:v>
                </c:pt>
                <c:pt idx="27">
                  <c:v>2022</c:v>
                </c:pt>
              </c:numCache>
            </c:numRef>
          </c:cat>
          <c:val>
            <c:numRef>
              <c:f>Feuil1!$F$2:$F$29</c:f>
              <c:numCache>
                <c:formatCode>General</c:formatCode>
                <c:ptCount val="28"/>
                <c:pt idx="0">
                  <c:v>7.2</c:v>
                </c:pt>
                <c:pt idx="1">
                  <c:v>7.5</c:v>
                </c:pt>
                <c:pt idx="2">
                  <c:v>8.3000000000000007</c:v>
                </c:pt>
                <c:pt idx="3">
                  <c:v>8.4</c:v>
                </c:pt>
                <c:pt idx="4">
                  <c:v>8.9</c:v>
                </c:pt>
                <c:pt idx="5">
                  <c:v>10.3</c:v>
                </c:pt>
                <c:pt idx="6">
                  <c:v>11.5</c:v>
                </c:pt>
                <c:pt idx="7">
                  <c:v>12</c:v>
                </c:pt>
                <c:pt idx="8">
                  <c:v>13.2</c:v>
                </c:pt>
                <c:pt idx="9">
                  <c:v>14.3</c:v>
                </c:pt>
                <c:pt idx="10">
                  <c:v>15.3</c:v>
                </c:pt>
                <c:pt idx="11">
                  <c:v>16.600000000000001</c:v>
                </c:pt>
                <c:pt idx="12">
                  <c:v>16.899999999999999</c:v>
                </c:pt>
                <c:pt idx="13">
                  <c:v>17.8</c:v>
                </c:pt>
                <c:pt idx="14">
                  <c:v>19.2</c:v>
                </c:pt>
                <c:pt idx="15">
                  <c:v>19.8</c:v>
                </c:pt>
                <c:pt idx="16">
                  <c:v>20.399999999999999</c:v>
                </c:pt>
                <c:pt idx="17">
                  <c:v>21</c:v>
                </c:pt>
                <c:pt idx="18">
                  <c:v>21.7</c:v>
                </c:pt>
                <c:pt idx="19">
                  <c:v>22</c:v>
                </c:pt>
                <c:pt idx="20">
                  <c:v>22.1</c:v>
                </c:pt>
                <c:pt idx="21">
                  <c:v>21.1</c:v>
                </c:pt>
                <c:pt idx="22">
                  <c:v>21.5</c:v>
                </c:pt>
                <c:pt idx="23">
                  <c:v>22.8</c:v>
                </c:pt>
                <c:pt idx="24">
                  <c:v>24.3</c:v>
                </c:pt>
                <c:pt idx="25">
                  <c:v>24</c:v>
                </c:pt>
                <c:pt idx="26">
                  <c:v>25.7</c:v>
                </c:pt>
                <c:pt idx="27">
                  <c:v>28.6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C5BD-F54A-A389-5F418D0D1527}"/>
            </c:ext>
          </c:extLst>
        </c:ser>
        <c:ser>
          <c:idx val="5"/>
          <c:order val="5"/>
          <c:tx>
            <c:strRef>
              <c:f>Feuil1!$G$1</c:f>
              <c:strCache>
                <c:ptCount val="1"/>
                <c:pt idx="0">
                  <c:v>06 - Logements et équipements collectifs</c:v>
                </c:pt>
              </c:strCache>
            </c:strRef>
          </c:tx>
          <c:spPr>
            <a:ln w="28575" cap="rnd">
              <a:solidFill>
                <a:schemeClr val="accent6">
                  <a:lumMod val="6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6">
                  <a:lumMod val="60000"/>
                </a:schemeClr>
              </a:solidFill>
              <a:ln w="9525">
                <a:solidFill>
                  <a:schemeClr val="accent6">
                    <a:lumMod val="60000"/>
                  </a:schemeClr>
                </a:solidFill>
              </a:ln>
              <a:effectLst/>
            </c:spPr>
          </c:marker>
          <c:dLbls>
            <c:delete val="1"/>
          </c:dLbls>
          <c:cat>
            <c:numRef>
              <c:f>Feuil1!$A$2:$A$29</c:f>
              <c:numCache>
                <c:formatCode>General</c:formatCode>
                <c:ptCount val="28"/>
                <c:pt idx="0">
                  <c:v>1995</c:v>
                </c:pt>
                <c:pt idx="1">
                  <c:v>1996</c:v>
                </c:pt>
                <c:pt idx="2">
                  <c:v>1997</c:v>
                </c:pt>
                <c:pt idx="3">
                  <c:v>1998</c:v>
                </c:pt>
                <c:pt idx="4">
                  <c:v>1999</c:v>
                </c:pt>
                <c:pt idx="5">
                  <c:v>2000</c:v>
                </c:pt>
                <c:pt idx="6">
                  <c:v>2001</c:v>
                </c:pt>
                <c:pt idx="7">
                  <c:v>2002</c:v>
                </c:pt>
                <c:pt idx="8">
                  <c:v>2003</c:v>
                </c:pt>
                <c:pt idx="9">
                  <c:v>2004</c:v>
                </c:pt>
                <c:pt idx="10">
                  <c:v>2005</c:v>
                </c:pt>
                <c:pt idx="11">
                  <c:v>2006</c:v>
                </c:pt>
                <c:pt idx="12">
                  <c:v>2007</c:v>
                </c:pt>
                <c:pt idx="13">
                  <c:v>2008</c:v>
                </c:pt>
                <c:pt idx="14">
                  <c:v>2009</c:v>
                </c:pt>
                <c:pt idx="15">
                  <c:v>2010</c:v>
                </c:pt>
                <c:pt idx="16">
                  <c:v>2011</c:v>
                </c:pt>
                <c:pt idx="17">
                  <c:v>2012</c:v>
                </c:pt>
                <c:pt idx="18">
                  <c:v>2013</c:v>
                </c:pt>
                <c:pt idx="19">
                  <c:v>2014</c:v>
                </c:pt>
                <c:pt idx="20">
                  <c:v>2015</c:v>
                </c:pt>
                <c:pt idx="21">
                  <c:v>2016</c:v>
                </c:pt>
                <c:pt idx="22">
                  <c:v>2017</c:v>
                </c:pt>
                <c:pt idx="23">
                  <c:v>2018</c:v>
                </c:pt>
                <c:pt idx="24">
                  <c:v>2019</c:v>
                </c:pt>
                <c:pt idx="25">
                  <c:v>2020</c:v>
                </c:pt>
                <c:pt idx="26">
                  <c:v>2021</c:v>
                </c:pt>
                <c:pt idx="27">
                  <c:v>2022</c:v>
                </c:pt>
              </c:numCache>
            </c:numRef>
          </c:cat>
          <c:val>
            <c:numRef>
              <c:f>Feuil1!$G$2:$G$29</c:f>
              <c:numCache>
                <c:formatCode>General</c:formatCode>
                <c:ptCount val="28"/>
                <c:pt idx="0">
                  <c:v>10.5</c:v>
                </c:pt>
                <c:pt idx="1">
                  <c:v>10.6</c:v>
                </c:pt>
                <c:pt idx="2">
                  <c:v>12.1</c:v>
                </c:pt>
                <c:pt idx="3">
                  <c:v>12.1</c:v>
                </c:pt>
                <c:pt idx="4">
                  <c:v>13.3</c:v>
                </c:pt>
                <c:pt idx="5">
                  <c:v>15.3</c:v>
                </c:pt>
                <c:pt idx="6">
                  <c:v>15.7</c:v>
                </c:pt>
                <c:pt idx="7">
                  <c:v>17.899999999999999</c:v>
                </c:pt>
                <c:pt idx="8">
                  <c:v>18.399999999999999</c:v>
                </c:pt>
                <c:pt idx="9">
                  <c:v>19.2</c:v>
                </c:pt>
                <c:pt idx="10">
                  <c:v>18.8</c:v>
                </c:pt>
                <c:pt idx="11">
                  <c:v>21</c:v>
                </c:pt>
                <c:pt idx="12">
                  <c:v>22.4</c:v>
                </c:pt>
                <c:pt idx="13">
                  <c:v>24.2</c:v>
                </c:pt>
                <c:pt idx="14">
                  <c:v>28.4</c:v>
                </c:pt>
                <c:pt idx="15">
                  <c:v>28</c:v>
                </c:pt>
                <c:pt idx="16">
                  <c:v>28.8</c:v>
                </c:pt>
                <c:pt idx="17">
                  <c:v>27.6</c:v>
                </c:pt>
                <c:pt idx="18">
                  <c:v>26.9</c:v>
                </c:pt>
                <c:pt idx="19">
                  <c:v>25.8</c:v>
                </c:pt>
                <c:pt idx="20">
                  <c:v>24.7</c:v>
                </c:pt>
                <c:pt idx="21">
                  <c:v>24.2</c:v>
                </c:pt>
                <c:pt idx="22">
                  <c:v>23.5</c:v>
                </c:pt>
                <c:pt idx="23">
                  <c:v>24.4</c:v>
                </c:pt>
                <c:pt idx="24">
                  <c:v>25.8</c:v>
                </c:pt>
                <c:pt idx="25">
                  <c:v>27.6</c:v>
                </c:pt>
                <c:pt idx="26">
                  <c:v>31.3</c:v>
                </c:pt>
                <c:pt idx="27">
                  <c:v>32.5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C5BD-F54A-A389-5F418D0D1527}"/>
            </c:ext>
          </c:extLst>
        </c:ser>
        <c:ser>
          <c:idx val="6"/>
          <c:order val="6"/>
          <c:tx>
            <c:strRef>
              <c:f>Feuil1!$H$1</c:f>
              <c:strCache>
                <c:ptCount val="1"/>
                <c:pt idx="0">
                  <c:v>07 - Santé</c:v>
                </c:pt>
              </c:strCache>
            </c:strRef>
          </c:tx>
          <c:spPr>
            <a:ln w="28575" cap="rnd">
              <a:solidFill>
                <a:schemeClr val="accent2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>
                  <a:lumMod val="80000"/>
                  <a:lumOff val="20000"/>
                </a:schemeClr>
              </a:solidFill>
              <a:ln w="9525">
                <a:solidFill>
                  <a:schemeClr val="accent2">
                    <a:lumMod val="80000"/>
                    <a:lumOff val="20000"/>
                  </a:schemeClr>
                </a:solidFill>
              </a:ln>
              <a:effectLst/>
            </c:spPr>
          </c:marker>
          <c:dLbls>
            <c:dLbl>
              <c:idx val="27"/>
              <c:layout>
                <c:manualLayout>
                  <c:x val="4.6296296296296294E-3"/>
                  <c:y val="-1.9841269841269913E-2"/>
                </c:manualLayout>
              </c:layout>
              <c:tx>
                <c:rich>
                  <a:bodyPr/>
                  <a:lstStyle/>
                  <a:p>
                    <a:r>
                      <a:rPr lang="en-US" baseline="0"/>
                      <a:t>Santé; </a:t>
                    </a:r>
                    <a:fld id="{7C4F093D-2A6F-CD40-8004-09C2F7D7D053}" type="VALUE">
                      <a:rPr lang="en-US" baseline="0"/>
                      <a:pPr/>
                      <a:t>[VALUE]</a:t>
                    </a:fld>
                    <a:endParaRPr lang="en-US" baseline="0"/>
                  </a:p>
                </c:rich>
              </c:tx>
              <c:dLblPos val="r"/>
              <c:showLegendKey val="0"/>
              <c:showVal val="1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8-C5BD-F54A-A389-5F418D0D152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endParaRPr lang="fr-FR"/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Feuil1!$A$2:$A$29</c:f>
              <c:numCache>
                <c:formatCode>General</c:formatCode>
                <c:ptCount val="28"/>
                <c:pt idx="0">
                  <c:v>1995</c:v>
                </c:pt>
                <c:pt idx="1">
                  <c:v>1996</c:v>
                </c:pt>
                <c:pt idx="2">
                  <c:v>1997</c:v>
                </c:pt>
                <c:pt idx="3">
                  <c:v>1998</c:v>
                </c:pt>
                <c:pt idx="4">
                  <c:v>1999</c:v>
                </c:pt>
                <c:pt idx="5">
                  <c:v>2000</c:v>
                </c:pt>
                <c:pt idx="6">
                  <c:v>2001</c:v>
                </c:pt>
                <c:pt idx="7">
                  <c:v>2002</c:v>
                </c:pt>
                <c:pt idx="8">
                  <c:v>2003</c:v>
                </c:pt>
                <c:pt idx="9">
                  <c:v>2004</c:v>
                </c:pt>
                <c:pt idx="10">
                  <c:v>2005</c:v>
                </c:pt>
                <c:pt idx="11">
                  <c:v>2006</c:v>
                </c:pt>
                <c:pt idx="12">
                  <c:v>2007</c:v>
                </c:pt>
                <c:pt idx="13">
                  <c:v>2008</c:v>
                </c:pt>
                <c:pt idx="14">
                  <c:v>2009</c:v>
                </c:pt>
                <c:pt idx="15">
                  <c:v>2010</c:v>
                </c:pt>
                <c:pt idx="16">
                  <c:v>2011</c:v>
                </c:pt>
                <c:pt idx="17">
                  <c:v>2012</c:v>
                </c:pt>
                <c:pt idx="18">
                  <c:v>2013</c:v>
                </c:pt>
                <c:pt idx="19">
                  <c:v>2014</c:v>
                </c:pt>
                <c:pt idx="20">
                  <c:v>2015</c:v>
                </c:pt>
                <c:pt idx="21">
                  <c:v>2016</c:v>
                </c:pt>
                <c:pt idx="22">
                  <c:v>2017</c:v>
                </c:pt>
                <c:pt idx="23">
                  <c:v>2018</c:v>
                </c:pt>
                <c:pt idx="24">
                  <c:v>2019</c:v>
                </c:pt>
                <c:pt idx="25">
                  <c:v>2020</c:v>
                </c:pt>
                <c:pt idx="26">
                  <c:v>2021</c:v>
                </c:pt>
                <c:pt idx="27">
                  <c:v>2022</c:v>
                </c:pt>
              </c:numCache>
            </c:numRef>
          </c:cat>
          <c:val>
            <c:numRef>
              <c:f>Feuil1!$H$2:$H$29</c:f>
              <c:numCache>
                <c:formatCode>General</c:formatCode>
                <c:ptCount val="28"/>
                <c:pt idx="0">
                  <c:v>86.6</c:v>
                </c:pt>
                <c:pt idx="1">
                  <c:v>90.6</c:v>
                </c:pt>
                <c:pt idx="2">
                  <c:v>91.5</c:v>
                </c:pt>
                <c:pt idx="3">
                  <c:v>94.3</c:v>
                </c:pt>
                <c:pt idx="4">
                  <c:v>96.7</c:v>
                </c:pt>
                <c:pt idx="5">
                  <c:v>103.2</c:v>
                </c:pt>
                <c:pt idx="6">
                  <c:v>108</c:v>
                </c:pt>
                <c:pt idx="7">
                  <c:v>115.7</c:v>
                </c:pt>
                <c:pt idx="8">
                  <c:v>122.9</c:v>
                </c:pt>
                <c:pt idx="9">
                  <c:v>129.19999999999999</c:v>
                </c:pt>
                <c:pt idx="10">
                  <c:v>135.5</c:v>
                </c:pt>
                <c:pt idx="11">
                  <c:v>140.19999999999999</c:v>
                </c:pt>
                <c:pt idx="12">
                  <c:v>144.9</c:v>
                </c:pt>
                <c:pt idx="13">
                  <c:v>148.4</c:v>
                </c:pt>
                <c:pt idx="14">
                  <c:v>154.1</c:v>
                </c:pt>
                <c:pt idx="15">
                  <c:v>159.19999999999999</c:v>
                </c:pt>
                <c:pt idx="16">
                  <c:v>163.30000000000001</c:v>
                </c:pt>
                <c:pt idx="17">
                  <c:v>167.2</c:v>
                </c:pt>
                <c:pt idx="18">
                  <c:v>170.6</c:v>
                </c:pt>
                <c:pt idx="19">
                  <c:v>176</c:v>
                </c:pt>
                <c:pt idx="20">
                  <c:v>177.6</c:v>
                </c:pt>
                <c:pt idx="21">
                  <c:v>181.5</c:v>
                </c:pt>
                <c:pt idx="22">
                  <c:v>186.3</c:v>
                </c:pt>
                <c:pt idx="23">
                  <c:v>189.7</c:v>
                </c:pt>
                <c:pt idx="24">
                  <c:v>194</c:v>
                </c:pt>
                <c:pt idx="25">
                  <c:v>205.4</c:v>
                </c:pt>
                <c:pt idx="26">
                  <c:v>230.8</c:v>
                </c:pt>
                <c:pt idx="27">
                  <c:v>240.1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9-C5BD-F54A-A389-5F418D0D1527}"/>
            </c:ext>
          </c:extLst>
        </c:ser>
        <c:ser>
          <c:idx val="7"/>
          <c:order val="7"/>
          <c:tx>
            <c:strRef>
              <c:f>Feuil1!$I$1</c:f>
              <c:strCache>
                <c:ptCount val="1"/>
                <c:pt idx="0">
                  <c:v>08 - Loisirs, culture et culte</c:v>
                </c:pt>
              </c:strCache>
            </c:strRef>
          </c:tx>
          <c:spPr>
            <a:ln w="28575" cap="rnd">
              <a:solidFill>
                <a:schemeClr val="accent4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>
                  <a:lumMod val="80000"/>
                  <a:lumOff val="20000"/>
                </a:schemeClr>
              </a:solidFill>
              <a:ln w="9525">
                <a:solidFill>
                  <a:schemeClr val="accent4">
                    <a:lumMod val="80000"/>
                    <a:lumOff val="20000"/>
                  </a:schemeClr>
                </a:solidFill>
              </a:ln>
              <a:effectLst/>
            </c:spPr>
          </c:marker>
          <c:dLbls>
            <c:delete val="1"/>
          </c:dLbls>
          <c:cat>
            <c:numRef>
              <c:f>Feuil1!$A$2:$A$29</c:f>
              <c:numCache>
                <c:formatCode>General</c:formatCode>
                <c:ptCount val="28"/>
                <c:pt idx="0">
                  <c:v>1995</c:v>
                </c:pt>
                <c:pt idx="1">
                  <c:v>1996</c:v>
                </c:pt>
                <c:pt idx="2">
                  <c:v>1997</c:v>
                </c:pt>
                <c:pt idx="3">
                  <c:v>1998</c:v>
                </c:pt>
                <c:pt idx="4">
                  <c:v>1999</c:v>
                </c:pt>
                <c:pt idx="5">
                  <c:v>2000</c:v>
                </c:pt>
                <c:pt idx="6">
                  <c:v>2001</c:v>
                </c:pt>
                <c:pt idx="7">
                  <c:v>2002</c:v>
                </c:pt>
                <c:pt idx="8">
                  <c:v>2003</c:v>
                </c:pt>
                <c:pt idx="9">
                  <c:v>2004</c:v>
                </c:pt>
                <c:pt idx="10">
                  <c:v>2005</c:v>
                </c:pt>
                <c:pt idx="11">
                  <c:v>2006</c:v>
                </c:pt>
                <c:pt idx="12">
                  <c:v>2007</c:v>
                </c:pt>
                <c:pt idx="13">
                  <c:v>2008</c:v>
                </c:pt>
                <c:pt idx="14">
                  <c:v>2009</c:v>
                </c:pt>
                <c:pt idx="15">
                  <c:v>2010</c:v>
                </c:pt>
                <c:pt idx="16">
                  <c:v>2011</c:v>
                </c:pt>
                <c:pt idx="17">
                  <c:v>2012</c:v>
                </c:pt>
                <c:pt idx="18">
                  <c:v>2013</c:v>
                </c:pt>
                <c:pt idx="19">
                  <c:v>2014</c:v>
                </c:pt>
                <c:pt idx="20">
                  <c:v>2015</c:v>
                </c:pt>
                <c:pt idx="21">
                  <c:v>2016</c:v>
                </c:pt>
                <c:pt idx="22">
                  <c:v>2017</c:v>
                </c:pt>
                <c:pt idx="23">
                  <c:v>2018</c:v>
                </c:pt>
                <c:pt idx="24">
                  <c:v>2019</c:v>
                </c:pt>
                <c:pt idx="25">
                  <c:v>2020</c:v>
                </c:pt>
                <c:pt idx="26">
                  <c:v>2021</c:v>
                </c:pt>
                <c:pt idx="27">
                  <c:v>2022</c:v>
                </c:pt>
              </c:numCache>
            </c:numRef>
          </c:cat>
          <c:val>
            <c:numRef>
              <c:f>Feuil1!$I$2:$I$29</c:f>
              <c:numCache>
                <c:formatCode>General</c:formatCode>
                <c:ptCount val="28"/>
                <c:pt idx="0">
                  <c:v>12</c:v>
                </c:pt>
                <c:pt idx="1">
                  <c:v>12.1</c:v>
                </c:pt>
                <c:pt idx="2">
                  <c:v>12.8</c:v>
                </c:pt>
                <c:pt idx="3">
                  <c:v>13.8</c:v>
                </c:pt>
                <c:pt idx="4">
                  <c:v>14.7</c:v>
                </c:pt>
                <c:pt idx="5">
                  <c:v>16</c:v>
                </c:pt>
                <c:pt idx="6">
                  <c:v>18.3</c:v>
                </c:pt>
                <c:pt idx="7">
                  <c:v>20.3</c:v>
                </c:pt>
                <c:pt idx="8">
                  <c:v>21.9</c:v>
                </c:pt>
                <c:pt idx="9">
                  <c:v>22.7</c:v>
                </c:pt>
                <c:pt idx="10">
                  <c:v>24.3</c:v>
                </c:pt>
                <c:pt idx="11">
                  <c:v>26.3</c:v>
                </c:pt>
                <c:pt idx="12">
                  <c:v>27.6</c:v>
                </c:pt>
                <c:pt idx="13">
                  <c:v>28.7</c:v>
                </c:pt>
                <c:pt idx="14">
                  <c:v>29.9</c:v>
                </c:pt>
                <c:pt idx="15">
                  <c:v>31.1</c:v>
                </c:pt>
                <c:pt idx="16">
                  <c:v>31.8</c:v>
                </c:pt>
                <c:pt idx="17">
                  <c:v>32.700000000000003</c:v>
                </c:pt>
                <c:pt idx="18">
                  <c:v>33.799999999999997</c:v>
                </c:pt>
                <c:pt idx="19">
                  <c:v>33.1</c:v>
                </c:pt>
                <c:pt idx="20">
                  <c:v>31.6</c:v>
                </c:pt>
                <c:pt idx="21">
                  <c:v>31.5</c:v>
                </c:pt>
                <c:pt idx="22">
                  <c:v>32.4</c:v>
                </c:pt>
                <c:pt idx="23">
                  <c:v>33.1</c:v>
                </c:pt>
                <c:pt idx="24">
                  <c:v>34.9</c:v>
                </c:pt>
                <c:pt idx="25">
                  <c:v>32.9</c:v>
                </c:pt>
                <c:pt idx="26">
                  <c:v>35.1</c:v>
                </c:pt>
                <c:pt idx="27">
                  <c:v>37.799999999999997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A-C5BD-F54A-A389-5F418D0D1527}"/>
            </c:ext>
          </c:extLst>
        </c:ser>
        <c:ser>
          <c:idx val="8"/>
          <c:order val="8"/>
          <c:tx>
            <c:strRef>
              <c:f>Feuil1!$J$1</c:f>
              <c:strCache>
                <c:ptCount val="1"/>
                <c:pt idx="0">
                  <c:v>09 - Enseignement</c:v>
                </c:pt>
              </c:strCache>
            </c:strRef>
          </c:tx>
          <c:spPr>
            <a:ln w="28575" cap="rnd">
              <a:solidFill>
                <a:schemeClr val="accent6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6">
                  <a:lumMod val="80000"/>
                  <a:lumOff val="20000"/>
                </a:schemeClr>
              </a:solidFill>
              <a:ln w="9525">
                <a:solidFill>
                  <a:schemeClr val="accent6">
                    <a:lumMod val="80000"/>
                    <a:lumOff val="20000"/>
                  </a:schemeClr>
                </a:solidFill>
              </a:ln>
              <a:effectLst/>
            </c:spPr>
          </c:marker>
          <c:dLbls>
            <c:delete val="1"/>
          </c:dLbls>
          <c:cat>
            <c:numRef>
              <c:f>Feuil1!$A$2:$A$29</c:f>
              <c:numCache>
                <c:formatCode>General</c:formatCode>
                <c:ptCount val="28"/>
                <c:pt idx="0">
                  <c:v>1995</c:v>
                </c:pt>
                <c:pt idx="1">
                  <c:v>1996</c:v>
                </c:pt>
                <c:pt idx="2">
                  <c:v>1997</c:v>
                </c:pt>
                <c:pt idx="3">
                  <c:v>1998</c:v>
                </c:pt>
                <c:pt idx="4">
                  <c:v>1999</c:v>
                </c:pt>
                <c:pt idx="5">
                  <c:v>2000</c:v>
                </c:pt>
                <c:pt idx="6">
                  <c:v>2001</c:v>
                </c:pt>
                <c:pt idx="7">
                  <c:v>2002</c:v>
                </c:pt>
                <c:pt idx="8">
                  <c:v>2003</c:v>
                </c:pt>
                <c:pt idx="9">
                  <c:v>2004</c:v>
                </c:pt>
                <c:pt idx="10">
                  <c:v>2005</c:v>
                </c:pt>
                <c:pt idx="11">
                  <c:v>2006</c:v>
                </c:pt>
                <c:pt idx="12">
                  <c:v>2007</c:v>
                </c:pt>
                <c:pt idx="13">
                  <c:v>2008</c:v>
                </c:pt>
                <c:pt idx="14">
                  <c:v>2009</c:v>
                </c:pt>
                <c:pt idx="15">
                  <c:v>2010</c:v>
                </c:pt>
                <c:pt idx="16">
                  <c:v>2011</c:v>
                </c:pt>
                <c:pt idx="17">
                  <c:v>2012</c:v>
                </c:pt>
                <c:pt idx="18">
                  <c:v>2013</c:v>
                </c:pt>
                <c:pt idx="19">
                  <c:v>2014</c:v>
                </c:pt>
                <c:pt idx="20">
                  <c:v>2015</c:v>
                </c:pt>
                <c:pt idx="21">
                  <c:v>2016</c:v>
                </c:pt>
                <c:pt idx="22">
                  <c:v>2017</c:v>
                </c:pt>
                <c:pt idx="23">
                  <c:v>2018</c:v>
                </c:pt>
                <c:pt idx="24">
                  <c:v>2019</c:v>
                </c:pt>
                <c:pt idx="25">
                  <c:v>2020</c:v>
                </c:pt>
                <c:pt idx="26">
                  <c:v>2021</c:v>
                </c:pt>
                <c:pt idx="27">
                  <c:v>2022</c:v>
                </c:pt>
              </c:numCache>
            </c:numRef>
          </c:cat>
          <c:val>
            <c:numRef>
              <c:f>Feuil1!$J$2:$J$29</c:f>
              <c:numCache>
                <c:formatCode>General</c:formatCode>
                <c:ptCount val="28"/>
                <c:pt idx="0">
                  <c:v>70.099999999999994</c:v>
                </c:pt>
                <c:pt idx="1">
                  <c:v>71.8</c:v>
                </c:pt>
                <c:pt idx="2">
                  <c:v>73.5</c:v>
                </c:pt>
                <c:pt idx="3">
                  <c:v>75.8</c:v>
                </c:pt>
                <c:pt idx="4">
                  <c:v>79.5</c:v>
                </c:pt>
                <c:pt idx="5">
                  <c:v>82.8</c:v>
                </c:pt>
                <c:pt idx="6">
                  <c:v>86.4</c:v>
                </c:pt>
                <c:pt idx="7">
                  <c:v>91.8</c:v>
                </c:pt>
                <c:pt idx="8">
                  <c:v>94</c:v>
                </c:pt>
                <c:pt idx="9">
                  <c:v>94.6</c:v>
                </c:pt>
                <c:pt idx="10">
                  <c:v>97.4</c:v>
                </c:pt>
                <c:pt idx="11">
                  <c:v>101.2</c:v>
                </c:pt>
                <c:pt idx="12">
                  <c:v>103</c:v>
                </c:pt>
                <c:pt idx="13">
                  <c:v>107.3</c:v>
                </c:pt>
                <c:pt idx="14">
                  <c:v>109.8</c:v>
                </c:pt>
                <c:pt idx="15">
                  <c:v>112.6</c:v>
                </c:pt>
                <c:pt idx="16">
                  <c:v>112.8</c:v>
                </c:pt>
                <c:pt idx="17">
                  <c:v>114.6</c:v>
                </c:pt>
                <c:pt idx="18">
                  <c:v>116.3</c:v>
                </c:pt>
                <c:pt idx="19">
                  <c:v>118</c:v>
                </c:pt>
                <c:pt idx="20">
                  <c:v>119.7</c:v>
                </c:pt>
                <c:pt idx="21">
                  <c:v>120.8</c:v>
                </c:pt>
                <c:pt idx="22">
                  <c:v>123.9</c:v>
                </c:pt>
                <c:pt idx="23">
                  <c:v>125.8</c:v>
                </c:pt>
                <c:pt idx="24">
                  <c:v>127.9</c:v>
                </c:pt>
                <c:pt idx="25">
                  <c:v>125.3</c:v>
                </c:pt>
                <c:pt idx="26">
                  <c:v>131.69999999999999</c:v>
                </c:pt>
                <c:pt idx="27">
                  <c:v>137.80000000000001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B-C5BD-F54A-A389-5F418D0D1527}"/>
            </c:ext>
          </c:extLst>
        </c:ser>
        <c:ser>
          <c:idx val="9"/>
          <c:order val="9"/>
          <c:tx>
            <c:strRef>
              <c:f>Feuil1!$K$1</c:f>
              <c:strCache>
                <c:ptCount val="1"/>
                <c:pt idx="0">
                  <c:v>10 - Protection sociale</c:v>
                </c:pt>
              </c:strCache>
            </c:strRef>
          </c:tx>
          <c:spPr>
            <a:ln w="28575" cap="rnd">
              <a:solidFill>
                <a:srgbClr val="C0000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>
                  <a:lumMod val="80000"/>
                </a:schemeClr>
              </a:solidFill>
              <a:ln w="9525">
                <a:solidFill>
                  <a:srgbClr val="C00000"/>
                </a:solidFill>
              </a:ln>
              <a:effectLst/>
            </c:spPr>
          </c:marker>
          <c:dLbls>
            <c:dLbl>
              <c:idx val="27"/>
              <c:tx>
                <c:rich>
                  <a:bodyPr/>
                  <a:lstStyle/>
                  <a:p>
                    <a:r>
                      <a:rPr lang="en-US"/>
                      <a:t>Protection</a:t>
                    </a:r>
                    <a:r>
                      <a:rPr lang="en-US" baseline="0"/>
                      <a:t> sociale; </a:t>
                    </a:r>
                    <a:fld id="{1098E134-01D2-3743-9CC4-B223D637F660}" type="VALUE">
                      <a:rPr lang="en-US" baseline="0"/>
                      <a:pPr/>
                      <a:t>[VALUE]</a:t>
                    </a:fld>
                    <a:endParaRPr lang="en-US" baseline="0"/>
                  </a:p>
                </c:rich>
              </c:tx>
              <c:dLblPos val="r"/>
              <c:showLegendKey val="0"/>
              <c:showVal val="1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C-C5BD-F54A-A389-5F418D0D152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endParaRPr lang="fr-FR"/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Feuil1!$A$2:$A$29</c:f>
              <c:numCache>
                <c:formatCode>General</c:formatCode>
                <c:ptCount val="28"/>
                <c:pt idx="0">
                  <c:v>1995</c:v>
                </c:pt>
                <c:pt idx="1">
                  <c:v>1996</c:v>
                </c:pt>
                <c:pt idx="2">
                  <c:v>1997</c:v>
                </c:pt>
                <c:pt idx="3">
                  <c:v>1998</c:v>
                </c:pt>
                <c:pt idx="4">
                  <c:v>1999</c:v>
                </c:pt>
                <c:pt idx="5">
                  <c:v>2000</c:v>
                </c:pt>
                <c:pt idx="6">
                  <c:v>2001</c:v>
                </c:pt>
                <c:pt idx="7">
                  <c:v>2002</c:v>
                </c:pt>
                <c:pt idx="8">
                  <c:v>2003</c:v>
                </c:pt>
                <c:pt idx="9">
                  <c:v>2004</c:v>
                </c:pt>
                <c:pt idx="10">
                  <c:v>2005</c:v>
                </c:pt>
                <c:pt idx="11">
                  <c:v>2006</c:v>
                </c:pt>
                <c:pt idx="12">
                  <c:v>2007</c:v>
                </c:pt>
                <c:pt idx="13">
                  <c:v>2008</c:v>
                </c:pt>
                <c:pt idx="14">
                  <c:v>2009</c:v>
                </c:pt>
                <c:pt idx="15">
                  <c:v>2010</c:v>
                </c:pt>
                <c:pt idx="16">
                  <c:v>2011</c:v>
                </c:pt>
                <c:pt idx="17">
                  <c:v>2012</c:v>
                </c:pt>
                <c:pt idx="18">
                  <c:v>2013</c:v>
                </c:pt>
                <c:pt idx="19">
                  <c:v>2014</c:v>
                </c:pt>
                <c:pt idx="20">
                  <c:v>2015</c:v>
                </c:pt>
                <c:pt idx="21">
                  <c:v>2016</c:v>
                </c:pt>
                <c:pt idx="22">
                  <c:v>2017</c:v>
                </c:pt>
                <c:pt idx="23">
                  <c:v>2018</c:v>
                </c:pt>
                <c:pt idx="24">
                  <c:v>2019</c:v>
                </c:pt>
                <c:pt idx="25">
                  <c:v>2020</c:v>
                </c:pt>
                <c:pt idx="26">
                  <c:v>2021</c:v>
                </c:pt>
                <c:pt idx="27">
                  <c:v>2022</c:v>
                </c:pt>
              </c:numCache>
            </c:numRef>
          </c:cat>
          <c:val>
            <c:numRef>
              <c:f>Feuil1!$K$2:$K$29</c:f>
              <c:numCache>
                <c:formatCode>General</c:formatCode>
                <c:ptCount val="28"/>
                <c:pt idx="0">
                  <c:v>259.89999999999998</c:v>
                </c:pt>
                <c:pt idx="1">
                  <c:v>268.10000000000002</c:v>
                </c:pt>
                <c:pt idx="2">
                  <c:v>277.39999999999998</c:v>
                </c:pt>
                <c:pt idx="3">
                  <c:v>285.10000000000002</c:v>
                </c:pt>
                <c:pt idx="4">
                  <c:v>296.3</c:v>
                </c:pt>
                <c:pt idx="5">
                  <c:v>301.39999999999998</c:v>
                </c:pt>
                <c:pt idx="6">
                  <c:v>314.3</c:v>
                </c:pt>
                <c:pt idx="7">
                  <c:v>328.6</c:v>
                </c:pt>
                <c:pt idx="8">
                  <c:v>347</c:v>
                </c:pt>
                <c:pt idx="9">
                  <c:v>362</c:v>
                </c:pt>
                <c:pt idx="10">
                  <c:v>376.7</c:v>
                </c:pt>
                <c:pt idx="11">
                  <c:v>399.1</c:v>
                </c:pt>
                <c:pt idx="12">
                  <c:v>420.6</c:v>
                </c:pt>
                <c:pt idx="13">
                  <c:v>435.3</c:v>
                </c:pt>
                <c:pt idx="14">
                  <c:v>459</c:v>
                </c:pt>
                <c:pt idx="15">
                  <c:v>472.4</c:v>
                </c:pt>
                <c:pt idx="16">
                  <c:v>487.8</c:v>
                </c:pt>
                <c:pt idx="17">
                  <c:v>504.8</c:v>
                </c:pt>
                <c:pt idx="18">
                  <c:v>517.79999999999995</c:v>
                </c:pt>
                <c:pt idx="19">
                  <c:v>526.79999999999995</c:v>
                </c:pt>
                <c:pt idx="20">
                  <c:v>535.20000000000005</c:v>
                </c:pt>
                <c:pt idx="21">
                  <c:v>546.1</c:v>
                </c:pt>
                <c:pt idx="22">
                  <c:v>555.29999999999995</c:v>
                </c:pt>
                <c:pt idx="23">
                  <c:v>564.9</c:v>
                </c:pt>
                <c:pt idx="24">
                  <c:v>580.70000000000005</c:v>
                </c:pt>
                <c:pt idx="25">
                  <c:v>628.5</c:v>
                </c:pt>
                <c:pt idx="26">
                  <c:v>620</c:v>
                </c:pt>
                <c:pt idx="27">
                  <c:v>627.79999999999995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D-C5BD-F54A-A389-5F418D0D1527}"/>
            </c:ext>
          </c:extLst>
        </c:ser>
        <c:dLbls>
          <c:dLblPos val="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937419327"/>
        <c:axId val="1812849583"/>
      </c:lineChart>
      <c:catAx>
        <c:axId val="19374193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fr-FR"/>
          </a:p>
        </c:txPr>
        <c:crossAx val="1812849583"/>
        <c:crosses val="autoZero"/>
        <c:auto val="1"/>
        <c:lblAlgn val="ctr"/>
        <c:lblOffset val="100"/>
        <c:noMultiLvlLbl val="0"/>
      </c:catAx>
      <c:valAx>
        <c:axId val="18128495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r>
                  <a:rPr lang="fr-FR"/>
                  <a:t>Milliards d'euros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bg1"/>
                  </a:solidFill>
                  <a:latin typeface="Questrial" pitchFamily="2" charset="77"/>
                  <a:ea typeface="Questrial" pitchFamily="2" charset="77"/>
                  <a:cs typeface="Questrial" pitchFamily="2" charset="77"/>
                </a:defRPr>
              </a:pPr>
              <a:endParaRPr lang="fr-F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fr-FR"/>
          </a:p>
        </c:txPr>
        <c:crossAx val="193741932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600">
          <a:solidFill>
            <a:schemeClr val="bg1"/>
          </a:solidFill>
          <a:latin typeface="Questrial" pitchFamily="2" charset="77"/>
          <a:ea typeface="Questrial" pitchFamily="2" charset="77"/>
          <a:cs typeface="Questrial" pitchFamily="2" charset="77"/>
        </a:defRPr>
      </a:pPr>
      <a:endParaRPr lang="fr-FR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r>
              <a:rPr lang="en-GB" sz="1800" dirty="0" err="1"/>
              <a:t>Prélèvements</a:t>
            </a:r>
            <a:r>
              <a:rPr lang="en-GB" sz="1800" dirty="0"/>
              <a:t> </a:t>
            </a:r>
            <a:r>
              <a:rPr lang="en-GB" sz="1800" dirty="0" err="1"/>
              <a:t>sociaux</a:t>
            </a:r>
            <a:r>
              <a:rPr lang="en-GB" sz="1800" dirty="0"/>
              <a:t> et </a:t>
            </a:r>
            <a:r>
              <a:rPr lang="en-GB" sz="1800" dirty="0" err="1"/>
              <a:t>prestations</a:t>
            </a:r>
            <a:r>
              <a:rPr lang="en-GB" sz="1800" dirty="0"/>
              <a:t> </a:t>
            </a:r>
            <a:r>
              <a:rPr lang="en-GB" sz="1800" dirty="0" err="1"/>
              <a:t>sociales</a:t>
            </a:r>
            <a:r>
              <a:rPr lang="en-GB" sz="1800" dirty="0"/>
              <a:t> </a:t>
            </a:r>
            <a:r>
              <a:rPr lang="en-GB" sz="1800" dirty="0" err="1"/>
              <a:t>rapportés</a:t>
            </a:r>
            <a:r>
              <a:rPr lang="en-GB" sz="1800" dirty="0"/>
              <a:t> au </a:t>
            </a:r>
            <a:r>
              <a:rPr lang="en-GB" sz="1800" dirty="0" err="1"/>
              <a:t>revenu</a:t>
            </a:r>
            <a:r>
              <a:rPr lang="en-GB" sz="1800" dirty="0"/>
              <a:t> disponible des ménages (</a:t>
            </a:r>
            <a:r>
              <a:rPr lang="en-GB" sz="1800" dirty="0" err="1"/>
              <a:t>en</a:t>
            </a:r>
            <a:r>
              <a:rPr lang="en-GB" sz="1800" dirty="0"/>
              <a:t> %)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bg1"/>
              </a:solidFill>
              <a:latin typeface="Questrial" pitchFamily="2" charset="77"/>
              <a:ea typeface="Questrial" pitchFamily="2" charset="77"/>
              <a:cs typeface="Questrial" pitchFamily="2" charset="77"/>
            </a:defRPr>
          </a:pPr>
          <a:endParaRPr lang="en-F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des prélèvements sociaux</c:v>
                </c:pt>
              </c:strCache>
            </c:strRef>
          </c:tx>
          <c:spPr>
            <a:ln w="38100" cap="rnd">
              <a:solidFill>
                <a:srgbClr val="C00000"/>
              </a:solidFill>
              <a:round/>
            </a:ln>
            <a:effectLst/>
          </c:spPr>
          <c:marker>
            <c:symbol val="none"/>
          </c:marker>
          <c:dLbls>
            <c:dLbl>
              <c:idx val="7"/>
              <c:layout>
                <c:manualLayout>
                  <c:x val="-3.3109822609479686E-2"/>
                  <c:y val="-2.412505408662759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15FD-1347-BE7E-ADBA06377BF8}"/>
                </c:ext>
              </c:extLst>
            </c:dLbl>
            <c:dLbl>
              <c:idx val="8"/>
              <c:layout>
                <c:manualLayout>
                  <c:x val="-3.4675852728061458E-2"/>
                  <c:y val="-2.9584767314115672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15FD-1347-BE7E-ADBA06377BF8}"/>
                </c:ext>
              </c:extLst>
            </c:dLbl>
            <c:dLbl>
              <c:idx val="9"/>
              <c:layout>
                <c:manualLayout>
                  <c:x val="-3.1543792490898143E-2"/>
                  <c:y val="-3.231462392785956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15FD-1347-BE7E-ADBA06377BF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endParaRPr lang="en-FR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D1</c:v>
                </c:pt>
                <c:pt idx="1">
                  <c:v>D2</c:v>
                </c:pt>
                <c:pt idx="2">
                  <c:v>D3</c:v>
                </c:pt>
                <c:pt idx="3">
                  <c:v>D4</c:v>
                </c:pt>
                <c:pt idx="4">
                  <c:v>D5</c:v>
                </c:pt>
                <c:pt idx="5">
                  <c:v>D6</c:v>
                </c:pt>
                <c:pt idx="6">
                  <c:v>D7</c:v>
                </c:pt>
                <c:pt idx="7">
                  <c:v>D8</c:v>
                </c:pt>
                <c:pt idx="8">
                  <c:v>D9</c:v>
                </c:pt>
                <c:pt idx="9">
                  <c:v>D10</c:v>
                </c:pt>
              </c:strCache>
            </c:strRef>
          </c:cat>
          <c:val>
            <c:numRef>
              <c:f>Sheet1!$B$2:$B$11</c:f>
              <c:numCache>
                <c:formatCode>0%</c:formatCode>
                <c:ptCount val="10"/>
                <c:pt idx="0">
                  <c:v>0.1</c:v>
                </c:pt>
                <c:pt idx="1">
                  <c:v>0.16</c:v>
                </c:pt>
                <c:pt idx="2">
                  <c:v>0.21</c:v>
                </c:pt>
                <c:pt idx="3">
                  <c:v>0.25</c:v>
                </c:pt>
                <c:pt idx="4">
                  <c:v>0.28000000000000003</c:v>
                </c:pt>
                <c:pt idx="5">
                  <c:v>0.28999999999999998</c:v>
                </c:pt>
                <c:pt idx="6">
                  <c:v>0.31</c:v>
                </c:pt>
                <c:pt idx="7">
                  <c:v>0.34</c:v>
                </c:pt>
                <c:pt idx="8">
                  <c:v>0.36</c:v>
                </c:pt>
                <c:pt idx="9">
                  <c:v>0.37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5FD-1347-BE7E-ADBA06377BF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 des prestations sociales</c:v>
                </c:pt>
              </c:strCache>
            </c:strRef>
          </c:tx>
          <c:spPr>
            <a:ln w="38100" cap="rnd">
              <a:solidFill>
                <a:schemeClr val="bg1"/>
              </a:solidFill>
              <a:round/>
            </a:ln>
            <a:effectLst/>
          </c:spPr>
          <c:marker>
            <c:symbol val="none"/>
          </c:marker>
          <c:dLbls>
            <c:dLbl>
              <c:idx val="1"/>
              <c:layout>
                <c:manualLayout>
                  <c:x val="-3.7402137670692982E-2"/>
                  <c:y val="-5.881654729741835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15FD-1347-BE7E-ADBA06377BF8}"/>
                </c:ext>
              </c:extLst>
            </c:dLbl>
            <c:dLbl>
              <c:idx val="7"/>
              <c:layout>
                <c:manualLayout>
                  <c:x val="-4.40720334395521E-2"/>
                  <c:y val="3.231462392785956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15FD-1347-BE7E-ADBA06377BF8}"/>
                </c:ext>
              </c:extLst>
            </c:dLbl>
            <c:dLbl>
              <c:idx val="8"/>
              <c:layout>
                <c:manualLayout>
                  <c:x val="-3.3109822609479686E-2"/>
                  <c:y val="4.5963906996579512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5FD-1347-BE7E-ADBA06377BF8}"/>
                </c:ext>
              </c:extLst>
            </c:dLbl>
            <c:dLbl>
              <c:idx val="9"/>
              <c:layout>
                <c:manualLayout>
                  <c:x val="-3.3109822609479686E-2"/>
                  <c:y val="3.777433715534753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15FD-1347-BE7E-ADBA06377BF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endParaRPr lang="en-F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D1</c:v>
                </c:pt>
                <c:pt idx="1">
                  <c:v>D2</c:v>
                </c:pt>
                <c:pt idx="2">
                  <c:v>D3</c:v>
                </c:pt>
                <c:pt idx="3">
                  <c:v>D4</c:v>
                </c:pt>
                <c:pt idx="4">
                  <c:v>D5</c:v>
                </c:pt>
                <c:pt idx="5">
                  <c:v>D6</c:v>
                </c:pt>
                <c:pt idx="6">
                  <c:v>D7</c:v>
                </c:pt>
                <c:pt idx="7">
                  <c:v>D8</c:v>
                </c:pt>
                <c:pt idx="8">
                  <c:v>D9</c:v>
                </c:pt>
                <c:pt idx="9">
                  <c:v>D10</c:v>
                </c:pt>
              </c:strCache>
            </c:strRef>
          </c:cat>
          <c:val>
            <c:numRef>
              <c:f>Sheet1!$C$2:$C$11</c:f>
              <c:numCache>
                <c:formatCode>0%</c:formatCode>
                <c:ptCount val="10"/>
                <c:pt idx="0">
                  <c:v>0.77</c:v>
                </c:pt>
                <c:pt idx="1">
                  <c:v>0.62</c:v>
                </c:pt>
                <c:pt idx="2">
                  <c:v>0.54</c:v>
                </c:pt>
                <c:pt idx="3">
                  <c:v>0.45</c:v>
                </c:pt>
                <c:pt idx="4">
                  <c:v>0.4</c:v>
                </c:pt>
                <c:pt idx="5">
                  <c:v>0.38</c:v>
                </c:pt>
                <c:pt idx="6">
                  <c:v>0.34</c:v>
                </c:pt>
                <c:pt idx="7">
                  <c:v>0.3</c:v>
                </c:pt>
                <c:pt idx="8">
                  <c:v>0.28000000000000003</c:v>
                </c:pt>
                <c:pt idx="9">
                  <c:v>0.19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5FD-1347-BE7E-ADBA06377BF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209210511"/>
        <c:axId val="1253429087"/>
      </c:lineChart>
      <c:catAx>
        <c:axId val="1209210511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r>
                  <a:rPr lang="en-GB" dirty="0" err="1"/>
                  <a:t>Décile</a:t>
                </a:r>
                <a:r>
                  <a:rPr lang="en-GB" dirty="0"/>
                  <a:t> de </a:t>
                </a:r>
                <a:r>
                  <a:rPr lang="en-GB" dirty="0" err="1"/>
                  <a:t>revenu</a:t>
                </a:r>
                <a:r>
                  <a:rPr lang="en-GB" baseline="0" dirty="0"/>
                  <a:t> </a:t>
                </a:r>
                <a:endParaRPr lang="en-GB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bg1"/>
                  </a:solidFill>
                  <a:latin typeface="Questrial" pitchFamily="2" charset="77"/>
                  <a:ea typeface="Questrial" pitchFamily="2" charset="77"/>
                  <a:cs typeface="Questrial" pitchFamily="2" charset="77"/>
                </a:defRPr>
              </a:pPr>
              <a:endParaRPr lang="en-GB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en-FR"/>
          </a:p>
        </c:txPr>
        <c:crossAx val="1253429087"/>
        <c:crosses val="autoZero"/>
        <c:auto val="1"/>
        <c:lblAlgn val="ctr"/>
        <c:lblOffset val="100"/>
        <c:noMultiLvlLbl val="0"/>
      </c:catAx>
      <c:valAx>
        <c:axId val="1253429087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r>
                  <a:rPr lang="en-GB" dirty="0"/>
                  <a:t>Part du </a:t>
                </a:r>
                <a:r>
                  <a:rPr lang="en-GB" dirty="0" err="1"/>
                  <a:t>revenu</a:t>
                </a:r>
                <a:endParaRPr lang="en-GB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bg1"/>
                  </a:solidFill>
                  <a:latin typeface="Questrial" pitchFamily="2" charset="77"/>
                  <a:ea typeface="Questrial" pitchFamily="2" charset="77"/>
                  <a:cs typeface="Questrial" pitchFamily="2" charset="77"/>
                </a:defRPr>
              </a:pPr>
              <a:endParaRPr lang="en-GB"/>
            </a:p>
          </c:txPr>
        </c:title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en-FR"/>
          </a:p>
        </c:txPr>
        <c:crossAx val="120921051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bg1"/>
              </a:solidFill>
              <a:latin typeface="Questrial" pitchFamily="2" charset="77"/>
              <a:ea typeface="Questrial" pitchFamily="2" charset="77"/>
              <a:cs typeface="Questrial" pitchFamily="2" charset="77"/>
            </a:defRPr>
          </a:pPr>
          <a:endParaRPr lang="en-F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bg1"/>
          </a:solidFill>
          <a:latin typeface="Questrial" pitchFamily="2" charset="77"/>
          <a:ea typeface="Questrial" pitchFamily="2" charset="77"/>
          <a:cs typeface="Questrial" pitchFamily="2" charset="77"/>
        </a:defRPr>
      </a:pPr>
      <a:endParaRPr lang="en-FR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title>
      <c:tx>
        <c:rich>
          <a:bodyPr/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rPr lang="fr-FR" sz="1600" b="1">
                <a:solidFill>
                  <a:srgbClr val="FFFFFF"/>
                </a:solidFill>
              </a:rPr>
              <a:t>Ce que touche le salarié pour 100 € de coût employeur (€)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Net</c:v>
          </c:tx>
          <c:invertIfNegative val="1"/>
          <c:dPt>
            <c:idx val="0"/>
            <c:invertIfNegative val="0"/>
            <c:bubble3D val="0"/>
            <c:spPr>
              <a:solidFill>
                <a:srgbClr val="7F8C8D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6002-664D-8B1A-B218F981192B}"/>
              </c:ext>
            </c:extLst>
          </c:dPt>
          <c:dPt>
            <c:idx val="1"/>
            <c:invertIfNegative val="0"/>
            <c:bubble3D val="0"/>
            <c:spPr>
              <a:solidFill>
                <a:srgbClr val="7F8C8D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6002-664D-8B1A-B218F981192B}"/>
              </c:ext>
            </c:extLst>
          </c:dPt>
          <c:dPt>
            <c:idx val="2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6002-664D-8B1A-B218F981192B}"/>
              </c:ext>
            </c:extLst>
          </c:dPt>
          <c:dPt>
            <c:idx val="3"/>
            <c:invertIfNegative val="0"/>
            <c:bubble3D val="0"/>
            <c:spPr>
              <a:solidFill>
                <a:srgbClr val="7F8C8D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6002-664D-8B1A-B218F981192B}"/>
              </c:ext>
            </c:extLst>
          </c:dPt>
          <c:dPt>
            <c:idx val="4"/>
            <c:invertIfNegative val="0"/>
            <c:bubble3D val="0"/>
            <c:spPr>
              <a:solidFill>
                <a:srgbClr val="7F8C8D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9-6002-664D-8B1A-B218F981192B}"/>
              </c:ext>
            </c:extLst>
          </c:dPt>
          <c:dPt>
            <c:idx val="5"/>
            <c:invertIfNegative val="0"/>
            <c:bubble3D val="0"/>
            <c:spPr>
              <a:solidFill>
                <a:srgbClr val="F39C1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B-6002-664D-8B1A-B218F981192B}"/>
              </c:ext>
            </c:extLst>
          </c:dPt>
          <c:dPt>
            <c:idx val="6"/>
            <c:invertIfNegative val="0"/>
            <c:bubble3D val="0"/>
            <c:spPr>
              <a:solidFill>
                <a:srgbClr val="7F8C8D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D-6002-664D-8B1A-B218F981192B}"/>
              </c:ext>
            </c:extLst>
          </c:dPt>
          <c:dPt>
            <c:idx val="7"/>
            <c:invertIfNegative val="0"/>
            <c:bubble3D val="0"/>
            <c:spPr>
              <a:solidFill>
                <a:srgbClr val="7F8C8D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F-6002-664D-8B1A-B218F981192B}"/>
              </c:ext>
            </c:extLst>
          </c:dPt>
          <c:dLbls>
            <c:numFmt formatCode="0.0&quot; €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>
                    <a:solidFill>
                      <a:srgbClr val="FFFFFF"/>
                    </a:solidFill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</c:f>
              <c:strCache>
                <c:ptCount val="8"/>
                <c:pt idx="0">
                  <c:v>Belgique</c:v>
                </c:pt>
                <c:pt idx="1">
                  <c:v>Allemagne</c:v>
                </c:pt>
                <c:pt idx="2">
                  <c:v>France</c:v>
                </c:pt>
                <c:pt idx="3">
                  <c:v>Italie</c:v>
                </c:pt>
                <c:pt idx="4">
                  <c:v>Espagne</c:v>
                </c:pt>
                <c:pt idx="5">
                  <c:v>Moy. OCDE</c:v>
                </c:pt>
                <c:pt idx="6">
                  <c:v>Royaume-Uni</c:v>
                </c:pt>
                <c:pt idx="7">
                  <c:v>États-Unis</c:v>
                </c:pt>
              </c:strCache>
            </c:strRef>
          </c:cat>
          <c:val>
            <c:numRef>
              <c:f>val</c:f>
              <c:numCache>
                <c:formatCode>0.0</c:formatCode>
                <c:ptCount val="8"/>
                <c:pt idx="0">
                  <c:v>47.5</c:v>
                </c:pt>
                <c:pt idx="1">
                  <c:v>50.7</c:v>
                </c:pt>
                <c:pt idx="2">
                  <c:v>52.8</c:v>
                </c:pt>
                <c:pt idx="3">
                  <c:v>53.7</c:v>
                </c:pt>
                <c:pt idx="4">
                  <c:v>60.4</c:v>
                </c:pt>
                <c:pt idx="5">
                  <c:v>64.900000000000006</c:v>
                </c:pt>
                <c:pt idx="6">
                  <c:v>67.599999999999994</c:v>
                </c:pt>
                <c:pt idx="7">
                  <c:v>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6002-664D-8B1A-B218F98119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11"/>
        <c:axId val="222"/>
      </c:barChart>
      <c:catAx>
        <c:axId val="11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 rot="0"/>
          <a:lstStyle/>
          <a:p>
            <a:pPr>
              <a:defRPr sz="1300" b="1">
                <a:solidFill>
                  <a:srgbClr val="FFFFFF"/>
                </a:solidFill>
              </a:defRPr>
            </a:pPr>
            <a:endParaRPr lang="fr-FR"/>
          </a:p>
        </c:txPr>
        <c:crossAx val="222"/>
        <c:crosses val="autoZero"/>
        <c:auto val="1"/>
        <c:lblAlgn val="ctr"/>
        <c:lblOffset val="100"/>
        <c:noMultiLvlLbl val="1"/>
      </c:catAx>
      <c:valAx>
        <c:axId val="222"/>
        <c:scaling>
          <c:orientation val="minMax"/>
        </c:scaling>
        <c:delete val="1"/>
        <c:axPos val="l"/>
        <c:numFmt formatCode="0.0" sourceLinked="1"/>
        <c:majorTickMark val="none"/>
        <c:minorTickMark val="none"/>
        <c:tickLblPos val="nextTo"/>
        <c:crossAx val="11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453A2174-3BBD-C945-A848-E1833E7C99D2}" type="VALUE">
                      <a:rPr lang="en-US" smtClean="0"/>
                      <a:pPr/>
                      <a:t>[VALUE]</a:t>
                    </a:fld>
                    <a:r>
                      <a:rPr lang="en-US"/>
                      <a:t>€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FA16-5848-8983-25D16A72A296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01E93159-53FD-8746-BA3F-22C477FEDFCA}" type="VALUE">
                      <a:rPr lang="en-US" smtClean="0"/>
                      <a:pPr/>
                      <a:t>[VALUE]</a:t>
                    </a:fld>
                    <a:r>
                      <a:rPr lang="en-US"/>
                      <a:t>€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FA16-5848-8983-25D16A72A296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B6FBB286-453E-8E4B-A2FD-6B55366C2943}" type="VALUE">
                      <a:rPr lang="en-US" smtClean="0"/>
                      <a:pPr/>
                      <a:t>[VALUE]</a:t>
                    </a:fld>
                    <a:r>
                      <a:rPr lang="en-US"/>
                      <a:t>€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FA16-5848-8983-25D16A72A29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800" b="0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endParaRPr lang="en-F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Allemagne</c:v>
                </c:pt>
                <c:pt idx="1">
                  <c:v>Italie</c:v>
                </c:pt>
                <c:pt idx="2">
                  <c:v>Espagne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2370</c:v>
                </c:pt>
                <c:pt idx="1">
                  <c:v>2724</c:v>
                </c:pt>
                <c:pt idx="2">
                  <c:v>2806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A16-5848-8983-25D16A72A29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Cotisations employé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ED50B073-92C0-5548-8E3B-27FDC22C6D78}" type="VALUE">
                      <a:rPr lang="en-US" smtClean="0"/>
                      <a:pPr/>
                      <a:t>[VALUE]</a:t>
                    </a:fld>
                    <a:endParaRPr lang="en-FR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FA16-5848-8983-25D16A72A296}"/>
                </c:ext>
              </c:extLst>
            </c:dLbl>
            <c:dLbl>
              <c:idx val="1"/>
              <c:layout>
                <c:manualLayout>
                  <c:x val="-1.8684872817871151E-2"/>
                  <c:y val="4.2808926234152297E-3"/>
                </c:manualLayout>
              </c:layout>
              <c:tx>
                <c:rich>
                  <a:bodyPr/>
                  <a:lstStyle/>
                  <a:p>
                    <a:fld id="{20A206EE-3912-6B40-B2F8-86EF1052ABE8}" type="VALUE">
                      <a:rPr lang="en-US" sz="1800" smtClean="0"/>
                      <a:pPr/>
                      <a:t>[VALUE]</a:t>
                    </a:fld>
                    <a:endParaRPr lang="en-FR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6-FA16-5848-8983-25D16A72A296}"/>
                </c:ext>
              </c:extLst>
            </c:dLbl>
            <c:dLbl>
              <c:idx val="2"/>
              <c:layout>
                <c:manualLayout>
                  <c:x val="-2.7810130941759395E-2"/>
                  <c:y val="4.2808926234152687E-3"/>
                </c:manualLayout>
              </c:layout>
              <c:tx>
                <c:rich>
                  <a:bodyPr/>
                  <a:lstStyle/>
                  <a:p>
                    <a:fld id="{B1E0A9F5-A79E-294D-86BB-F615427532F0}" type="VALUE">
                      <a:rPr lang="en-US" sz="1800" smtClean="0"/>
                      <a:pPr/>
                      <a:t>[VALUE]</a:t>
                    </a:fld>
                    <a:endParaRPr lang="en-FR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0833941016176585"/>
                      <c:h val="5.267638373112489E-2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7-FA16-5848-8983-25D16A72A29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0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endParaRPr lang="en-F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Allemagne</c:v>
                </c:pt>
                <c:pt idx="1">
                  <c:v>Italie</c:v>
                </c:pt>
                <c:pt idx="2">
                  <c:v>Espagne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630</c:v>
                </c:pt>
                <c:pt idx="1">
                  <c:v>276</c:v>
                </c:pt>
                <c:pt idx="2">
                  <c:v>194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FA16-5848-8983-25D16A72A29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Cotisations employeur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E6D19A58-330B-DE40-A044-8F8BD6B0FCEA}" type="VALUE">
                      <a:rPr lang="en-US" smtClean="0"/>
                      <a:pPr/>
                      <a:t>[VALUE]</a:t>
                    </a:fld>
                    <a:r>
                      <a:rPr lang="en-US"/>
                      <a:t>€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A-FA16-5848-8983-25D16A72A296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B4502E9C-EF52-BB44-8F43-60F344E49727}" type="VALUE">
                      <a:rPr lang="en-US" smtClean="0"/>
                      <a:pPr/>
                      <a:t>[VALUE]</a:t>
                    </a:fld>
                    <a:r>
                      <a:rPr lang="en-US"/>
                      <a:t>€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B-FA16-5848-8983-25D16A72A296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33BD8EDE-AE6A-1B4B-A09B-676FF7C0714F}" type="VALUE">
                      <a:rPr lang="en-US" smtClean="0"/>
                      <a:pPr/>
                      <a:t>[VALUE]</a:t>
                    </a:fld>
                    <a:r>
                      <a:rPr lang="en-US"/>
                      <a:t>€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C-FA16-5848-8983-25D16A72A29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0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endParaRPr lang="en-F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Allemagne</c:v>
                </c:pt>
                <c:pt idx="1">
                  <c:v>Italie</c:v>
                </c:pt>
                <c:pt idx="2">
                  <c:v>Espagne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675</c:v>
                </c:pt>
                <c:pt idx="1">
                  <c:v>930</c:v>
                </c:pt>
                <c:pt idx="2">
                  <c:v>962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FA16-5848-8983-25D16A72A29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100"/>
        <c:axId val="1191833791"/>
        <c:axId val="1191745135"/>
      </c:barChart>
      <c:catAx>
        <c:axId val="119183379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en-FR"/>
          </a:p>
        </c:txPr>
        <c:crossAx val="1191745135"/>
        <c:crosses val="autoZero"/>
        <c:auto val="1"/>
        <c:lblAlgn val="ctr"/>
        <c:lblOffset val="100"/>
        <c:noMultiLvlLbl val="0"/>
      </c:catAx>
      <c:valAx>
        <c:axId val="1191745135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19183379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2"/>
        <c:txPr>
          <a:bodyPr rot="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en-FR"/>
          </a:p>
        </c:txPr>
      </c:legendEntry>
      <c:layout>
        <c:manualLayout>
          <c:xMode val="edge"/>
          <c:yMode val="edge"/>
          <c:x val="6.9758331509631932E-3"/>
          <c:y val="0.9355078470110102"/>
          <c:w val="0.92621354215683049"/>
          <c:h val="5.164947511874420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bg1"/>
              </a:solidFill>
              <a:latin typeface="Questrial" pitchFamily="2" charset="77"/>
              <a:ea typeface="Questrial" pitchFamily="2" charset="77"/>
              <a:cs typeface="Questrial" pitchFamily="2" charset="77"/>
            </a:defRPr>
          </a:pPr>
          <a:endParaRPr lang="en-F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bg1"/>
          </a:solidFill>
          <a:latin typeface="Questrial" pitchFamily="2" charset="77"/>
          <a:ea typeface="Questrial" pitchFamily="2" charset="77"/>
          <a:cs typeface="Questrial" pitchFamily="2" charset="77"/>
        </a:defRPr>
      </a:pPr>
      <a:endParaRPr lang="en-FR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3200" b="1" i="0" u="none" strike="noStrike" kern="1200" spc="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r>
              <a:rPr lang="fr-FR" sz="3200" b="1" dirty="0"/>
              <a:t>L’équation démographique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3200" b="1" i="0" u="none" strike="noStrike" kern="1200" spc="0" baseline="0">
              <a:solidFill>
                <a:schemeClr val="bg1"/>
              </a:solidFill>
              <a:latin typeface="Questrial" pitchFamily="2" charset="77"/>
              <a:ea typeface="Questrial" pitchFamily="2" charset="77"/>
              <a:cs typeface="Questrial" pitchFamily="2" charset="77"/>
            </a:defRPr>
          </a:pPr>
          <a:endParaRPr lang="fr-F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Vieillissement!$B$36</c:f>
              <c:strCache>
                <c:ptCount val="1"/>
                <c:pt idx="0">
                  <c:v>Ratio actifs / retraités </c:v>
                </c:pt>
              </c:strCache>
            </c:strRef>
          </c:tx>
          <c:spPr>
            <a:ln w="38100" cap="rnd">
              <a:solidFill>
                <a:schemeClr val="bg1"/>
              </a:solidFill>
              <a:round/>
            </a:ln>
            <a:effectLst/>
          </c:spPr>
          <c:marker>
            <c:symbol val="none"/>
          </c:marker>
          <c:cat>
            <c:numRef>
              <c:f>Vieillissement!$C$4:$DG$4</c:f>
              <c:numCache>
                <c:formatCode>General</c:formatCode>
                <c:ptCount val="109"/>
                <c:pt idx="0">
                  <c:v>1962</c:v>
                </c:pt>
                <c:pt idx="1">
                  <c:v>1963</c:v>
                </c:pt>
                <c:pt idx="2">
                  <c:v>1964</c:v>
                </c:pt>
                <c:pt idx="3">
                  <c:v>1965</c:v>
                </c:pt>
                <c:pt idx="4">
                  <c:v>1966</c:v>
                </c:pt>
                <c:pt idx="5">
                  <c:v>1967</c:v>
                </c:pt>
                <c:pt idx="6">
                  <c:v>1968</c:v>
                </c:pt>
                <c:pt idx="7">
                  <c:v>1969</c:v>
                </c:pt>
                <c:pt idx="8">
                  <c:v>1970</c:v>
                </c:pt>
                <c:pt idx="9">
                  <c:v>1971</c:v>
                </c:pt>
                <c:pt idx="10">
                  <c:v>1972</c:v>
                </c:pt>
                <c:pt idx="11">
                  <c:v>1973</c:v>
                </c:pt>
                <c:pt idx="12">
                  <c:v>1974</c:v>
                </c:pt>
                <c:pt idx="13">
                  <c:v>1975</c:v>
                </c:pt>
                <c:pt idx="14">
                  <c:v>1976</c:v>
                </c:pt>
                <c:pt idx="15">
                  <c:v>1977</c:v>
                </c:pt>
                <c:pt idx="16">
                  <c:v>1978</c:v>
                </c:pt>
                <c:pt idx="17">
                  <c:v>1979</c:v>
                </c:pt>
                <c:pt idx="18">
                  <c:v>1980</c:v>
                </c:pt>
                <c:pt idx="19">
                  <c:v>1981</c:v>
                </c:pt>
                <c:pt idx="20">
                  <c:v>1982</c:v>
                </c:pt>
                <c:pt idx="21">
                  <c:v>1983</c:v>
                </c:pt>
                <c:pt idx="22">
                  <c:v>1984</c:v>
                </c:pt>
                <c:pt idx="23">
                  <c:v>1985</c:v>
                </c:pt>
                <c:pt idx="24">
                  <c:v>1986</c:v>
                </c:pt>
                <c:pt idx="25">
                  <c:v>1987</c:v>
                </c:pt>
                <c:pt idx="26">
                  <c:v>1988</c:v>
                </c:pt>
                <c:pt idx="27">
                  <c:v>1989</c:v>
                </c:pt>
                <c:pt idx="28">
                  <c:v>1990</c:v>
                </c:pt>
                <c:pt idx="29">
                  <c:v>1991</c:v>
                </c:pt>
                <c:pt idx="30">
                  <c:v>1992</c:v>
                </c:pt>
                <c:pt idx="31">
                  <c:v>1993</c:v>
                </c:pt>
                <c:pt idx="32">
                  <c:v>1994</c:v>
                </c:pt>
                <c:pt idx="33">
                  <c:v>1995</c:v>
                </c:pt>
                <c:pt idx="34">
                  <c:v>1996</c:v>
                </c:pt>
                <c:pt idx="35">
                  <c:v>1997</c:v>
                </c:pt>
                <c:pt idx="36">
                  <c:v>1998</c:v>
                </c:pt>
                <c:pt idx="37">
                  <c:v>1999</c:v>
                </c:pt>
                <c:pt idx="38">
                  <c:v>2000</c:v>
                </c:pt>
                <c:pt idx="39">
                  <c:v>2001</c:v>
                </c:pt>
                <c:pt idx="40">
                  <c:v>2002</c:v>
                </c:pt>
                <c:pt idx="41">
                  <c:v>2003</c:v>
                </c:pt>
                <c:pt idx="42">
                  <c:v>2004</c:v>
                </c:pt>
                <c:pt idx="43">
                  <c:v>2005</c:v>
                </c:pt>
                <c:pt idx="44">
                  <c:v>2006</c:v>
                </c:pt>
                <c:pt idx="45">
                  <c:v>2007</c:v>
                </c:pt>
                <c:pt idx="46">
                  <c:v>2008</c:v>
                </c:pt>
                <c:pt idx="47">
                  <c:v>2009</c:v>
                </c:pt>
                <c:pt idx="48">
                  <c:v>2010</c:v>
                </c:pt>
                <c:pt idx="49">
                  <c:v>2011</c:v>
                </c:pt>
                <c:pt idx="50">
                  <c:v>2012</c:v>
                </c:pt>
                <c:pt idx="51">
                  <c:v>2013</c:v>
                </c:pt>
                <c:pt idx="52">
                  <c:v>2014</c:v>
                </c:pt>
                <c:pt idx="53">
                  <c:v>2015</c:v>
                </c:pt>
                <c:pt idx="54">
                  <c:v>2016</c:v>
                </c:pt>
                <c:pt idx="55">
                  <c:v>2017</c:v>
                </c:pt>
                <c:pt idx="56">
                  <c:v>2018</c:v>
                </c:pt>
                <c:pt idx="57">
                  <c:v>2019</c:v>
                </c:pt>
                <c:pt idx="58">
                  <c:v>2020</c:v>
                </c:pt>
                <c:pt idx="59">
                  <c:v>2021</c:v>
                </c:pt>
                <c:pt idx="60">
                  <c:v>2022</c:v>
                </c:pt>
                <c:pt idx="61">
                  <c:v>2023</c:v>
                </c:pt>
                <c:pt idx="62">
                  <c:v>2024</c:v>
                </c:pt>
                <c:pt idx="63">
                  <c:v>2025</c:v>
                </c:pt>
                <c:pt idx="64">
                  <c:v>2026</c:v>
                </c:pt>
                <c:pt idx="65">
                  <c:v>2027</c:v>
                </c:pt>
                <c:pt idx="66">
                  <c:v>2028</c:v>
                </c:pt>
                <c:pt idx="67">
                  <c:v>2029</c:v>
                </c:pt>
                <c:pt idx="68">
                  <c:v>2030</c:v>
                </c:pt>
                <c:pt idx="69">
                  <c:v>2031</c:v>
                </c:pt>
                <c:pt idx="70">
                  <c:v>2032</c:v>
                </c:pt>
                <c:pt idx="71">
                  <c:v>2033</c:v>
                </c:pt>
                <c:pt idx="72">
                  <c:v>2034</c:v>
                </c:pt>
                <c:pt idx="73">
                  <c:v>2035</c:v>
                </c:pt>
                <c:pt idx="74">
                  <c:v>2036</c:v>
                </c:pt>
                <c:pt idx="75">
                  <c:v>2037</c:v>
                </c:pt>
                <c:pt idx="76">
                  <c:v>2038</c:v>
                </c:pt>
                <c:pt idx="77">
                  <c:v>2039</c:v>
                </c:pt>
                <c:pt idx="78">
                  <c:v>2040</c:v>
                </c:pt>
                <c:pt idx="79">
                  <c:v>2041</c:v>
                </c:pt>
                <c:pt idx="80">
                  <c:v>2042</c:v>
                </c:pt>
                <c:pt idx="81">
                  <c:v>2043</c:v>
                </c:pt>
                <c:pt idx="82">
                  <c:v>2044</c:v>
                </c:pt>
                <c:pt idx="83">
                  <c:v>2045</c:v>
                </c:pt>
                <c:pt idx="84">
                  <c:v>2046</c:v>
                </c:pt>
                <c:pt idx="85">
                  <c:v>2047</c:v>
                </c:pt>
                <c:pt idx="86">
                  <c:v>2048</c:v>
                </c:pt>
                <c:pt idx="87">
                  <c:v>2049</c:v>
                </c:pt>
                <c:pt idx="88">
                  <c:v>2050</c:v>
                </c:pt>
                <c:pt idx="89">
                  <c:v>2051</c:v>
                </c:pt>
                <c:pt idx="90">
                  <c:v>2052</c:v>
                </c:pt>
                <c:pt idx="91">
                  <c:v>2053</c:v>
                </c:pt>
                <c:pt idx="92">
                  <c:v>2054</c:v>
                </c:pt>
                <c:pt idx="93">
                  <c:v>2055</c:v>
                </c:pt>
                <c:pt idx="94">
                  <c:v>2056</c:v>
                </c:pt>
                <c:pt idx="95">
                  <c:v>2057</c:v>
                </c:pt>
                <c:pt idx="96">
                  <c:v>2058</c:v>
                </c:pt>
                <c:pt idx="97">
                  <c:v>2059</c:v>
                </c:pt>
                <c:pt idx="98">
                  <c:v>2060</c:v>
                </c:pt>
                <c:pt idx="99">
                  <c:v>2061</c:v>
                </c:pt>
                <c:pt idx="100">
                  <c:v>2062</c:v>
                </c:pt>
                <c:pt idx="101">
                  <c:v>2063</c:v>
                </c:pt>
                <c:pt idx="102">
                  <c:v>2064</c:v>
                </c:pt>
                <c:pt idx="103">
                  <c:v>2065</c:v>
                </c:pt>
                <c:pt idx="104">
                  <c:v>2066</c:v>
                </c:pt>
                <c:pt idx="105">
                  <c:v>2067</c:v>
                </c:pt>
                <c:pt idx="106">
                  <c:v>2068</c:v>
                </c:pt>
                <c:pt idx="107">
                  <c:v>2069</c:v>
                </c:pt>
                <c:pt idx="108">
                  <c:v>2070</c:v>
                </c:pt>
              </c:numCache>
            </c:numRef>
          </c:cat>
          <c:val>
            <c:numRef>
              <c:f>Vieillissement!$C$36:$DG$36</c:f>
              <c:numCache>
                <c:formatCode>0.00</c:formatCode>
                <c:ptCount val="109"/>
                <c:pt idx="0">
                  <c:v>4.68</c:v>
                </c:pt>
                <c:pt idx="1">
                  <c:v>4.6399999999999997</c:v>
                </c:pt>
                <c:pt idx="2">
                  <c:v>4.58</c:v>
                </c:pt>
                <c:pt idx="3">
                  <c:v>4.4800000000000004</c:v>
                </c:pt>
                <c:pt idx="4">
                  <c:v>4.4000000000000004</c:v>
                </c:pt>
                <c:pt idx="5">
                  <c:v>4.33</c:v>
                </c:pt>
                <c:pt idx="6">
                  <c:v>4.2699999999999996</c:v>
                </c:pt>
                <c:pt idx="7">
                  <c:v>4.24</c:v>
                </c:pt>
                <c:pt idx="8">
                  <c:v>4.22</c:v>
                </c:pt>
                <c:pt idx="9">
                  <c:v>4.1900000000000004</c:v>
                </c:pt>
                <c:pt idx="10">
                  <c:v>4.16</c:v>
                </c:pt>
                <c:pt idx="11">
                  <c:v>4.13</c:v>
                </c:pt>
                <c:pt idx="12">
                  <c:v>4.0999999999999996</c:v>
                </c:pt>
                <c:pt idx="13">
                  <c:v>4.07</c:v>
                </c:pt>
                <c:pt idx="14">
                  <c:v>4.03</c:v>
                </c:pt>
                <c:pt idx="15">
                  <c:v>4.0199999999999996</c:v>
                </c:pt>
                <c:pt idx="16">
                  <c:v>3.99</c:v>
                </c:pt>
                <c:pt idx="17">
                  <c:v>3.96</c:v>
                </c:pt>
                <c:pt idx="18">
                  <c:v>3.95</c:v>
                </c:pt>
                <c:pt idx="19">
                  <c:v>4.04</c:v>
                </c:pt>
                <c:pt idx="20">
                  <c:v>4.2</c:v>
                </c:pt>
                <c:pt idx="21">
                  <c:v>4.33</c:v>
                </c:pt>
                <c:pt idx="22">
                  <c:v>4.45</c:v>
                </c:pt>
                <c:pt idx="23">
                  <c:v>4.54</c:v>
                </c:pt>
                <c:pt idx="24">
                  <c:v>4.45</c:v>
                </c:pt>
                <c:pt idx="25">
                  <c:v>4.38</c:v>
                </c:pt>
                <c:pt idx="26">
                  <c:v>4.3099999999999996</c:v>
                </c:pt>
                <c:pt idx="27">
                  <c:v>4.24</c:v>
                </c:pt>
                <c:pt idx="28">
                  <c:v>4.1900000000000004</c:v>
                </c:pt>
                <c:pt idx="29">
                  <c:v>4.17</c:v>
                </c:pt>
                <c:pt idx="30">
                  <c:v>4.12</c:v>
                </c:pt>
                <c:pt idx="31">
                  <c:v>4.07</c:v>
                </c:pt>
                <c:pt idx="32">
                  <c:v>4.0199999999999996</c:v>
                </c:pt>
                <c:pt idx="33">
                  <c:v>3.96</c:v>
                </c:pt>
                <c:pt idx="34">
                  <c:v>3.88</c:v>
                </c:pt>
                <c:pt idx="35">
                  <c:v>3.82</c:v>
                </c:pt>
                <c:pt idx="36">
                  <c:v>3.77</c:v>
                </c:pt>
                <c:pt idx="37">
                  <c:v>3.73</c:v>
                </c:pt>
                <c:pt idx="38">
                  <c:v>3.69</c:v>
                </c:pt>
                <c:pt idx="39">
                  <c:v>3.67</c:v>
                </c:pt>
                <c:pt idx="40">
                  <c:v>3.64</c:v>
                </c:pt>
                <c:pt idx="41">
                  <c:v>3.62</c:v>
                </c:pt>
                <c:pt idx="42">
                  <c:v>3.61</c:v>
                </c:pt>
                <c:pt idx="43">
                  <c:v>3.58</c:v>
                </c:pt>
                <c:pt idx="44">
                  <c:v>3.58</c:v>
                </c:pt>
                <c:pt idx="45">
                  <c:v>3.59</c:v>
                </c:pt>
                <c:pt idx="46">
                  <c:v>3.58</c:v>
                </c:pt>
                <c:pt idx="47">
                  <c:v>3.56</c:v>
                </c:pt>
                <c:pt idx="48">
                  <c:v>3.53</c:v>
                </c:pt>
                <c:pt idx="49">
                  <c:v>3.5</c:v>
                </c:pt>
                <c:pt idx="50">
                  <c:v>3.4</c:v>
                </c:pt>
                <c:pt idx="51">
                  <c:v>3.29</c:v>
                </c:pt>
                <c:pt idx="52">
                  <c:v>3.2</c:v>
                </c:pt>
                <c:pt idx="53">
                  <c:v>3.09</c:v>
                </c:pt>
                <c:pt idx="54">
                  <c:v>3</c:v>
                </c:pt>
                <c:pt idx="55">
                  <c:v>2.92</c:v>
                </c:pt>
                <c:pt idx="56">
                  <c:v>2.85</c:v>
                </c:pt>
                <c:pt idx="57">
                  <c:v>2.79</c:v>
                </c:pt>
                <c:pt idx="58">
                  <c:v>2.73</c:v>
                </c:pt>
                <c:pt idx="59">
                  <c:v>2.69</c:v>
                </c:pt>
                <c:pt idx="60">
                  <c:v>2.65</c:v>
                </c:pt>
                <c:pt idx="61">
                  <c:v>2.61</c:v>
                </c:pt>
                <c:pt idx="62">
                  <c:v>2.56</c:v>
                </c:pt>
                <c:pt idx="63">
                  <c:v>2.4700000000000002</c:v>
                </c:pt>
                <c:pt idx="64">
                  <c:v>2.42</c:v>
                </c:pt>
                <c:pt idx="65">
                  <c:v>2.38</c:v>
                </c:pt>
                <c:pt idx="66">
                  <c:v>2.34</c:v>
                </c:pt>
                <c:pt idx="67">
                  <c:v>2.29</c:v>
                </c:pt>
                <c:pt idx="68">
                  <c:v>2.25</c:v>
                </c:pt>
                <c:pt idx="69">
                  <c:v>2.2200000000000002</c:v>
                </c:pt>
                <c:pt idx="70">
                  <c:v>2.1800000000000002</c:v>
                </c:pt>
                <c:pt idx="71">
                  <c:v>2.15</c:v>
                </c:pt>
                <c:pt idx="72">
                  <c:v>2.13</c:v>
                </c:pt>
                <c:pt idx="73">
                  <c:v>2.1</c:v>
                </c:pt>
                <c:pt idx="74">
                  <c:v>2.0699999999999998</c:v>
                </c:pt>
                <c:pt idx="75">
                  <c:v>2.0499999999999998</c:v>
                </c:pt>
                <c:pt idx="76">
                  <c:v>2.02</c:v>
                </c:pt>
                <c:pt idx="77">
                  <c:v>1.99</c:v>
                </c:pt>
                <c:pt idx="78">
                  <c:v>1.98</c:v>
                </c:pt>
                <c:pt idx="79">
                  <c:v>1.97</c:v>
                </c:pt>
                <c:pt idx="80">
                  <c:v>1.96</c:v>
                </c:pt>
                <c:pt idx="81">
                  <c:v>1.96</c:v>
                </c:pt>
                <c:pt idx="82">
                  <c:v>1.95</c:v>
                </c:pt>
                <c:pt idx="83">
                  <c:v>1.94</c:v>
                </c:pt>
                <c:pt idx="84">
                  <c:v>1.92</c:v>
                </c:pt>
                <c:pt idx="85">
                  <c:v>1.91</c:v>
                </c:pt>
                <c:pt idx="86">
                  <c:v>1.89</c:v>
                </c:pt>
                <c:pt idx="87">
                  <c:v>1.88</c:v>
                </c:pt>
                <c:pt idx="88">
                  <c:v>1.88</c:v>
                </c:pt>
                <c:pt idx="89">
                  <c:v>1.87</c:v>
                </c:pt>
                <c:pt idx="90">
                  <c:v>1.85</c:v>
                </c:pt>
                <c:pt idx="91">
                  <c:v>1.85</c:v>
                </c:pt>
                <c:pt idx="92">
                  <c:v>1.84</c:v>
                </c:pt>
                <c:pt idx="93">
                  <c:v>1.83</c:v>
                </c:pt>
                <c:pt idx="94">
                  <c:v>1.82</c:v>
                </c:pt>
                <c:pt idx="95">
                  <c:v>1.81</c:v>
                </c:pt>
                <c:pt idx="96">
                  <c:v>1.81</c:v>
                </c:pt>
                <c:pt idx="97">
                  <c:v>1.81</c:v>
                </c:pt>
                <c:pt idx="98">
                  <c:v>1.81</c:v>
                </c:pt>
                <c:pt idx="99">
                  <c:v>1.81</c:v>
                </c:pt>
                <c:pt idx="100">
                  <c:v>1.81</c:v>
                </c:pt>
                <c:pt idx="101">
                  <c:v>1.81</c:v>
                </c:pt>
                <c:pt idx="102">
                  <c:v>1.81</c:v>
                </c:pt>
                <c:pt idx="103">
                  <c:v>1.8</c:v>
                </c:pt>
                <c:pt idx="104">
                  <c:v>1.79</c:v>
                </c:pt>
                <c:pt idx="105">
                  <c:v>1.78</c:v>
                </c:pt>
                <c:pt idx="106">
                  <c:v>1.78</c:v>
                </c:pt>
                <c:pt idx="107">
                  <c:v>1.77</c:v>
                </c:pt>
                <c:pt idx="108">
                  <c:v>1.76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BCE-B243-BAB1-5C83CC466D8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29222880"/>
        <c:axId val="229294944"/>
      </c:lineChart>
      <c:lineChart>
        <c:grouping val="standard"/>
        <c:varyColors val="0"/>
        <c:ser>
          <c:idx val="1"/>
          <c:order val="1"/>
          <c:tx>
            <c:strRef>
              <c:f>Vieillissement!$B$20</c:f>
              <c:strCache>
                <c:ptCount val="1"/>
                <c:pt idx="0">
                  <c:v>Espérance de vie moyenne (H/F)</c:v>
                </c:pt>
              </c:strCache>
            </c:strRef>
          </c:tx>
          <c:spPr>
            <a:ln w="38100" cap="rnd">
              <a:solidFill>
                <a:srgbClr val="CA2E4D"/>
              </a:solidFill>
              <a:round/>
            </a:ln>
            <a:effectLst/>
          </c:spPr>
          <c:marker>
            <c:symbol val="none"/>
          </c:marker>
          <c:cat>
            <c:numRef>
              <c:f>Vieillissement!$AO$30:$DG$30</c:f>
              <c:numCache>
                <c:formatCode>General</c:formatCode>
                <c:ptCount val="71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  <c:pt idx="26">
                  <c:v>2026</c:v>
                </c:pt>
                <c:pt idx="27">
                  <c:v>2027</c:v>
                </c:pt>
                <c:pt idx="28">
                  <c:v>2028</c:v>
                </c:pt>
                <c:pt idx="29">
                  <c:v>2029</c:v>
                </c:pt>
                <c:pt idx="30">
                  <c:v>2030</c:v>
                </c:pt>
                <c:pt idx="31">
                  <c:v>2031</c:v>
                </c:pt>
                <c:pt idx="32">
                  <c:v>2032</c:v>
                </c:pt>
                <c:pt idx="33">
                  <c:v>2033</c:v>
                </c:pt>
                <c:pt idx="34">
                  <c:v>2034</c:v>
                </c:pt>
                <c:pt idx="35">
                  <c:v>2035</c:v>
                </c:pt>
                <c:pt idx="36">
                  <c:v>2036</c:v>
                </c:pt>
                <c:pt idx="37">
                  <c:v>2037</c:v>
                </c:pt>
                <c:pt idx="38">
                  <c:v>2038</c:v>
                </c:pt>
                <c:pt idx="39">
                  <c:v>2039</c:v>
                </c:pt>
                <c:pt idx="40">
                  <c:v>2040</c:v>
                </c:pt>
                <c:pt idx="41">
                  <c:v>2041</c:v>
                </c:pt>
                <c:pt idx="42">
                  <c:v>2042</c:v>
                </c:pt>
                <c:pt idx="43">
                  <c:v>2043</c:v>
                </c:pt>
                <c:pt idx="44">
                  <c:v>2044</c:v>
                </c:pt>
                <c:pt idx="45">
                  <c:v>2045</c:v>
                </c:pt>
                <c:pt idx="46">
                  <c:v>2046</c:v>
                </c:pt>
                <c:pt idx="47">
                  <c:v>2047</c:v>
                </c:pt>
                <c:pt idx="48">
                  <c:v>2048</c:v>
                </c:pt>
                <c:pt idx="49">
                  <c:v>2049</c:v>
                </c:pt>
                <c:pt idx="50">
                  <c:v>2050</c:v>
                </c:pt>
                <c:pt idx="51">
                  <c:v>2051</c:v>
                </c:pt>
                <c:pt idx="52">
                  <c:v>2052</c:v>
                </c:pt>
                <c:pt idx="53">
                  <c:v>2053</c:v>
                </c:pt>
                <c:pt idx="54">
                  <c:v>2054</c:v>
                </c:pt>
                <c:pt idx="55">
                  <c:v>2055</c:v>
                </c:pt>
                <c:pt idx="56">
                  <c:v>2056</c:v>
                </c:pt>
                <c:pt idx="57">
                  <c:v>2057</c:v>
                </c:pt>
                <c:pt idx="58">
                  <c:v>2058</c:v>
                </c:pt>
                <c:pt idx="59">
                  <c:v>2059</c:v>
                </c:pt>
                <c:pt idx="60">
                  <c:v>2060</c:v>
                </c:pt>
                <c:pt idx="61">
                  <c:v>2061</c:v>
                </c:pt>
                <c:pt idx="62">
                  <c:v>2062</c:v>
                </c:pt>
                <c:pt idx="63">
                  <c:v>2063</c:v>
                </c:pt>
                <c:pt idx="64">
                  <c:v>2064</c:v>
                </c:pt>
                <c:pt idx="65">
                  <c:v>2065</c:v>
                </c:pt>
                <c:pt idx="66">
                  <c:v>2066</c:v>
                </c:pt>
                <c:pt idx="67">
                  <c:v>2067</c:v>
                </c:pt>
                <c:pt idx="68">
                  <c:v>2068</c:v>
                </c:pt>
                <c:pt idx="69">
                  <c:v>2069</c:v>
                </c:pt>
                <c:pt idx="70">
                  <c:v>2070</c:v>
                </c:pt>
              </c:numCache>
            </c:numRef>
          </c:cat>
          <c:val>
            <c:numRef>
              <c:f>Vieillissement!$C$20:$DG$20</c:f>
              <c:numCache>
                <c:formatCode>General</c:formatCode>
                <c:ptCount val="109"/>
                <c:pt idx="38" formatCode="0.0">
                  <c:v>83.95</c:v>
                </c:pt>
                <c:pt idx="39" formatCode="0.0">
                  <c:v>84.15</c:v>
                </c:pt>
                <c:pt idx="40" formatCode="0.0">
                  <c:v>84.25</c:v>
                </c:pt>
                <c:pt idx="41" formatCode="0.0">
                  <c:v>84.199999999999989</c:v>
                </c:pt>
                <c:pt idx="42" formatCode="0.0">
                  <c:v>84.9</c:v>
                </c:pt>
                <c:pt idx="43" formatCode="0.0">
                  <c:v>84.85</c:v>
                </c:pt>
                <c:pt idx="44" formatCode="0.0">
                  <c:v>85.2</c:v>
                </c:pt>
                <c:pt idx="45" formatCode="0.0">
                  <c:v>85.3</c:v>
                </c:pt>
                <c:pt idx="46" formatCode="0.0">
                  <c:v>85.35</c:v>
                </c:pt>
                <c:pt idx="47" formatCode="0.0">
                  <c:v>85.5</c:v>
                </c:pt>
                <c:pt idx="48" formatCode="0.0">
                  <c:v>85.65</c:v>
                </c:pt>
                <c:pt idx="49" formatCode="0.0">
                  <c:v>85.95</c:v>
                </c:pt>
                <c:pt idx="50" formatCode="0.0">
                  <c:v>85.8</c:v>
                </c:pt>
                <c:pt idx="51" formatCode="0.0">
                  <c:v>86</c:v>
                </c:pt>
                <c:pt idx="52" formatCode="0.0">
                  <c:v>86.3</c:v>
                </c:pt>
                <c:pt idx="53" formatCode="0.0">
                  <c:v>86.05</c:v>
                </c:pt>
                <c:pt idx="54" formatCode="0.0">
                  <c:v>86.25</c:v>
                </c:pt>
                <c:pt idx="55" formatCode="0.0">
                  <c:v>86.300000000000011</c:v>
                </c:pt>
                <c:pt idx="56" formatCode="0.0">
                  <c:v>86.4</c:v>
                </c:pt>
                <c:pt idx="57" formatCode="0.0">
                  <c:v>86.5</c:v>
                </c:pt>
                <c:pt idx="58" formatCode="0.0">
                  <c:v>85.9</c:v>
                </c:pt>
                <c:pt idx="59" formatCode="0.0">
                  <c:v>86.05</c:v>
                </c:pt>
                <c:pt idx="60" formatCode="0.0">
                  <c:v>86.05</c:v>
                </c:pt>
                <c:pt idx="61" formatCode="0.0">
                  <c:v>86.699999999999989</c:v>
                </c:pt>
                <c:pt idx="62" formatCode="0.0">
                  <c:v>86.837663778901486</c:v>
                </c:pt>
                <c:pt idx="63" formatCode="0.0">
                  <c:v>86.903814665810302</c:v>
                </c:pt>
                <c:pt idx="64" formatCode="0.0">
                  <c:v>86.969030196882755</c:v>
                </c:pt>
                <c:pt idx="65" formatCode="0.0">
                  <c:v>87.033533898034875</c:v>
                </c:pt>
                <c:pt idx="66" formatCode="0.0">
                  <c:v>87.097621722989146</c:v>
                </c:pt>
                <c:pt idx="67" formatCode="0.0">
                  <c:v>87.161727369619669</c:v>
                </c:pt>
                <c:pt idx="68" formatCode="0.0">
                  <c:v>87.226162482338751</c:v>
                </c:pt>
                <c:pt idx="69" formatCode="0.0">
                  <c:v>87.291333879729905</c:v>
                </c:pt>
                <c:pt idx="70" formatCode="0.0">
                  <c:v>87.35765328539317</c:v>
                </c:pt>
                <c:pt idx="71" formatCode="0.0">
                  <c:v>87.425518819659857</c:v>
                </c:pt>
                <c:pt idx="72" formatCode="0.0">
                  <c:v>87.495244565645464</c:v>
                </c:pt>
                <c:pt idx="73" formatCode="0.0">
                  <c:v>87.567093511364121</c:v>
                </c:pt>
                <c:pt idx="74" formatCode="0.0">
                  <c:v>87.641325707844459</c:v>
                </c:pt>
                <c:pt idx="75" formatCode="0.0">
                  <c:v>87.718083477061555</c:v>
                </c:pt>
                <c:pt idx="76" formatCode="0.0">
                  <c:v>87.797489261960862</c:v>
                </c:pt>
                <c:pt idx="77" formatCode="0.0">
                  <c:v>87.879577695276538</c:v>
                </c:pt>
                <c:pt idx="78" formatCode="0.0">
                  <c:v>87.964315718326674</c:v>
                </c:pt>
                <c:pt idx="79" formatCode="0.0">
                  <c:v>88.051530460195394</c:v>
                </c:pt>
                <c:pt idx="80" formatCode="0.0">
                  <c:v>88.140976828567631</c:v>
                </c:pt>
                <c:pt idx="81" formatCode="0.0">
                  <c:v>88.232263213592702</c:v>
                </c:pt>
                <c:pt idx="82" formatCode="0.0">
                  <c:v>88.325145453422294</c:v>
                </c:pt>
                <c:pt idx="83" formatCode="0.0">
                  <c:v>88.419262319636402</c:v>
                </c:pt>
                <c:pt idx="84" formatCode="0.0">
                  <c:v>88.514220541964661</c:v>
                </c:pt>
                <c:pt idx="85" formatCode="0.0">
                  <c:v>88.609725469558953</c:v>
                </c:pt>
                <c:pt idx="86" formatCode="0.0">
                  <c:v>88.705542217115436</c:v>
                </c:pt>
                <c:pt idx="87" formatCode="0.0">
                  <c:v>88.801519670287632</c:v>
                </c:pt>
                <c:pt idx="88" formatCode="0.0">
                  <c:v>88.89755234155129</c:v>
                </c:pt>
                <c:pt idx="89" formatCode="0.0">
                  <c:v>88.993472353042449</c:v>
                </c:pt>
                <c:pt idx="90" formatCode="0.0">
                  <c:v>89.089230217091881</c:v>
                </c:pt>
                <c:pt idx="91" formatCode="0.0">
                  <c:v>89.184775179212593</c:v>
                </c:pt>
                <c:pt idx="92" formatCode="0.0">
                  <c:v>89.28005709198905</c:v>
                </c:pt>
                <c:pt idx="93" formatCode="0.0">
                  <c:v>89.375029759570765</c:v>
                </c:pt>
                <c:pt idx="94" formatCode="0.0">
                  <c:v>89.469651429214196</c:v>
                </c:pt>
                <c:pt idx="95" formatCode="0.0">
                  <c:v>89.563883075847812</c:v>
                </c:pt>
                <c:pt idx="96" formatCode="0.0">
                  <c:v>89.657689134477209</c:v>
                </c:pt>
                <c:pt idx="97" formatCode="0.0">
                  <c:v>89.751041742961661</c:v>
                </c:pt>
                <c:pt idx="98" formatCode="0.0">
                  <c:v>89.843918694006106</c:v>
                </c:pt>
                <c:pt idx="99" formatCode="0.0">
                  <c:v>89.936305971844263</c:v>
                </c:pt>
                <c:pt idx="100" formatCode="0.0">
                  <c:v>90.028192772347779</c:v>
                </c:pt>
                <c:pt idx="101" formatCode="0.0">
                  <c:v>90.119571909036523</c:v>
                </c:pt>
                <c:pt idx="102" formatCode="0.0">
                  <c:v>90.210438800794719</c:v>
                </c:pt>
                <c:pt idx="103" formatCode="0.0">
                  <c:v>90.300790510530732</c:v>
                </c:pt>
                <c:pt idx="104" formatCode="0.0">
                  <c:v>90.390625674469277</c:v>
                </c:pt>
                <c:pt idx="105" formatCode="0.0">
                  <c:v>90.479944030514218</c:v>
                </c:pt>
                <c:pt idx="106" formatCode="0.0">
                  <c:v>90.568746146917334</c:v>
                </c:pt>
                <c:pt idx="107" formatCode="0.0">
                  <c:v>90.657033219542171</c:v>
                </c:pt>
                <c:pt idx="108" formatCode="0.0">
                  <c:v>90.744806921804937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BCE-B243-BAB1-5C83CC466D8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3871648"/>
        <c:axId val="124395680"/>
      </c:lineChart>
      <c:catAx>
        <c:axId val="229222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fr-FR"/>
          </a:p>
        </c:txPr>
        <c:crossAx val="229294944"/>
        <c:crosses val="autoZero"/>
        <c:auto val="1"/>
        <c:lblAlgn val="ctr"/>
        <c:lblOffset val="100"/>
        <c:noMultiLvlLbl val="0"/>
      </c:catAx>
      <c:valAx>
        <c:axId val="229294944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r>
                  <a:rPr lang="fr-FR"/>
                  <a:t>Ratio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bg1"/>
                  </a:solidFill>
                  <a:latin typeface="Questrial" pitchFamily="2" charset="77"/>
                  <a:ea typeface="Questrial" pitchFamily="2" charset="77"/>
                  <a:cs typeface="Questrial" pitchFamily="2" charset="77"/>
                </a:defRPr>
              </a:pPr>
              <a:endParaRPr lang="fr-FR"/>
            </a:p>
          </c:txPr>
        </c:title>
        <c:numFmt formatCode="0.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fr-FR"/>
          </a:p>
        </c:txPr>
        <c:crossAx val="229222880"/>
        <c:crosses val="autoZero"/>
        <c:crossBetween val="between"/>
      </c:valAx>
      <c:valAx>
        <c:axId val="124395680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r>
                  <a:rPr lang="fr-FR"/>
                  <a:t>Age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bg1"/>
                  </a:solidFill>
                  <a:latin typeface="Questrial" pitchFamily="2" charset="77"/>
                  <a:ea typeface="Questrial" pitchFamily="2" charset="77"/>
                  <a:cs typeface="Questrial" pitchFamily="2" charset="77"/>
                </a:defRPr>
              </a:pPr>
              <a:endParaRPr lang="fr-FR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fr-FR"/>
          </a:p>
        </c:txPr>
        <c:crossAx val="123871648"/>
        <c:crosses val="max"/>
        <c:crossBetween val="between"/>
      </c:valAx>
      <c:catAx>
        <c:axId val="12387164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24395680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bg1"/>
          </a:solidFill>
          <a:latin typeface="Questrial" pitchFamily="2" charset="77"/>
          <a:ea typeface="Questrial" pitchFamily="2" charset="77"/>
          <a:cs typeface="Questrial" pitchFamily="2" charset="77"/>
        </a:defRPr>
      </a:pPr>
      <a:endParaRPr lang="fr-FR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2845942450695117E-2"/>
          <c:y val="0.10743329480380502"/>
          <c:w val="0.87352390551877446"/>
          <c:h val="0.74477670701610055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'Déficit retraites'!$A$7</c:f>
              <c:strCache>
                <c:ptCount val="1"/>
                <c:pt idx="0">
                  <c:v>Cotisations salariés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7BBB-EA42-BEEF-0A7FC006EDDF}"/>
              </c:ext>
            </c:extLst>
          </c:dPt>
          <c:dLbls>
            <c:delete val="1"/>
          </c:dLbls>
          <c:cat>
            <c:strRef>
              <c:f>'Déficit retraites'!$A$15</c:f>
              <c:strCache>
                <c:ptCount val="1"/>
                <c:pt idx="0">
                  <c:v>Autres produits dont financiers</c:v>
                </c:pt>
              </c:strCache>
            </c:strRef>
          </c:cat>
          <c:val>
            <c:numRef>
              <c:f>'Déficit retraites'!$C$7</c:f>
              <c:numCache>
                <c:formatCode>0.0%</c:formatCode>
                <c:ptCount val="1"/>
                <c:pt idx="0">
                  <c:v>0.25395590142671859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BBB-EA42-BEEF-0A7FC006EDDF}"/>
            </c:ext>
          </c:extLst>
        </c:ser>
        <c:ser>
          <c:idx val="1"/>
          <c:order val="1"/>
          <c:tx>
            <c:strRef>
              <c:f>'Déficit retraites'!$A$6</c:f>
              <c:strCache>
                <c:ptCount val="1"/>
                <c:pt idx="0">
                  <c:v>Cotisations non-salariés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'Déficit retraites'!$A$15</c:f>
              <c:strCache>
                <c:ptCount val="1"/>
                <c:pt idx="0">
                  <c:v>Autres produits dont financiers</c:v>
                </c:pt>
              </c:strCache>
            </c:strRef>
          </c:cat>
          <c:val>
            <c:numRef>
              <c:f>'Déficit retraites'!$C$6</c:f>
              <c:numCache>
                <c:formatCode>0.0%</c:formatCode>
                <c:ptCount val="1"/>
                <c:pt idx="0">
                  <c:v>3.2425421530479899E-2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7BBB-EA42-BEEF-0A7FC006EDDF}"/>
            </c:ext>
          </c:extLst>
        </c:ser>
        <c:ser>
          <c:idx val="2"/>
          <c:order val="2"/>
          <c:tx>
            <c:strRef>
              <c:f>'Déficit retraites'!$A$8</c:f>
              <c:strCache>
                <c:ptCount val="1"/>
                <c:pt idx="0">
                  <c:v>Cotisations patronales (hors opérateurs de l'Etat)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'Déficit retraites'!$A$15</c:f>
              <c:strCache>
                <c:ptCount val="1"/>
                <c:pt idx="0">
                  <c:v>Autres produits dont financiers</c:v>
                </c:pt>
              </c:strCache>
            </c:strRef>
          </c:cat>
          <c:val>
            <c:numRef>
              <c:f>'Déficit retraites'!$C$8</c:f>
              <c:numCache>
                <c:formatCode>0.0%</c:formatCode>
                <c:ptCount val="1"/>
                <c:pt idx="0">
                  <c:v>0.36212710765239947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BBB-EA42-BEEF-0A7FC006EDDF}"/>
            </c:ext>
          </c:extLst>
        </c:ser>
        <c:ser>
          <c:idx val="3"/>
          <c:order val="3"/>
          <c:tx>
            <c:strRef>
              <c:f>'Déficit retraites'!$A$10</c:f>
              <c:strCache>
                <c:ptCount val="1"/>
                <c:pt idx="0">
                  <c:v>Cotisations des opérateurs de l'Etat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'Déficit retraites'!$A$15</c:f>
              <c:strCache>
                <c:ptCount val="1"/>
                <c:pt idx="0">
                  <c:v>Autres produits dont financiers</c:v>
                </c:pt>
              </c:strCache>
            </c:strRef>
          </c:cat>
          <c:val>
            <c:numRef>
              <c:f>'Déficit retraites'!$C$10</c:f>
              <c:numCache>
                <c:formatCode>0.0%</c:formatCode>
                <c:ptCount val="1"/>
                <c:pt idx="0">
                  <c:v>1.7639429312581063E-2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7BBB-EA42-BEEF-0A7FC006EDDF}"/>
            </c:ext>
          </c:extLst>
        </c:ser>
        <c:ser>
          <c:idx val="4"/>
          <c:order val="4"/>
          <c:tx>
            <c:strRef>
              <c:f>'Déficit retraites'!$A$11</c:f>
              <c:strCache>
                <c:ptCount val="1"/>
                <c:pt idx="0">
                  <c:v>Contributions d'équlibre </c:v>
                </c:pt>
              </c:strCache>
            </c:strRef>
          </c:tx>
          <c:spPr>
            <a:solidFill>
              <a:srgbClr val="1A3EE2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'Déficit retraites'!$A$15</c:f>
              <c:strCache>
                <c:ptCount val="1"/>
                <c:pt idx="0">
                  <c:v>Autres produits dont financiers</c:v>
                </c:pt>
              </c:strCache>
            </c:strRef>
          </c:cat>
          <c:val>
            <c:numRef>
              <c:f>'Déficit retraites'!$C$11</c:f>
              <c:numCache>
                <c:formatCode>0.0%</c:formatCode>
                <c:ptCount val="1"/>
                <c:pt idx="0">
                  <c:v>0.11673151750972763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BBB-EA42-BEEF-0A7FC006EDDF}"/>
            </c:ext>
          </c:extLst>
        </c:ser>
        <c:ser>
          <c:idx val="5"/>
          <c:order val="5"/>
          <c:tx>
            <c:strRef>
              <c:f>'Déficit retraites'!$A$12</c:f>
              <c:strCache>
                <c:ptCount val="1"/>
                <c:pt idx="0">
                  <c:v>Subventions d''équilibre</c:v>
                </c:pt>
              </c:strCache>
            </c:strRef>
          </c:tx>
          <c:spPr>
            <a:solidFill>
              <a:srgbClr val="1A3EE2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'Déficit retraites'!$A$15</c:f>
              <c:strCache>
                <c:ptCount val="1"/>
                <c:pt idx="0">
                  <c:v>Autres produits dont financiers</c:v>
                </c:pt>
              </c:strCache>
            </c:strRef>
          </c:cat>
          <c:val>
            <c:numRef>
              <c:f>'Déficit retraites'!$C$12</c:f>
              <c:numCache>
                <c:formatCode>0.0%</c:formatCode>
                <c:ptCount val="1"/>
                <c:pt idx="0">
                  <c:v>2.0233463035019456E-2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7BBB-EA42-BEEF-0A7FC006EDDF}"/>
            </c:ext>
          </c:extLst>
        </c:ser>
        <c:ser>
          <c:idx val="6"/>
          <c:order val="6"/>
          <c:tx>
            <c:strRef>
              <c:f>'Déficit retraites'!$A$13</c:f>
              <c:strCache>
                <c:ptCount val="1"/>
                <c:pt idx="0">
                  <c:v>ITAF et CSG</c:v>
                </c:pt>
              </c:strCache>
            </c:strRef>
          </c:tx>
          <c:spPr>
            <a:solidFill>
              <a:srgbClr val="170766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'Déficit retraites'!$A$15</c:f>
              <c:strCache>
                <c:ptCount val="1"/>
                <c:pt idx="0">
                  <c:v>Autres produits dont financiers</c:v>
                </c:pt>
              </c:strCache>
            </c:strRef>
          </c:cat>
          <c:val>
            <c:numRef>
              <c:f>'Déficit retraites'!$C$13</c:f>
              <c:numCache>
                <c:formatCode>0.0%</c:formatCode>
                <c:ptCount val="1"/>
                <c:pt idx="0">
                  <c:v>0.14137483787289234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7BBB-EA42-BEEF-0A7FC006EDDF}"/>
            </c:ext>
          </c:extLst>
        </c:ser>
        <c:ser>
          <c:idx val="7"/>
          <c:order val="7"/>
          <c:tx>
            <c:strRef>
              <c:f>'Déficit retraites'!$A$14</c:f>
              <c:strCache>
                <c:ptCount val="1"/>
                <c:pt idx="0">
                  <c:v>Transferts externes</c:v>
                </c:pt>
              </c:strCache>
            </c:strRef>
          </c:tx>
          <c:spPr>
            <a:solidFill>
              <a:srgbClr val="170766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7076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A-7BBB-EA42-BEEF-0A7FC006EDDF}"/>
              </c:ext>
            </c:extLst>
          </c:dPt>
          <c:dLbls>
            <c:delete val="1"/>
          </c:dLbls>
          <c:cat>
            <c:strRef>
              <c:f>'Déficit retraites'!$A$15</c:f>
              <c:strCache>
                <c:ptCount val="1"/>
                <c:pt idx="0">
                  <c:v>Autres produits dont financiers</c:v>
                </c:pt>
              </c:strCache>
            </c:strRef>
          </c:cat>
          <c:val>
            <c:numRef>
              <c:f>'Déficit retraites'!$C$14</c:f>
              <c:numCache>
                <c:formatCode>0.0%</c:formatCode>
                <c:ptCount val="1"/>
                <c:pt idx="0">
                  <c:v>4.6433203631647206E-2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7BBB-EA42-BEEF-0A7FC006EDDF}"/>
            </c:ext>
          </c:extLst>
        </c:ser>
        <c:ser>
          <c:idx val="8"/>
          <c:order val="8"/>
          <c:tx>
            <c:strRef>
              <c:f>'Déficit retraites'!$A$15</c:f>
              <c:strCache>
                <c:ptCount val="1"/>
                <c:pt idx="0">
                  <c:v>Autres produits dont financiers</c:v>
                </c:pt>
              </c:strCache>
            </c:strRef>
          </c:tx>
          <c:spPr>
            <a:solidFill>
              <a:srgbClr val="170766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'Déficit retraites'!$A$15</c:f>
              <c:strCache>
                <c:ptCount val="1"/>
                <c:pt idx="0">
                  <c:v>Autres produits dont financiers</c:v>
                </c:pt>
              </c:strCache>
            </c:strRef>
          </c:cat>
          <c:val>
            <c:numRef>
              <c:f>'Déficit retraites'!$C$15</c:f>
              <c:numCache>
                <c:formatCode>0.0%</c:formatCode>
                <c:ptCount val="1"/>
                <c:pt idx="0">
                  <c:v>9.0791180285343717E-3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7BBB-EA42-BEEF-0A7FC006EDDF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55"/>
        <c:overlap val="100"/>
        <c:axId val="774828351"/>
        <c:axId val="1795356207"/>
      </c:barChart>
      <c:catAx>
        <c:axId val="774828351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795356207"/>
        <c:crosses val="autoZero"/>
        <c:auto val="1"/>
        <c:lblAlgn val="ctr"/>
        <c:lblOffset val="100"/>
        <c:noMultiLvlLbl val="0"/>
      </c:catAx>
      <c:valAx>
        <c:axId val="1795356207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77482835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bg1"/>
          </a:solidFill>
          <a:latin typeface="Questrial" pitchFamily="2" charset="77"/>
          <a:ea typeface="Questrial" pitchFamily="2" charset="77"/>
          <a:cs typeface="Questrial" pitchFamily="2" charset="77"/>
        </a:defRPr>
      </a:pPr>
      <a:endParaRPr lang="fr-FR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6805458754350617E-2"/>
          <c:y val="3.2064285714285712E-2"/>
          <c:w val="0.89787410962523528"/>
          <c:h val="0.79463211617431573"/>
        </c:manualLayout>
      </c:layout>
      <c:lineChart>
        <c:grouping val="standard"/>
        <c:varyColors val="0"/>
        <c:ser>
          <c:idx val="5"/>
          <c:order val="0"/>
          <c:tx>
            <c:strRef>
              <c:f>'Niveau de vie relatif'!$C$5</c:f>
              <c:strCache>
                <c:ptCount val="1"/>
                <c:pt idx="0">
                  <c:v>Observations</c:v>
                </c:pt>
              </c:strCache>
            </c:strRef>
          </c:tx>
          <c:spPr>
            <a:ln w="63500">
              <a:noFill/>
            </a:ln>
          </c:spPr>
          <c:marker>
            <c:symbol val="circle"/>
            <c:size val="6"/>
            <c:spPr>
              <a:solidFill>
                <a:schemeClr val="bg1"/>
              </a:solidFill>
              <a:ln>
                <a:noFill/>
              </a:ln>
            </c:spPr>
          </c:marker>
          <c:dPt>
            <c:idx val="48"/>
            <c:bubble3D val="0"/>
            <c:spPr>
              <a:ln w="9525">
                <a:solidFill>
                  <a:schemeClr val="bg1"/>
                </a:solidFill>
                <a:prstDash val="sysDot"/>
              </a:ln>
            </c:spPr>
            <c:extLst>
              <c:ext xmlns:c16="http://schemas.microsoft.com/office/drawing/2014/chart" uri="{C3380CC4-5D6E-409C-BE32-E72D297353CC}">
                <c16:uniqueId val="{00000001-1D57-0043-9C47-5939AD0FE1FB}"/>
              </c:ext>
            </c:extLst>
          </c:dPt>
          <c:dLbls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1D57-0043-9C47-5939AD0FE1FB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D57-0043-9C47-5939AD0FE1FB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1D57-0043-9C47-5939AD0FE1FB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D57-0043-9C47-5939AD0FE1FB}"/>
                </c:ext>
              </c:extLst>
            </c:dLbl>
            <c:dLbl>
              <c:idx val="3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1D57-0043-9C47-5939AD0FE1FB}"/>
                </c:ext>
              </c:extLst>
            </c:dLbl>
            <c:dLbl>
              <c:idx val="3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1D57-0043-9C47-5939AD0FE1FB}"/>
                </c:ext>
              </c:extLst>
            </c:dLbl>
            <c:dLbl>
              <c:idx val="3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1D57-0043-9C47-5939AD0FE1FB}"/>
                </c:ext>
              </c:extLst>
            </c:dLbl>
            <c:dLbl>
              <c:idx val="3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1D57-0043-9C47-5939AD0FE1FB}"/>
                </c:ext>
              </c:extLst>
            </c:dLbl>
            <c:dLbl>
              <c:idx val="3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1D57-0043-9C47-5939AD0FE1FB}"/>
                </c:ext>
              </c:extLst>
            </c:dLbl>
            <c:dLbl>
              <c:idx val="3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1D57-0043-9C47-5939AD0FE1FB}"/>
                </c:ext>
              </c:extLst>
            </c:dLbl>
            <c:dLbl>
              <c:idx val="3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1D57-0043-9C47-5939AD0FE1FB}"/>
                </c:ext>
              </c:extLst>
            </c:dLbl>
            <c:dLbl>
              <c:idx val="3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1D57-0043-9C47-5939AD0FE1FB}"/>
                </c:ext>
              </c:extLst>
            </c:dLbl>
            <c:dLbl>
              <c:idx val="4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1D57-0043-9C47-5939AD0FE1FB}"/>
                </c:ext>
              </c:extLst>
            </c:dLbl>
            <c:dLbl>
              <c:idx val="4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1D57-0043-9C47-5939AD0FE1FB}"/>
                </c:ext>
              </c:extLst>
            </c:dLbl>
            <c:dLbl>
              <c:idx val="4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1D57-0043-9C47-5939AD0FE1FB}"/>
                </c:ext>
              </c:extLst>
            </c:dLbl>
            <c:dLbl>
              <c:idx val="4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1D57-0043-9C47-5939AD0FE1FB}"/>
                </c:ext>
              </c:extLst>
            </c:dLbl>
            <c:dLbl>
              <c:idx val="44"/>
              <c:layout>
                <c:manualLayout>
                  <c:x val="-4.6449352516755353E-2"/>
                  <c:y val="-2.575550863111824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1D57-0043-9C47-5939AD0FE1FB}"/>
                </c:ext>
              </c:extLst>
            </c:dLbl>
            <c:dLbl>
              <c:idx val="4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1D57-0043-9C47-5939AD0FE1FB}"/>
                </c:ext>
              </c:extLst>
            </c:dLbl>
            <c:dLbl>
              <c:idx val="4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1D57-0043-9C47-5939AD0FE1FB}"/>
                </c:ext>
              </c:extLst>
            </c:dLbl>
            <c:dLbl>
              <c:idx val="4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1D57-0043-9C47-5939AD0FE1FB}"/>
                </c:ext>
              </c:extLst>
            </c:dLbl>
            <c:dLbl>
              <c:idx val="4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6-1D57-0043-9C47-5939AD0FE1FB}"/>
                </c:ext>
              </c:extLst>
            </c:dLbl>
            <c:dLbl>
              <c:idx val="5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1D57-0043-9C47-5939AD0FE1F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05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endParaRPr lang="fr-F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'Niveau de vie relatif'!$D$4:$CZ$4</c:f>
              <c:strCache>
                <c:ptCount val="101"/>
                <c:pt idx="0">
                  <c:v>1970</c:v>
                </c:pt>
                <c:pt idx="1">
                  <c:v>1971</c:v>
                </c:pt>
                <c:pt idx="2">
                  <c:v>1972</c:v>
                </c:pt>
                <c:pt idx="3">
                  <c:v>1973</c:v>
                </c:pt>
                <c:pt idx="4">
                  <c:v>1974</c:v>
                </c:pt>
                <c:pt idx="5">
                  <c:v>1975</c:v>
                </c:pt>
                <c:pt idx="6">
                  <c:v>1976</c:v>
                </c:pt>
                <c:pt idx="7">
                  <c:v>1977</c:v>
                </c:pt>
                <c:pt idx="8">
                  <c:v>1978</c:v>
                </c:pt>
                <c:pt idx="9">
                  <c:v>1979</c:v>
                </c:pt>
                <c:pt idx="10">
                  <c:v>1980</c:v>
                </c:pt>
                <c:pt idx="11">
                  <c:v>1981</c:v>
                </c:pt>
                <c:pt idx="12">
                  <c:v>1982</c:v>
                </c:pt>
                <c:pt idx="13">
                  <c:v>1983</c:v>
                </c:pt>
                <c:pt idx="14">
                  <c:v>1984</c:v>
                </c:pt>
                <c:pt idx="15">
                  <c:v>1985</c:v>
                </c:pt>
                <c:pt idx="16">
                  <c:v>1986</c:v>
                </c:pt>
                <c:pt idx="17">
                  <c:v>1987</c:v>
                </c:pt>
                <c:pt idx="18">
                  <c:v>1988</c:v>
                </c:pt>
                <c:pt idx="19">
                  <c:v>1989</c:v>
                </c:pt>
                <c:pt idx="20">
                  <c:v>1990</c:v>
                </c:pt>
                <c:pt idx="21">
                  <c:v>1991</c:v>
                </c:pt>
                <c:pt idx="22">
                  <c:v>1992</c:v>
                </c:pt>
                <c:pt idx="23">
                  <c:v>1993</c:v>
                </c:pt>
                <c:pt idx="24">
                  <c:v>1994</c:v>
                </c:pt>
                <c:pt idx="25">
                  <c:v>1995</c:v>
                </c:pt>
                <c:pt idx="26">
                  <c:v>1996</c:v>
                </c:pt>
                <c:pt idx="27">
                  <c:v>1997</c:v>
                </c:pt>
                <c:pt idx="28">
                  <c:v>1998</c:v>
                </c:pt>
                <c:pt idx="29">
                  <c:v>1999</c:v>
                </c:pt>
                <c:pt idx="30">
                  <c:v>2000</c:v>
                </c:pt>
                <c:pt idx="31">
                  <c:v>2001</c:v>
                </c:pt>
                <c:pt idx="32">
                  <c:v>2002</c:v>
                </c:pt>
                <c:pt idx="33">
                  <c:v>2003</c:v>
                </c:pt>
                <c:pt idx="34">
                  <c:v>2004</c:v>
                </c:pt>
                <c:pt idx="35">
                  <c:v>2005</c:v>
                </c:pt>
                <c:pt idx="36">
                  <c:v>2006</c:v>
                </c:pt>
                <c:pt idx="37">
                  <c:v>2007</c:v>
                </c:pt>
                <c:pt idx="38">
                  <c:v>2008</c:v>
                </c:pt>
                <c:pt idx="39">
                  <c:v>2009</c:v>
                </c:pt>
                <c:pt idx="40">
                  <c:v>2010</c:v>
                </c:pt>
                <c:pt idx="41">
                  <c:v>2011</c:v>
                </c:pt>
                <c:pt idx="42">
                  <c:v>2012</c:v>
                </c:pt>
                <c:pt idx="43">
                  <c:v>2013</c:v>
                </c:pt>
                <c:pt idx="44">
                  <c:v>2014</c:v>
                </c:pt>
                <c:pt idx="45">
                  <c:v>2015</c:v>
                </c:pt>
                <c:pt idx="46">
                  <c:v>2016</c:v>
                </c:pt>
                <c:pt idx="47">
                  <c:v>2017</c:v>
                </c:pt>
                <c:pt idx="48">
                  <c:v>2018</c:v>
                </c:pt>
                <c:pt idx="49">
                  <c:v>2019</c:v>
                </c:pt>
                <c:pt idx="50">
                  <c:v>2020p</c:v>
                </c:pt>
                <c:pt idx="51">
                  <c:v>2021p</c:v>
                </c:pt>
                <c:pt idx="52">
                  <c:v>2022</c:v>
                </c:pt>
                <c:pt idx="53">
                  <c:v>2023</c:v>
                </c:pt>
                <c:pt idx="54">
                  <c:v>2024</c:v>
                </c:pt>
                <c:pt idx="55">
                  <c:v>2025</c:v>
                </c:pt>
                <c:pt idx="56">
                  <c:v>2026</c:v>
                </c:pt>
                <c:pt idx="57">
                  <c:v>2027</c:v>
                </c:pt>
                <c:pt idx="58">
                  <c:v>2028</c:v>
                </c:pt>
                <c:pt idx="59">
                  <c:v>2029</c:v>
                </c:pt>
                <c:pt idx="60">
                  <c:v>2030</c:v>
                </c:pt>
                <c:pt idx="61">
                  <c:v>2031</c:v>
                </c:pt>
                <c:pt idx="62">
                  <c:v>2032</c:v>
                </c:pt>
                <c:pt idx="63">
                  <c:v>2033</c:v>
                </c:pt>
                <c:pt idx="64">
                  <c:v>2034</c:v>
                </c:pt>
                <c:pt idx="65">
                  <c:v>2035</c:v>
                </c:pt>
                <c:pt idx="66">
                  <c:v>2036</c:v>
                </c:pt>
                <c:pt idx="67">
                  <c:v>2037</c:v>
                </c:pt>
                <c:pt idx="68">
                  <c:v>2038</c:v>
                </c:pt>
                <c:pt idx="69">
                  <c:v>2039</c:v>
                </c:pt>
                <c:pt idx="70">
                  <c:v>2040</c:v>
                </c:pt>
                <c:pt idx="71">
                  <c:v>2041</c:v>
                </c:pt>
                <c:pt idx="72">
                  <c:v>2042</c:v>
                </c:pt>
                <c:pt idx="73">
                  <c:v>2043</c:v>
                </c:pt>
                <c:pt idx="74">
                  <c:v>2044</c:v>
                </c:pt>
                <c:pt idx="75">
                  <c:v>2045</c:v>
                </c:pt>
                <c:pt idx="76">
                  <c:v>2046</c:v>
                </c:pt>
                <c:pt idx="77">
                  <c:v>2047</c:v>
                </c:pt>
                <c:pt idx="78">
                  <c:v>2048</c:v>
                </c:pt>
                <c:pt idx="79">
                  <c:v>2049</c:v>
                </c:pt>
                <c:pt idx="80">
                  <c:v>2050</c:v>
                </c:pt>
                <c:pt idx="81">
                  <c:v>2051</c:v>
                </c:pt>
                <c:pt idx="82">
                  <c:v>2052</c:v>
                </c:pt>
                <c:pt idx="83">
                  <c:v>2053</c:v>
                </c:pt>
                <c:pt idx="84">
                  <c:v>2054</c:v>
                </c:pt>
                <c:pt idx="85">
                  <c:v>2055</c:v>
                </c:pt>
                <c:pt idx="86">
                  <c:v>2056</c:v>
                </c:pt>
                <c:pt idx="87">
                  <c:v>2057</c:v>
                </c:pt>
                <c:pt idx="88">
                  <c:v>2058</c:v>
                </c:pt>
                <c:pt idx="89">
                  <c:v>2059</c:v>
                </c:pt>
                <c:pt idx="90">
                  <c:v>2060</c:v>
                </c:pt>
                <c:pt idx="91">
                  <c:v>2061</c:v>
                </c:pt>
                <c:pt idx="92">
                  <c:v>2062</c:v>
                </c:pt>
                <c:pt idx="93">
                  <c:v>2063</c:v>
                </c:pt>
                <c:pt idx="94">
                  <c:v>2064</c:v>
                </c:pt>
                <c:pt idx="95">
                  <c:v>2065</c:v>
                </c:pt>
                <c:pt idx="96">
                  <c:v>2066</c:v>
                </c:pt>
                <c:pt idx="97">
                  <c:v>2067</c:v>
                </c:pt>
                <c:pt idx="98">
                  <c:v>2068</c:v>
                </c:pt>
                <c:pt idx="99">
                  <c:v>2069</c:v>
                </c:pt>
                <c:pt idx="100">
                  <c:v>2070</c:v>
                </c:pt>
              </c:strCache>
            </c:strRef>
          </c:cat>
          <c:val>
            <c:numRef>
              <c:f>'Niveau de vie relatif'!$D$5:$CZ$5</c:f>
              <c:numCache>
                <c:formatCode>General</c:formatCode>
                <c:ptCount val="101"/>
                <c:pt idx="0" formatCode="0.0%">
                  <c:v>0.70516923995422809</c:v>
                </c:pt>
                <c:pt idx="5" formatCode="0.0%">
                  <c:v>0.76065453497360114</c:v>
                </c:pt>
                <c:pt idx="9" formatCode="0.0%">
                  <c:v>0.80036249451640462</c:v>
                </c:pt>
                <c:pt idx="14" formatCode="0.0%">
                  <c:v>0.85056929192211816</c:v>
                </c:pt>
                <c:pt idx="20" formatCode="0.0%">
                  <c:v>0.89143062712276877</c:v>
                </c:pt>
                <c:pt idx="26" formatCode="0.0%">
                  <c:v>1.0234449760765549</c:v>
                </c:pt>
                <c:pt idx="27" formatCode="0.0%">
                  <c:v>1.0216703574818096</c:v>
                </c:pt>
                <c:pt idx="28" formatCode="0.0%">
                  <c:v>1.0271739130434783</c:v>
                </c:pt>
                <c:pt idx="29" formatCode="0.0%">
                  <c:v>1.0304499318285107</c:v>
                </c:pt>
                <c:pt idx="30" formatCode="0.0%">
                  <c:v>1.0304328556655342</c:v>
                </c:pt>
                <c:pt idx="31" formatCode="0.0%">
                  <c:v>1.0191891501947772</c:v>
                </c:pt>
                <c:pt idx="32" formatCode="0.0%">
                  <c:v>1.0150825270347181</c:v>
                </c:pt>
                <c:pt idx="33" formatCode="0.0%">
                  <c:v>1.0141522785168413</c:v>
                </c:pt>
                <c:pt idx="34" formatCode="0.0%">
                  <c:v>1.0168150346191889</c:v>
                </c:pt>
                <c:pt idx="35" formatCode="0.0%">
                  <c:v>1.0241552638927673</c:v>
                </c:pt>
                <c:pt idx="36" formatCode="0.0%">
                  <c:v>1.0259294827822745</c:v>
                </c:pt>
                <c:pt idx="37" formatCode="0.0%">
                  <c:v>1.0262202501008471</c:v>
                </c:pt>
                <c:pt idx="38" formatCode="0.0%">
                  <c:v>1.0197980334839223</c:v>
                </c:pt>
                <c:pt idx="39" formatCode="0.0%">
                  <c:v>1.020424298326525</c:v>
                </c:pt>
                <c:pt idx="40" formatCode="0.0%">
                  <c:v>1.0211563731931665</c:v>
                </c:pt>
                <c:pt idx="41" formatCode="0.0%">
                  <c:v>1.0254047650388312</c:v>
                </c:pt>
                <c:pt idx="42" formatCode="0.0%">
                  <c:v>1.0523747172197859</c:v>
                </c:pt>
                <c:pt idx="43" formatCode="0.0%">
                  <c:v>1.0594151866191446</c:v>
                </c:pt>
                <c:pt idx="44" formatCode="0.0%">
                  <c:v>1.0615518711938121</c:v>
                </c:pt>
                <c:pt idx="45" formatCode="0.0%">
                  <c:v>1.0564171122994652</c:v>
                </c:pt>
                <c:pt idx="46" formatCode="0.0%">
                  <c:v>1.0518617021276595</c:v>
                </c:pt>
                <c:pt idx="47" formatCode="0.0%">
                  <c:v>1.0503683057933508</c:v>
                </c:pt>
                <c:pt idx="48" formatCode="0.0%">
                  <c:v>1.0145268943855517</c:v>
                </c:pt>
                <c:pt idx="49" formatCode="0.0%">
                  <c:v>1.0155520995334368</c:v>
                </c:pt>
                <c:pt idx="50" formatCode="0.0%">
                  <c:v>0.99427480916030531</c:v>
                </c:pt>
                <c:pt idx="51" formatCode="0.0%">
                  <c:v>0.98684704998121009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8-1D57-0043-9C47-5939AD0FE1FB}"/>
            </c:ext>
          </c:extLst>
        </c:ser>
        <c:ser>
          <c:idx val="2"/>
          <c:order val="1"/>
          <c:tx>
            <c:strRef>
              <c:f>'Niveau de vie relatif'!$C$6</c:f>
              <c:strCache>
                <c:ptCount val="1"/>
                <c:pt idx="0">
                  <c:v>Scénario de référence</c:v>
                </c:pt>
              </c:strCache>
            </c:strRef>
          </c:tx>
          <c:spPr>
            <a:ln w="38100">
              <a:solidFill>
                <a:srgbClr val="CA2E4D"/>
              </a:solidFill>
            </a:ln>
          </c:spPr>
          <c:marker>
            <c:symbol val="none"/>
          </c:marker>
          <c:dLbls>
            <c:dLbl>
              <c:idx val="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9-1D57-0043-9C47-5939AD0FE1FB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A-1D57-0043-9C47-5939AD0FE1FB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B-1D57-0043-9C47-5939AD0FE1FB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C-1D57-0043-9C47-5939AD0FE1FB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D-1D57-0043-9C47-5939AD0FE1FB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E-1D57-0043-9C47-5939AD0FE1FB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F-1D57-0043-9C47-5939AD0FE1FB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0-1D57-0043-9C47-5939AD0FE1FB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1-1D57-0043-9C47-5939AD0FE1FB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2-1D57-0043-9C47-5939AD0FE1FB}"/>
                </c:ext>
              </c:extLst>
            </c:dLbl>
            <c:dLbl>
              <c:idx val="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3-1D57-0043-9C47-5939AD0FE1FB}"/>
                </c:ext>
              </c:extLst>
            </c:dLbl>
            <c:dLbl>
              <c:idx val="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4-1D57-0043-9C47-5939AD0FE1FB}"/>
                </c:ext>
              </c:extLst>
            </c:dLbl>
            <c:dLbl>
              <c:idx val="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5-1D57-0043-9C47-5939AD0FE1FB}"/>
                </c:ext>
              </c:extLst>
            </c:dLbl>
            <c:dLbl>
              <c:idx val="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6-1D57-0043-9C47-5939AD0FE1FB}"/>
                </c:ext>
              </c:extLst>
            </c:dLbl>
            <c:dLbl>
              <c:idx val="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7-1D57-0043-9C47-5939AD0FE1FB}"/>
                </c:ext>
              </c:extLst>
            </c:dLbl>
            <c:dLbl>
              <c:idx val="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8-1D57-0043-9C47-5939AD0FE1FB}"/>
                </c:ext>
              </c:extLst>
            </c:dLbl>
            <c:dLbl>
              <c:idx val="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9-1D57-0043-9C47-5939AD0FE1FB}"/>
                </c:ext>
              </c:extLst>
            </c:dLbl>
            <c:dLbl>
              <c:idx val="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A-1D57-0043-9C47-5939AD0FE1FB}"/>
                </c:ext>
              </c:extLst>
            </c:dLbl>
            <c:dLbl>
              <c:idx val="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B-1D57-0043-9C47-5939AD0FE1FB}"/>
                </c:ext>
              </c:extLst>
            </c:dLbl>
            <c:dLbl>
              <c:idx val="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C-1D57-0043-9C47-5939AD0FE1FB}"/>
                </c:ext>
              </c:extLst>
            </c:dLbl>
            <c:dLbl>
              <c:idx val="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D-1D57-0043-9C47-5939AD0FE1FB}"/>
                </c:ext>
              </c:extLst>
            </c:dLbl>
            <c:dLbl>
              <c:idx val="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E-1D57-0043-9C47-5939AD0FE1FB}"/>
                </c:ext>
              </c:extLst>
            </c:dLbl>
            <c:dLbl>
              <c:idx val="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F-1D57-0043-9C47-5939AD0FE1FB}"/>
                </c:ext>
              </c:extLst>
            </c:dLbl>
            <c:dLbl>
              <c:idx val="2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0-1D57-0043-9C47-5939AD0FE1FB}"/>
                </c:ext>
              </c:extLst>
            </c:dLbl>
            <c:dLbl>
              <c:idx val="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1-1D57-0043-9C47-5939AD0FE1FB}"/>
                </c:ext>
              </c:extLst>
            </c:dLbl>
            <c:dLbl>
              <c:idx val="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2-1D57-0043-9C47-5939AD0FE1FB}"/>
                </c:ext>
              </c:extLst>
            </c:dLbl>
            <c:dLbl>
              <c:idx val="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3-1D57-0043-9C47-5939AD0FE1FB}"/>
                </c:ext>
              </c:extLst>
            </c:dLbl>
            <c:dLbl>
              <c:idx val="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4-1D57-0043-9C47-5939AD0FE1FB}"/>
                </c:ext>
              </c:extLst>
            </c:dLbl>
            <c:dLbl>
              <c:idx val="2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5-1D57-0043-9C47-5939AD0FE1FB}"/>
                </c:ext>
              </c:extLst>
            </c:dLbl>
            <c:dLbl>
              <c:idx val="2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6-1D57-0043-9C47-5939AD0FE1FB}"/>
                </c:ext>
              </c:extLst>
            </c:dLbl>
            <c:dLbl>
              <c:idx val="3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7-1D57-0043-9C47-5939AD0FE1FB}"/>
                </c:ext>
              </c:extLst>
            </c:dLbl>
            <c:dLbl>
              <c:idx val="3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8-1D57-0043-9C47-5939AD0FE1FB}"/>
                </c:ext>
              </c:extLst>
            </c:dLbl>
            <c:dLbl>
              <c:idx val="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9-1D57-0043-9C47-5939AD0FE1FB}"/>
                </c:ext>
              </c:extLst>
            </c:dLbl>
            <c:dLbl>
              <c:idx val="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A-1D57-0043-9C47-5939AD0FE1FB}"/>
                </c:ext>
              </c:extLst>
            </c:dLbl>
            <c:dLbl>
              <c:idx val="3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B-1D57-0043-9C47-5939AD0FE1FB}"/>
                </c:ext>
              </c:extLst>
            </c:dLbl>
            <c:dLbl>
              <c:idx val="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C-1D57-0043-9C47-5939AD0FE1FB}"/>
                </c:ext>
              </c:extLst>
            </c:dLbl>
            <c:dLbl>
              <c:idx val="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D-1D57-0043-9C47-5939AD0FE1FB}"/>
                </c:ext>
              </c:extLst>
            </c:dLbl>
            <c:dLbl>
              <c:idx val="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E-1D57-0043-9C47-5939AD0FE1FB}"/>
                </c:ext>
              </c:extLst>
            </c:dLbl>
            <c:dLbl>
              <c:idx val="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F-1D57-0043-9C47-5939AD0FE1FB}"/>
                </c:ext>
              </c:extLst>
            </c:dLbl>
            <c:dLbl>
              <c:idx val="3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0-1D57-0043-9C47-5939AD0FE1FB}"/>
                </c:ext>
              </c:extLst>
            </c:dLbl>
            <c:dLbl>
              <c:idx val="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1-1D57-0043-9C47-5939AD0FE1FB}"/>
                </c:ext>
              </c:extLst>
            </c:dLbl>
            <c:dLbl>
              <c:idx val="4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2-1D57-0043-9C47-5939AD0FE1FB}"/>
                </c:ext>
              </c:extLst>
            </c:dLbl>
            <c:dLbl>
              <c:idx val="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3-1D57-0043-9C47-5939AD0FE1FB}"/>
                </c:ext>
              </c:extLst>
            </c:dLbl>
            <c:dLbl>
              <c:idx val="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4-1D57-0043-9C47-5939AD0FE1FB}"/>
                </c:ext>
              </c:extLst>
            </c:dLbl>
            <c:dLbl>
              <c:idx val="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5-1D57-0043-9C47-5939AD0FE1FB}"/>
                </c:ext>
              </c:extLst>
            </c:dLbl>
            <c:dLbl>
              <c:idx val="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6-1D57-0043-9C47-5939AD0FE1FB}"/>
                </c:ext>
              </c:extLst>
            </c:dLbl>
            <c:dLbl>
              <c:idx val="4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7-1D57-0043-9C47-5939AD0FE1FB}"/>
                </c:ext>
              </c:extLst>
            </c:dLbl>
            <c:dLbl>
              <c:idx val="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8-1D57-0043-9C47-5939AD0FE1FB}"/>
                </c:ext>
              </c:extLst>
            </c:dLbl>
            <c:dLbl>
              <c:idx val="4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9-1D57-0043-9C47-5939AD0FE1FB}"/>
                </c:ext>
              </c:extLst>
            </c:dLbl>
            <c:dLbl>
              <c:idx val="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A-1D57-0043-9C47-5939AD0FE1FB}"/>
                </c:ext>
              </c:extLst>
            </c:dLbl>
            <c:dLbl>
              <c:idx val="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B-1D57-0043-9C47-5939AD0FE1FB}"/>
                </c:ext>
              </c:extLst>
            </c:dLbl>
            <c:dLbl>
              <c:idx val="51"/>
              <c:layout>
                <c:manualLayout>
                  <c:x val="-2.2439455603312831E-2"/>
                  <c:y val="4.7849774314843982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200" b="1">
                        <a:solidFill>
                          <a:srgbClr val="CA2E4D"/>
                        </a:solidFill>
                        <a:latin typeface="Questrial" pitchFamily="2" charset="77"/>
                        <a:ea typeface="Questrial" pitchFamily="2" charset="77"/>
                        <a:cs typeface="Questrial" pitchFamily="2" charset="77"/>
                      </a:defRPr>
                    </a:pPr>
                    <a:r>
                      <a:rPr lang="en-US" sz="1200" dirty="0">
                        <a:solidFill>
                          <a:srgbClr val="CA2E4D"/>
                        </a:solidFill>
                        <a:latin typeface="Questrial" pitchFamily="2" charset="77"/>
                        <a:ea typeface="Questrial" pitchFamily="2" charset="77"/>
                        <a:cs typeface="Questrial" pitchFamily="2" charset="77"/>
                      </a:rPr>
                      <a:t>99%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showLegendKey val="0"/>
              <c:showVal val="0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4C-1D57-0043-9C47-5939AD0FE1FB}"/>
                </c:ext>
              </c:extLst>
            </c:dLbl>
            <c:dLbl>
              <c:idx val="52"/>
              <c:tx>
                <c:rich>
                  <a:bodyPr/>
                  <a:lstStyle/>
                  <a:p>
                    <a:fld id="{E51D5E2B-7C21-C247-B017-04D9087A2E8F}" type="CELLRANGE">
                      <a:rPr lang="en-US"/>
                      <a:pPr/>
                      <a:t>[CELLRANGE]</a:t>
                    </a:fld>
                    <a:endParaRPr lang="en-FR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4D-1D57-0043-9C47-5939AD0FE1FB}"/>
                </c:ext>
              </c:extLst>
            </c:dLbl>
            <c:dLbl>
              <c:idx val="53"/>
              <c:tx>
                <c:rich>
                  <a:bodyPr/>
                  <a:lstStyle/>
                  <a:p>
                    <a:fld id="{3B3B67C3-1215-3A49-936F-95725660AEC4}" type="CELLRANGE">
                      <a:rPr lang="en-FR"/>
                      <a:pPr/>
                      <a:t>[CELLRANGE]</a:t>
                    </a:fld>
                    <a:endParaRPr lang="en-FR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4E-1D57-0043-9C47-5939AD0FE1FB}"/>
                </c:ext>
              </c:extLst>
            </c:dLbl>
            <c:dLbl>
              <c:idx val="54"/>
              <c:tx>
                <c:rich>
                  <a:bodyPr/>
                  <a:lstStyle/>
                  <a:p>
                    <a:fld id="{11DF1C61-EDB1-FA44-A11E-B4ABD2F8B92A}" type="CELLRANGE">
                      <a:rPr lang="en-FR"/>
                      <a:pPr/>
                      <a:t>[CELLRANGE]</a:t>
                    </a:fld>
                    <a:endParaRPr lang="en-FR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4F-1D57-0043-9C47-5939AD0FE1FB}"/>
                </c:ext>
              </c:extLst>
            </c:dLbl>
            <c:dLbl>
              <c:idx val="55"/>
              <c:tx>
                <c:rich>
                  <a:bodyPr/>
                  <a:lstStyle/>
                  <a:p>
                    <a:fld id="{04043501-26D8-6846-B551-50FBAF47C687}" type="CELLRANGE">
                      <a:rPr lang="en-FR"/>
                      <a:pPr/>
                      <a:t>[CELLRANGE]</a:t>
                    </a:fld>
                    <a:endParaRPr lang="en-FR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50-1D57-0043-9C47-5939AD0FE1FB}"/>
                </c:ext>
              </c:extLst>
            </c:dLbl>
            <c:dLbl>
              <c:idx val="56"/>
              <c:tx>
                <c:rich>
                  <a:bodyPr/>
                  <a:lstStyle/>
                  <a:p>
                    <a:fld id="{0CBF06E2-AD05-3043-A656-E610785E59F1}" type="CELLRANGE">
                      <a:rPr lang="en-FR"/>
                      <a:pPr/>
                      <a:t>[CELLRANGE]</a:t>
                    </a:fld>
                    <a:endParaRPr lang="en-FR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51-1D57-0043-9C47-5939AD0FE1FB}"/>
                </c:ext>
              </c:extLst>
            </c:dLbl>
            <c:dLbl>
              <c:idx val="57"/>
              <c:tx>
                <c:rich>
                  <a:bodyPr/>
                  <a:lstStyle/>
                  <a:p>
                    <a:fld id="{1D25D6AA-B434-2845-8328-D2E8B57178EB}" type="CELLRANGE">
                      <a:rPr lang="en-FR"/>
                      <a:pPr/>
                      <a:t>[CELLRANGE]</a:t>
                    </a:fld>
                    <a:endParaRPr lang="en-FR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52-1D57-0043-9C47-5939AD0FE1FB}"/>
                </c:ext>
              </c:extLst>
            </c:dLbl>
            <c:dLbl>
              <c:idx val="58"/>
              <c:tx>
                <c:rich>
                  <a:bodyPr/>
                  <a:lstStyle/>
                  <a:p>
                    <a:fld id="{993D1939-0038-8B4F-8F85-C13BBB2C104D}" type="CELLRANGE">
                      <a:rPr lang="en-FR"/>
                      <a:pPr/>
                      <a:t>[CELLRANGE]</a:t>
                    </a:fld>
                    <a:endParaRPr lang="en-FR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53-1D57-0043-9C47-5939AD0FE1FB}"/>
                </c:ext>
              </c:extLst>
            </c:dLbl>
            <c:dLbl>
              <c:idx val="59"/>
              <c:tx>
                <c:rich>
                  <a:bodyPr/>
                  <a:lstStyle/>
                  <a:p>
                    <a:fld id="{DC61E4FF-61DA-284B-9ECA-44E3CAE034ED}" type="CELLRANGE">
                      <a:rPr lang="en-FR"/>
                      <a:pPr/>
                      <a:t>[CELLRANGE]</a:t>
                    </a:fld>
                    <a:endParaRPr lang="en-FR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54-1D57-0043-9C47-5939AD0FE1FB}"/>
                </c:ext>
              </c:extLst>
            </c:dLbl>
            <c:dLbl>
              <c:idx val="60"/>
              <c:tx>
                <c:rich>
                  <a:bodyPr/>
                  <a:lstStyle/>
                  <a:p>
                    <a:fld id="{EB79037E-DA1C-3A43-8D57-5D84CB7F43B1}" type="CELLRANGE">
                      <a:rPr lang="en-FR"/>
                      <a:pPr/>
                      <a:t>[CELLRANGE]</a:t>
                    </a:fld>
                    <a:endParaRPr lang="en-FR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55-1D57-0043-9C47-5939AD0FE1FB}"/>
                </c:ext>
              </c:extLst>
            </c:dLbl>
            <c:dLbl>
              <c:idx val="61"/>
              <c:tx>
                <c:rich>
                  <a:bodyPr/>
                  <a:lstStyle/>
                  <a:p>
                    <a:fld id="{7B5630EB-D148-FA42-9A28-697D7495711E}" type="CELLRANGE">
                      <a:rPr lang="en-FR"/>
                      <a:pPr/>
                      <a:t>[CELLRANGE]</a:t>
                    </a:fld>
                    <a:endParaRPr lang="en-FR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56-1D57-0043-9C47-5939AD0FE1FB}"/>
                </c:ext>
              </c:extLst>
            </c:dLbl>
            <c:dLbl>
              <c:idx val="62"/>
              <c:tx>
                <c:rich>
                  <a:bodyPr/>
                  <a:lstStyle/>
                  <a:p>
                    <a:fld id="{0D9BD365-E6ED-3345-A88D-E3C2D28822F5}" type="CELLRANGE">
                      <a:rPr lang="en-FR"/>
                      <a:pPr/>
                      <a:t>[CELLRANGE]</a:t>
                    </a:fld>
                    <a:endParaRPr lang="en-FR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57-1D57-0043-9C47-5939AD0FE1FB}"/>
                </c:ext>
              </c:extLst>
            </c:dLbl>
            <c:dLbl>
              <c:idx val="63"/>
              <c:tx>
                <c:rich>
                  <a:bodyPr/>
                  <a:lstStyle/>
                  <a:p>
                    <a:fld id="{EA12CE00-6023-1748-B780-51DD9CE6F2D2}" type="CELLRANGE">
                      <a:rPr lang="en-FR"/>
                      <a:pPr/>
                      <a:t>[CELLRANGE]</a:t>
                    </a:fld>
                    <a:endParaRPr lang="en-FR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58-1D57-0043-9C47-5939AD0FE1FB}"/>
                </c:ext>
              </c:extLst>
            </c:dLbl>
            <c:dLbl>
              <c:idx val="64"/>
              <c:tx>
                <c:rich>
                  <a:bodyPr/>
                  <a:lstStyle/>
                  <a:p>
                    <a:fld id="{43BCFD09-72C1-5640-BAFF-6BE532225548}" type="CELLRANGE">
                      <a:rPr lang="en-FR"/>
                      <a:pPr/>
                      <a:t>[CELLRANGE]</a:t>
                    </a:fld>
                    <a:endParaRPr lang="en-FR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59-1D57-0043-9C47-5939AD0FE1FB}"/>
                </c:ext>
              </c:extLst>
            </c:dLbl>
            <c:dLbl>
              <c:idx val="65"/>
              <c:tx>
                <c:rich>
                  <a:bodyPr/>
                  <a:lstStyle/>
                  <a:p>
                    <a:fld id="{8A0A72A0-5282-A747-85AA-DFE119277D77}" type="CELLRANGE">
                      <a:rPr lang="en-FR"/>
                      <a:pPr/>
                      <a:t>[CELLRANGE]</a:t>
                    </a:fld>
                    <a:endParaRPr lang="en-FR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5A-1D57-0043-9C47-5939AD0FE1FB}"/>
                </c:ext>
              </c:extLst>
            </c:dLbl>
            <c:dLbl>
              <c:idx val="66"/>
              <c:tx>
                <c:rich>
                  <a:bodyPr/>
                  <a:lstStyle/>
                  <a:p>
                    <a:fld id="{B50EEBA7-ADBC-F64E-B5C8-E1030B68398F}" type="CELLRANGE">
                      <a:rPr lang="en-FR"/>
                      <a:pPr/>
                      <a:t>[CELLRANGE]</a:t>
                    </a:fld>
                    <a:endParaRPr lang="en-FR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5B-1D57-0043-9C47-5939AD0FE1FB}"/>
                </c:ext>
              </c:extLst>
            </c:dLbl>
            <c:dLbl>
              <c:idx val="67"/>
              <c:tx>
                <c:rich>
                  <a:bodyPr/>
                  <a:lstStyle/>
                  <a:p>
                    <a:fld id="{35B111C1-1E5B-B74A-A387-D7515CA48A1F}" type="CELLRANGE">
                      <a:rPr lang="en-FR"/>
                      <a:pPr/>
                      <a:t>[CELLRANGE]</a:t>
                    </a:fld>
                    <a:endParaRPr lang="en-FR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5C-1D57-0043-9C47-5939AD0FE1FB}"/>
                </c:ext>
              </c:extLst>
            </c:dLbl>
            <c:dLbl>
              <c:idx val="68"/>
              <c:tx>
                <c:rich>
                  <a:bodyPr/>
                  <a:lstStyle/>
                  <a:p>
                    <a:fld id="{333F7EC4-A7AA-9B41-9DC8-045CD3F4B001}" type="CELLRANGE">
                      <a:rPr lang="en-FR"/>
                      <a:pPr/>
                      <a:t>[CELLRANGE]</a:t>
                    </a:fld>
                    <a:endParaRPr lang="en-FR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5D-1D57-0043-9C47-5939AD0FE1FB}"/>
                </c:ext>
              </c:extLst>
            </c:dLbl>
            <c:dLbl>
              <c:idx val="69"/>
              <c:tx>
                <c:rich>
                  <a:bodyPr/>
                  <a:lstStyle/>
                  <a:p>
                    <a:fld id="{11F2058F-126C-C143-AA1D-0C9A5F721021}" type="CELLRANGE">
                      <a:rPr lang="en-FR"/>
                      <a:pPr/>
                      <a:t>[CELLRANGE]</a:t>
                    </a:fld>
                    <a:endParaRPr lang="en-FR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5E-1D57-0043-9C47-5939AD0FE1FB}"/>
                </c:ext>
              </c:extLst>
            </c:dLbl>
            <c:dLbl>
              <c:idx val="70"/>
              <c:tx>
                <c:rich>
                  <a:bodyPr/>
                  <a:lstStyle/>
                  <a:p>
                    <a:fld id="{5873AF2D-A902-1F4E-A6DD-57FF99B7711C}" type="CELLRANGE">
                      <a:rPr lang="en-FR"/>
                      <a:pPr/>
                      <a:t>[CELLRANGE]</a:t>
                    </a:fld>
                    <a:endParaRPr lang="en-FR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5F-1D57-0043-9C47-5939AD0FE1FB}"/>
                </c:ext>
              </c:extLst>
            </c:dLbl>
            <c:dLbl>
              <c:idx val="71"/>
              <c:tx>
                <c:rich>
                  <a:bodyPr/>
                  <a:lstStyle/>
                  <a:p>
                    <a:fld id="{6B3727F2-F33B-B545-BB8B-28D653FBE964}" type="CELLRANGE">
                      <a:rPr lang="en-FR"/>
                      <a:pPr/>
                      <a:t>[CELLRANGE]</a:t>
                    </a:fld>
                    <a:endParaRPr lang="en-FR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60-1D57-0043-9C47-5939AD0FE1FB}"/>
                </c:ext>
              </c:extLst>
            </c:dLbl>
            <c:dLbl>
              <c:idx val="72"/>
              <c:tx>
                <c:rich>
                  <a:bodyPr/>
                  <a:lstStyle/>
                  <a:p>
                    <a:fld id="{EE927BDD-F93D-6644-BCD2-6536D2F82803}" type="CELLRANGE">
                      <a:rPr lang="en-FR"/>
                      <a:pPr/>
                      <a:t>[CELLRANGE]</a:t>
                    </a:fld>
                    <a:endParaRPr lang="en-FR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61-1D57-0043-9C47-5939AD0FE1FB}"/>
                </c:ext>
              </c:extLst>
            </c:dLbl>
            <c:dLbl>
              <c:idx val="73"/>
              <c:tx>
                <c:rich>
                  <a:bodyPr/>
                  <a:lstStyle/>
                  <a:p>
                    <a:fld id="{8953B154-2E36-544D-A420-DCF66A020928}" type="CELLRANGE">
                      <a:rPr lang="en-FR"/>
                      <a:pPr/>
                      <a:t>[CELLRANGE]</a:t>
                    </a:fld>
                    <a:endParaRPr lang="en-FR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62-1D57-0043-9C47-5939AD0FE1FB}"/>
                </c:ext>
              </c:extLst>
            </c:dLbl>
            <c:dLbl>
              <c:idx val="74"/>
              <c:tx>
                <c:rich>
                  <a:bodyPr/>
                  <a:lstStyle/>
                  <a:p>
                    <a:fld id="{A803A029-2618-1D43-B7FD-460C3A0CACBA}" type="CELLRANGE">
                      <a:rPr lang="en-FR"/>
                      <a:pPr/>
                      <a:t>[CELLRANGE]</a:t>
                    </a:fld>
                    <a:endParaRPr lang="en-FR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63-1D57-0043-9C47-5939AD0FE1FB}"/>
                </c:ext>
              </c:extLst>
            </c:dLbl>
            <c:dLbl>
              <c:idx val="75"/>
              <c:tx>
                <c:rich>
                  <a:bodyPr/>
                  <a:lstStyle/>
                  <a:p>
                    <a:fld id="{B27C0950-105C-ED43-B069-E0A22EA6B193}" type="CELLRANGE">
                      <a:rPr lang="en-FR"/>
                      <a:pPr/>
                      <a:t>[CELLRANGE]</a:t>
                    </a:fld>
                    <a:endParaRPr lang="en-FR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64-1D57-0043-9C47-5939AD0FE1FB}"/>
                </c:ext>
              </c:extLst>
            </c:dLbl>
            <c:dLbl>
              <c:idx val="76"/>
              <c:tx>
                <c:rich>
                  <a:bodyPr/>
                  <a:lstStyle/>
                  <a:p>
                    <a:fld id="{4DF79E2E-BB67-274D-9016-5DE36FA8F6C7}" type="CELLRANGE">
                      <a:rPr lang="en-FR"/>
                      <a:pPr/>
                      <a:t>[CELLRANGE]</a:t>
                    </a:fld>
                    <a:endParaRPr lang="en-FR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65-1D57-0043-9C47-5939AD0FE1FB}"/>
                </c:ext>
              </c:extLst>
            </c:dLbl>
            <c:dLbl>
              <c:idx val="77"/>
              <c:tx>
                <c:rich>
                  <a:bodyPr/>
                  <a:lstStyle/>
                  <a:p>
                    <a:fld id="{1116D9BD-39E1-6743-9E38-78270A21C69F}" type="CELLRANGE">
                      <a:rPr lang="en-FR"/>
                      <a:pPr/>
                      <a:t>[CELLRANGE]</a:t>
                    </a:fld>
                    <a:endParaRPr lang="en-FR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66-1D57-0043-9C47-5939AD0FE1FB}"/>
                </c:ext>
              </c:extLst>
            </c:dLbl>
            <c:dLbl>
              <c:idx val="78"/>
              <c:tx>
                <c:rich>
                  <a:bodyPr/>
                  <a:lstStyle/>
                  <a:p>
                    <a:fld id="{E98F3149-820C-6540-809D-966D02718B1B}" type="CELLRANGE">
                      <a:rPr lang="en-FR"/>
                      <a:pPr/>
                      <a:t>[CELLRANGE]</a:t>
                    </a:fld>
                    <a:endParaRPr lang="en-FR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67-1D57-0043-9C47-5939AD0FE1FB}"/>
                </c:ext>
              </c:extLst>
            </c:dLbl>
            <c:dLbl>
              <c:idx val="79"/>
              <c:tx>
                <c:rich>
                  <a:bodyPr/>
                  <a:lstStyle/>
                  <a:p>
                    <a:fld id="{FC32D0BB-5953-F74F-A5FC-505B52C52814}" type="CELLRANGE">
                      <a:rPr lang="en-FR"/>
                      <a:pPr/>
                      <a:t>[CELLRANGE]</a:t>
                    </a:fld>
                    <a:endParaRPr lang="en-FR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68-1D57-0043-9C47-5939AD0FE1FB}"/>
                </c:ext>
              </c:extLst>
            </c:dLbl>
            <c:dLbl>
              <c:idx val="80"/>
              <c:tx>
                <c:rich>
                  <a:bodyPr/>
                  <a:lstStyle/>
                  <a:p>
                    <a:fld id="{853DC65F-0191-814D-B192-45AC6E9BEBBA}" type="CELLRANGE">
                      <a:rPr lang="en-FR"/>
                      <a:pPr/>
                      <a:t>[CELLRANGE]</a:t>
                    </a:fld>
                    <a:endParaRPr lang="en-FR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69-1D57-0043-9C47-5939AD0FE1FB}"/>
                </c:ext>
              </c:extLst>
            </c:dLbl>
            <c:dLbl>
              <c:idx val="81"/>
              <c:tx>
                <c:rich>
                  <a:bodyPr/>
                  <a:lstStyle/>
                  <a:p>
                    <a:fld id="{8CAFD96A-07D0-A44D-A4F0-9DAD23A70A7D}" type="CELLRANGE">
                      <a:rPr lang="en-FR"/>
                      <a:pPr/>
                      <a:t>[CELLRANGE]</a:t>
                    </a:fld>
                    <a:endParaRPr lang="en-FR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6A-1D57-0043-9C47-5939AD0FE1FB}"/>
                </c:ext>
              </c:extLst>
            </c:dLbl>
            <c:dLbl>
              <c:idx val="82"/>
              <c:tx>
                <c:rich>
                  <a:bodyPr/>
                  <a:lstStyle/>
                  <a:p>
                    <a:fld id="{E84D8CE3-86B2-9D40-A453-8C7ABC33ED7A}" type="CELLRANGE">
                      <a:rPr lang="en-FR"/>
                      <a:pPr/>
                      <a:t>[CELLRANGE]</a:t>
                    </a:fld>
                    <a:endParaRPr lang="en-FR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6B-1D57-0043-9C47-5939AD0FE1FB}"/>
                </c:ext>
              </c:extLst>
            </c:dLbl>
            <c:dLbl>
              <c:idx val="83"/>
              <c:tx>
                <c:rich>
                  <a:bodyPr/>
                  <a:lstStyle/>
                  <a:p>
                    <a:fld id="{4B6BB880-E974-654F-B0CA-752C0192A0A5}" type="CELLRANGE">
                      <a:rPr lang="en-FR"/>
                      <a:pPr/>
                      <a:t>[CELLRANGE]</a:t>
                    </a:fld>
                    <a:endParaRPr lang="en-FR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6C-1D57-0043-9C47-5939AD0FE1FB}"/>
                </c:ext>
              </c:extLst>
            </c:dLbl>
            <c:dLbl>
              <c:idx val="84"/>
              <c:tx>
                <c:rich>
                  <a:bodyPr/>
                  <a:lstStyle/>
                  <a:p>
                    <a:fld id="{31A66873-895E-F147-B474-8CD558D84035}" type="CELLRANGE">
                      <a:rPr lang="en-FR"/>
                      <a:pPr/>
                      <a:t>[CELLRANGE]</a:t>
                    </a:fld>
                    <a:endParaRPr lang="en-FR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6D-1D57-0043-9C47-5939AD0FE1FB}"/>
                </c:ext>
              </c:extLst>
            </c:dLbl>
            <c:dLbl>
              <c:idx val="85"/>
              <c:tx>
                <c:rich>
                  <a:bodyPr/>
                  <a:lstStyle/>
                  <a:p>
                    <a:fld id="{36053EAF-5185-604A-9F09-845BAD714562}" type="CELLRANGE">
                      <a:rPr lang="en-FR"/>
                      <a:pPr/>
                      <a:t>[CELLRANGE]</a:t>
                    </a:fld>
                    <a:endParaRPr lang="en-FR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6E-1D57-0043-9C47-5939AD0FE1FB}"/>
                </c:ext>
              </c:extLst>
            </c:dLbl>
            <c:dLbl>
              <c:idx val="86"/>
              <c:tx>
                <c:rich>
                  <a:bodyPr/>
                  <a:lstStyle/>
                  <a:p>
                    <a:fld id="{F3A861A7-8B01-DD4C-B3FF-FA47641873F3}" type="CELLRANGE">
                      <a:rPr lang="en-FR"/>
                      <a:pPr/>
                      <a:t>[CELLRANGE]</a:t>
                    </a:fld>
                    <a:endParaRPr lang="en-FR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6F-1D57-0043-9C47-5939AD0FE1FB}"/>
                </c:ext>
              </c:extLst>
            </c:dLbl>
            <c:dLbl>
              <c:idx val="87"/>
              <c:tx>
                <c:rich>
                  <a:bodyPr/>
                  <a:lstStyle/>
                  <a:p>
                    <a:fld id="{2E19FCF1-A5E1-8142-B832-5EFF7DAF7276}" type="CELLRANGE">
                      <a:rPr lang="en-FR"/>
                      <a:pPr/>
                      <a:t>[CELLRANGE]</a:t>
                    </a:fld>
                    <a:endParaRPr lang="en-FR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70-1D57-0043-9C47-5939AD0FE1FB}"/>
                </c:ext>
              </c:extLst>
            </c:dLbl>
            <c:dLbl>
              <c:idx val="88"/>
              <c:tx>
                <c:rich>
                  <a:bodyPr/>
                  <a:lstStyle/>
                  <a:p>
                    <a:fld id="{852DF0FA-216B-8744-B6A9-2A966ABF30BA}" type="CELLRANGE">
                      <a:rPr lang="en-FR"/>
                      <a:pPr/>
                      <a:t>[CELLRANGE]</a:t>
                    </a:fld>
                    <a:endParaRPr lang="en-FR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71-1D57-0043-9C47-5939AD0FE1FB}"/>
                </c:ext>
              </c:extLst>
            </c:dLbl>
            <c:dLbl>
              <c:idx val="89"/>
              <c:tx>
                <c:rich>
                  <a:bodyPr/>
                  <a:lstStyle/>
                  <a:p>
                    <a:fld id="{1B97772F-73CC-8649-8EBF-8A8B9D2D2001}" type="CELLRANGE">
                      <a:rPr lang="en-FR"/>
                      <a:pPr/>
                      <a:t>[CELLRANGE]</a:t>
                    </a:fld>
                    <a:endParaRPr lang="en-FR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72-1D57-0043-9C47-5939AD0FE1FB}"/>
                </c:ext>
              </c:extLst>
            </c:dLbl>
            <c:dLbl>
              <c:idx val="90"/>
              <c:tx>
                <c:rich>
                  <a:bodyPr/>
                  <a:lstStyle/>
                  <a:p>
                    <a:fld id="{79ADD442-1B59-2B46-BBC3-D1063CDE1A2A}" type="CELLRANGE">
                      <a:rPr lang="en-FR"/>
                      <a:pPr/>
                      <a:t>[CELLRANGE]</a:t>
                    </a:fld>
                    <a:endParaRPr lang="en-FR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73-1D57-0043-9C47-5939AD0FE1FB}"/>
                </c:ext>
              </c:extLst>
            </c:dLbl>
            <c:dLbl>
              <c:idx val="91"/>
              <c:tx>
                <c:rich>
                  <a:bodyPr/>
                  <a:lstStyle/>
                  <a:p>
                    <a:fld id="{A9D3441C-34FC-3D4D-8B4B-3AC4CF45D9F4}" type="CELLRANGE">
                      <a:rPr lang="en-FR"/>
                      <a:pPr/>
                      <a:t>[CELLRANGE]</a:t>
                    </a:fld>
                    <a:endParaRPr lang="en-FR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74-1D57-0043-9C47-5939AD0FE1FB}"/>
                </c:ext>
              </c:extLst>
            </c:dLbl>
            <c:dLbl>
              <c:idx val="92"/>
              <c:tx>
                <c:rich>
                  <a:bodyPr/>
                  <a:lstStyle/>
                  <a:p>
                    <a:fld id="{2D23E93B-F1CA-184E-B474-4A074E58A587}" type="CELLRANGE">
                      <a:rPr lang="en-FR"/>
                      <a:pPr/>
                      <a:t>[CELLRANGE]</a:t>
                    </a:fld>
                    <a:endParaRPr lang="en-FR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75-1D57-0043-9C47-5939AD0FE1FB}"/>
                </c:ext>
              </c:extLst>
            </c:dLbl>
            <c:dLbl>
              <c:idx val="93"/>
              <c:tx>
                <c:rich>
                  <a:bodyPr/>
                  <a:lstStyle/>
                  <a:p>
                    <a:fld id="{2FBC3A1B-1269-544D-87DA-0056DCFCDC78}" type="CELLRANGE">
                      <a:rPr lang="en-FR"/>
                      <a:pPr/>
                      <a:t>[CELLRANGE]</a:t>
                    </a:fld>
                    <a:endParaRPr lang="en-FR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76-1D57-0043-9C47-5939AD0FE1FB}"/>
                </c:ext>
              </c:extLst>
            </c:dLbl>
            <c:dLbl>
              <c:idx val="94"/>
              <c:tx>
                <c:rich>
                  <a:bodyPr/>
                  <a:lstStyle/>
                  <a:p>
                    <a:fld id="{103D7FE3-A37A-AA47-A5F9-A929CF7497E9}" type="CELLRANGE">
                      <a:rPr lang="en-FR"/>
                      <a:pPr/>
                      <a:t>[CELLRANGE]</a:t>
                    </a:fld>
                    <a:endParaRPr lang="en-FR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77-1D57-0043-9C47-5939AD0FE1FB}"/>
                </c:ext>
              </c:extLst>
            </c:dLbl>
            <c:dLbl>
              <c:idx val="95"/>
              <c:tx>
                <c:rich>
                  <a:bodyPr/>
                  <a:lstStyle/>
                  <a:p>
                    <a:fld id="{74433D63-C150-9940-BB5F-35A732EFC583}" type="CELLRANGE">
                      <a:rPr lang="en-FR"/>
                      <a:pPr/>
                      <a:t>[CELLRANGE]</a:t>
                    </a:fld>
                    <a:endParaRPr lang="en-FR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78-1D57-0043-9C47-5939AD0FE1FB}"/>
                </c:ext>
              </c:extLst>
            </c:dLbl>
            <c:dLbl>
              <c:idx val="96"/>
              <c:tx>
                <c:rich>
                  <a:bodyPr/>
                  <a:lstStyle/>
                  <a:p>
                    <a:fld id="{08EBA2B0-6B47-934B-A73A-D5A135F2433A}" type="CELLRANGE">
                      <a:rPr lang="en-FR"/>
                      <a:pPr/>
                      <a:t>[CELLRANGE]</a:t>
                    </a:fld>
                    <a:endParaRPr lang="en-FR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79-1D57-0043-9C47-5939AD0FE1FB}"/>
                </c:ext>
              </c:extLst>
            </c:dLbl>
            <c:dLbl>
              <c:idx val="97"/>
              <c:tx>
                <c:rich>
                  <a:bodyPr/>
                  <a:lstStyle/>
                  <a:p>
                    <a:fld id="{04547183-DC79-4F44-A56A-41F29D0EFF55}" type="CELLRANGE">
                      <a:rPr lang="en-FR"/>
                      <a:pPr/>
                      <a:t>[CELLRANGE]</a:t>
                    </a:fld>
                    <a:endParaRPr lang="en-FR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7A-1D57-0043-9C47-5939AD0FE1FB}"/>
                </c:ext>
              </c:extLst>
            </c:dLbl>
            <c:dLbl>
              <c:idx val="98"/>
              <c:tx>
                <c:rich>
                  <a:bodyPr/>
                  <a:lstStyle/>
                  <a:p>
                    <a:fld id="{3548DBFC-C0FC-324C-AF09-8D3E0704A1B3}" type="CELLRANGE">
                      <a:rPr lang="en-FR"/>
                      <a:pPr/>
                      <a:t>[CELLRANGE]</a:t>
                    </a:fld>
                    <a:endParaRPr lang="en-FR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7B-1D57-0043-9C47-5939AD0FE1FB}"/>
                </c:ext>
              </c:extLst>
            </c:dLbl>
            <c:dLbl>
              <c:idx val="99"/>
              <c:tx>
                <c:rich>
                  <a:bodyPr/>
                  <a:lstStyle/>
                  <a:p>
                    <a:fld id="{50492B77-588C-5D40-ACCF-54B5A9FE2D01}" type="CELLRANGE">
                      <a:rPr lang="en-FR"/>
                      <a:pPr/>
                      <a:t>[CELLRANGE]</a:t>
                    </a:fld>
                    <a:endParaRPr lang="en-FR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7C-1D57-0043-9C47-5939AD0FE1FB}"/>
                </c:ext>
              </c:extLst>
            </c:dLbl>
            <c:dLbl>
              <c:idx val="100"/>
              <c:layout>
                <c:manualLayout>
                  <c:x val="0"/>
                  <c:y val="-2.833947757757416E-2"/>
                </c:manualLayout>
              </c:layout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 sz="1200" b="1">
                        <a:solidFill>
                          <a:srgbClr val="CA2E4D"/>
                        </a:solidFill>
                        <a:latin typeface="Questrial" pitchFamily="2" charset="77"/>
                        <a:ea typeface="Questrial" pitchFamily="2" charset="77"/>
                        <a:cs typeface="Questrial" pitchFamily="2" charset="77"/>
                      </a:defRPr>
                    </a:pPr>
                    <a:fld id="{6020B4CC-4C06-3746-85DB-B276CAF72D29}" type="CELLRANGE">
                      <a:rPr lang="en-US"/>
                      <a:pPr>
                        <a:defRPr sz="1200" b="1">
                          <a:solidFill>
                            <a:srgbClr val="CA2E4D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defRPr>
                      </a:pPr>
                      <a:t>[CELLRANGE]</a:t>
                    </a:fld>
                    <a:endParaRPr lang="en-FR"/>
                  </a:p>
                </c:rich>
              </c:tx>
              <c:spPr>
                <a:noFill/>
                <a:ln>
                  <a:noFill/>
                </a:ln>
                <a:effectLst/>
              </c:spPr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7D-1D57-0043-9C47-5939AD0FE1F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200">
                    <a:solidFill>
                      <a:srgbClr val="CA2E4D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endParaRPr lang="fr-F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0"/>
              </c:ext>
            </c:extLst>
          </c:dLbls>
          <c:cat>
            <c:strRef>
              <c:f>'Niveau de vie relatif'!$D$4:$CZ$4</c:f>
              <c:strCache>
                <c:ptCount val="101"/>
                <c:pt idx="0">
                  <c:v>1970</c:v>
                </c:pt>
                <c:pt idx="1">
                  <c:v>1971</c:v>
                </c:pt>
                <c:pt idx="2">
                  <c:v>1972</c:v>
                </c:pt>
                <c:pt idx="3">
                  <c:v>1973</c:v>
                </c:pt>
                <c:pt idx="4">
                  <c:v>1974</c:v>
                </c:pt>
                <c:pt idx="5">
                  <c:v>1975</c:v>
                </c:pt>
                <c:pt idx="6">
                  <c:v>1976</c:v>
                </c:pt>
                <c:pt idx="7">
                  <c:v>1977</c:v>
                </c:pt>
                <c:pt idx="8">
                  <c:v>1978</c:v>
                </c:pt>
                <c:pt idx="9">
                  <c:v>1979</c:v>
                </c:pt>
                <c:pt idx="10">
                  <c:v>1980</c:v>
                </c:pt>
                <c:pt idx="11">
                  <c:v>1981</c:v>
                </c:pt>
                <c:pt idx="12">
                  <c:v>1982</c:v>
                </c:pt>
                <c:pt idx="13">
                  <c:v>1983</c:v>
                </c:pt>
                <c:pt idx="14">
                  <c:v>1984</c:v>
                </c:pt>
                <c:pt idx="15">
                  <c:v>1985</c:v>
                </c:pt>
                <c:pt idx="16">
                  <c:v>1986</c:v>
                </c:pt>
                <c:pt idx="17">
                  <c:v>1987</c:v>
                </c:pt>
                <c:pt idx="18">
                  <c:v>1988</c:v>
                </c:pt>
                <c:pt idx="19">
                  <c:v>1989</c:v>
                </c:pt>
                <c:pt idx="20">
                  <c:v>1990</c:v>
                </c:pt>
                <c:pt idx="21">
                  <c:v>1991</c:v>
                </c:pt>
                <c:pt idx="22">
                  <c:v>1992</c:v>
                </c:pt>
                <c:pt idx="23">
                  <c:v>1993</c:v>
                </c:pt>
                <c:pt idx="24">
                  <c:v>1994</c:v>
                </c:pt>
                <c:pt idx="25">
                  <c:v>1995</c:v>
                </c:pt>
                <c:pt idx="26">
                  <c:v>1996</c:v>
                </c:pt>
                <c:pt idx="27">
                  <c:v>1997</c:v>
                </c:pt>
                <c:pt idx="28">
                  <c:v>1998</c:v>
                </c:pt>
                <c:pt idx="29">
                  <c:v>1999</c:v>
                </c:pt>
                <c:pt idx="30">
                  <c:v>2000</c:v>
                </c:pt>
                <c:pt idx="31">
                  <c:v>2001</c:v>
                </c:pt>
                <c:pt idx="32">
                  <c:v>2002</c:v>
                </c:pt>
                <c:pt idx="33">
                  <c:v>2003</c:v>
                </c:pt>
                <c:pt idx="34">
                  <c:v>2004</c:v>
                </c:pt>
                <c:pt idx="35">
                  <c:v>2005</c:v>
                </c:pt>
                <c:pt idx="36">
                  <c:v>2006</c:v>
                </c:pt>
                <c:pt idx="37">
                  <c:v>2007</c:v>
                </c:pt>
                <c:pt idx="38">
                  <c:v>2008</c:v>
                </c:pt>
                <c:pt idx="39">
                  <c:v>2009</c:v>
                </c:pt>
                <c:pt idx="40">
                  <c:v>2010</c:v>
                </c:pt>
                <c:pt idx="41">
                  <c:v>2011</c:v>
                </c:pt>
                <c:pt idx="42">
                  <c:v>2012</c:v>
                </c:pt>
                <c:pt idx="43">
                  <c:v>2013</c:v>
                </c:pt>
                <c:pt idx="44">
                  <c:v>2014</c:v>
                </c:pt>
                <c:pt idx="45">
                  <c:v>2015</c:v>
                </c:pt>
                <c:pt idx="46">
                  <c:v>2016</c:v>
                </c:pt>
                <c:pt idx="47">
                  <c:v>2017</c:v>
                </c:pt>
                <c:pt idx="48">
                  <c:v>2018</c:v>
                </c:pt>
                <c:pt idx="49">
                  <c:v>2019</c:v>
                </c:pt>
                <c:pt idx="50">
                  <c:v>2020p</c:v>
                </c:pt>
                <c:pt idx="51">
                  <c:v>2021p</c:v>
                </c:pt>
                <c:pt idx="52">
                  <c:v>2022</c:v>
                </c:pt>
                <c:pt idx="53">
                  <c:v>2023</c:v>
                </c:pt>
                <c:pt idx="54">
                  <c:v>2024</c:v>
                </c:pt>
                <c:pt idx="55">
                  <c:v>2025</c:v>
                </c:pt>
                <c:pt idx="56">
                  <c:v>2026</c:v>
                </c:pt>
                <c:pt idx="57">
                  <c:v>2027</c:v>
                </c:pt>
                <c:pt idx="58">
                  <c:v>2028</c:v>
                </c:pt>
                <c:pt idx="59">
                  <c:v>2029</c:v>
                </c:pt>
                <c:pt idx="60">
                  <c:v>2030</c:v>
                </c:pt>
                <c:pt idx="61">
                  <c:v>2031</c:v>
                </c:pt>
                <c:pt idx="62">
                  <c:v>2032</c:v>
                </c:pt>
                <c:pt idx="63">
                  <c:v>2033</c:v>
                </c:pt>
                <c:pt idx="64">
                  <c:v>2034</c:v>
                </c:pt>
                <c:pt idx="65">
                  <c:v>2035</c:v>
                </c:pt>
                <c:pt idx="66">
                  <c:v>2036</c:v>
                </c:pt>
                <c:pt idx="67">
                  <c:v>2037</c:v>
                </c:pt>
                <c:pt idx="68">
                  <c:v>2038</c:v>
                </c:pt>
                <c:pt idx="69">
                  <c:v>2039</c:v>
                </c:pt>
                <c:pt idx="70">
                  <c:v>2040</c:v>
                </c:pt>
                <c:pt idx="71">
                  <c:v>2041</c:v>
                </c:pt>
                <c:pt idx="72">
                  <c:v>2042</c:v>
                </c:pt>
                <c:pt idx="73">
                  <c:v>2043</c:v>
                </c:pt>
                <c:pt idx="74">
                  <c:v>2044</c:v>
                </c:pt>
                <c:pt idx="75">
                  <c:v>2045</c:v>
                </c:pt>
                <c:pt idx="76">
                  <c:v>2046</c:v>
                </c:pt>
                <c:pt idx="77">
                  <c:v>2047</c:v>
                </c:pt>
                <c:pt idx="78">
                  <c:v>2048</c:v>
                </c:pt>
                <c:pt idx="79">
                  <c:v>2049</c:v>
                </c:pt>
                <c:pt idx="80">
                  <c:v>2050</c:v>
                </c:pt>
                <c:pt idx="81">
                  <c:v>2051</c:v>
                </c:pt>
                <c:pt idx="82">
                  <c:v>2052</c:v>
                </c:pt>
                <c:pt idx="83">
                  <c:v>2053</c:v>
                </c:pt>
                <c:pt idx="84">
                  <c:v>2054</c:v>
                </c:pt>
                <c:pt idx="85">
                  <c:v>2055</c:v>
                </c:pt>
                <c:pt idx="86">
                  <c:v>2056</c:v>
                </c:pt>
                <c:pt idx="87">
                  <c:v>2057</c:v>
                </c:pt>
                <c:pt idx="88">
                  <c:v>2058</c:v>
                </c:pt>
                <c:pt idx="89">
                  <c:v>2059</c:v>
                </c:pt>
                <c:pt idx="90">
                  <c:v>2060</c:v>
                </c:pt>
                <c:pt idx="91">
                  <c:v>2061</c:v>
                </c:pt>
                <c:pt idx="92">
                  <c:v>2062</c:v>
                </c:pt>
                <c:pt idx="93">
                  <c:v>2063</c:v>
                </c:pt>
                <c:pt idx="94">
                  <c:v>2064</c:v>
                </c:pt>
                <c:pt idx="95">
                  <c:v>2065</c:v>
                </c:pt>
                <c:pt idx="96">
                  <c:v>2066</c:v>
                </c:pt>
                <c:pt idx="97">
                  <c:v>2067</c:v>
                </c:pt>
                <c:pt idx="98">
                  <c:v>2068</c:v>
                </c:pt>
                <c:pt idx="99">
                  <c:v>2069</c:v>
                </c:pt>
                <c:pt idx="100">
                  <c:v>2070</c:v>
                </c:pt>
              </c:strCache>
            </c:strRef>
          </c:cat>
          <c:val>
            <c:numRef>
              <c:f>'Niveau de vie relatif'!$D$6:$CZ$6</c:f>
              <c:numCache>
                <c:formatCode>General</c:formatCode>
                <c:ptCount val="101"/>
                <c:pt idx="51" formatCode="0.0%">
                  <c:v>0.98684704998121009</c:v>
                </c:pt>
                <c:pt idx="52" formatCode="0.0%">
                  <c:v>0.98353584122098603</c:v>
                </c:pt>
                <c:pt idx="53" formatCode="0.0%">
                  <c:v>0.98399178551977406</c:v>
                </c:pt>
                <c:pt idx="54" formatCode="0.0%">
                  <c:v>0.99599178551977408</c:v>
                </c:pt>
                <c:pt idx="55" formatCode="0.0%">
                  <c:v>0.99699178551977408</c:v>
                </c:pt>
                <c:pt idx="56" formatCode="0.0%">
                  <c:v>0.99799178551977408</c:v>
                </c:pt>
                <c:pt idx="57" formatCode="0.0%">
                  <c:v>0.99099178551977407</c:v>
                </c:pt>
                <c:pt idx="58" formatCode="0.0%">
                  <c:v>0.98156113114699362</c:v>
                </c:pt>
                <c:pt idx="59" formatCode="0.0%">
                  <c:v>0.97637102721761293</c:v>
                </c:pt>
                <c:pt idx="60" formatCode="0.0%">
                  <c:v>0.96987457945053812</c:v>
                </c:pt>
                <c:pt idx="61" formatCode="0.0%">
                  <c:v>0.96309601396668376</c:v>
                </c:pt>
                <c:pt idx="62" formatCode="0.0%">
                  <c:v>0.95380737924452974</c:v>
                </c:pt>
                <c:pt idx="63" formatCode="0.0%">
                  <c:v>0.94515344902664555</c:v>
                </c:pt>
                <c:pt idx="64" formatCode="0.0%">
                  <c:v>0.93681132175819537</c:v>
                </c:pt>
                <c:pt idx="65" formatCode="0.0%">
                  <c:v>0.92909403396673895</c:v>
                </c:pt>
                <c:pt idx="66" formatCode="0.0%">
                  <c:v>0.92427249865643768</c:v>
                </c:pt>
                <c:pt idx="67" formatCode="0.0%">
                  <c:v>0.9192236342866047</c:v>
                </c:pt>
                <c:pt idx="68" formatCode="0.0%">
                  <c:v>0.91513909212207256</c:v>
                </c:pt>
                <c:pt idx="69" formatCode="0.0%">
                  <c:v>0.91006990634409513</c:v>
                </c:pt>
                <c:pt idx="70" formatCode="0.0%">
                  <c:v>0.90516543486768541</c:v>
                </c:pt>
                <c:pt idx="71" formatCode="0.0%">
                  <c:v>0.90105381748426849</c:v>
                </c:pt>
                <c:pt idx="72" formatCode="0.0%">
                  <c:v>0.89701017192443377</c:v>
                </c:pt>
                <c:pt idx="73" formatCode="0.0%">
                  <c:v>0.89394542180256042</c:v>
                </c:pt>
                <c:pt idx="74" formatCode="0.0%">
                  <c:v>0.89089972306769649</c:v>
                </c:pt>
                <c:pt idx="75" formatCode="0.0%">
                  <c:v>0.88775744606259699</c:v>
                </c:pt>
                <c:pt idx="76" formatCode="0.0%">
                  <c:v>0.884698558275124</c:v>
                </c:pt>
                <c:pt idx="77" formatCode="0.0%">
                  <c:v>0.88043374456567092</c:v>
                </c:pt>
                <c:pt idx="78" formatCode="0.0%">
                  <c:v>0.87673570784164589</c:v>
                </c:pt>
                <c:pt idx="79" formatCode="0.0%">
                  <c:v>0.87192935665007021</c:v>
                </c:pt>
                <c:pt idx="80" formatCode="0.0%">
                  <c:v>0.86834687345936556</c:v>
                </c:pt>
                <c:pt idx="81" formatCode="0.0%">
                  <c:v>0.86503347104556216</c:v>
                </c:pt>
                <c:pt idx="82" formatCode="0.0%">
                  <c:v>0.86263138408005391</c:v>
                </c:pt>
                <c:pt idx="83" formatCode="0.0%">
                  <c:v>0.86032529281871006</c:v>
                </c:pt>
                <c:pt idx="84" formatCode="0.0%">
                  <c:v>0.85753877997852634</c:v>
                </c:pt>
                <c:pt idx="85" formatCode="0.0%">
                  <c:v>0.85454874945808268</c:v>
                </c:pt>
                <c:pt idx="86" formatCode="0.0%">
                  <c:v>0.85221472592731717</c:v>
                </c:pt>
                <c:pt idx="87" formatCode="0.0%">
                  <c:v>0.84939736875928384</c:v>
                </c:pt>
                <c:pt idx="88" formatCode="0.0%">
                  <c:v>0.84671478674838996</c:v>
                </c:pt>
                <c:pt idx="89" formatCode="0.0%">
                  <c:v>0.84368895847018832</c:v>
                </c:pt>
                <c:pt idx="90" formatCode="0.0%">
                  <c:v>0.84112948926676945</c:v>
                </c:pt>
                <c:pt idx="91" formatCode="0.0%">
                  <c:v>0.83984970280814597</c:v>
                </c:pt>
                <c:pt idx="92" formatCode="0.0%">
                  <c:v>0.83844362404944262</c:v>
                </c:pt>
                <c:pt idx="93" formatCode="0.0%">
                  <c:v>0.8374985513408103</c:v>
                </c:pt>
                <c:pt idx="94" formatCode="0.0%">
                  <c:v>0.83715200141593549</c:v>
                </c:pt>
                <c:pt idx="95" formatCode="0.0%">
                  <c:v>0.83740633510586093</c:v>
                </c:pt>
                <c:pt idx="96" formatCode="0.0%">
                  <c:v>0.83665962873844846</c:v>
                </c:pt>
                <c:pt idx="97" formatCode="0.0%">
                  <c:v>0.83449463002782653</c:v>
                </c:pt>
                <c:pt idx="98" formatCode="0.0%">
                  <c:v>0.83238338427016001</c:v>
                </c:pt>
                <c:pt idx="99" formatCode="0.0%">
                  <c:v>0.83115602494331564</c:v>
                </c:pt>
                <c:pt idx="100" formatCode="0.0%">
                  <c:v>0.82983229519132851</c:v>
                </c:pt>
              </c:numCache>
            </c:numRef>
          </c:val>
          <c:smooth val="0"/>
          <c:extLst>
            <c:ext xmlns:c15="http://schemas.microsoft.com/office/drawing/2012/chart" uri="{02D57815-91ED-43cb-92C2-25804820EDAC}">
              <c15:datalabelsRange>
                <c15:f>'Niveau de vie relatif'!$D$8:$CZ$8</c15:f>
                <c15:dlblRangeCache>
                  <c:ptCount val="101"/>
                  <c:pt idx="51">
                    <c:v>98,7%</c:v>
                  </c:pt>
                  <c:pt idx="100">
                    <c:v>83,0%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7E-1D57-0043-9C47-5939AD0FE1F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7766656"/>
        <c:axId val="77768192"/>
      </c:lineChart>
      <c:catAx>
        <c:axId val="7776665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3175">
            <a:solidFill>
              <a:schemeClr val="bg1">
                <a:lumMod val="85000"/>
              </a:schemeClr>
            </a:solidFill>
          </a:ln>
        </c:spPr>
        <c:txPr>
          <a:bodyPr rot="0" vert="horz"/>
          <a:lstStyle/>
          <a:p>
            <a:pPr>
              <a:defRPr sz="110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fr-FR"/>
          </a:p>
        </c:txPr>
        <c:crossAx val="77768192"/>
        <c:crosses val="autoZero"/>
        <c:auto val="1"/>
        <c:lblAlgn val="ctr"/>
        <c:lblOffset val="100"/>
        <c:tickLblSkip val="10"/>
        <c:tickMarkSkip val="5"/>
        <c:noMultiLvlLbl val="0"/>
      </c:catAx>
      <c:valAx>
        <c:axId val="77768192"/>
        <c:scaling>
          <c:orientation val="minMax"/>
          <c:max val="1.1000000000000001"/>
          <c:min val="0.70000000000000062"/>
        </c:scaling>
        <c:delete val="0"/>
        <c:axPos val="l"/>
        <c:numFmt formatCode="0%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fr-FR"/>
          </a:p>
        </c:txPr>
        <c:crossAx val="77766656"/>
        <c:crosses val="autoZero"/>
        <c:crossBetween val="between"/>
        <c:majorUnit val="0.1"/>
      </c:valAx>
    </c:plotArea>
    <c:legend>
      <c:legendPos val="b"/>
      <c:legendEntry>
        <c:idx val="0"/>
        <c:txPr>
          <a:bodyPr/>
          <a:lstStyle/>
          <a:p>
            <a:pPr>
              <a:defRPr sz="110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fr-FR"/>
          </a:p>
        </c:txPr>
      </c:legendEntry>
      <c:legendEntry>
        <c:idx val="1"/>
        <c:txPr>
          <a:bodyPr/>
          <a:lstStyle/>
          <a:p>
            <a:pPr>
              <a:defRPr sz="110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fr-FR"/>
          </a:p>
        </c:txPr>
      </c:legendEntry>
      <c:layout>
        <c:manualLayout>
          <c:xMode val="edge"/>
          <c:yMode val="edge"/>
          <c:x val="1.6152222222222221E-2"/>
          <c:y val="0.9272993360035594"/>
          <c:w val="0.97710296296296106"/>
          <c:h val="7.2700663996441428E-2"/>
        </c:manualLayout>
      </c:layout>
      <c:overlay val="0"/>
      <c:txPr>
        <a:bodyPr/>
        <a:lstStyle/>
        <a:p>
          <a:pPr>
            <a:defRPr sz="1100">
              <a:solidFill>
                <a:schemeClr val="bg1"/>
              </a:solidFill>
            </a:defRPr>
          </a:pPr>
          <a:endParaRPr lang="fr-FR"/>
        </a:p>
      </c:txPr>
    </c:legend>
    <c:plotVisOnly val="1"/>
    <c:dispBlanksAs val="gap"/>
    <c:showDLblsOverMax val="0"/>
  </c:chart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920" b="0" i="0" u="none" strike="noStrike" kern="1200" spc="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r>
              <a:rPr lang="fr-FR" dirty="0"/>
              <a:t>Evolution du rendement des cotisations retraite </a:t>
            </a:r>
          </a:p>
          <a:p>
            <a:pPr>
              <a:defRPr/>
            </a:pPr>
            <a:r>
              <a:rPr lang="fr-FR" dirty="0"/>
              <a:t>selon l’année de naissance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0" i="0" u="none" strike="noStrike" kern="1200" spc="0" baseline="0">
              <a:solidFill>
                <a:schemeClr val="bg1"/>
              </a:solidFill>
              <a:latin typeface="Questrial" pitchFamily="2" charset="77"/>
              <a:ea typeface="Questrial" pitchFamily="2" charset="77"/>
              <a:cs typeface="Questrial" pitchFamily="2" charset="77"/>
            </a:defRPr>
          </a:pPr>
          <a:endParaRPr lang="fr-FR"/>
        </a:p>
      </c:txPr>
    </c:title>
    <c:autoTitleDeleted val="0"/>
    <c:plotArea>
      <c:layout>
        <c:manualLayout>
          <c:layoutTarget val="inner"/>
          <c:xMode val="edge"/>
          <c:yMode val="edge"/>
          <c:x val="0.12352027425143286"/>
          <c:y val="5.2222962962962964E-2"/>
          <c:w val="0.85194983280151204"/>
          <c:h val="0.67868024937681803"/>
        </c:manualLayout>
      </c:layout>
      <c:lineChart>
        <c:grouping val="standard"/>
        <c:varyColors val="0"/>
        <c:ser>
          <c:idx val="3"/>
          <c:order val="0"/>
          <c:tx>
            <c:strRef>
              <c:f>TRI!$B$4</c:f>
              <c:strCache>
                <c:ptCount val="1"/>
                <c:pt idx="0">
                  <c:v>Taux de rendement interne d'1€ cotisé</c:v>
                </c:pt>
              </c:strCache>
            </c:strRef>
          </c:tx>
          <c:spPr>
            <a:ln w="28575" cap="rnd">
              <a:solidFill>
                <a:srgbClr val="CA2E4D"/>
              </a:solidFill>
              <a:round/>
            </a:ln>
            <a:effectLst/>
          </c:spPr>
          <c:marker>
            <c:symbol val="none"/>
          </c:marker>
          <c:dLbls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3FC3-6741-A08A-84696977F6FA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FC3-6741-A08A-84696977F6FA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3FC3-6741-A08A-84696977F6FA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E-3FC3-6741-A08A-84696977F6FA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FC3-6741-A08A-84696977F6FA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3FC3-6741-A08A-84696977F6FA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3FC3-6741-A08A-84696977F6FA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3FC3-6741-A08A-84696977F6FA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3FC3-6741-A08A-84696977F6FA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3FC3-6741-A08A-84696977F6FA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F-3FC3-6741-A08A-84696977F6FA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3FC3-6741-A08A-84696977F6FA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3FC3-6741-A08A-84696977F6FA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3FC3-6741-A08A-84696977F6FA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3FC3-6741-A08A-84696977F6FA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3FC3-6741-A08A-84696977F6FA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3FC3-6741-A08A-84696977F6FA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4-3FC3-6741-A08A-84696977F6FA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3FC3-6741-A08A-84696977F6FA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3FC3-6741-A08A-84696977F6FA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3FC3-6741-A08A-84696977F6FA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6-3FC3-6741-A08A-84696977F6FA}"/>
                </c:ext>
              </c:extLst>
            </c:dLbl>
            <c:dLbl>
              <c:idx val="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3FC3-6741-A08A-84696977F6FA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3FC3-6741-A08A-84696977F6FA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3FC3-6741-A08A-84696977F6FA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3FC3-6741-A08A-84696977F6FA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6-3FC3-6741-A08A-84696977F6FA}"/>
                </c:ext>
              </c:extLst>
            </c:dLbl>
            <c:dLbl>
              <c:idx val="3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3-3FC3-6741-A08A-84696977F6FA}"/>
                </c:ext>
              </c:extLst>
            </c:dLbl>
            <c:dLbl>
              <c:idx val="3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3FC3-6741-A08A-84696977F6FA}"/>
                </c:ext>
              </c:extLst>
            </c:dLbl>
            <c:dLbl>
              <c:idx val="3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8-3FC3-6741-A08A-84696977F6FA}"/>
                </c:ext>
              </c:extLst>
            </c:dLbl>
            <c:dLbl>
              <c:idx val="3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9-3FC3-6741-A08A-84696977F6FA}"/>
                </c:ext>
              </c:extLst>
            </c:dLbl>
            <c:dLbl>
              <c:idx val="3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A-3FC3-6741-A08A-84696977F6FA}"/>
                </c:ext>
              </c:extLst>
            </c:dLbl>
            <c:dLbl>
              <c:idx val="3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3FC3-6741-A08A-84696977F6FA}"/>
                </c:ext>
              </c:extLst>
            </c:dLbl>
            <c:dLbl>
              <c:idx val="3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C-3FC3-6741-A08A-84696977F6FA}"/>
                </c:ext>
              </c:extLst>
            </c:dLbl>
            <c:dLbl>
              <c:idx val="3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2-3FC3-6741-A08A-84696977F6FA}"/>
                </c:ext>
              </c:extLst>
            </c:dLbl>
            <c:dLbl>
              <c:idx val="4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D-3FC3-6741-A08A-84696977F6FA}"/>
                </c:ext>
              </c:extLst>
            </c:dLbl>
            <c:dLbl>
              <c:idx val="4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E-3FC3-6741-A08A-84696977F6FA}"/>
                </c:ext>
              </c:extLst>
            </c:dLbl>
            <c:dLbl>
              <c:idx val="4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F-3FC3-6741-A08A-84696977F6FA}"/>
                </c:ext>
              </c:extLst>
            </c:dLbl>
            <c:dLbl>
              <c:idx val="4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0-3FC3-6741-A08A-84696977F6FA}"/>
                </c:ext>
              </c:extLst>
            </c:dLbl>
            <c:dLbl>
              <c:idx val="4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1-3FC3-6741-A08A-84696977F6FA}"/>
                </c:ext>
              </c:extLst>
            </c:dLbl>
            <c:dLbl>
              <c:idx val="4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2-3FC3-6741-A08A-84696977F6FA}"/>
                </c:ext>
              </c:extLst>
            </c:dLbl>
            <c:dLbl>
              <c:idx val="4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1-3FC3-6741-A08A-84696977F6FA}"/>
                </c:ext>
              </c:extLst>
            </c:dLbl>
            <c:dLbl>
              <c:idx val="4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3-3FC3-6741-A08A-84696977F6FA}"/>
                </c:ext>
              </c:extLst>
            </c:dLbl>
            <c:dLbl>
              <c:idx val="4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4-3FC3-6741-A08A-84696977F6FA}"/>
                </c:ext>
              </c:extLst>
            </c:dLbl>
            <c:dLbl>
              <c:idx val="5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5-3FC3-6741-A08A-84696977F6FA}"/>
                </c:ext>
              </c:extLst>
            </c:dLbl>
            <c:dLbl>
              <c:idx val="5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6-3FC3-6741-A08A-84696977F6FA}"/>
                </c:ext>
              </c:extLst>
            </c:dLbl>
            <c:dLbl>
              <c:idx val="5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7-3FC3-6741-A08A-84696977F6FA}"/>
                </c:ext>
              </c:extLst>
            </c:dLbl>
            <c:dLbl>
              <c:idx val="5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8-3FC3-6741-A08A-84696977F6FA}"/>
                </c:ext>
              </c:extLst>
            </c:dLbl>
            <c:dLbl>
              <c:idx val="5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0-3FC3-6741-A08A-84696977F6FA}"/>
                </c:ext>
              </c:extLst>
            </c:dLbl>
            <c:dLbl>
              <c:idx val="5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9-3FC3-6741-A08A-84696977F6FA}"/>
                </c:ext>
              </c:extLst>
            </c:dLbl>
            <c:dLbl>
              <c:idx val="5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A-3FC3-6741-A08A-84696977F6FA}"/>
                </c:ext>
              </c:extLst>
            </c:dLbl>
            <c:dLbl>
              <c:idx val="5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B-3FC3-6741-A08A-84696977F6FA}"/>
                </c:ext>
              </c:extLst>
            </c:dLbl>
            <c:dLbl>
              <c:idx val="6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C-3FC3-6741-A08A-84696977F6F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endParaRPr lang="fr-F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TRI!$C$3:$BK$3</c:f>
              <c:numCache>
                <c:formatCode>General</c:formatCode>
                <c:ptCount val="61"/>
                <c:pt idx="0">
                  <c:v>1940</c:v>
                </c:pt>
                <c:pt idx="1">
                  <c:v>1941</c:v>
                </c:pt>
                <c:pt idx="2">
                  <c:v>1942</c:v>
                </c:pt>
                <c:pt idx="3">
                  <c:v>1943</c:v>
                </c:pt>
                <c:pt idx="4">
                  <c:v>1944</c:v>
                </c:pt>
                <c:pt idx="5">
                  <c:v>1945</c:v>
                </c:pt>
                <c:pt idx="6">
                  <c:v>1946</c:v>
                </c:pt>
                <c:pt idx="7">
                  <c:v>1947</c:v>
                </c:pt>
                <c:pt idx="8">
                  <c:v>1948</c:v>
                </c:pt>
                <c:pt idx="9">
                  <c:v>1949</c:v>
                </c:pt>
                <c:pt idx="10">
                  <c:v>1950</c:v>
                </c:pt>
                <c:pt idx="11">
                  <c:v>1951</c:v>
                </c:pt>
                <c:pt idx="12">
                  <c:v>1952</c:v>
                </c:pt>
                <c:pt idx="13">
                  <c:v>1953</c:v>
                </c:pt>
                <c:pt idx="14">
                  <c:v>1954</c:v>
                </c:pt>
                <c:pt idx="15">
                  <c:v>1955</c:v>
                </c:pt>
                <c:pt idx="16">
                  <c:v>1956</c:v>
                </c:pt>
                <c:pt idx="17">
                  <c:v>1957</c:v>
                </c:pt>
                <c:pt idx="18">
                  <c:v>1958</c:v>
                </c:pt>
                <c:pt idx="19">
                  <c:v>1959</c:v>
                </c:pt>
                <c:pt idx="20">
                  <c:v>1960</c:v>
                </c:pt>
                <c:pt idx="21">
                  <c:v>1961</c:v>
                </c:pt>
                <c:pt idx="22">
                  <c:v>1962</c:v>
                </c:pt>
                <c:pt idx="23">
                  <c:v>1963</c:v>
                </c:pt>
                <c:pt idx="24">
                  <c:v>1964</c:v>
                </c:pt>
                <c:pt idx="25">
                  <c:v>1965</c:v>
                </c:pt>
                <c:pt idx="26">
                  <c:v>1966</c:v>
                </c:pt>
                <c:pt idx="27">
                  <c:v>1967</c:v>
                </c:pt>
                <c:pt idx="28">
                  <c:v>1968</c:v>
                </c:pt>
                <c:pt idx="29">
                  <c:v>1969</c:v>
                </c:pt>
                <c:pt idx="30">
                  <c:v>1970</c:v>
                </c:pt>
                <c:pt idx="31">
                  <c:v>1971</c:v>
                </c:pt>
                <c:pt idx="32">
                  <c:v>1972</c:v>
                </c:pt>
                <c:pt idx="33">
                  <c:v>1973</c:v>
                </c:pt>
                <c:pt idx="34">
                  <c:v>1974</c:v>
                </c:pt>
                <c:pt idx="35">
                  <c:v>1975</c:v>
                </c:pt>
                <c:pt idx="36">
                  <c:v>1976</c:v>
                </c:pt>
                <c:pt idx="37">
                  <c:v>1977</c:v>
                </c:pt>
                <c:pt idx="38">
                  <c:v>1978</c:v>
                </c:pt>
                <c:pt idx="39">
                  <c:v>1979</c:v>
                </c:pt>
                <c:pt idx="40">
                  <c:v>1980</c:v>
                </c:pt>
                <c:pt idx="41">
                  <c:v>1981</c:v>
                </c:pt>
                <c:pt idx="42">
                  <c:v>1982</c:v>
                </c:pt>
                <c:pt idx="43">
                  <c:v>1983</c:v>
                </c:pt>
                <c:pt idx="44">
                  <c:v>1984</c:v>
                </c:pt>
                <c:pt idx="45">
                  <c:v>1985</c:v>
                </c:pt>
                <c:pt idx="46">
                  <c:v>1986</c:v>
                </c:pt>
                <c:pt idx="47">
                  <c:v>1987</c:v>
                </c:pt>
                <c:pt idx="48">
                  <c:v>1988</c:v>
                </c:pt>
                <c:pt idx="49">
                  <c:v>1989</c:v>
                </c:pt>
                <c:pt idx="50">
                  <c:v>1990</c:v>
                </c:pt>
                <c:pt idx="51">
                  <c:v>1991</c:v>
                </c:pt>
                <c:pt idx="52">
                  <c:v>1992</c:v>
                </c:pt>
                <c:pt idx="53">
                  <c:v>1993</c:v>
                </c:pt>
                <c:pt idx="54">
                  <c:v>1994</c:v>
                </c:pt>
                <c:pt idx="55">
                  <c:v>1995</c:v>
                </c:pt>
                <c:pt idx="56">
                  <c:v>1996</c:v>
                </c:pt>
                <c:pt idx="57">
                  <c:v>1997</c:v>
                </c:pt>
                <c:pt idx="58">
                  <c:v>1998</c:v>
                </c:pt>
                <c:pt idx="59">
                  <c:v>1999</c:v>
                </c:pt>
                <c:pt idx="60">
                  <c:v>2000</c:v>
                </c:pt>
              </c:numCache>
            </c:numRef>
          </c:cat>
          <c:val>
            <c:numRef>
              <c:f>TRI!$C$4:$BK$4</c:f>
              <c:numCache>
                <c:formatCode>0.0%</c:formatCode>
                <c:ptCount val="61"/>
                <c:pt idx="0">
                  <c:v>2.4067648094994842E-2</c:v>
                </c:pt>
                <c:pt idx="1">
                  <c:v>2.3547347838027699E-2</c:v>
                </c:pt>
                <c:pt idx="2">
                  <c:v>2.2942658695722651E-2</c:v>
                </c:pt>
                <c:pt idx="3">
                  <c:v>2.233882216178551E-2</c:v>
                </c:pt>
                <c:pt idx="4">
                  <c:v>2.1787889737345134E-2</c:v>
                </c:pt>
                <c:pt idx="5">
                  <c:v>2.1238502544898896E-2</c:v>
                </c:pt>
                <c:pt idx="6">
                  <c:v>2.0738349411336898E-2</c:v>
                </c:pt>
                <c:pt idx="7">
                  <c:v>2.0216435491314799E-2</c:v>
                </c:pt>
                <c:pt idx="8">
                  <c:v>1.9711266393103166E-2</c:v>
                </c:pt>
                <c:pt idx="9">
                  <c:v>1.9395581375938997E-2</c:v>
                </c:pt>
                <c:pt idx="10">
                  <c:v>1.9009149045584151E-2</c:v>
                </c:pt>
                <c:pt idx="11">
                  <c:v>1.8661816332973702E-2</c:v>
                </c:pt>
                <c:pt idx="12">
                  <c:v>1.7939887243929808E-2</c:v>
                </c:pt>
                <c:pt idx="13">
                  <c:v>1.7794308296685379E-2</c:v>
                </c:pt>
                <c:pt idx="14">
                  <c:v>1.735116072518017E-2</c:v>
                </c:pt>
                <c:pt idx="15">
                  <c:v>1.6919201011677654E-2</c:v>
                </c:pt>
                <c:pt idx="16">
                  <c:v>1.6503466729602012E-2</c:v>
                </c:pt>
                <c:pt idx="17">
                  <c:v>1.5981886780350285E-2</c:v>
                </c:pt>
                <c:pt idx="18">
                  <c:v>1.609772091809214E-2</c:v>
                </c:pt>
                <c:pt idx="19">
                  <c:v>1.5975777206324482E-2</c:v>
                </c:pt>
                <c:pt idx="20">
                  <c:v>1.508108891301152E-2</c:v>
                </c:pt>
                <c:pt idx="21">
                  <c:v>1.4211767302356293E-2</c:v>
                </c:pt>
                <c:pt idx="22">
                  <c:v>1.3214254662603953E-2</c:v>
                </c:pt>
                <c:pt idx="23">
                  <c:v>1.2755467210092464E-2</c:v>
                </c:pt>
                <c:pt idx="24">
                  <c:v>1.1964878306824245E-2</c:v>
                </c:pt>
                <c:pt idx="25">
                  <c:v>9.8300822615842165E-3</c:v>
                </c:pt>
                <c:pt idx="26">
                  <c:v>9.6592647400506326E-3</c:v>
                </c:pt>
                <c:pt idx="27">
                  <c:v>9.4884472185170488E-3</c:v>
                </c:pt>
                <c:pt idx="28">
                  <c:v>8.8771906452789207E-3</c:v>
                </c:pt>
                <c:pt idx="29">
                  <c:v>7.3889931106216888E-3</c:v>
                </c:pt>
                <c:pt idx="30">
                  <c:v>7.2764323463008207E-3</c:v>
                </c:pt>
                <c:pt idx="31">
                  <c:v>7.064146160208562E-3</c:v>
                </c:pt>
                <c:pt idx="32">
                  <c:v>6.5156213669168572E-3</c:v>
                </c:pt>
                <c:pt idx="33">
                  <c:v>5.1067395738515486E-3</c:v>
                </c:pt>
                <c:pt idx="34">
                  <c:v>5.0689447910130525E-3</c:v>
                </c:pt>
                <c:pt idx="35">
                  <c:v>4.9366734142775037E-3</c:v>
                </c:pt>
                <c:pt idx="36">
                  <c:v>4.8134009886806606E-3</c:v>
                </c:pt>
                <c:pt idx="37">
                  <c:v>4.6970719666856731E-3</c:v>
                </c:pt>
                <c:pt idx="38">
                  <c:v>4.5856711352627588E-3</c:v>
                </c:pt>
                <c:pt idx="39">
                  <c:v>4.4849411807768025E-3</c:v>
                </c:pt>
                <c:pt idx="40">
                  <c:v>4.3936359188108121E-3</c:v>
                </c:pt>
                <c:pt idx="41">
                  <c:v>4.304155807935528E-3</c:v>
                </c:pt>
                <c:pt idx="42">
                  <c:v>4.2234842401140948E-3</c:v>
                </c:pt>
                <c:pt idx="43">
                  <c:v>4.1592881874055188E-3</c:v>
                </c:pt>
                <c:pt idx="44">
                  <c:v>4.1063040423809927E-3</c:v>
                </c:pt>
                <c:pt idx="45">
                  <c:v>4.0717545610648997E-3</c:v>
                </c:pt>
                <c:pt idx="46">
                  <c:v>4.0455073845302447E-3</c:v>
                </c:pt>
                <c:pt idx="47">
                  <c:v>4.0189842602194048E-3</c:v>
                </c:pt>
                <c:pt idx="48">
                  <c:v>4.0033364261469195E-3</c:v>
                </c:pt>
                <c:pt idx="49">
                  <c:v>3.9944595746950196E-3</c:v>
                </c:pt>
                <c:pt idx="50">
                  <c:v>3.9984461734723364E-3</c:v>
                </c:pt>
                <c:pt idx="51">
                  <c:v>3.9092710452504065E-3</c:v>
                </c:pt>
                <c:pt idx="52">
                  <c:v>3.8302563502210507E-3</c:v>
                </c:pt>
                <c:pt idx="53">
                  <c:v>3.7602623064829643E-3</c:v>
                </c:pt>
                <c:pt idx="54">
                  <c:v>3.6979225170286067E-3</c:v>
                </c:pt>
                <c:pt idx="55">
                  <c:v>3.6434065560788653E-3</c:v>
                </c:pt>
                <c:pt idx="56">
                  <c:v>3.5946058136131498E-3</c:v>
                </c:pt>
                <c:pt idx="57">
                  <c:v>3.5526101001768229E-3</c:v>
                </c:pt>
                <c:pt idx="58">
                  <c:v>3.5181141804738747E-3</c:v>
                </c:pt>
                <c:pt idx="59">
                  <c:v>3.486126552295632E-3</c:v>
                </c:pt>
                <c:pt idx="60">
                  <c:v>3.4523690404584251E-3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2D-3FC3-6741-A08A-84696977F6F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51826816"/>
        <c:axId val="151828736"/>
      </c:lineChart>
      <c:catAx>
        <c:axId val="1518268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600" b="0" i="0" u="none" strike="noStrike" kern="120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fr-FR"/>
          </a:p>
        </c:txPr>
        <c:crossAx val="151828736"/>
        <c:crosses val="autoZero"/>
        <c:auto val="1"/>
        <c:lblAlgn val="ctr"/>
        <c:lblOffset val="100"/>
        <c:tickLblSkip val="10"/>
        <c:noMultiLvlLbl val="0"/>
      </c:catAx>
      <c:valAx>
        <c:axId val="151828736"/>
        <c:scaling>
          <c:orientation val="minMax"/>
          <c:max val="0.03"/>
          <c:min val="0"/>
        </c:scaling>
        <c:delete val="1"/>
        <c:axPos val="l"/>
        <c:numFmt formatCode="0%" sourceLinked="0"/>
        <c:majorTickMark val="out"/>
        <c:minorTickMark val="none"/>
        <c:tickLblPos val="nextTo"/>
        <c:crossAx val="151826816"/>
        <c:crosses val="autoZero"/>
        <c:crossBetween val="between"/>
        <c:majorUnit val="5.000000000000001E-3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bg1"/>
              </a:solidFill>
              <a:latin typeface="Questrial" pitchFamily="2" charset="77"/>
              <a:ea typeface="Questrial" pitchFamily="2" charset="77"/>
              <a:cs typeface="Questrial" pitchFamily="2" charset="77"/>
            </a:defRPr>
          </a:pPr>
          <a:endParaRPr lang="fr-F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600">
          <a:solidFill>
            <a:schemeClr val="bg1"/>
          </a:solidFill>
          <a:latin typeface="Questrial" pitchFamily="2" charset="77"/>
          <a:ea typeface="Questrial" pitchFamily="2" charset="77"/>
          <a:cs typeface="Questrial" pitchFamily="2" charset="77"/>
        </a:defRPr>
      </a:pPr>
      <a:endParaRPr lang="fr-FR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Feuil1!$B$1</c:f>
              <c:strCache>
                <c:ptCount val="1"/>
                <c:pt idx="0">
                  <c:v>Série 1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3.1071723082473707E-17"/>
                  <c:y val="-0.43262950861933053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800" b="0" i="0" u="none" strike="noStrike" kern="1200" baseline="0">
                        <a:solidFill>
                          <a:schemeClr val="bg1"/>
                        </a:solidFill>
                        <a:latin typeface="Questrial" pitchFamily="2" charset="77"/>
                        <a:ea typeface="Questrial" pitchFamily="2" charset="77"/>
                        <a:cs typeface="Questrial" pitchFamily="2" charset="77"/>
                      </a:defRPr>
                    </a:pPr>
                    <a:fld id="{D3F08DAB-D327-C546-9289-956D61407563}" type="VALUE">
                      <a:rPr lang="en-US" sz="1800" smtClean="0"/>
                      <a:pPr>
                        <a:defRPr sz="1800"/>
                      </a:pPr>
                      <a:t>[VALUE]</a:t>
                    </a:fld>
                    <a:r>
                      <a:rPr lang="en-US" sz="1800" dirty="0"/>
                      <a:t> €</a:t>
                    </a:r>
                  </a:p>
                </c:rich>
              </c:tx>
              <c:numFmt formatCode="#,##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800" b="0" i="0" u="none" strike="noStrike" kern="1200" baseline="0">
                      <a:solidFill>
                        <a:schemeClr val="bg1"/>
                      </a:solidFill>
                      <a:latin typeface="Questrial" pitchFamily="2" charset="77"/>
                      <a:ea typeface="Questrial" pitchFamily="2" charset="77"/>
                      <a:cs typeface="Questrial" pitchFamily="2" charset="77"/>
                    </a:defRPr>
                  </a:pPr>
                  <a:endParaRPr lang="fr-F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9683-D44A-A4D8-A6E355E33902}"/>
                </c:ext>
              </c:extLst>
            </c:dLbl>
            <c:dLbl>
              <c:idx val="1"/>
              <c:layout>
                <c:manualLayout>
                  <c:x val="-1.6948408377638296E-3"/>
                  <c:y val="-0.3069330973312818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2000" b="0" i="0" u="none" strike="noStrike" kern="1200" baseline="0">
                        <a:solidFill>
                          <a:schemeClr val="bg1"/>
                        </a:solidFill>
                        <a:latin typeface="Questrial" pitchFamily="2" charset="77"/>
                        <a:ea typeface="Questrial" pitchFamily="2" charset="77"/>
                        <a:cs typeface="Questrial" pitchFamily="2" charset="77"/>
                      </a:defRPr>
                    </a:pPr>
                    <a:fld id="{F523000C-C033-A749-B69E-78569DC0BC8F}" type="VALUE">
                      <a:rPr lang="en-US" sz="2000" smtClean="0"/>
                      <a:pPr>
                        <a:defRPr sz="2000"/>
                      </a:pPr>
                      <a:t>[VALUE]</a:t>
                    </a:fld>
                    <a:r>
                      <a:rPr lang="en-US" sz="2000" dirty="0"/>
                      <a:t> €</a:t>
                    </a:r>
                  </a:p>
                </c:rich>
              </c:tx>
              <c:numFmt formatCode="#,##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2000" b="0" i="0" u="none" strike="noStrike" kern="1200" baseline="0">
                      <a:solidFill>
                        <a:schemeClr val="bg1"/>
                      </a:solidFill>
                      <a:latin typeface="Questrial" pitchFamily="2" charset="77"/>
                      <a:ea typeface="Questrial" pitchFamily="2" charset="77"/>
                      <a:cs typeface="Questrial" pitchFamily="2" charset="77"/>
                    </a:defRPr>
                  </a:pPr>
                  <a:endParaRPr lang="fr-F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9683-D44A-A4D8-A6E355E33902}"/>
                </c:ext>
              </c:extLst>
            </c:dLbl>
            <c:dLbl>
              <c:idx val="2"/>
              <c:layout>
                <c:manualLayout>
                  <c:x val="1.1863885864346807E-2"/>
                  <c:y val="-0.277853837657174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chemeClr val="bg1"/>
                        </a:solidFill>
                        <a:latin typeface="Questrial" pitchFamily="2" charset="77"/>
                        <a:ea typeface="Questrial" pitchFamily="2" charset="77"/>
                        <a:cs typeface="Questrial" pitchFamily="2" charset="77"/>
                      </a:defRPr>
                    </a:pPr>
                    <a:fld id="{83FD783A-F117-A744-B8BD-52700A98A56B}" type="VALUE">
                      <a:rPr lang="en-US" sz="1800" smtClean="0"/>
                      <a:pPr>
                        <a:defRPr sz="900"/>
                      </a:pPr>
                      <a:t>[VALUE]</a:t>
                    </a:fld>
                    <a:r>
                      <a:rPr lang="en-US" sz="1800" dirty="0"/>
                      <a:t> € </a:t>
                    </a:r>
                  </a:p>
                </c:rich>
              </c:tx>
              <c:numFmt formatCode="#,##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Questrial" pitchFamily="2" charset="77"/>
                      <a:ea typeface="Questrial" pitchFamily="2" charset="77"/>
                      <a:cs typeface="Questrial" pitchFamily="2" charset="77"/>
                    </a:defRPr>
                  </a:pPr>
                  <a:endParaRPr lang="fr-F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9683-D44A-A4D8-A6E355E3390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endParaRPr lang="fr-F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Feuil1!$A$2:$A$4</c:f>
              <c:strCache>
                <c:ptCount val="3"/>
                <c:pt idx="0">
                  <c:v>Génération 1940</c:v>
                </c:pt>
                <c:pt idx="1">
                  <c:v>Génération 1970</c:v>
                </c:pt>
                <c:pt idx="2">
                  <c:v>Génération 2000</c:v>
                </c:pt>
              </c:strCache>
            </c:strRef>
          </c:cat>
          <c:val>
            <c:numRef>
              <c:f>Feuil1!$B$2:$B$4</c:f>
              <c:numCache>
                <c:formatCode>General</c:formatCode>
                <c:ptCount val="3"/>
                <c:pt idx="0">
                  <c:v>448021</c:v>
                </c:pt>
                <c:pt idx="1">
                  <c:v>300783</c:v>
                </c:pt>
                <c:pt idx="2">
                  <c:v>275319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683-D44A-A4D8-A6E355E33902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622786176"/>
        <c:axId val="622581232"/>
      </c:barChart>
      <c:catAx>
        <c:axId val="6227861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fr-FR"/>
          </a:p>
        </c:txPr>
        <c:crossAx val="622581232"/>
        <c:crosses val="autoZero"/>
        <c:auto val="1"/>
        <c:lblAlgn val="ctr"/>
        <c:lblOffset val="100"/>
        <c:noMultiLvlLbl val="0"/>
      </c:catAx>
      <c:valAx>
        <c:axId val="622581232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r>
                  <a:rPr lang="fr-FR" sz="1200" dirty="0"/>
                  <a:t>Capital</a:t>
                </a:r>
                <a:r>
                  <a:rPr lang="fr-FR" sz="1200" baseline="0" dirty="0"/>
                  <a:t> accumulé (€)</a:t>
                </a:r>
                <a:endParaRPr lang="fr-FR" sz="1200" dirty="0"/>
              </a:p>
            </c:rich>
          </c:tx>
          <c:layout>
            <c:manualLayout>
              <c:xMode val="edge"/>
              <c:yMode val="edge"/>
              <c:x val="0"/>
              <c:y val="0.28452180237743679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bg1"/>
                  </a:solidFill>
                  <a:latin typeface="Questrial" pitchFamily="2" charset="77"/>
                  <a:ea typeface="Questrial" pitchFamily="2" charset="77"/>
                  <a:cs typeface="Questrial" pitchFamily="2" charset="77"/>
                </a:defRPr>
              </a:pPr>
              <a:endParaRPr lang="fr-FR"/>
            </a:p>
          </c:txPr>
        </c:title>
        <c:numFmt formatCode="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fr-FR"/>
          </a:p>
        </c:txPr>
        <c:crossAx val="6227861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bg1"/>
          </a:solidFill>
          <a:latin typeface="Questrial" pitchFamily="2" charset="77"/>
          <a:ea typeface="Questrial" pitchFamily="2" charset="77"/>
          <a:cs typeface="Questrial" pitchFamily="2" charset="77"/>
        </a:defRPr>
      </a:pPr>
      <a:endParaRPr lang="fr-FR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60" b="0" i="0" u="none" strike="noStrike" kern="1200" spc="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r>
              <a:rPr lang="fr-FR" dirty="0"/>
              <a:t>Si j'investis 1 000€ aujourd'hui, </a:t>
            </a:r>
          </a:p>
          <a:p>
            <a:pPr>
              <a:defRPr/>
            </a:pPr>
            <a:r>
              <a:rPr lang="fr-FR" dirty="0"/>
              <a:t>je récupère plus de 7 000€ dans 40 ans</a:t>
            </a:r>
            <a:r>
              <a:rPr lang="fr-FR" baseline="0" dirty="0"/>
              <a:t> </a:t>
            </a:r>
          </a:p>
          <a:p>
            <a:pPr>
              <a:defRPr/>
            </a:pPr>
            <a:r>
              <a:rPr lang="fr-FR" baseline="0" dirty="0"/>
              <a:t>(à </a:t>
            </a:r>
            <a:r>
              <a:rPr lang="fr-FR" baseline="0"/>
              <a:t>5%/an</a:t>
            </a:r>
            <a:r>
              <a:rPr lang="fr-FR" baseline="0" dirty="0"/>
              <a:t>)</a:t>
            </a:r>
            <a:endParaRPr lang="fr-FR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60" b="0" i="0" u="none" strike="noStrike" kern="1200" spc="0" baseline="0">
              <a:solidFill>
                <a:schemeClr val="bg1"/>
              </a:solidFill>
              <a:latin typeface="Questrial" pitchFamily="2" charset="77"/>
              <a:ea typeface="Questrial" pitchFamily="2" charset="77"/>
              <a:cs typeface="Questrial" pitchFamily="2" charset="77"/>
            </a:defRPr>
          </a:pPr>
          <a:endParaRPr lang="fr-F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CA2E4D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Capitalisation!$A$7:$A$11</c:f>
              <c:strCache>
                <c:ptCount val="5"/>
                <c:pt idx="0">
                  <c:v>1 an</c:v>
                </c:pt>
                <c:pt idx="1">
                  <c:v>10 ans</c:v>
                </c:pt>
                <c:pt idx="2">
                  <c:v>20 ans</c:v>
                </c:pt>
                <c:pt idx="3">
                  <c:v>30 ans</c:v>
                </c:pt>
                <c:pt idx="4">
                  <c:v>40 ans</c:v>
                </c:pt>
              </c:strCache>
            </c:strRef>
          </c:cat>
          <c:val>
            <c:numRef>
              <c:f>Capitalisation!$D$7:$D$11</c:f>
              <c:numCache>
                <c:formatCode>_ * #\ ##0_)_ ;_ * \(#\ ##0\)_ ;_ * "-"??_)_ ;_ @_ </c:formatCode>
                <c:ptCount val="5"/>
                <c:pt idx="0">
                  <c:v>1050</c:v>
                </c:pt>
                <c:pt idx="1">
                  <c:v>1628.8946267774415</c:v>
                </c:pt>
                <c:pt idx="2">
                  <c:v>2653.2977051444209</c:v>
                </c:pt>
                <c:pt idx="3">
                  <c:v>4321.9423751506629</c:v>
                </c:pt>
                <c:pt idx="4">
                  <c:v>7039.9887121246493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16C-C84C-A93D-45847FB4CC3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820227919"/>
        <c:axId val="1819773407"/>
      </c:barChart>
      <c:catAx>
        <c:axId val="1820227919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r>
                  <a:rPr lang="fr-FR"/>
                  <a:t>Durée d'investissement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bg1"/>
                  </a:solidFill>
                  <a:latin typeface="Questrial" pitchFamily="2" charset="77"/>
                  <a:ea typeface="Questrial" pitchFamily="2" charset="77"/>
                  <a:cs typeface="Questrial" pitchFamily="2" charset="77"/>
                </a:defRPr>
              </a:pPr>
              <a:endParaRPr lang="fr-F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fr-FR"/>
          </a:p>
        </c:txPr>
        <c:crossAx val="1819773407"/>
        <c:crosses val="autoZero"/>
        <c:auto val="1"/>
        <c:lblAlgn val="ctr"/>
        <c:lblOffset val="100"/>
        <c:noMultiLvlLbl val="0"/>
      </c:catAx>
      <c:valAx>
        <c:axId val="1819773407"/>
        <c:scaling>
          <c:orientation val="minMax"/>
        </c:scaling>
        <c:delete val="0"/>
        <c:axPos val="l"/>
        <c:numFmt formatCode="_ * #\ ##0_)_ ;_ * \(#\ ##0\)_ ;_ * &quot;-&quot;??_)_ ;_ @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fr-FR"/>
          </a:p>
        </c:txPr>
        <c:crossAx val="182022791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800">
          <a:solidFill>
            <a:schemeClr val="bg1"/>
          </a:solidFill>
          <a:latin typeface="Questrial" pitchFamily="2" charset="77"/>
          <a:ea typeface="Questrial" pitchFamily="2" charset="77"/>
          <a:cs typeface="Questrial" pitchFamily="2" charset="77"/>
        </a:defRPr>
      </a:pPr>
      <a:endParaRPr lang="fr-FR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000" b="0" i="0" u="none" strike="noStrike" kern="1200" spc="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r>
              <a:rPr lang="en-US" sz="2000" dirty="0"/>
              <a:t>Age </a:t>
            </a:r>
            <a:r>
              <a:rPr lang="en-US" sz="2000" dirty="0" err="1"/>
              <a:t>auquel</a:t>
            </a:r>
            <a:r>
              <a:rPr lang="en-US" sz="2000" dirty="0"/>
              <a:t> </a:t>
            </a:r>
            <a:r>
              <a:rPr lang="en-US" sz="2000" dirty="0" err="1"/>
              <a:t>est</a:t>
            </a:r>
            <a:r>
              <a:rPr lang="en-US" sz="2000" dirty="0"/>
              <a:t> </a:t>
            </a:r>
            <a:r>
              <a:rPr lang="en-US" sz="2000" dirty="0" err="1"/>
              <a:t>obtenu</a:t>
            </a:r>
            <a:r>
              <a:rPr lang="en-US" sz="2000" dirty="0"/>
              <a:t> un capital de 500 000€ </a:t>
            </a:r>
            <a:r>
              <a:rPr lang="en-US" sz="2000" dirty="0" err="1"/>
              <a:t>en</a:t>
            </a:r>
            <a:r>
              <a:rPr lang="en-US" sz="2000" baseline="0" dirty="0"/>
              <a:t> </a:t>
            </a:r>
            <a:r>
              <a:rPr lang="en-US" sz="2000" baseline="0" dirty="0" err="1"/>
              <a:t>cotisant</a:t>
            </a:r>
            <a:r>
              <a:rPr lang="en-US" sz="2000" baseline="0" dirty="0"/>
              <a:t> 960€/</a:t>
            </a:r>
            <a:r>
              <a:rPr lang="en-US" sz="2000" baseline="0" dirty="0" err="1"/>
              <a:t>mois</a:t>
            </a:r>
            <a:r>
              <a:rPr lang="en-US" sz="2000" baseline="0" dirty="0"/>
              <a:t>, </a:t>
            </a:r>
            <a:r>
              <a:rPr lang="en-US" sz="2000" baseline="0" dirty="0" err="1"/>
              <a:t>en</a:t>
            </a:r>
            <a:r>
              <a:rPr lang="en-US" sz="2000" baseline="0" dirty="0"/>
              <a:t> </a:t>
            </a:r>
            <a:r>
              <a:rPr lang="en-US" sz="2000" baseline="0" dirty="0" err="1"/>
              <a:t>fonction</a:t>
            </a:r>
            <a:r>
              <a:rPr lang="en-US" sz="2000" baseline="0" dirty="0"/>
              <a:t> du </a:t>
            </a:r>
            <a:r>
              <a:rPr lang="en-US" sz="2000" baseline="0" dirty="0" err="1"/>
              <a:t>rendement</a:t>
            </a:r>
            <a:r>
              <a:rPr lang="en-US" sz="2000" baseline="0" dirty="0"/>
              <a:t> du capital</a:t>
            </a:r>
            <a:endParaRPr lang="en-US" sz="2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spc="0" baseline="0">
              <a:solidFill>
                <a:schemeClr val="bg1"/>
              </a:solidFill>
              <a:latin typeface="Questrial" pitchFamily="2" charset="77"/>
              <a:ea typeface="Questrial" pitchFamily="2" charset="77"/>
              <a:cs typeface="Questrial" pitchFamily="2" charset="77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1"/>
          <c:order val="0"/>
          <c:tx>
            <c:strRef>
              <c:f>'Age + faible'!$J$23</c:f>
              <c:strCache>
                <c:ptCount val="1"/>
                <c:pt idx="0">
                  <c:v>Age auquel ce capital est obtenu en capitalisation</c:v>
                </c:pt>
              </c:strCache>
            </c:strRef>
          </c:tx>
          <c:spPr>
            <a:solidFill>
              <a:srgbClr val="CA2E4D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119D-9B46-975D-872D678B345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'Age + faible'!$I$25:$I$33</c:f>
              <c:numCache>
                <c:formatCode>0%</c:formatCode>
                <c:ptCount val="9"/>
                <c:pt idx="0" formatCode="0.00%">
                  <c:v>3.0000000000000001E-3</c:v>
                </c:pt>
                <c:pt idx="1">
                  <c:v>0.01</c:v>
                </c:pt>
                <c:pt idx="2">
                  <c:v>0.02</c:v>
                </c:pt>
                <c:pt idx="3">
                  <c:v>0.03</c:v>
                </c:pt>
                <c:pt idx="4">
                  <c:v>0.04</c:v>
                </c:pt>
                <c:pt idx="5">
                  <c:v>0.05</c:v>
                </c:pt>
                <c:pt idx="6">
                  <c:v>6.0000000000000005E-2</c:v>
                </c:pt>
                <c:pt idx="7">
                  <c:v>7.0000000000000007E-2</c:v>
                </c:pt>
                <c:pt idx="8">
                  <c:v>0.08</c:v>
                </c:pt>
              </c:numCache>
            </c:numRef>
          </c:cat>
          <c:val>
            <c:numRef>
              <c:f>'Age + faible'!$J$25:$J$33</c:f>
              <c:numCache>
                <c:formatCode>0</c:formatCode>
                <c:ptCount val="9"/>
                <c:pt idx="0">
                  <c:v>62.809045359369755</c:v>
                </c:pt>
                <c:pt idx="1">
                  <c:v>58.090031418233011</c:v>
                </c:pt>
                <c:pt idx="2">
                  <c:v>53.343480039954386</c:v>
                </c:pt>
                <c:pt idx="3">
                  <c:v>49.949507659566024</c:v>
                </c:pt>
                <c:pt idx="4">
                  <c:v>47.372532680997509</c:v>
                </c:pt>
                <c:pt idx="5">
                  <c:v>45.333687297041621</c:v>
                </c:pt>
                <c:pt idx="6">
                  <c:v>43.671333642981423</c:v>
                </c:pt>
                <c:pt idx="7">
                  <c:v>42.28440369123993</c:v>
                </c:pt>
                <c:pt idx="8">
                  <c:v>41.106016012566357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19D-9B46-975D-872D678B345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085167423"/>
        <c:axId val="1084293727"/>
      </c:barChart>
      <c:catAx>
        <c:axId val="1085167423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r>
                  <a:rPr lang="fr-FR"/>
                  <a:t>Taux de rendement du capital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bg1"/>
                  </a:solidFill>
                  <a:latin typeface="Questrial" pitchFamily="2" charset="77"/>
                  <a:ea typeface="Questrial" pitchFamily="2" charset="77"/>
                  <a:cs typeface="Questrial" pitchFamily="2" charset="77"/>
                </a:defRPr>
              </a:pPr>
              <a:endParaRPr lang="fr-FR"/>
            </a:p>
          </c:txPr>
        </c:title>
        <c:numFmt formatCode="0.00%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fr-FR"/>
          </a:p>
        </c:txPr>
        <c:crossAx val="1084293727"/>
        <c:crosses val="autoZero"/>
        <c:auto val="1"/>
        <c:lblAlgn val="ctr"/>
        <c:lblOffset val="100"/>
        <c:noMultiLvlLbl val="0"/>
      </c:catAx>
      <c:valAx>
        <c:axId val="1084293727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r>
                  <a:rPr lang="fr-FR"/>
                  <a:t>Age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bg1"/>
                  </a:solidFill>
                  <a:latin typeface="Questrial" pitchFamily="2" charset="77"/>
                  <a:ea typeface="Questrial" pitchFamily="2" charset="77"/>
                  <a:cs typeface="Questrial" pitchFamily="2" charset="77"/>
                </a:defRPr>
              </a:pPr>
              <a:endParaRPr lang="fr-FR"/>
            </a:p>
          </c:txPr>
        </c:title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fr-FR"/>
          </a:p>
        </c:txPr>
        <c:crossAx val="108516742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bg1"/>
          </a:solidFill>
          <a:latin typeface="Questrial" pitchFamily="2" charset="77"/>
          <a:ea typeface="Questrial" pitchFamily="2" charset="77"/>
          <a:cs typeface="Questrial" pitchFamily="2" charset="77"/>
        </a:defRPr>
      </a:pPr>
      <a:endParaRPr lang="fr-FR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000" b="0" i="0" u="none" strike="noStrike" kern="1200" spc="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r>
              <a:rPr lang="fr-FR" sz="2000" dirty="0"/>
              <a:t>Cotisation</a:t>
            </a:r>
            <a:r>
              <a:rPr lang="fr-FR" sz="2000" baseline="0" dirty="0"/>
              <a:t> mensuelle nécessaire pour accumuler 500 000€ de capital, en fonction du taux de rendement du capital</a:t>
            </a:r>
            <a:endParaRPr lang="fr-FR" sz="2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spc="0" baseline="0">
              <a:solidFill>
                <a:schemeClr val="bg1"/>
              </a:solidFill>
              <a:latin typeface="Questrial" pitchFamily="2" charset="77"/>
              <a:ea typeface="Questrial" pitchFamily="2" charset="77"/>
              <a:cs typeface="Questrial" pitchFamily="2" charset="77"/>
            </a:defRPr>
          </a:pPr>
          <a:endParaRPr lang="fr-F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'Cotisation + faible'!$G$4</c:f>
              <c:strCache>
                <c:ptCount val="1"/>
                <c:pt idx="0">
                  <c:v>Cotisations mensuelles (euros)</c:v>
                </c:pt>
              </c:strCache>
            </c:strRef>
          </c:tx>
          <c:spPr>
            <a:solidFill>
              <a:srgbClr val="CA2E4D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E65F-B047-9FCC-B749C13F18F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'Cotisation + faible'!$F$6:$F$14</c:f>
              <c:numCache>
                <c:formatCode>0%</c:formatCode>
                <c:ptCount val="9"/>
                <c:pt idx="0" formatCode="0.0%">
                  <c:v>3.0000000000000001E-3</c:v>
                </c:pt>
                <c:pt idx="1">
                  <c:v>0.01</c:v>
                </c:pt>
                <c:pt idx="2">
                  <c:v>0.02</c:v>
                </c:pt>
                <c:pt idx="3">
                  <c:v>0.03</c:v>
                </c:pt>
                <c:pt idx="4">
                  <c:v>0.04</c:v>
                </c:pt>
                <c:pt idx="5">
                  <c:v>0.05</c:v>
                </c:pt>
                <c:pt idx="6">
                  <c:v>6.0000000000000005E-2</c:v>
                </c:pt>
                <c:pt idx="7">
                  <c:v>7.0000000000000007E-2</c:v>
                </c:pt>
                <c:pt idx="8">
                  <c:v>0.08</c:v>
                </c:pt>
              </c:numCache>
            </c:numRef>
          </c:cat>
          <c:val>
            <c:numRef>
              <c:f>'Cotisation + faible'!$G$6:$G$14</c:f>
              <c:numCache>
                <c:formatCode>0</c:formatCode>
                <c:ptCount val="9"/>
                <c:pt idx="0">
                  <c:v>908.03850065251379</c:v>
                </c:pt>
                <c:pt idx="1">
                  <c:v>776.75338218209299</c:v>
                </c:pt>
                <c:pt idx="2">
                  <c:v>614.79838838340333</c:v>
                </c:pt>
                <c:pt idx="3">
                  <c:v>480.84492970167139</c:v>
                </c:pt>
                <c:pt idx="4">
                  <c:v>371.97401463937263</c:v>
                </c:pt>
                <c:pt idx="5">
                  <c:v>284.91703333170727</c:v>
                </c:pt>
                <c:pt idx="6">
                  <c:v>216.32683848932501</c:v>
                </c:pt>
                <c:pt idx="7">
                  <c:v>162.99670605699646</c:v>
                </c:pt>
                <c:pt idx="8">
                  <c:v>122.01080620421854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65F-B047-9FCC-B749C13F18F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06101056"/>
        <c:axId val="106057520"/>
      </c:barChart>
      <c:catAx>
        <c:axId val="106101056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r>
                  <a:rPr lang="fr-FR"/>
                  <a:t>Taux de rendement du capital investi en capitalisation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bg1"/>
                  </a:solidFill>
                  <a:latin typeface="Questrial" pitchFamily="2" charset="77"/>
                  <a:ea typeface="Questrial" pitchFamily="2" charset="77"/>
                  <a:cs typeface="Questrial" pitchFamily="2" charset="77"/>
                </a:defRPr>
              </a:pPr>
              <a:endParaRPr lang="fr-FR"/>
            </a:p>
          </c:txPr>
        </c:title>
        <c:numFmt formatCode="0.0%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fr-FR"/>
          </a:p>
        </c:txPr>
        <c:crossAx val="106057520"/>
        <c:crosses val="autoZero"/>
        <c:auto val="1"/>
        <c:lblAlgn val="ctr"/>
        <c:lblOffset val="100"/>
        <c:noMultiLvlLbl val="0"/>
      </c:catAx>
      <c:valAx>
        <c:axId val="106057520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r>
                  <a:rPr lang="fr-FR" dirty="0"/>
                  <a:t>Cotisation</a:t>
                </a:r>
                <a:r>
                  <a:rPr lang="fr-FR" baseline="0" dirty="0"/>
                  <a:t> mensuelle (€)</a:t>
                </a:r>
                <a:endParaRPr lang="fr-FR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bg1"/>
                  </a:solidFill>
                  <a:latin typeface="Questrial" pitchFamily="2" charset="77"/>
                  <a:ea typeface="Questrial" pitchFamily="2" charset="77"/>
                  <a:cs typeface="Questrial" pitchFamily="2" charset="77"/>
                </a:defRPr>
              </a:pPr>
              <a:endParaRPr lang="fr-FR"/>
            </a:p>
          </c:txPr>
        </c:title>
        <c:numFmt formatCode="0" sourceLinked="1"/>
        <c:majorTickMark val="none"/>
        <c:minorTickMark val="none"/>
        <c:tickLblPos val="nextTo"/>
        <c:spPr>
          <a:noFill/>
          <a:ln>
            <a:solidFill>
              <a:schemeClr val="bg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fr-FR"/>
          </a:p>
        </c:txPr>
        <c:crossAx val="1061010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bg1"/>
          </a:solidFill>
          <a:latin typeface="Questrial" pitchFamily="2" charset="77"/>
          <a:ea typeface="Questrial" pitchFamily="2" charset="77"/>
          <a:cs typeface="Questrial" pitchFamily="2" charset="77"/>
        </a:defRPr>
      </a:pPr>
      <a:endParaRPr lang="fr-FR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0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'Rendements fonds de réserve'!$B$6:$B$20</c:f>
              <c:strCache>
                <c:ptCount val="15"/>
                <c:pt idx="0">
                  <c:v>Australia Future Fund</c:v>
                </c:pt>
                <c:pt idx="1">
                  <c:v>Canada Pension Plan Reserve Fund</c:v>
                </c:pt>
                <c:pt idx="2">
                  <c:v>Reserve of the Quebec Pension Plan</c:v>
                </c:pt>
                <c:pt idx="3">
                  <c:v>Chile Pension Reserve Fund</c:v>
                </c:pt>
                <c:pt idx="4">
                  <c:v>Finland Keva's pension liability fund</c:v>
                </c:pt>
                <c:pt idx="5">
                  <c:v>Finland State Pension Fund</c:v>
                </c:pt>
                <c:pt idx="6">
                  <c:v>France Fonds de Réserves pour les Retraites</c:v>
                </c:pt>
                <c:pt idx="7">
                  <c:v>Japan Government Pension Investment Fund</c:v>
                </c:pt>
                <c:pt idx="8">
                  <c:v>Korea National Pension Fund</c:v>
                </c:pt>
                <c:pt idx="9">
                  <c:v>Luxembourg Fonds de Compensation</c:v>
                </c:pt>
                <c:pt idx="10">
                  <c:v>New Zealand Superannuation Fund</c:v>
                </c:pt>
                <c:pt idx="11">
                  <c:v>Norway Government Pension Fund </c:v>
                </c:pt>
                <c:pt idx="12">
                  <c:v>Poland Demographic Reserve Fund</c:v>
                </c:pt>
                <c:pt idx="13">
                  <c:v>Suisse AHV Central Compensation Fund</c:v>
                </c:pt>
                <c:pt idx="14">
                  <c:v>USA Old-Age and Survivors Insurance Trust Fund</c:v>
                </c:pt>
              </c:strCache>
            </c:strRef>
          </c:cat>
          <c:val>
            <c:numRef>
              <c:f>'Rendements fonds de réserve'!$C$6:$C$20</c:f>
              <c:numCache>
                <c:formatCode>0.0%</c:formatCode>
                <c:ptCount val="15"/>
                <c:pt idx="0">
                  <c:v>8.900000000000001E-2</c:v>
                </c:pt>
                <c:pt idx="1">
                  <c:v>0.1</c:v>
                </c:pt>
                <c:pt idx="2">
                  <c:v>8.5000000000000006E-2</c:v>
                </c:pt>
                <c:pt idx="3">
                  <c:v>7.5999999999999998E-2</c:v>
                </c:pt>
                <c:pt idx="4">
                  <c:v>5.7000000000000002E-2</c:v>
                </c:pt>
                <c:pt idx="5">
                  <c:v>5.2999999999999999E-2</c:v>
                </c:pt>
                <c:pt idx="6">
                  <c:v>2.8999999999999998E-2</c:v>
                </c:pt>
                <c:pt idx="7">
                  <c:v>5.5E-2</c:v>
                </c:pt>
                <c:pt idx="8">
                  <c:v>4.7E-2</c:v>
                </c:pt>
                <c:pt idx="9">
                  <c:v>4.2999999999999997E-2</c:v>
                </c:pt>
                <c:pt idx="10">
                  <c:v>0.10800000000000001</c:v>
                </c:pt>
                <c:pt idx="11">
                  <c:v>8.199999999999999E-2</c:v>
                </c:pt>
                <c:pt idx="12">
                  <c:v>0.02</c:v>
                </c:pt>
                <c:pt idx="13">
                  <c:v>2.5000000000000001E-2</c:v>
                </c:pt>
                <c:pt idx="14">
                  <c:v>0.03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060-2E45-9CA9-B9A6AFFF6A3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97463936"/>
        <c:axId val="398081200"/>
      </c:barChart>
      <c:catAx>
        <c:axId val="3974639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fr-FR"/>
          </a:p>
        </c:txPr>
        <c:crossAx val="398081200"/>
        <c:crosses val="autoZero"/>
        <c:auto val="1"/>
        <c:lblAlgn val="ctr"/>
        <c:lblOffset val="100"/>
        <c:noMultiLvlLbl val="0"/>
      </c:catAx>
      <c:valAx>
        <c:axId val="398081200"/>
        <c:scaling>
          <c:orientation val="minMax"/>
        </c:scaling>
        <c:delete val="0"/>
        <c:axPos val="l"/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fr-FR"/>
          </a:p>
        </c:txPr>
        <c:crossAx val="3974639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700">
          <a:solidFill>
            <a:schemeClr val="bg1"/>
          </a:solidFill>
          <a:latin typeface="Questrial" pitchFamily="2" charset="77"/>
          <a:ea typeface="Questrial" pitchFamily="2" charset="77"/>
          <a:cs typeface="Questrial" pitchFamily="2" charset="77"/>
        </a:defRPr>
      </a:pPr>
      <a:endParaRPr lang="fr-FR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Feuil1!$B$1</c:f>
              <c:strCache>
                <c:ptCount val="1"/>
                <c:pt idx="0">
                  <c:v>Part répartition</c:v>
                </c:pt>
              </c:strCache>
            </c:strRef>
          </c:tx>
          <c:spPr>
            <a:solidFill>
              <a:schemeClr val="bg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Feuil1!$A$2:$A$5</c:f>
              <c:strCache>
                <c:ptCount val="4"/>
                <c:pt idx="0">
                  <c:v>100% capitalisation</c:v>
                </c:pt>
                <c:pt idx="1">
                  <c:v>66% capitalisation</c:v>
                </c:pt>
                <c:pt idx="2">
                  <c:v>33% capitalisation</c:v>
                </c:pt>
                <c:pt idx="3">
                  <c:v>100% répartition</c:v>
                </c:pt>
              </c:strCache>
            </c:strRef>
          </c:cat>
          <c:val>
            <c:numRef>
              <c:f>Feuil1!$B$2:$B$5</c:f>
              <c:numCache>
                <c:formatCode>0.00</c:formatCode>
                <c:ptCount val="4"/>
                <c:pt idx="0" formatCode="_-* #\ ##0_-;\-* #\ ##0_-;_-* &quot;-&quot;??_-;_-@_-">
                  <c:v>0</c:v>
                </c:pt>
                <c:pt idx="1">
                  <c:v>90855</c:v>
                </c:pt>
                <c:pt idx="2" formatCode="General">
                  <c:v>181710</c:v>
                </c:pt>
                <c:pt idx="3" formatCode="_-* #\ ##0_-;\-* #\ ##0_-;_-* &quot;-&quot;??_-;_-@_-">
                  <c:v>275319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C45-704B-98FB-A582D752EB6B}"/>
            </c:ext>
          </c:extLst>
        </c:ser>
        <c:ser>
          <c:idx val="1"/>
          <c:order val="1"/>
          <c:tx>
            <c:strRef>
              <c:f>Feuil1!$C$1</c:f>
              <c:strCache>
                <c:ptCount val="1"/>
                <c:pt idx="0">
                  <c:v>Part capitalisation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Feuil1!$A$2:$A$5</c:f>
              <c:strCache>
                <c:ptCount val="4"/>
                <c:pt idx="0">
                  <c:v>100% capitalisation</c:v>
                </c:pt>
                <c:pt idx="1">
                  <c:v>66% capitalisation</c:v>
                </c:pt>
                <c:pt idx="2">
                  <c:v>33% capitalisation</c:v>
                </c:pt>
                <c:pt idx="3">
                  <c:v>100% répartition</c:v>
                </c:pt>
              </c:strCache>
            </c:strRef>
          </c:cat>
          <c:val>
            <c:numRef>
              <c:f>Feuil1!$C$2:$C$5</c:f>
              <c:numCache>
                <c:formatCode>0.00</c:formatCode>
                <c:ptCount val="4"/>
                <c:pt idx="0" formatCode="_-* #\ ##0_-;\-* #\ ##0_-;_-* &quot;-&quot;??_-;_-@_-">
                  <c:v>877448</c:v>
                </c:pt>
                <c:pt idx="1">
                  <c:v>579116</c:v>
                </c:pt>
                <c:pt idx="2" formatCode="General">
                  <c:v>289558</c:v>
                </c:pt>
                <c:pt idx="3" formatCode="_-* #\ ##0_-;\-* #\ ##0_-;_-* &quot;-&quot;??_-;_-@_-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EC45-704B-98FB-A582D752EB6B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622786176"/>
        <c:axId val="622581232"/>
      </c:barChart>
      <c:catAx>
        <c:axId val="6227861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fr-FR"/>
          </a:p>
        </c:txPr>
        <c:crossAx val="622581232"/>
        <c:crosses val="autoZero"/>
        <c:auto val="1"/>
        <c:lblAlgn val="ctr"/>
        <c:lblOffset val="100"/>
        <c:noMultiLvlLbl val="0"/>
      </c:catAx>
      <c:valAx>
        <c:axId val="622581232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r>
                  <a:rPr lang="fr-FR" sz="1200" dirty="0"/>
                  <a:t>Capital</a:t>
                </a:r>
                <a:r>
                  <a:rPr lang="fr-FR" sz="1200" baseline="0" dirty="0"/>
                  <a:t> accumulé (€)</a:t>
                </a:r>
                <a:endParaRPr lang="fr-FR" sz="1200" dirty="0"/>
              </a:p>
            </c:rich>
          </c:tx>
          <c:layout>
            <c:manualLayout>
              <c:xMode val="edge"/>
              <c:yMode val="edge"/>
              <c:x val="0"/>
              <c:y val="0.28452180237743679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bg1"/>
                  </a:solidFill>
                  <a:latin typeface="Questrial" pitchFamily="2" charset="77"/>
                  <a:ea typeface="Questrial" pitchFamily="2" charset="77"/>
                  <a:cs typeface="Questrial" pitchFamily="2" charset="77"/>
                </a:defRPr>
              </a:pPr>
              <a:endParaRPr lang="fr-FR"/>
            </a:p>
          </c:txPr>
        </c:title>
        <c:numFmt formatCode="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fr-FR"/>
          </a:p>
        </c:txPr>
        <c:crossAx val="6227861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bg1"/>
          </a:solidFill>
          <a:latin typeface="Questrial" pitchFamily="2" charset="77"/>
          <a:ea typeface="Questrial" pitchFamily="2" charset="77"/>
          <a:cs typeface="Questrial" pitchFamily="2" charset="77"/>
        </a:defRPr>
      </a:pPr>
      <a:endParaRPr lang="fr-FR"/>
    </a:p>
  </c:txPr>
  <c:externalData r:id="rId3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80" b="0" i="0" u="none" strike="noStrike" kern="1200" spc="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r>
              <a:rPr lang="en-US"/>
              <a:t>Age auquel est obtenu un capital de 500 000€ en cotisant 960€/mois, en fonction du rendement du capital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80" b="0" i="0" u="none" strike="noStrike" kern="1200" spc="0" baseline="0">
              <a:solidFill>
                <a:schemeClr val="bg1"/>
              </a:solidFill>
              <a:latin typeface="Questrial" pitchFamily="2" charset="77"/>
              <a:ea typeface="Questrial" pitchFamily="2" charset="77"/>
              <a:cs typeface="Questrial" pitchFamily="2" charset="77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1"/>
          <c:order val="0"/>
          <c:tx>
            <c:strRef>
              <c:f>'Age + faible'!$J$23</c:f>
              <c:strCache>
                <c:ptCount val="1"/>
                <c:pt idx="0">
                  <c:v>Age auquel ce capital est obtenu en capitalisation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EB46-A746-904D-F74D39F9217F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'Age + faible'!$I$25:$I$33</c:f>
              <c:numCache>
                <c:formatCode>0%</c:formatCode>
                <c:ptCount val="9"/>
                <c:pt idx="0" formatCode="0.00%">
                  <c:v>3.0000000000000001E-3</c:v>
                </c:pt>
                <c:pt idx="1">
                  <c:v>0.01</c:v>
                </c:pt>
                <c:pt idx="2">
                  <c:v>0.02</c:v>
                </c:pt>
                <c:pt idx="3">
                  <c:v>0.03</c:v>
                </c:pt>
                <c:pt idx="4">
                  <c:v>0.04</c:v>
                </c:pt>
                <c:pt idx="5">
                  <c:v>0.05</c:v>
                </c:pt>
                <c:pt idx="6">
                  <c:v>6.0000000000000005E-2</c:v>
                </c:pt>
                <c:pt idx="7">
                  <c:v>7.0000000000000007E-2</c:v>
                </c:pt>
                <c:pt idx="8">
                  <c:v>0.08</c:v>
                </c:pt>
              </c:numCache>
            </c:numRef>
          </c:cat>
          <c:val>
            <c:numRef>
              <c:f>'Age + faible'!$J$25:$J$33</c:f>
              <c:numCache>
                <c:formatCode>0</c:formatCode>
                <c:ptCount val="9"/>
                <c:pt idx="0">
                  <c:v>62.809045359369755</c:v>
                </c:pt>
                <c:pt idx="1">
                  <c:v>58.090031418233011</c:v>
                </c:pt>
                <c:pt idx="2">
                  <c:v>53.343480039954386</c:v>
                </c:pt>
                <c:pt idx="3">
                  <c:v>49.949507659566024</c:v>
                </c:pt>
                <c:pt idx="4">
                  <c:v>47.372532680997509</c:v>
                </c:pt>
                <c:pt idx="5">
                  <c:v>45.333687297041621</c:v>
                </c:pt>
                <c:pt idx="6">
                  <c:v>43.671333642981423</c:v>
                </c:pt>
                <c:pt idx="7">
                  <c:v>42.28440369123993</c:v>
                </c:pt>
                <c:pt idx="8">
                  <c:v>41.106016012566357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B46-A746-904D-F74D39F921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085167423"/>
        <c:axId val="1084293727"/>
      </c:barChart>
      <c:catAx>
        <c:axId val="1085167423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r>
                  <a:rPr lang="fr-FR"/>
                  <a:t>Taux de rendement du capital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bg1"/>
                  </a:solidFill>
                  <a:latin typeface="Questrial" pitchFamily="2" charset="77"/>
                  <a:ea typeface="Questrial" pitchFamily="2" charset="77"/>
                  <a:cs typeface="Questrial" pitchFamily="2" charset="77"/>
                </a:defRPr>
              </a:pPr>
              <a:endParaRPr lang="fr-FR"/>
            </a:p>
          </c:txPr>
        </c:title>
        <c:numFmt formatCode="0.00%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fr-FR"/>
          </a:p>
        </c:txPr>
        <c:crossAx val="1084293727"/>
        <c:crosses val="autoZero"/>
        <c:auto val="1"/>
        <c:lblAlgn val="ctr"/>
        <c:lblOffset val="100"/>
        <c:noMultiLvlLbl val="0"/>
      </c:catAx>
      <c:valAx>
        <c:axId val="1084293727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r>
                  <a:rPr lang="fr-FR"/>
                  <a:t>Age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bg1"/>
                  </a:solidFill>
                  <a:latin typeface="Questrial" pitchFamily="2" charset="77"/>
                  <a:ea typeface="Questrial" pitchFamily="2" charset="77"/>
                  <a:cs typeface="Questrial" pitchFamily="2" charset="77"/>
                </a:defRPr>
              </a:pPr>
              <a:endParaRPr lang="fr-FR"/>
            </a:p>
          </c:txPr>
        </c:title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fr-FR"/>
          </a:p>
        </c:txPr>
        <c:crossAx val="108516742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400">
          <a:solidFill>
            <a:schemeClr val="bg1"/>
          </a:solidFill>
          <a:latin typeface="Questrial" pitchFamily="2" charset="77"/>
          <a:ea typeface="Questrial" pitchFamily="2" charset="77"/>
          <a:cs typeface="Questrial" pitchFamily="2" charset="77"/>
        </a:defRPr>
      </a:pPr>
      <a:endParaRPr lang="fr-FR"/>
    </a:p>
  </c:txPr>
  <c:externalData r:id="rId3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80" b="0" i="0" u="none" strike="noStrike" kern="1200" spc="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r>
              <a:rPr lang="fr-FR"/>
              <a:t>Part des dépenses privées dans le total des dépenses de retraite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80" b="0" i="0" u="none" strike="noStrike" kern="1200" spc="0" baseline="0">
              <a:solidFill>
                <a:schemeClr val="bg1"/>
              </a:solidFill>
              <a:latin typeface="Questrial" pitchFamily="2" charset="77"/>
              <a:ea typeface="Questrial" pitchFamily="2" charset="77"/>
              <a:cs typeface="Questrial" pitchFamily="2" charset="77"/>
            </a:defRPr>
          </a:pPr>
          <a:endParaRPr lang="fr-F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'Retraites % PIB OCDE'!$D$15</c:f>
              <c:strCache>
                <c:ptCount val="1"/>
                <c:pt idx="0">
                  <c:v>France</c:v>
                </c:pt>
              </c:strCache>
            </c:strRef>
          </c:tx>
          <c:spPr>
            <a:solidFill>
              <a:schemeClr val="bg1"/>
            </a:solidFill>
            <a:ln>
              <a:noFill/>
            </a:ln>
            <a:effectLst/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'Retraites % PIB OCDE'!$N$15</c:f>
              <c:strCache>
                <c:ptCount val="1"/>
                <c:pt idx="0">
                  <c:v>Canada</c:v>
                </c:pt>
              </c:strCache>
            </c:strRef>
          </c:cat>
          <c:val>
            <c:numRef>
              <c:f>'Retraites % PIB OCDE'!$D$19</c:f>
              <c:numCache>
                <c:formatCode>0.0%</c:formatCode>
                <c:ptCount val="1"/>
                <c:pt idx="0">
                  <c:v>1.8125177003681679E-2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830-FC4F-9CD7-37109998B53E}"/>
            </c:ext>
          </c:extLst>
        </c:ser>
        <c:ser>
          <c:idx val="1"/>
          <c:order val="1"/>
          <c:tx>
            <c:strRef>
              <c:f>'Retraites % PIB OCDE'!$E$15</c:f>
              <c:strCache>
                <c:ptCount val="1"/>
                <c:pt idx="0">
                  <c:v>Espagne</c:v>
                </c:pt>
              </c:strCache>
            </c:strRef>
          </c:tx>
          <c:spPr>
            <a:solidFill>
              <a:srgbClr val="CA2E4D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'Retraites % PIB OCDE'!$N$15</c:f>
              <c:strCache>
                <c:ptCount val="1"/>
                <c:pt idx="0">
                  <c:v>Canada</c:v>
                </c:pt>
              </c:strCache>
            </c:strRef>
          </c:cat>
          <c:val>
            <c:numRef>
              <c:f>'Retraites % PIB OCDE'!$E$19</c:f>
              <c:numCache>
                <c:formatCode>0.0%</c:formatCode>
                <c:ptCount val="1"/>
                <c:pt idx="0">
                  <c:v>2.2275389819321839E-2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830-FC4F-9CD7-37109998B53E}"/>
            </c:ext>
          </c:extLst>
        </c:ser>
        <c:ser>
          <c:idx val="2"/>
          <c:order val="2"/>
          <c:tx>
            <c:strRef>
              <c:f>'Retraites % PIB OCDE'!$G$15</c:f>
              <c:strCache>
                <c:ptCount val="1"/>
                <c:pt idx="0">
                  <c:v>Allemagne</c:v>
                </c:pt>
              </c:strCache>
            </c:strRef>
          </c:tx>
          <c:spPr>
            <a:solidFill>
              <a:srgbClr val="CA2E4D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'Retraites % PIB OCDE'!$N$15</c:f>
              <c:strCache>
                <c:ptCount val="1"/>
                <c:pt idx="0">
                  <c:v>Canada</c:v>
                </c:pt>
              </c:strCache>
            </c:strRef>
          </c:cat>
          <c:val>
            <c:numRef>
              <c:f>'Retraites % PIB OCDE'!$G$19</c:f>
              <c:numCache>
                <c:formatCode>0.0%</c:formatCode>
                <c:ptCount val="1"/>
                <c:pt idx="0">
                  <c:v>6.1513484260846039E-2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830-FC4F-9CD7-37109998B53E}"/>
            </c:ext>
          </c:extLst>
        </c:ser>
        <c:ser>
          <c:idx val="3"/>
          <c:order val="3"/>
          <c:tx>
            <c:strRef>
              <c:f>'Retraites % PIB OCDE'!$C$15</c:f>
              <c:strCache>
                <c:ptCount val="1"/>
                <c:pt idx="0">
                  <c:v>Italie</c:v>
                </c:pt>
              </c:strCache>
            </c:strRef>
          </c:tx>
          <c:spPr>
            <a:solidFill>
              <a:srgbClr val="CA2E4D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'Retraites % PIB OCDE'!$N$15</c:f>
              <c:strCache>
                <c:ptCount val="1"/>
                <c:pt idx="0">
                  <c:v>Canada</c:v>
                </c:pt>
              </c:strCache>
            </c:strRef>
          </c:cat>
          <c:val>
            <c:numRef>
              <c:f>'Retraites % PIB OCDE'!$C$19</c:f>
              <c:numCache>
                <c:formatCode>0.0%</c:formatCode>
                <c:ptCount val="1"/>
                <c:pt idx="0">
                  <c:v>6.5076302403087163E-2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830-FC4F-9CD7-37109998B53E}"/>
            </c:ext>
          </c:extLst>
        </c:ser>
        <c:ser>
          <c:idx val="4"/>
          <c:order val="4"/>
          <c:tx>
            <c:strRef>
              <c:f>'Retraites % PIB OCDE'!$F$15</c:f>
              <c:strCache>
                <c:ptCount val="1"/>
                <c:pt idx="0">
                  <c:v>Belgique</c:v>
                </c:pt>
              </c:strCache>
            </c:strRef>
          </c:tx>
          <c:spPr>
            <a:solidFill>
              <a:srgbClr val="CA2E4D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'Retraites % PIB OCDE'!$N$15</c:f>
              <c:strCache>
                <c:ptCount val="1"/>
                <c:pt idx="0">
                  <c:v>Canada</c:v>
                </c:pt>
              </c:strCache>
            </c:strRef>
          </c:cat>
          <c:val>
            <c:numRef>
              <c:f>'Retraites % PIB OCDE'!$F$19</c:f>
              <c:numCache>
                <c:formatCode>0.0%</c:formatCode>
                <c:ptCount val="1"/>
                <c:pt idx="0">
                  <c:v>7.0265570660765109E-2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830-FC4F-9CD7-37109998B53E}"/>
            </c:ext>
          </c:extLst>
        </c:ser>
        <c:ser>
          <c:idx val="6"/>
          <c:order val="5"/>
          <c:tx>
            <c:strRef>
              <c:f>'Retraites % PIB OCDE'!$J$15</c:f>
              <c:strCache>
                <c:ptCount val="1"/>
                <c:pt idx="0">
                  <c:v>OCDE</c:v>
                </c:pt>
              </c:strCache>
            </c:strRef>
          </c:tx>
          <c:spPr>
            <a:solidFill>
              <a:srgbClr val="CA2E4D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'Retraites % PIB OCDE'!$N$15</c:f>
              <c:strCache>
                <c:ptCount val="1"/>
                <c:pt idx="0">
                  <c:v>Canada</c:v>
                </c:pt>
              </c:strCache>
            </c:strRef>
          </c:cat>
          <c:val>
            <c:numRef>
              <c:f>'Retraites % PIB OCDE'!$J$19</c:f>
              <c:numCache>
                <c:formatCode>0.0%</c:formatCode>
                <c:ptCount val="1"/>
                <c:pt idx="0">
                  <c:v>0.17999999999999997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8830-FC4F-9CD7-37109998B53E}"/>
            </c:ext>
          </c:extLst>
        </c:ser>
        <c:ser>
          <c:idx val="5"/>
          <c:order val="6"/>
          <c:tx>
            <c:strRef>
              <c:f>'Retraites % PIB OCDE'!$H$15</c:f>
              <c:strCache>
                <c:ptCount val="1"/>
                <c:pt idx="0">
                  <c:v>Japon</c:v>
                </c:pt>
              </c:strCache>
            </c:strRef>
          </c:tx>
          <c:spPr>
            <a:solidFill>
              <a:srgbClr val="CA2E4D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'Retraites % PIB OCDE'!$N$15</c:f>
              <c:strCache>
                <c:ptCount val="1"/>
                <c:pt idx="0">
                  <c:v>Canada</c:v>
                </c:pt>
              </c:strCache>
            </c:strRef>
          </c:cat>
          <c:val>
            <c:numRef>
              <c:f>'Retraites % PIB OCDE'!$H$19</c:f>
              <c:numCache>
                <c:formatCode>0.0%</c:formatCode>
                <c:ptCount val="1"/>
                <c:pt idx="0">
                  <c:v>0.21411571604431676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830-FC4F-9CD7-37109998B53E}"/>
            </c:ext>
          </c:extLst>
        </c:ser>
        <c:ser>
          <c:idx val="7"/>
          <c:order val="7"/>
          <c:tx>
            <c:strRef>
              <c:f>'Retraites % PIB OCDE'!$I$15</c:f>
              <c:strCache>
                <c:ptCount val="1"/>
                <c:pt idx="0">
                  <c:v>Suède</c:v>
                </c:pt>
              </c:strCache>
            </c:strRef>
          </c:tx>
          <c:spPr>
            <a:solidFill>
              <a:srgbClr val="CA2E4D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'Retraites % PIB OCDE'!$N$15</c:f>
              <c:strCache>
                <c:ptCount val="1"/>
                <c:pt idx="0">
                  <c:v>Canada</c:v>
                </c:pt>
              </c:strCache>
            </c:strRef>
          </c:cat>
          <c:val>
            <c:numRef>
              <c:f>'Retraites % PIB OCDE'!$I$19</c:f>
              <c:numCache>
                <c:formatCode>0.0%</c:formatCode>
                <c:ptCount val="1"/>
                <c:pt idx="0">
                  <c:v>0.23758081676078238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8830-FC4F-9CD7-37109998B53E}"/>
            </c:ext>
          </c:extLst>
        </c:ser>
        <c:ser>
          <c:idx val="8"/>
          <c:order val="8"/>
          <c:tx>
            <c:strRef>
              <c:f>'Retraites % PIB OCDE'!$L$15</c:f>
              <c:strCache>
                <c:ptCount val="1"/>
                <c:pt idx="0">
                  <c:v>Pays-Bas</c:v>
                </c:pt>
              </c:strCache>
            </c:strRef>
          </c:tx>
          <c:spPr>
            <a:solidFill>
              <a:srgbClr val="CA2E4D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'Retraites % PIB OCDE'!$N$15</c:f>
              <c:strCache>
                <c:ptCount val="1"/>
                <c:pt idx="0">
                  <c:v>Canada</c:v>
                </c:pt>
              </c:strCache>
            </c:strRef>
          </c:cat>
          <c:val>
            <c:numRef>
              <c:f>'Retraites % PIB OCDE'!$L$19</c:f>
              <c:numCache>
                <c:formatCode>0.0%</c:formatCode>
                <c:ptCount val="1"/>
                <c:pt idx="0">
                  <c:v>0.43012106537530259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830-FC4F-9CD7-37109998B53E}"/>
            </c:ext>
          </c:extLst>
        </c:ser>
        <c:ser>
          <c:idx val="9"/>
          <c:order val="9"/>
          <c:tx>
            <c:strRef>
              <c:f>'Retraites % PIB OCDE'!$K$15</c:f>
              <c:strCache>
                <c:ptCount val="1"/>
                <c:pt idx="0">
                  <c:v>Etats-Unis</c:v>
                </c:pt>
              </c:strCache>
            </c:strRef>
          </c:tx>
          <c:spPr>
            <a:solidFill>
              <a:srgbClr val="CA2E4D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'Retraites % PIB OCDE'!$N$15</c:f>
              <c:strCache>
                <c:ptCount val="1"/>
                <c:pt idx="0">
                  <c:v>Canada</c:v>
                </c:pt>
              </c:strCache>
            </c:strRef>
          </c:cat>
          <c:val>
            <c:numRef>
              <c:f>'Retraites % PIB OCDE'!$K$19</c:f>
              <c:numCache>
                <c:formatCode>0.0%</c:formatCode>
                <c:ptCount val="1"/>
                <c:pt idx="0">
                  <c:v>0.43993698306419843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8830-FC4F-9CD7-37109998B53E}"/>
            </c:ext>
          </c:extLst>
        </c:ser>
        <c:ser>
          <c:idx val="10"/>
          <c:order val="10"/>
          <c:tx>
            <c:strRef>
              <c:f>'Retraites % PIB OCDE'!$M$15</c:f>
              <c:strCache>
                <c:ptCount val="1"/>
                <c:pt idx="0">
                  <c:v>Royaume-
Uni</c:v>
                </c:pt>
              </c:strCache>
            </c:strRef>
          </c:tx>
          <c:spPr>
            <a:solidFill>
              <a:srgbClr val="CA2E4D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'Retraites % PIB OCDE'!$N$15</c:f>
              <c:strCache>
                <c:ptCount val="1"/>
                <c:pt idx="0">
                  <c:v>Canada</c:v>
                </c:pt>
              </c:strCache>
            </c:strRef>
          </c:cat>
          <c:val>
            <c:numRef>
              <c:f>'Retraites % PIB OCDE'!$M$19</c:f>
              <c:numCache>
                <c:formatCode>0.0%</c:formatCode>
                <c:ptCount val="1"/>
                <c:pt idx="0">
                  <c:v>0.49425492117217423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8830-FC4F-9CD7-37109998B53E}"/>
            </c:ext>
          </c:extLst>
        </c:ser>
        <c:ser>
          <c:idx val="11"/>
          <c:order val="11"/>
          <c:tx>
            <c:strRef>
              <c:f>'Retraites % PIB OCDE'!$N$15</c:f>
              <c:strCache>
                <c:ptCount val="1"/>
                <c:pt idx="0">
                  <c:v>Canada</c:v>
                </c:pt>
              </c:strCache>
            </c:strRef>
          </c:tx>
          <c:spPr>
            <a:solidFill>
              <a:srgbClr val="CA2E4D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'Retraites % PIB OCDE'!$N$15</c:f>
              <c:strCache>
                <c:ptCount val="1"/>
                <c:pt idx="0">
                  <c:v>Canada</c:v>
                </c:pt>
              </c:strCache>
            </c:strRef>
          </c:cat>
          <c:val>
            <c:numRef>
              <c:f>'Retraites % PIB OCDE'!$N$19</c:f>
              <c:numCache>
                <c:formatCode>0.0%</c:formatCode>
                <c:ptCount val="1"/>
                <c:pt idx="0">
                  <c:v>0.51868488961101022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8830-FC4F-9CD7-37109998B53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523817935"/>
        <c:axId val="455975600"/>
      </c:barChart>
      <c:catAx>
        <c:axId val="152381793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455975600"/>
        <c:crosses val="autoZero"/>
        <c:auto val="1"/>
        <c:lblAlgn val="ctr"/>
        <c:lblOffset val="100"/>
        <c:noMultiLvlLbl val="0"/>
      </c:catAx>
      <c:valAx>
        <c:axId val="455975600"/>
        <c:scaling>
          <c:orientation val="minMax"/>
        </c:scaling>
        <c:delete val="0"/>
        <c:axPos val="l"/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fr-FR"/>
          </a:p>
        </c:txPr>
        <c:crossAx val="152381793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 sz="1400">
          <a:solidFill>
            <a:schemeClr val="bg1"/>
          </a:solidFill>
          <a:latin typeface="Questrial" pitchFamily="2" charset="77"/>
          <a:ea typeface="Questrial" pitchFamily="2" charset="77"/>
          <a:cs typeface="Questrial" pitchFamily="2" charset="77"/>
        </a:defRPr>
      </a:pPr>
      <a:endParaRPr lang="fr-FR"/>
    </a:p>
  </c:txPr>
  <c:externalData r:id="rId3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r>
              <a:rPr lang="fr-FR" dirty="0"/>
              <a:t>Actifs de retraites</a:t>
            </a:r>
            <a:r>
              <a:rPr lang="fr-FR" baseline="0" dirty="0"/>
              <a:t> en proportion du PIB</a:t>
            </a:r>
            <a:r>
              <a:rPr lang="fr-FR" dirty="0"/>
              <a:t>*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bg1"/>
              </a:solidFill>
              <a:latin typeface="Questrial" pitchFamily="2" charset="77"/>
              <a:ea typeface="Questrial" pitchFamily="2" charset="77"/>
              <a:cs typeface="Questrial" pitchFamily="2" charset="77"/>
            </a:defRPr>
          </a:pPr>
          <a:endParaRPr lang="fr-F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Pt>
            <c:idx val="8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24EC-7E46-AA9C-EA2D82FF7BBB}"/>
              </c:ext>
            </c:extLst>
          </c:dPt>
          <c:dPt>
            <c:idx val="26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915-4142-B6E2-75E9E0BE10D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'Actifs retraite PIB OCDE'!$A$9:$A$35</c:f>
              <c:strCache>
                <c:ptCount val="27"/>
                <c:pt idx="0">
                  <c:v>Danemark</c:v>
                </c:pt>
                <c:pt idx="1">
                  <c:v>Islande</c:v>
                </c:pt>
                <c:pt idx="2">
                  <c:v>Canada</c:v>
                </c:pt>
                <c:pt idx="3">
                  <c:v>Suisse</c:v>
                </c:pt>
                <c:pt idx="4">
                  <c:v>Pays-Bas</c:v>
                </c:pt>
                <c:pt idx="5">
                  <c:v>Etats-Unis</c:v>
                </c:pt>
                <c:pt idx="6">
                  <c:v>Australie</c:v>
                </c:pt>
                <c:pt idx="7">
                  <c:v>Suède</c:v>
                </c:pt>
                <c:pt idx="8">
                  <c:v>OCDE</c:v>
                </c:pt>
                <c:pt idx="9">
                  <c:v>Finlande</c:v>
                </c:pt>
                <c:pt idx="10">
                  <c:v>Raoyaume-Uni</c:v>
                </c:pt>
                <c:pt idx="11">
                  <c:v>Israël</c:v>
                </c:pt>
                <c:pt idx="12">
                  <c:v>Corée du Sude</c:v>
                </c:pt>
                <c:pt idx="13">
                  <c:v>Japon</c:v>
                </c:pt>
                <c:pt idx="14">
                  <c:v>Chili</c:v>
                </c:pt>
                <c:pt idx="15">
                  <c:v>Nouvelle-Zélande</c:v>
                </c:pt>
                <c:pt idx="16">
                  <c:v>Costa Rica</c:v>
                </c:pt>
                <c:pt idx="17">
                  <c:v>Belgique</c:v>
                </c:pt>
                <c:pt idx="18">
                  <c:v>Luxembourg</c:v>
                </c:pt>
                <c:pt idx="19">
                  <c:v>Irlande</c:v>
                </c:pt>
                <c:pt idx="20">
                  <c:v>Portugal</c:v>
                </c:pt>
                <c:pt idx="21">
                  <c:v>Colombie</c:v>
                </c:pt>
                <c:pt idx="22">
                  <c:v>Brésil</c:v>
                </c:pt>
                <c:pt idx="23">
                  <c:v>Mexique</c:v>
                </c:pt>
                <c:pt idx="24">
                  <c:v>Italie</c:v>
                </c:pt>
                <c:pt idx="25">
                  <c:v>Lettonie</c:v>
                </c:pt>
                <c:pt idx="26">
                  <c:v>France</c:v>
                </c:pt>
              </c:strCache>
            </c:strRef>
          </c:cat>
          <c:val>
            <c:numRef>
              <c:f>'Actifs retraite PIB OCDE'!$F$9:$F$35</c:f>
              <c:numCache>
                <c:formatCode>0%</c:formatCode>
                <c:ptCount val="27"/>
                <c:pt idx="0">
                  <c:v>1.922798851438611</c:v>
                </c:pt>
                <c:pt idx="1">
                  <c:v>1.860954082930383</c:v>
                </c:pt>
                <c:pt idx="2">
                  <c:v>1.759283703095436</c:v>
                </c:pt>
                <c:pt idx="3">
                  <c:v>1.5846128428232871</c:v>
                </c:pt>
                <c:pt idx="4">
                  <c:v>1.5074451071358896</c:v>
                </c:pt>
                <c:pt idx="5">
                  <c:v>1.4817284031151448</c:v>
                </c:pt>
                <c:pt idx="6">
                  <c:v>1.3897753612940411</c:v>
                </c:pt>
                <c:pt idx="7">
                  <c:v>1.283910339279831</c:v>
                </c:pt>
                <c:pt idx="8">
                  <c:v>0.98361154546840113</c:v>
                </c:pt>
                <c:pt idx="9">
                  <c:v>0.90197007237885729</c:v>
                </c:pt>
                <c:pt idx="10">
                  <c:v>0.88080506160758665</c:v>
                </c:pt>
                <c:pt idx="11">
                  <c:v>0.77932061464467484</c:v>
                </c:pt>
                <c:pt idx="12">
                  <c:v>0.73970139038337068</c:v>
                </c:pt>
                <c:pt idx="13">
                  <c:v>0.64603589011393459</c:v>
                </c:pt>
                <c:pt idx="14">
                  <c:v>0.59849365705055502</c:v>
                </c:pt>
                <c:pt idx="15">
                  <c:v>0.47108538848356696</c:v>
                </c:pt>
                <c:pt idx="16">
                  <c:v>0.44001932192688065</c:v>
                </c:pt>
                <c:pt idx="17">
                  <c:v>0.39645600362061933</c:v>
                </c:pt>
                <c:pt idx="18">
                  <c:v>0.32090544957081596</c:v>
                </c:pt>
                <c:pt idx="19">
                  <c:v>0.26746887689181242</c:v>
                </c:pt>
                <c:pt idx="20">
                  <c:v>0.26679696298339367</c:v>
                </c:pt>
                <c:pt idx="21">
                  <c:v>0.24079869569447651</c:v>
                </c:pt>
                <c:pt idx="22">
                  <c:v>0.23930280513532751</c:v>
                </c:pt>
                <c:pt idx="23">
                  <c:v>0.20943035563733406</c:v>
                </c:pt>
                <c:pt idx="24">
                  <c:v>0.17349160348173162</c:v>
                </c:pt>
                <c:pt idx="25">
                  <c:v>0.16300141217412684</c:v>
                </c:pt>
                <c:pt idx="26">
                  <c:v>0.14235181799915467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915-4142-B6E2-75E9E0BE10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14130736"/>
        <c:axId val="114094336"/>
      </c:barChart>
      <c:catAx>
        <c:axId val="1141307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fr-FR"/>
          </a:p>
        </c:txPr>
        <c:crossAx val="114094336"/>
        <c:crosses val="autoZero"/>
        <c:auto val="1"/>
        <c:lblAlgn val="ctr"/>
        <c:lblOffset val="100"/>
        <c:noMultiLvlLbl val="0"/>
      </c:catAx>
      <c:valAx>
        <c:axId val="114094336"/>
        <c:scaling>
          <c:orientation val="minMax"/>
          <c:max val="2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fr-FR"/>
          </a:p>
        </c:txPr>
        <c:crossAx val="1141307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bg1"/>
          </a:solidFill>
          <a:latin typeface="Questrial" pitchFamily="2" charset="77"/>
          <a:ea typeface="Questrial" pitchFamily="2" charset="77"/>
          <a:cs typeface="Questrial" pitchFamily="2" charset="77"/>
        </a:defRPr>
      </a:pPr>
      <a:endParaRPr lang="fr-FR"/>
    </a:p>
  </c:txPr>
  <c:externalData r:id="rId3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920" b="1" i="0" u="none" strike="noStrike" kern="1200" spc="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r>
              <a:rPr lang="en-US"/>
              <a:t>Actif net en valeur économique depuis la création du régime (en Md€)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1" i="0" u="none" strike="noStrike" kern="1200" spc="0" baseline="0">
              <a:solidFill>
                <a:schemeClr val="bg1"/>
              </a:solidFill>
              <a:latin typeface="Questrial" pitchFamily="2" charset="77"/>
              <a:ea typeface="Questrial" pitchFamily="2" charset="77"/>
              <a:cs typeface="Questrial" pitchFamily="2" charset="77"/>
            </a:defRPr>
          </a:pPr>
          <a:endParaRPr lang="en-US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RAFP!$B$5</c:f>
              <c:strCache>
                <c:ptCount val="1"/>
                <c:pt idx="0">
                  <c:v>Valeur (Md€)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1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endParaRPr lang="fr-F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RAFP!$A$6:$A$23</c:f>
              <c:numCache>
                <c:formatCode>General</c:formatCode>
                <c:ptCount val="18"/>
                <c:pt idx="0">
                  <c:v>2006</c:v>
                </c:pt>
                <c:pt idx="1">
                  <c:v>2007</c:v>
                </c:pt>
                <c:pt idx="2">
                  <c:v>2008</c:v>
                </c:pt>
                <c:pt idx="3">
                  <c:v>2009</c:v>
                </c:pt>
                <c:pt idx="4">
                  <c:v>2010</c:v>
                </c:pt>
                <c:pt idx="5">
                  <c:v>2011</c:v>
                </c:pt>
                <c:pt idx="6">
                  <c:v>2012</c:v>
                </c:pt>
                <c:pt idx="7">
                  <c:v>2013</c:v>
                </c:pt>
                <c:pt idx="8">
                  <c:v>2014</c:v>
                </c:pt>
                <c:pt idx="9">
                  <c:v>2015</c:v>
                </c:pt>
                <c:pt idx="10">
                  <c:v>2016</c:v>
                </c:pt>
                <c:pt idx="11">
                  <c:v>2017</c:v>
                </c:pt>
                <c:pt idx="12">
                  <c:v>2018</c:v>
                </c:pt>
                <c:pt idx="13">
                  <c:v>2019</c:v>
                </c:pt>
                <c:pt idx="14">
                  <c:v>2020</c:v>
                </c:pt>
                <c:pt idx="15">
                  <c:v>2021</c:v>
                </c:pt>
                <c:pt idx="16">
                  <c:v>2022</c:v>
                </c:pt>
                <c:pt idx="17">
                  <c:v>2023</c:v>
                </c:pt>
              </c:numCache>
            </c:numRef>
          </c:cat>
          <c:val>
            <c:numRef>
              <c:f>RAFP!$B$6:$B$23</c:f>
              <c:numCache>
                <c:formatCode>General</c:formatCode>
                <c:ptCount val="18"/>
                <c:pt idx="0">
                  <c:v>2.9</c:v>
                </c:pt>
                <c:pt idx="1">
                  <c:v>4.5</c:v>
                </c:pt>
                <c:pt idx="2">
                  <c:v>6.2</c:v>
                </c:pt>
                <c:pt idx="3">
                  <c:v>8.1999999999999993</c:v>
                </c:pt>
                <c:pt idx="4">
                  <c:v>9.9</c:v>
                </c:pt>
                <c:pt idx="5">
                  <c:v>11.2</c:v>
                </c:pt>
                <c:pt idx="6">
                  <c:v>14.8</c:v>
                </c:pt>
                <c:pt idx="7">
                  <c:v>17.3</c:v>
                </c:pt>
                <c:pt idx="8">
                  <c:v>21.1</c:v>
                </c:pt>
                <c:pt idx="9">
                  <c:v>23.5</c:v>
                </c:pt>
                <c:pt idx="10">
                  <c:v>26.2</c:v>
                </c:pt>
                <c:pt idx="11">
                  <c:v>29.1</c:v>
                </c:pt>
                <c:pt idx="12">
                  <c:v>29.6</c:v>
                </c:pt>
                <c:pt idx="13">
                  <c:v>34.9</c:v>
                </c:pt>
                <c:pt idx="14">
                  <c:v>37.5</c:v>
                </c:pt>
                <c:pt idx="15">
                  <c:v>41.9</c:v>
                </c:pt>
                <c:pt idx="16">
                  <c:v>38.200000000000003</c:v>
                </c:pt>
                <c:pt idx="17">
                  <c:v>43.3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56E-C241-B42B-DA8B406811C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634104079"/>
        <c:axId val="1633801855"/>
      </c:barChart>
      <c:catAx>
        <c:axId val="16341040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fr-FR"/>
          </a:p>
        </c:txPr>
        <c:crossAx val="1633801855"/>
        <c:crosses val="autoZero"/>
        <c:auto val="1"/>
        <c:lblAlgn val="ctr"/>
        <c:lblOffset val="100"/>
        <c:noMultiLvlLbl val="0"/>
      </c:catAx>
      <c:valAx>
        <c:axId val="163380185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fr-FR"/>
          </a:p>
        </c:txPr>
        <c:crossAx val="1634104079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600" b="1">
          <a:solidFill>
            <a:schemeClr val="bg1"/>
          </a:solidFill>
          <a:latin typeface="Questrial" pitchFamily="2" charset="77"/>
          <a:ea typeface="Questrial" pitchFamily="2" charset="77"/>
          <a:cs typeface="Questrial" pitchFamily="2" charset="77"/>
        </a:defRPr>
      </a:pPr>
      <a:endParaRPr lang="fr-FR"/>
    </a:p>
  </c:txPr>
  <c:externalData r:id="rId3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vert="horz"/>
          <a:lstStyle/>
          <a:p>
            <a:pPr>
              <a:defRPr/>
            </a:pPr>
            <a:r>
              <a:rPr lang="en-US"/>
              <a:t>Evolution du taux de rendement interne annualisé depuis 2006, en valeur économique (%)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RAFP!$E$5</c:f>
              <c:strCache>
                <c:ptCount val="1"/>
                <c:pt idx="0">
                  <c:v>Valeur (%)</c:v>
                </c:pt>
              </c:strCache>
            </c:strRef>
          </c:tx>
          <c:spPr>
            <a:ln w="28575" cap="rnd">
              <a:solidFill>
                <a:srgbClr val="CA2E4D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D23D-9E41-9AE9-A97FF2E6D890}"/>
                </c:ext>
              </c:extLst>
            </c:dLbl>
            <c:dLbl>
              <c:idx val="1"/>
              <c:layout>
                <c:manualLayout>
                  <c:x val="-7.0784485707276093E-2"/>
                  <c:y val="-7.177019261656343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23D-9E41-9AE9-A97FF2E6D890}"/>
                </c:ext>
              </c:extLst>
            </c:dLbl>
            <c:dLbl>
              <c:idx val="2"/>
              <c:layout>
                <c:manualLayout>
                  <c:x val="-7.1287841345473613E-2"/>
                  <c:y val="-6.288224306652463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D23D-9E41-9AE9-A97FF2E6D890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23D-9E41-9AE9-A97FF2E6D890}"/>
                </c:ext>
              </c:extLst>
            </c:dLbl>
            <c:dLbl>
              <c:idx val="5"/>
              <c:layout>
                <c:manualLayout>
                  <c:x val="-4.6120059435599658E-2"/>
                  <c:y val="3.932917675892171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D23D-9E41-9AE9-A97FF2E6D890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D23D-9E41-9AE9-A97FF2E6D890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D23D-9E41-9AE9-A97FF2E6D890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D23D-9E41-9AE9-A97FF2E6D890}"/>
                </c:ext>
              </c:extLst>
            </c:dLbl>
            <c:dLbl>
              <c:idx val="12"/>
              <c:layout>
                <c:manualLayout>
                  <c:x val="-4.61200594355997E-2"/>
                  <c:y val="5.266110108397992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D23D-9E41-9AE9-A97FF2E6D890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D23D-9E41-9AE9-A97FF2E6D890}"/>
                </c:ext>
              </c:extLst>
            </c:dLbl>
            <c:dLbl>
              <c:idx val="16"/>
              <c:layout>
                <c:manualLayout>
                  <c:x val="-4.1086503053624816E-2"/>
                  <c:y val="6.154905063401873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D23D-9E41-9AE9-A97FF2E6D89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/>
                </a:pPr>
                <a:endParaRPr lang="en-F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RAFP!$D$6:$D$23</c:f>
              <c:numCache>
                <c:formatCode>General</c:formatCode>
                <c:ptCount val="18"/>
                <c:pt idx="0">
                  <c:v>2006</c:v>
                </c:pt>
                <c:pt idx="1">
                  <c:v>2007</c:v>
                </c:pt>
                <c:pt idx="2">
                  <c:v>2008</c:v>
                </c:pt>
                <c:pt idx="3">
                  <c:v>2009</c:v>
                </c:pt>
                <c:pt idx="4">
                  <c:v>2010</c:v>
                </c:pt>
                <c:pt idx="5">
                  <c:v>2011</c:v>
                </c:pt>
                <c:pt idx="6">
                  <c:v>2012</c:v>
                </c:pt>
                <c:pt idx="7">
                  <c:v>2013</c:v>
                </c:pt>
                <c:pt idx="8">
                  <c:v>2014</c:v>
                </c:pt>
                <c:pt idx="9">
                  <c:v>2015</c:v>
                </c:pt>
                <c:pt idx="10">
                  <c:v>2016</c:v>
                </c:pt>
                <c:pt idx="11">
                  <c:v>2017</c:v>
                </c:pt>
                <c:pt idx="12">
                  <c:v>2018</c:v>
                </c:pt>
                <c:pt idx="13">
                  <c:v>2019</c:v>
                </c:pt>
                <c:pt idx="14">
                  <c:v>2020</c:v>
                </c:pt>
                <c:pt idx="15">
                  <c:v>2021</c:v>
                </c:pt>
                <c:pt idx="16">
                  <c:v>2022</c:v>
                </c:pt>
                <c:pt idx="17">
                  <c:v>2023</c:v>
                </c:pt>
              </c:numCache>
            </c:numRef>
          </c:cat>
          <c:val>
            <c:numRef>
              <c:f>RAFP!$E$6:$E$23</c:f>
              <c:numCache>
                <c:formatCode>0.0%</c:formatCode>
                <c:ptCount val="18"/>
                <c:pt idx="0">
                  <c:v>-8.9999999999999993E-3</c:v>
                </c:pt>
                <c:pt idx="1">
                  <c:v>-4.0000000000000001E-3</c:v>
                </c:pt>
                <c:pt idx="2">
                  <c:v>1.2E-2</c:v>
                </c:pt>
                <c:pt idx="3">
                  <c:v>3.5000000000000003E-2</c:v>
                </c:pt>
                <c:pt idx="4">
                  <c:v>3.1E-2</c:v>
                </c:pt>
                <c:pt idx="5">
                  <c:v>1.9E-2</c:v>
                </c:pt>
                <c:pt idx="6">
                  <c:v>5.2999999999999999E-2</c:v>
                </c:pt>
                <c:pt idx="7">
                  <c:v>5.6000000000000001E-2</c:v>
                </c:pt>
                <c:pt idx="8">
                  <c:v>6.9000000000000006E-2</c:v>
                </c:pt>
                <c:pt idx="9">
                  <c:v>6.4000000000000001E-2</c:v>
                </c:pt>
                <c:pt idx="10">
                  <c:v>6.2E-2</c:v>
                </c:pt>
                <c:pt idx="11">
                  <c:v>6.0999999999999999E-2</c:v>
                </c:pt>
                <c:pt idx="12">
                  <c:v>4.8000000000000001E-2</c:v>
                </c:pt>
                <c:pt idx="13">
                  <c:v>5.7000000000000002E-2</c:v>
                </c:pt>
                <c:pt idx="14">
                  <c:v>5.3999999999999999E-2</c:v>
                </c:pt>
                <c:pt idx="15">
                  <c:v>5.6000000000000001E-2</c:v>
                </c:pt>
                <c:pt idx="16">
                  <c:v>3.6999999999999998E-2</c:v>
                </c:pt>
                <c:pt idx="17">
                  <c:v>4.2000000000000003E-2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B-D23D-9E41-9AE9-A97FF2E6D8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100720"/>
        <c:axId val="1634485199"/>
      </c:lineChart>
      <c:catAx>
        <c:axId val="101007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bg1"/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fr-FR"/>
          </a:p>
        </c:txPr>
        <c:crossAx val="1634485199"/>
        <c:crosses val="autoZero"/>
        <c:auto val="1"/>
        <c:lblAlgn val="ctr"/>
        <c:lblOffset val="100"/>
        <c:noMultiLvlLbl val="0"/>
      </c:catAx>
      <c:valAx>
        <c:axId val="1634485199"/>
        <c:scaling>
          <c:orientation val="minMax"/>
        </c:scaling>
        <c:delete val="0"/>
        <c:axPos val="l"/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vert="horz"/>
          <a:lstStyle/>
          <a:p>
            <a:pPr>
              <a:defRPr/>
            </a:pPr>
            <a:endParaRPr lang="fr-FR"/>
          </a:p>
        </c:txPr>
        <c:crossAx val="10100720"/>
        <c:crosses val="autoZero"/>
        <c:crossBetween val="between"/>
      </c:valAx>
    </c:plotArea>
    <c:plotVisOnly val="1"/>
    <c:dispBlanksAs val="gap"/>
    <c:showDLblsOverMax val="0"/>
    <c:extLst/>
  </c:chart>
  <c:txPr>
    <a:bodyPr/>
    <a:lstStyle/>
    <a:p>
      <a:pPr>
        <a:defRPr sz="1600">
          <a:solidFill>
            <a:schemeClr val="bg1"/>
          </a:solidFill>
          <a:latin typeface="Questrial" pitchFamily="2" charset="77"/>
          <a:ea typeface="Questrial" pitchFamily="2" charset="77"/>
          <a:cs typeface="Questrial" pitchFamily="2" charset="77"/>
        </a:defRPr>
      </a:pPr>
      <a:endParaRPr lang="fr-FR"/>
    </a:p>
  </c:tx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r>
              <a:rPr lang="fr-FR" sz="1200"/>
              <a:t>Rendement sur 10 ans de fonds de réserves des retraites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bg1"/>
              </a:solidFill>
              <a:latin typeface="Questrial" pitchFamily="2" charset="77"/>
              <a:ea typeface="Questrial" pitchFamily="2" charset="77"/>
              <a:cs typeface="Questrial" pitchFamily="2" charset="77"/>
            </a:defRPr>
          </a:pPr>
          <a:endParaRPr lang="fr-F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'Rendements fonds de réserve'!$B$6:$B$20</c:f>
              <c:strCache>
                <c:ptCount val="15"/>
                <c:pt idx="0">
                  <c:v>Australia Future Fund</c:v>
                </c:pt>
                <c:pt idx="1">
                  <c:v>Canada Pension Plan Reserve Fund</c:v>
                </c:pt>
                <c:pt idx="2">
                  <c:v>Reserve of the Quebec Pension Plan</c:v>
                </c:pt>
                <c:pt idx="3">
                  <c:v>Chile Pension Reserve Fund</c:v>
                </c:pt>
                <c:pt idx="4">
                  <c:v>Finland Keva's pension liability fund</c:v>
                </c:pt>
                <c:pt idx="5">
                  <c:v>Finland State Pension Fund</c:v>
                </c:pt>
                <c:pt idx="6">
                  <c:v>France Fonds de Réserves pour les Retraites</c:v>
                </c:pt>
                <c:pt idx="7">
                  <c:v>Japan Government Pension Investment Fund</c:v>
                </c:pt>
                <c:pt idx="8">
                  <c:v>Korea National Pension Fund</c:v>
                </c:pt>
                <c:pt idx="9">
                  <c:v>Luxembourg Fonds de Compensation</c:v>
                </c:pt>
                <c:pt idx="10">
                  <c:v>New Zealand Superannuation Fund</c:v>
                </c:pt>
                <c:pt idx="11">
                  <c:v>Norway Government Pension Fund </c:v>
                </c:pt>
                <c:pt idx="12">
                  <c:v>Poland Demographic Reserve Fund</c:v>
                </c:pt>
                <c:pt idx="13">
                  <c:v>Suisse AHV Central Compensation Fund</c:v>
                </c:pt>
                <c:pt idx="14">
                  <c:v>USA Old-Age and Survivors Insurance Trust Fund</c:v>
                </c:pt>
              </c:strCache>
            </c:strRef>
          </c:cat>
          <c:val>
            <c:numRef>
              <c:f>'Rendements fonds de réserve'!$C$6:$C$20</c:f>
              <c:numCache>
                <c:formatCode>0.0%</c:formatCode>
                <c:ptCount val="15"/>
                <c:pt idx="0">
                  <c:v>8.900000000000001E-2</c:v>
                </c:pt>
                <c:pt idx="1">
                  <c:v>0.1</c:v>
                </c:pt>
                <c:pt idx="2">
                  <c:v>8.5000000000000006E-2</c:v>
                </c:pt>
                <c:pt idx="3">
                  <c:v>7.5999999999999998E-2</c:v>
                </c:pt>
                <c:pt idx="4">
                  <c:v>5.7000000000000002E-2</c:v>
                </c:pt>
                <c:pt idx="5">
                  <c:v>5.2999999999999999E-2</c:v>
                </c:pt>
                <c:pt idx="6">
                  <c:v>2.8999999999999998E-2</c:v>
                </c:pt>
                <c:pt idx="7">
                  <c:v>5.5E-2</c:v>
                </c:pt>
                <c:pt idx="8">
                  <c:v>4.7E-2</c:v>
                </c:pt>
                <c:pt idx="9">
                  <c:v>4.2999999999999997E-2</c:v>
                </c:pt>
                <c:pt idx="10">
                  <c:v>0.10800000000000001</c:v>
                </c:pt>
                <c:pt idx="11">
                  <c:v>8.199999999999999E-2</c:v>
                </c:pt>
                <c:pt idx="12">
                  <c:v>0.02</c:v>
                </c:pt>
                <c:pt idx="13">
                  <c:v>2.5000000000000001E-2</c:v>
                </c:pt>
                <c:pt idx="14">
                  <c:v>0.03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060-2E45-9CA9-B9A6AFFF6A3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97463936"/>
        <c:axId val="398081200"/>
      </c:barChart>
      <c:catAx>
        <c:axId val="3974639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fr-FR"/>
          </a:p>
        </c:txPr>
        <c:crossAx val="398081200"/>
        <c:crosses val="autoZero"/>
        <c:auto val="1"/>
        <c:lblAlgn val="ctr"/>
        <c:lblOffset val="100"/>
        <c:noMultiLvlLbl val="0"/>
      </c:catAx>
      <c:valAx>
        <c:axId val="398081200"/>
        <c:scaling>
          <c:orientation val="minMax"/>
        </c:scaling>
        <c:delete val="0"/>
        <c:axPos val="l"/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fr-FR"/>
          </a:p>
        </c:txPr>
        <c:crossAx val="3974639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700">
          <a:solidFill>
            <a:schemeClr val="bg1"/>
          </a:solidFill>
          <a:latin typeface="Questrial" pitchFamily="2" charset="77"/>
          <a:ea typeface="Questrial" pitchFamily="2" charset="77"/>
          <a:cs typeface="Questrial" pitchFamily="2" charset="77"/>
        </a:defRPr>
      </a:pPr>
      <a:endParaRPr lang="fr-FR"/>
    </a:p>
  </c:txPr>
  <c:externalData r:id="rId3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'[Modelisations - Retraite par capitalisation.xlsx]Allocation &amp; taille - Pays'!$B$6</c:f>
              <c:strCache>
                <c:ptCount val="1"/>
                <c:pt idx="0">
                  <c:v>Actions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endParaRPr lang="fr-F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'[Modelisations - Retraite par capitalisation.xlsx]Allocation &amp; taille - Pays'!$A$7:$A$30</c:f>
              <c:strCache>
                <c:ptCount val="24"/>
                <c:pt idx="0">
                  <c:v>Allemagne</c:v>
                </c:pt>
                <c:pt idx="1">
                  <c:v>Japon</c:v>
                </c:pt>
                <c:pt idx="2">
                  <c:v>Suède</c:v>
                </c:pt>
                <c:pt idx="3">
                  <c:v>Portugal</c:v>
                </c:pt>
                <c:pt idx="4">
                  <c:v>Grèce</c:v>
                </c:pt>
                <c:pt idx="5">
                  <c:v>France</c:v>
                </c:pt>
                <c:pt idx="6">
                  <c:v>Israël</c:v>
                </c:pt>
                <c:pt idx="7">
                  <c:v>Italie</c:v>
                </c:pt>
                <c:pt idx="8">
                  <c:v>Danemark</c:v>
                </c:pt>
                <c:pt idx="9">
                  <c:v>Irlande</c:v>
                </c:pt>
                <c:pt idx="10">
                  <c:v>Pays-Bas</c:v>
                </c:pt>
                <c:pt idx="11">
                  <c:v>Espagne</c:v>
                </c:pt>
                <c:pt idx="12">
                  <c:v>Luxembourg</c:v>
                </c:pt>
                <c:pt idx="13">
                  <c:v>Autriche</c:v>
                </c:pt>
                <c:pt idx="14">
                  <c:v>Royaume Uni</c:v>
                </c:pt>
                <c:pt idx="15">
                  <c:v>Suisse</c:v>
                </c:pt>
                <c:pt idx="16">
                  <c:v>Etats-Unis</c:v>
                </c:pt>
                <c:pt idx="17">
                  <c:v>Canada</c:v>
                </c:pt>
                <c:pt idx="18">
                  <c:v>Islande</c:v>
                </c:pt>
                <c:pt idx="19">
                  <c:v>Norvège</c:v>
                </c:pt>
                <c:pt idx="20">
                  <c:v>Nouvelle-Zélande</c:v>
                </c:pt>
                <c:pt idx="21">
                  <c:v>Finlande</c:v>
                </c:pt>
                <c:pt idx="22">
                  <c:v>Australie</c:v>
                </c:pt>
                <c:pt idx="23">
                  <c:v>Belgique</c:v>
                </c:pt>
              </c:strCache>
            </c:strRef>
          </c:cat>
          <c:val>
            <c:numRef>
              <c:f>'[Modelisations - Retraite par capitalisation.xlsx]Allocation &amp; taille - Pays'!$B$7:$B$30</c:f>
              <c:numCache>
                <c:formatCode>0.0%</c:formatCode>
                <c:ptCount val="24"/>
                <c:pt idx="0">
                  <c:v>7.809662364816046E-2</c:v>
                </c:pt>
                <c:pt idx="1">
                  <c:v>9.5225715461320568E-2</c:v>
                </c:pt>
                <c:pt idx="2">
                  <c:v>0.14649236541736985</c:v>
                </c:pt>
                <c:pt idx="3">
                  <c:v>0.14953665751768097</c:v>
                </c:pt>
                <c:pt idx="4">
                  <c:v>0.17595146166574741</c:v>
                </c:pt>
                <c:pt idx="5">
                  <c:v>0.18311361263057768</c:v>
                </c:pt>
                <c:pt idx="6">
                  <c:v>0.21944776645712991</c:v>
                </c:pt>
                <c:pt idx="7">
                  <c:v>0.22444140525620054</c:v>
                </c:pt>
                <c:pt idx="8">
                  <c:v>0.23414063352667785</c:v>
                </c:pt>
                <c:pt idx="9">
                  <c:v>0.23919999176151652</c:v>
                </c:pt>
                <c:pt idx="10">
                  <c:v>0.25389630162772669</c:v>
                </c:pt>
                <c:pt idx="11">
                  <c:v>0.28153270398674374</c:v>
                </c:pt>
                <c:pt idx="12">
                  <c:v>0.28349701083178502</c:v>
                </c:pt>
                <c:pt idx="13">
                  <c:v>0.28481188101411309</c:v>
                </c:pt>
                <c:pt idx="14">
                  <c:v>0.28524006119017431</c:v>
                </c:pt>
                <c:pt idx="15">
                  <c:v>0.28987008541750997</c:v>
                </c:pt>
                <c:pt idx="16">
                  <c:v>0.33607366246978915</c:v>
                </c:pt>
                <c:pt idx="17">
                  <c:v>0.37734196356555122</c:v>
                </c:pt>
                <c:pt idx="18">
                  <c:v>0.39474141439302479</c:v>
                </c:pt>
                <c:pt idx="19">
                  <c:v>0.41393552790132032</c:v>
                </c:pt>
                <c:pt idx="20">
                  <c:v>0.42555307286037186</c:v>
                </c:pt>
                <c:pt idx="21">
                  <c:v>0.43518906958827996</c:v>
                </c:pt>
                <c:pt idx="22">
                  <c:v>0.4492014509449197</c:v>
                </c:pt>
                <c:pt idx="23">
                  <c:v>0.49749528028238993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B9D-1647-BA36-CA3CFB0EB629}"/>
            </c:ext>
          </c:extLst>
        </c:ser>
        <c:ser>
          <c:idx val="1"/>
          <c:order val="1"/>
          <c:tx>
            <c:strRef>
              <c:f>'[Modelisations - Retraite par capitalisation.xlsx]Allocation &amp; taille - Pays'!$C$6</c:f>
              <c:strCache>
                <c:ptCount val="1"/>
                <c:pt idx="0">
                  <c:v>Obligations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endParaRPr lang="fr-F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'[Modelisations - Retraite par capitalisation.xlsx]Allocation &amp; taille - Pays'!$A$7:$A$30</c:f>
              <c:strCache>
                <c:ptCount val="24"/>
                <c:pt idx="0">
                  <c:v>Allemagne</c:v>
                </c:pt>
                <c:pt idx="1">
                  <c:v>Japon</c:v>
                </c:pt>
                <c:pt idx="2">
                  <c:v>Suède</c:v>
                </c:pt>
                <c:pt idx="3">
                  <c:v>Portugal</c:v>
                </c:pt>
                <c:pt idx="4">
                  <c:v>Grèce</c:v>
                </c:pt>
                <c:pt idx="5">
                  <c:v>France</c:v>
                </c:pt>
                <c:pt idx="6">
                  <c:v>Israël</c:v>
                </c:pt>
                <c:pt idx="7">
                  <c:v>Italie</c:v>
                </c:pt>
                <c:pt idx="8">
                  <c:v>Danemark</c:v>
                </c:pt>
                <c:pt idx="9">
                  <c:v>Irlande</c:v>
                </c:pt>
                <c:pt idx="10">
                  <c:v>Pays-Bas</c:v>
                </c:pt>
                <c:pt idx="11">
                  <c:v>Espagne</c:v>
                </c:pt>
                <c:pt idx="12">
                  <c:v>Luxembourg</c:v>
                </c:pt>
                <c:pt idx="13">
                  <c:v>Autriche</c:v>
                </c:pt>
                <c:pt idx="14">
                  <c:v>Royaume Uni</c:v>
                </c:pt>
                <c:pt idx="15">
                  <c:v>Suisse</c:v>
                </c:pt>
                <c:pt idx="16">
                  <c:v>Etats-Unis</c:v>
                </c:pt>
                <c:pt idx="17">
                  <c:v>Canada</c:v>
                </c:pt>
                <c:pt idx="18">
                  <c:v>Islande</c:v>
                </c:pt>
                <c:pt idx="19">
                  <c:v>Norvège</c:v>
                </c:pt>
                <c:pt idx="20">
                  <c:v>Nouvelle-Zélande</c:v>
                </c:pt>
                <c:pt idx="21">
                  <c:v>Finlande</c:v>
                </c:pt>
                <c:pt idx="22">
                  <c:v>Australie</c:v>
                </c:pt>
                <c:pt idx="23">
                  <c:v>Belgique</c:v>
                </c:pt>
              </c:strCache>
            </c:strRef>
          </c:cat>
          <c:val>
            <c:numRef>
              <c:f>'[Modelisations - Retraite par capitalisation.xlsx]Allocation &amp; taille - Pays'!$C$7:$C$30</c:f>
              <c:numCache>
                <c:formatCode>0.0%</c:formatCode>
                <c:ptCount val="24"/>
                <c:pt idx="0">
                  <c:v>0.40114626807694953</c:v>
                </c:pt>
                <c:pt idx="1">
                  <c:v>0.25426974720873835</c:v>
                </c:pt>
                <c:pt idx="2">
                  <c:v>0.12762814077156673</c:v>
                </c:pt>
                <c:pt idx="3">
                  <c:v>0.71657346529448762</c:v>
                </c:pt>
                <c:pt idx="4">
                  <c:v>0.4870380584666299</c:v>
                </c:pt>
                <c:pt idx="5">
                  <c:v>0.63770869912674544</c:v>
                </c:pt>
                <c:pt idx="6">
                  <c:v>0.55638377797497729</c:v>
                </c:pt>
                <c:pt idx="7">
                  <c:v>0.4210713267650546</c:v>
                </c:pt>
                <c:pt idx="8">
                  <c:v>0.24213535005793191</c:v>
                </c:pt>
                <c:pt idx="9">
                  <c:v>0.44570002651761875</c:v>
                </c:pt>
                <c:pt idx="10">
                  <c:v>0.34787606577344704</c:v>
                </c:pt>
                <c:pt idx="11">
                  <c:v>0.50668440453161268</c:v>
                </c:pt>
                <c:pt idx="12">
                  <c:v>0.53087753889710432</c:v>
                </c:pt>
                <c:pt idx="13">
                  <c:v>0.2726799774872431</c:v>
                </c:pt>
                <c:pt idx="14">
                  <c:v>0.35120747888284115</c:v>
                </c:pt>
                <c:pt idx="15">
                  <c:v>0.27017838974138159</c:v>
                </c:pt>
                <c:pt idx="16">
                  <c:v>0.21804353455398762</c:v>
                </c:pt>
                <c:pt idx="17">
                  <c:v>0.25093469101090909</c:v>
                </c:pt>
                <c:pt idx="18">
                  <c:v>0.35181211385603667</c:v>
                </c:pt>
                <c:pt idx="19">
                  <c:v>0.52080553108168692</c:v>
                </c:pt>
                <c:pt idx="20">
                  <c:v>0.26622462844393174</c:v>
                </c:pt>
                <c:pt idx="21">
                  <c:v>0.1984664932065148</c:v>
                </c:pt>
                <c:pt idx="22">
                  <c:v>0.13214888505305078</c:v>
                </c:pt>
                <c:pt idx="23">
                  <c:v>0.43162761226437163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B9D-1647-BA36-CA3CFB0EB629}"/>
            </c:ext>
          </c:extLst>
        </c:ser>
        <c:ser>
          <c:idx val="2"/>
          <c:order val="2"/>
          <c:tx>
            <c:strRef>
              <c:f>'[Modelisations - Retraite par capitalisation.xlsx]Allocation &amp; taille - Pays'!$D$6</c:f>
              <c:strCache>
                <c:ptCount val="1"/>
                <c:pt idx="0">
                  <c:v>Cash et dépôts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endParaRPr lang="fr-F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'[Modelisations - Retraite par capitalisation.xlsx]Allocation &amp; taille - Pays'!$A$7:$A$30</c:f>
              <c:strCache>
                <c:ptCount val="24"/>
                <c:pt idx="0">
                  <c:v>Allemagne</c:v>
                </c:pt>
                <c:pt idx="1">
                  <c:v>Japon</c:v>
                </c:pt>
                <c:pt idx="2">
                  <c:v>Suède</c:v>
                </c:pt>
                <c:pt idx="3">
                  <c:v>Portugal</c:v>
                </c:pt>
                <c:pt idx="4">
                  <c:v>Grèce</c:v>
                </c:pt>
                <c:pt idx="5">
                  <c:v>France</c:v>
                </c:pt>
                <c:pt idx="6">
                  <c:v>Israël</c:v>
                </c:pt>
                <c:pt idx="7">
                  <c:v>Italie</c:v>
                </c:pt>
                <c:pt idx="8">
                  <c:v>Danemark</c:v>
                </c:pt>
                <c:pt idx="9">
                  <c:v>Irlande</c:v>
                </c:pt>
                <c:pt idx="10">
                  <c:v>Pays-Bas</c:v>
                </c:pt>
                <c:pt idx="11">
                  <c:v>Espagne</c:v>
                </c:pt>
                <c:pt idx="12">
                  <c:v>Luxembourg</c:v>
                </c:pt>
                <c:pt idx="13">
                  <c:v>Autriche</c:v>
                </c:pt>
                <c:pt idx="14">
                  <c:v>Royaume Uni</c:v>
                </c:pt>
                <c:pt idx="15">
                  <c:v>Suisse</c:v>
                </c:pt>
                <c:pt idx="16">
                  <c:v>Etats-Unis</c:v>
                </c:pt>
                <c:pt idx="17">
                  <c:v>Canada</c:v>
                </c:pt>
                <c:pt idx="18">
                  <c:v>Islande</c:v>
                </c:pt>
                <c:pt idx="19">
                  <c:v>Norvège</c:v>
                </c:pt>
                <c:pt idx="20">
                  <c:v>Nouvelle-Zélande</c:v>
                </c:pt>
                <c:pt idx="21">
                  <c:v>Finlande</c:v>
                </c:pt>
                <c:pt idx="22">
                  <c:v>Australie</c:v>
                </c:pt>
                <c:pt idx="23">
                  <c:v>Belgique</c:v>
                </c:pt>
              </c:strCache>
            </c:strRef>
          </c:cat>
          <c:val>
            <c:numRef>
              <c:f>'[Modelisations - Retraite par capitalisation.xlsx]Allocation &amp; taille - Pays'!$D$7:$D$30</c:f>
              <c:numCache>
                <c:formatCode>0.0%</c:formatCode>
                <c:ptCount val="24"/>
                <c:pt idx="0">
                  <c:v>3.1537421125252887E-2</c:v>
                </c:pt>
                <c:pt idx="1">
                  <c:v>7.8636247570586931E-2</c:v>
                </c:pt>
                <c:pt idx="2">
                  <c:v>9.1866858684712949E-3</c:v>
                </c:pt>
                <c:pt idx="3">
                  <c:v>3.2609068653275335E-2</c:v>
                </c:pt>
                <c:pt idx="4">
                  <c:v>7.5565361279646998E-2</c:v>
                </c:pt>
                <c:pt idx="5">
                  <c:v>7.4400590809021311E-2</c:v>
                </c:pt>
                <c:pt idx="6">
                  <c:v>8.5374451994890077E-2</c:v>
                </c:pt>
                <c:pt idx="7">
                  <c:v>5.9152299821271737E-2</c:v>
                </c:pt>
                <c:pt idx="8">
                  <c:v>1.4690397750585546E-2</c:v>
                </c:pt>
                <c:pt idx="9">
                  <c:v>3.2699957005414226E-2</c:v>
                </c:pt>
                <c:pt idx="10">
                  <c:v>3.361131103975197E-2</c:v>
                </c:pt>
                <c:pt idx="11">
                  <c:v>6.3163190834408439E-2</c:v>
                </c:pt>
                <c:pt idx="12">
                  <c:v>7.3351533765593599E-2</c:v>
                </c:pt>
                <c:pt idx="13">
                  <c:v>1.8909799300167195E-2</c:v>
                </c:pt>
                <c:pt idx="14">
                  <c:v>2.6119366068286312E-2</c:v>
                </c:pt>
                <c:pt idx="15">
                  <c:v>4.1407439490970172E-2</c:v>
                </c:pt>
                <c:pt idx="16">
                  <c:v>2.1957902626065787E-2</c:v>
                </c:pt>
                <c:pt idx="17">
                  <c:v>4.4906591404240304E-2</c:v>
                </c:pt>
                <c:pt idx="18">
                  <c:v>5.2434371319583679E-2</c:v>
                </c:pt>
                <c:pt idx="19">
                  <c:v>1.8237595060160101E-2</c:v>
                </c:pt>
                <c:pt idx="20">
                  <c:v>6.4017991731170967E-2</c:v>
                </c:pt>
                <c:pt idx="21">
                  <c:v>3.9243326754053121E-2</c:v>
                </c:pt>
                <c:pt idx="22">
                  <c:v>0.11708262049913472</c:v>
                </c:pt>
                <c:pt idx="23">
                  <c:v>2.4034364262082924E-2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B9D-1647-BA36-CA3CFB0EB629}"/>
            </c:ext>
          </c:extLst>
        </c:ser>
        <c:ser>
          <c:idx val="3"/>
          <c:order val="3"/>
          <c:tx>
            <c:strRef>
              <c:f>'[Modelisations - Retraite par capitalisation.xlsx]Allocation &amp; taille - Pays'!$E$6</c:f>
              <c:strCache>
                <c:ptCount val="1"/>
                <c:pt idx="0">
                  <c:v>Plans d'investissement collectifs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'[Modelisations - Retraite par capitalisation.xlsx]Allocation &amp; taille - Pays'!$A$7:$A$30</c:f>
              <c:strCache>
                <c:ptCount val="24"/>
                <c:pt idx="0">
                  <c:v>Allemagne</c:v>
                </c:pt>
                <c:pt idx="1">
                  <c:v>Japon</c:v>
                </c:pt>
                <c:pt idx="2">
                  <c:v>Suède</c:v>
                </c:pt>
                <c:pt idx="3">
                  <c:v>Portugal</c:v>
                </c:pt>
                <c:pt idx="4">
                  <c:v>Grèce</c:v>
                </c:pt>
                <c:pt idx="5">
                  <c:v>France</c:v>
                </c:pt>
                <c:pt idx="6">
                  <c:v>Israël</c:v>
                </c:pt>
                <c:pt idx="7">
                  <c:v>Italie</c:v>
                </c:pt>
                <c:pt idx="8">
                  <c:v>Danemark</c:v>
                </c:pt>
                <c:pt idx="9">
                  <c:v>Irlande</c:v>
                </c:pt>
                <c:pt idx="10">
                  <c:v>Pays-Bas</c:v>
                </c:pt>
                <c:pt idx="11">
                  <c:v>Espagne</c:v>
                </c:pt>
                <c:pt idx="12">
                  <c:v>Luxembourg</c:v>
                </c:pt>
                <c:pt idx="13">
                  <c:v>Autriche</c:v>
                </c:pt>
                <c:pt idx="14">
                  <c:v>Royaume Uni</c:v>
                </c:pt>
                <c:pt idx="15">
                  <c:v>Suisse</c:v>
                </c:pt>
                <c:pt idx="16">
                  <c:v>Etats-Unis</c:v>
                </c:pt>
                <c:pt idx="17">
                  <c:v>Canada</c:v>
                </c:pt>
                <c:pt idx="18">
                  <c:v>Islande</c:v>
                </c:pt>
                <c:pt idx="19">
                  <c:v>Norvège</c:v>
                </c:pt>
                <c:pt idx="20">
                  <c:v>Nouvelle-Zélande</c:v>
                </c:pt>
                <c:pt idx="21">
                  <c:v>Finlande</c:v>
                </c:pt>
                <c:pt idx="22">
                  <c:v>Australie</c:v>
                </c:pt>
                <c:pt idx="23">
                  <c:v>Belgique</c:v>
                </c:pt>
              </c:strCache>
            </c:strRef>
          </c:cat>
          <c:val>
            <c:numRef>
              <c:f>'[Modelisations - Retraite par capitalisation.xlsx]Allocation &amp; taille - Pays'!$E$7:$E$30</c:f>
              <c:numCache>
                <c:formatCode>0.0%</c:formatCode>
                <c:ptCount val="24"/>
                <c:pt idx="0">
                  <c:v>0</c:v>
                </c:pt>
                <c:pt idx="1">
                  <c:v>0</c:v>
                </c:pt>
                <c:pt idx="2">
                  <c:v>0.67112774689514443</c:v>
                </c:pt>
                <c:pt idx="3">
                  <c:v>0</c:v>
                </c:pt>
                <c:pt idx="4">
                  <c:v>0.2614451185879757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2.1795515603713414E-2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0.29476317014535303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0.2035847748852494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2B9D-1647-BA36-CA3CFB0EB629}"/>
            </c:ext>
          </c:extLst>
        </c:ser>
        <c:ser>
          <c:idx val="4"/>
          <c:order val="4"/>
          <c:tx>
            <c:strRef>
              <c:f>'[Modelisations - Retraite par capitalisation.xlsx]Allocation &amp; taille - Pays'!$F$6</c:f>
              <c:strCache>
                <c:ptCount val="1"/>
                <c:pt idx="0">
                  <c:v>Autre</c:v>
                </c:pt>
              </c:strCache>
            </c:strRef>
          </c:tx>
          <c:spPr>
            <a:solidFill>
              <a:schemeClr val="bg1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endParaRPr lang="fr-F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'[Modelisations - Retraite par capitalisation.xlsx]Allocation &amp; taille - Pays'!$A$7:$A$30</c:f>
              <c:strCache>
                <c:ptCount val="24"/>
                <c:pt idx="0">
                  <c:v>Allemagne</c:v>
                </c:pt>
                <c:pt idx="1">
                  <c:v>Japon</c:v>
                </c:pt>
                <c:pt idx="2">
                  <c:v>Suède</c:v>
                </c:pt>
                <c:pt idx="3">
                  <c:v>Portugal</c:v>
                </c:pt>
                <c:pt idx="4">
                  <c:v>Grèce</c:v>
                </c:pt>
                <c:pt idx="5">
                  <c:v>France</c:v>
                </c:pt>
                <c:pt idx="6">
                  <c:v>Israël</c:v>
                </c:pt>
                <c:pt idx="7">
                  <c:v>Italie</c:v>
                </c:pt>
                <c:pt idx="8">
                  <c:v>Danemark</c:v>
                </c:pt>
                <c:pt idx="9">
                  <c:v>Irlande</c:v>
                </c:pt>
                <c:pt idx="10">
                  <c:v>Pays-Bas</c:v>
                </c:pt>
                <c:pt idx="11">
                  <c:v>Espagne</c:v>
                </c:pt>
                <c:pt idx="12">
                  <c:v>Luxembourg</c:v>
                </c:pt>
                <c:pt idx="13">
                  <c:v>Autriche</c:v>
                </c:pt>
                <c:pt idx="14">
                  <c:v>Royaume Uni</c:v>
                </c:pt>
                <c:pt idx="15">
                  <c:v>Suisse</c:v>
                </c:pt>
                <c:pt idx="16">
                  <c:v>Etats-Unis</c:v>
                </c:pt>
                <c:pt idx="17">
                  <c:v>Canada</c:v>
                </c:pt>
                <c:pt idx="18">
                  <c:v>Islande</c:v>
                </c:pt>
                <c:pt idx="19">
                  <c:v>Norvège</c:v>
                </c:pt>
                <c:pt idx="20">
                  <c:v>Nouvelle-Zélande</c:v>
                </c:pt>
                <c:pt idx="21">
                  <c:v>Finlande</c:v>
                </c:pt>
                <c:pt idx="22">
                  <c:v>Australie</c:v>
                </c:pt>
                <c:pt idx="23">
                  <c:v>Belgique</c:v>
                </c:pt>
              </c:strCache>
            </c:strRef>
          </c:cat>
          <c:val>
            <c:numRef>
              <c:f>'[Modelisations - Retraite par capitalisation.xlsx]Allocation &amp; taille - Pays'!$F$7:$F$30</c:f>
              <c:numCache>
                <c:formatCode>0.0%</c:formatCode>
                <c:ptCount val="24"/>
                <c:pt idx="0">
                  <c:v>0.48921968714963709</c:v>
                </c:pt>
                <c:pt idx="1">
                  <c:v>0.57186828975935422</c:v>
                </c:pt>
                <c:pt idx="2">
                  <c:v>4.5565061047447702E-2</c:v>
                </c:pt>
                <c:pt idx="3">
                  <c:v>0.10128080853455615</c:v>
                </c:pt>
                <c:pt idx="4">
                  <c:v>0</c:v>
                </c:pt>
                <c:pt idx="5">
                  <c:v>0.10477709743365551</c:v>
                </c:pt>
                <c:pt idx="6">
                  <c:v>0.1387940035730027</c:v>
                </c:pt>
                <c:pt idx="7">
                  <c:v>0.29533496815747312</c:v>
                </c:pt>
                <c:pt idx="8">
                  <c:v>0.48723810306109128</c:v>
                </c:pt>
                <c:pt idx="9">
                  <c:v>0.28240002471545039</c:v>
                </c:pt>
                <c:pt idx="10">
                  <c:v>0.36461632155907425</c:v>
                </c:pt>
                <c:pt idx="11">
                  <c:v>0.14861970064723523</c:v>
                </c:pt>
                <c:pt idx="12">
                  <c:v>0.11227391650551709</c:v>
                </c:pt>
                <c:pt idx="13">
                  <c:v>0.42359834219847664</c:v>
                </c:pt>
                <c:pt idx="14">
                  <c:v>0.33743309385869824</c:v>
                </c:pt>
                <c:pt idx="15">
                  <c:v>0.3985440853501383</c:v>
                </c:pt>
                <c:pt idx="16">
                  <c:v>0.12916173020480443</c:v>
                </c:pt>
                <c:pt idx="17">
                  <c:v>0.32681675401929938</c:v>
                </c:pt>
                <c:pt idx="18">
                  <c:v>0.20101210043135481</c:v>
                </c:pt>
                <c:pt idx="19">
                  <c:v>4.7021345956832619E-2</c:v>
                </c:pt>
                <c:pt idx="20">
                  <c:v>4.0619532079276016E-2</c:v>
                </c:pt>
                <c:pt idx="21">
                  <c:v>0.32710111045115214</c:v>
                </c:pt>
                <c:pt idx="22">
                  <c:v>0.30156704350289487</c:v>
                </c:pt>
                <c:pt idx="23">
                  <c:v>4.6842743191155591E-2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B9D-1647-BA36-CA3CFB0EB62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overlap val="100"/>
        <c:axId val="1761411295"/>
        <c:axId val="75463856"/>
      </c:barChart>
      <c:catAx>
        <c:axId val="17614112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fr-FR"/>
          </a:p>
        </c:txPr>
        <c:crossAx val="75463856"/>
        <c:crosses val="autoZero"/>
        <c:auto val="1"/>
        <c:lblAlgn val="ctr"/>
        <c:lblOffset val="100"/>
        <c:noMultiLvlLbl val="0"/>
      </c:catAx>
      <c:valAx>
        <c:axId val="75463856"/>
        <c:scaling>
          <c:orientation val="minMax"/>
          <c:max val="1"/>
        </c:scaling>
        <c:delete val="0"/>
        <c:axPos val="l"/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fr-FR"/>
          </a:p>
        </c:txPr>
        <c:crossAx val="176141129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bg1"/>
              </a:solidFill>
              <a:latin typeface="Questrial" pitchFamily="2" charset="77"/>
              <a:ea typeface="Questrial" pitchFamily="2" charset="77"/>
              <a:cs typeface="Questrial" pitchFamily="2" charset="77"/>
            </a:defRPr>
          </a:pPr>
          <a:endParaRPr lang="fr-F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bg1"/>
          </a:solidFill>
          <a:latin typeface="Questrial" pitchFamily="2" charset="77"/>
          <a:ea typeface="Questrial" pitchFamily="2" charset="77"/>
          <a:cs typeface="Questrial" pitchFamily="2" charset="77"/>
        </a:defRPr>
      </a:pPr>
      <a:endParaRPr lang="fr-FR"/>
    </a:p>
  </c:txPr>
  <c:externalData r:id="rId3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80" b="0" i="0" u="none" strike="noStrike" kern="1200" spc="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r>
              <a:rPr lang="fr-FR"/>
              <a:t>Exemple illustratif de diminution du risque  au cours de la vie active (glide path)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80" b="0" i="0" u="none" strike="noStrike" kern="1200" spc="0" baseline="0">
              <a:solidFill>
                <a:schemeClr val="bg1"/>
              </a:solidFill>
              <a:latin typeface="Questrial" pitchFamily="2" charset="77"/>
              <a:ea typeface="Questrial" pitchFamily="2" charset="77"/>
              <a:cs typeface="Questrial" pitchFamily="2" charset="77"/>
            </a:defRPr>
          </a:pPr>
          <a:endParaRPr lang="fr-FR"/>
        </a:p>
      </c:txPr>
    </c:title>
    <c:autoTitleDeleted val="0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Feuil1!$B$1</c:f>
              <c:strCache>
                <c:ptCount val="1"/>
                <c:pt idx="0">
                  <c:v>Obligations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endParaRPr lang="fr-F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Feuil1!$A$2:$A$14</c:f>
              <c:strCache>
                <c:ptCount val="4"/>
                <c:pt idx="0">
                  <c:v>Catégorie 1</c:v>
                </c:pt>
                <c:pt idx="1">
                  <c:v>Catégorie 2</c:v>
                </c:pt>
                <c:pt idx="2">
                  <c:v>Catégorie 3</c:v>
                </c:pt>
                <c:pt idx="3">
                  <c:v>Catégorie 4</c:v>
                </c:pt>
              </c:strCache>
            </c:strRef>
          </c:cat>
          <c:val>
            <c:numRef>
              <c:f>Feuil1!$B$2:$B$14</c:f>
              <c:numCache>
                <c:formatCode>0%</c:formatCode>
                <c:ptCount val="13"/>
                <c:pt idx="0">
                  <c:v>0.3</c:v>
                </c:pt>
                <c:pt idx="1">
                  <c:v>0.32</c:v>
                </c:pt>
                <c:pt idx="2">
                  <c:v>0.35</c:v>
                </c:pt>
                <c:pt idx="3">
                  <c:v>0.4</c:v>
                </c:pt>
                <c:pt idx="4">
                  <c:v>0.45</c:v>
                </c:pt>
                <c:pt idx="5">
                  <c:v>0.5</c:v>
                </c:pt>
                <c:pt idx="6">
                  <c:v>0.55000000000000004</c:v>
                </c:pt>
                <c:pt idx="7">
                  <c:v>0.6</c:v>
                </c:pt>
                <c:pt idx="8">
                  <c:v>0.65</c:v>
                </c:pt>
                <c:pt idx="9">
                  <c:v>0.7</c:v>
                </c:pt>
                <c:pt idx="10">
                  <c:v>0.75</c:v>
                </c:pt>
                <c:pt idx="11">
                  <c:v>0.8</c:v>
                </c:pt>
                <c:pt idx="12">
                  <c:v>0.8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0E9-E640-A554-E6B42442B738}"/>
            </c:ext>
          </c:extLst>
        </c:ser>
        <c:ser>
          <c:idx val="1"/>
          <c:order val="1"/>
          <c:tx>
            <c:strRef>
              <c:f>Feuil1!$C$1</c:f>
              <c:strCache>
                <c:ptCount val="1"/>
                <c:pt idx="0">
                  <c:v>Actions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endParaRPr lang="fr-F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Feuil1!$A$2:$A$14</c:f>
              <c:strCache>
                <c:ptCount val="4"/>
                <c:pt idx="0">
                  <c:v>Catégorie 1</c:v>
                </c:pt>
                <c:pt idx="1">
                  <c:v>Catégorie 2</c:v>
                </c:pt>
                <c:pt idx="2">
                  <c:v>Catégorie 3</c:v>
                </c:pt>
                <c:pt idx="3">
                  <c:v>Catégorie 4</c:v>
                </c:pt>
              </c:strCache>
            </c:strRef>
          </c:cat>
          <c:val>
            <c:numRef>
              <c:f>Feuil1!$C$2:$C$14</c:f>
              <c:numCache>
                <c:formatCode>0%</c:formatCode>
                <c:ptCount val="13"/>
                <c:pt idx="0">
                  <c:v>0.6</c:v>
                </c:pt>
                <c:pt idx="1">
                  <c:v>0.57999999999999996</c:v>
                </c:pt>
                <c:pt idx="2">
                  <c:v>0.55000000000000004</c:v>
                </c:pt>
                <c:pt idx="3">
                  <c:v>0.5</c:v>
                </c:pt>
                <c:pt idx="4">
                  <c:v>0.45</c:v>
                </c:pt>
                <c:pt idx="5">
                  <c:v>0.4</c:v>
                </c:pt>
                <c:pt idx="6">
                  <c:v>0.36</c:v>
                </c:pt>
                <c:pt idx="7">
                  <c:v>0.32</c:v>
                </c:pt>
                <c:pt idx="8">
                  <c:v>0.28000000000000003</c:v>
                </c:pt>
                <c:pt idx="9">
                  <c:v>0.24</c:v>
                </c:pt>
                <c:pt idx="10">
                  <c:v>0.2</c:v>
                </c:pt>
                <c:pt idx="11">
                  <c:v>0.16</c:v>
                </c:pt>
                <c:pt idx="12">
                  <c:v>0.16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0E9-E640-A554-E6B42442B738}"/>
            </c:ext>
          </c:extLst>
        </c:ser>
        <c:ser>
          <c:idx val="2"/>
          <c:order val="2"/>
          <c:tx>
            <c:strRef>
              <c:f>Feuil1!$D$1</c:f>
              <c:strCache>
                <c:ptCount val="1"/>
                <c:pt idx="0">
                  <c:v>Autres</c:v>
                </c:pt>
              </c:strCache>
            </c:strRef>
          </c:tx>
          <c:spPr>
            <a:solidFill>
              <a:schemeClr val="bg1"/>
            </a:solidFill>
            <a:ln>
              <a:noFill/>
            </a:ln>
            <a:effectLst/>
          </c:spPr>
          <c:invertIfNegative val="0"/>
          <c:cat>
            <c:strRef>
              <c:f>Feuil1!$A$2:$A$14</c:f>
              <c:strCache>
                <c:ptCount val="4"/>
                <c:pt idx="0">
                  <c:v>Catégorie 1</c:v>
                </c:pt>
                <c:pt idx="1">
                  <c:v>Catégorie 2</c:v>
                </c:pt>
                <c:pt idx="2">
                  <c:v>Catégorie 3</c:v>
                </c:pt>
                <c:pt idx="3">
                  <c:v>Catégorie 4</c:v>
                </c:pt>
              </c:strCache>
            </c:strRef>
          </c:cat>
          <c:val>
            <c:numRef>
              <c:f>Feuil1!$D$2:$D$14</c:f>
              <c:numCache>
                <c:formatCode>0%</c:formatCode>
                <c:ptCount val="13"/>
                <c:pt idx="0">
                  <c:v>0.1</c:v>
                </c:pt>
                <c:pt idx="1">
                  <c:v>0.1</c:v>
                </c:pt>
                <c:pt idx="2">
                  <c:v>0.1</c:v>
                </c:pt>
                <c:pt idx="3">
                  <c:v>0.1</c:v>
                </c:pt>
                <c:pt idx="4">
                  <c:v>0.1</c:v>
                </c:pt>
                <c:pt idx="5">
                  <c:v>0.1</c:v>
                </c:pt>
                <c:pt idx="6">
                  <c:v>0.09</c:v>
                </c:pt>
                <c:pt idx="7">
                  <c:v>0.08</c:v>
                </c:pt>
                <c:pt idx="8">
                  <c:v>7.0000000000000007E-2</c:v>
                </c:pt>
                <c:pt idx="9">
                  <c:v>0.06</c:v>
                </c:pt>
                <c:pt idx="10">
                  <c:v>0.05</c:v>
                </c:pt>
                <c:pt idx="11">
                  <c:v>0.04</c:v>
                </c:pt>
                <c:pt idx="12">
                  <c:v>0.04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0E9-E640-A554-E6B42442B7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776680784"/>
        <c:axId val="1776801744"/>
      </c:barChart>
      <c:catAx>
        <c:axId val="177668078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776801744"/>
        <c:crosses val="autoZero"/>
        <c:auto val="1"/>
        <c:lblAlgn val="ctr"/>
        <c:lblOffset val="100"/>
        <c:noMultiLvlLbl val="0"/>
      </c:catAx>
      <c:valAx>
        <c:axId val="1776801744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fr-FR"/>
          </a:p>
        </c:txPr>
        <c:crossAx val="17766807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bg1"/>
              </a:solidFill>
              <a:latin typeface="Questrial" pitchFamily="2" charset="77"/>
              <a:ea typeface="Questrial" pitchFamily="2" charset="77"/>
              <a:cs typeface="Questrial" pitchFamily="2" charset="77"/>
            </a:defRPr>
          </a:pPr>
          <a:endParaRPr lang="fr-F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400">
          <a:solidFill>
            <a:schemeClr val="bg1"/>
          </a:solidFill>
          <a:latin typeface="Questrial" pitchFamily="2" charset="77"/>
          <a:ea typeface="Questrial" pitchFamily="2" charset="77"/>
          <a:cs typeface="Questrial" pitchFamily="2" charset="77"/>
        </a:defRPr>
      </a:pPr>
      <a:endParaRPr lang="fr-FR"/>
    </a:p>
  </c:txPr>
  <c:externalData r:id="rId3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2022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Permis de construire</c:v>
                </c:pt>
                <c:pt idx="1">
                  <c:v>Mises en chantier</c:v>
                </c:pt>
                <c:pt idx="2">
                  <c:v>Mises en vente de logements neufs</c:v>
                </c:pt>
              </c:strCache>
            </c:strRef>
          </c:cat>
          <c:val>
            <c:numRef>
              <c:f>Sheet1!$B$2:$B$4</c:f>
              <c:numCache>
                <c:formatCode>0</c:formatCode>
                <c:ptCount val="3"/>
                <c:pt idx="0">
                  <c:v>490789.4736842105</c:v>
                </c:pt>
                <c:pt idx="1">
                  <c:v>367948.71794871794</c:v>
                </c:pt>
                <c:pt idx="2" formatCode="General">
                  <c:v>115000.00000000001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9C1-2C42-B20D-C1744F5438F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chemeClr val="bg1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Permis de construire</c:v>
                </c:pt>
                <c:pt idx="1">
                  <c:v>Mises en chantier</c:v>
                </c:pt>
                <c:pt idx="2">
                  <c:v>Mises en vente de logements neufs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373000</c:v>
                </c:pt>
                <c:pt idx="1">
                  <c:v>287000</c:v>
                </c:pt>
                <c:pt idx="2">
                  <c:v>80500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9C1-2C42-B20D-C1744F5438F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12106528"/>
        <c:axId val="838651808"/>
      </c:barChart>
      <c:catAx>
        <c:axId val="14121065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FFFFFF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en-FR"/>
          </a:p>
        </c:txPr>
        <c:crossAx val="838651808"/>
        <c:crosses val="autoZero"/>
        <c:auto val="1"/>
        <c:lblAlgn val="ctr"/>
        <c:lblOffset val="100"/>
        <c:noMultiLvlLbl val="0"/>
      </c:catAx>
      <c:valAx>
        <c:axId val="838651808"/>
        <c:scaling>
          <c:orientation val="minMax"/>
        </c:scaling>
        <c:delete val="0"/>
        <c:axPos val="l"/>
        <c:numFmt formatCode="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FFFFFF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en-FR"/>
          </a:p>
        </c:txPr>
        <c:crossAx val="14121065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rgbClr val="FFFFFF"/>
              </a:solidFill>
              <a:latin typeface="Questrial" pitchFamily="2" charset="77"/>
              <a:ea typeface="Questrial" pitchFamily="2" charset="77"/>
              <a:cs typeface="Questrial" pitchFamily="2" charset="77"/>
            </a:defRPr>
          </a:pPr>
          <a:endParaRPr lang="en-F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rgbClr val="FFFFFF"/>
          </a:solidFill>
          <a:latin typeface="Questrial" pitchFamily="2" charset="77"/>
          <a:ea typeface="Questrial" pitchFamily="2" charset="77"/>
          <a:cs typeface="Questrial" pitchFamily="2" charset="77"/>
        </a:defRPr>
      </a:pPr>
      <a:endParaRPr lang="en-FR"/>
    </a:p>
  </c:txPr>
  <c:externalData r:id="rId3">
    <c:autoUpdate val="0"/>
  </c:externalData>
  <c:userShapes r:id="rId4"/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Nombre de transactions dans l'ancien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1108974.358974359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310-134E-A35E-A17C2AEB674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chemeClr val="bg1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Nombre de transactions dans l'ancien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865000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310-134E-A35E-A17C2AEB674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051596767"/>
        <c:axId val="1863131807"/>
      </c:barChart>
      <c:catAx>
        <c:axId val="205159676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FFFFFF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en-FR"/>
          </a:p>
        </c:txPr>
        <c:crossAx val="1863131807"/>
        <c:crosses val="autoZero"/>
        <c:auto val="1"/>
        <c:lblAlgn val="ctr"/>
        <c:lblOffset val="100"/>
        <c:noMultiLvlLbl val="0"/>
      </c:catAx>
      <c:valAx>
        <c:axId val="1863131807"/>
        <c:scaling>
          <c:orientation val="minMax"/>
        </c:scaling>
        <c:delete val="0"/>
        <c:axPos val="l"/>
        <c:numFmt formatCode="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FFFFFF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en-FR"/>
          </a:p>
        </c:txPr>
        <c:crossAx val="205159676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rgbClr val="FFFFFF"/>
              </a:solidFill>
              <a:latin typeface="Questrial" pitchFamily="2" charset="77"/>
              <a:ea typeface="Questrial" pitchFamily="2" charset="77"/>
              <a:cs typeface="Questrial" pitchFamily="2" charset="77"/>
            </a:defRPr>
          </a:pPr>
          <a:endParaRPr lang="en-F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rgbClr val="FFFFFF"/>
          </a:solidFill>
          <a:latin typeface="Questrial" pitchFamily="2" charset="77"/>
          <a:ea typeface="Questrial" pitchFamily="2" charset="77"/>
          <a:cs typeface="Questrial" pitchFamily="2" charset="77"/>
        </a:defRPr>
      </a:pPr>
      <a:endParaRPr lang="en-FR"/>
    </a:p>
  </c:txPr>
  <c:externalData r:id="rId3">
    <c:autoUpdate val="0"/>
  </c:externalData>
  <c:userShapes r:id="rId4"/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2019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rgbClr val="FFFFFF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endParaRPr lang="en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Nombre des demandes actives de logement social (millions)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2.16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9D5-8546-A3E2-87FD0AA38F6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chemeClr val="bg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rgbClr val="FFFFFF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endParaRPr lang="en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Nombre des demandes actives de logement social (millions)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2.76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9D5-8546-A3E2-87FD0AA38F6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2124990063"/>
        <c:axId val="928304"/>
      </c:barChart>
      <c:catAx>
        <c:axId val="212499006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FFFFFF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en-FR"/>
          </a:p>
        </c:txPr>
        <c:crossAx val="928304"/>
        <c:crosses val="autoZero"/>
        <c:auto val="1"/>
        <c:lblAlgn val="ctr"/>
        <c:lblOffset val="100"/>
        <c:noMultiLvlLbl val="0"/>
      </c:catAx>
      <c:valAx>
        <c:axId val="92830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FFFFFF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en-FR"/>
          </a:p>
        </c:txPr>
        <c:crossAx val="212499006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rgbClr val="FFFFFF"/>
              </a:solidFill>
              <a:latin typeface="Questrial" pitchFamily="2" charset="77"/>
              <a:ea typeface="Questrial" pitchFamily="2" charset="77"/>
              <a:cs typeface="Questrial" pitchFamily="2" charset="77"/>
            </a:defRPr>
          </a:pPr>
          <a:endParaRPr lang="en-F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rgbClr val="FFFFFF"/>
          </a:solidFill>
          <a:latin typeface="Questrial" pitchFamily="2" charset="77"/>
          <a:ea typeface="Questrial" pitchFamily="2" charset="77"/>
          <a:cs typeface="Questrial" pitchFamily="2" charset="77"/>
        </a:defRPr>
      </a:pPr>
      <a:endParaRPr lang="en-FR"/>
    </a:p>
  </c:txPr>
  <c:externalData r:id="rId3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r>
              <a:rPr lang="en-US" sz="1400" dirty="0"/>
              <a:t>Part des </a:t>
            </a:r>
            <a:r>
              <a:rPr lang="en-US" sz="1400" dirty="0" err="1"/>
              <a:t>dépenses</a:t>
            </a:r>
            <a:r>
              <a:rPr lang="en-US" sz="1400" dirty="0"/>
              <a:t> de </a:t>
            </a:r>
            <a:r>
              <a:rPr lang="en-US" sz="1400" dirty="0" err="1"/>
              <a:t>logement</a:t>
            </a:r>
            <a:r>
              <a:rPr lang="en-US" sz="1400" baseline="0" dirty="0"/>
              <a:t> </a:t>
            </a:r>
          </a:p>
          <a:p>
            <a:pPr>
              <a:defRPr sz="1400"/>
            </a:pPr>
            <a:r>
              <a:rPr lang="en-US" sz="1400" baseline="0" dirty="0"/>
              <a:t>dans la </a:t>
            </a:r>
            <a:r>
              <a:rPr lang="en-US" sz="1400" baseline="0" dirty="0" err="1"/>
              <a:t>consommation</a:t>
            </a:r>
            <a:r>
              <a:rPr lang="en-US" sz="1400" baseline="0" dirty="0"/>
              <a:t> finale des ménages</a:t>
            </a:r>
            <a:endParaRPr lang="en-US" sz="14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bg1"/>
              </a:solidFill>
              <a:latin typeface="Questrial" pitchFamily="2" charset="77"/>
              <a:ea typeface="Questrial" pitchFamily="2" charset="77"/>
              <a:cs typeface="Questrial" pitchFamily="2" charset="77"/>
            </a:defRPr>
          </a:pPr>
          <a:endParaRPr lang="en-F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Logement</c:v>
                </c:pt>
              </c:strCache>
            </c:strRef>
          </c:tx>
          <c:spPr>
            <a:ln w="28575" cap="rnd">
              <a:solidFill>
                <a:srgbClr val="C00000"/>
              </a:solidFill>
              <a:round/>
            </a:ln>
            <a:effectLst/>
          </c:spPr>
          <c:marker>
            <c:symbol val="none"/>
          </c:marker>
          <c:dLbls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B4A5-664E-BCE4-EC128D4C2408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B4A5-664E-BCE4-EC128D4C2408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B4A5-664E-BCE4-EC128D4C2408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B4A5-664E-BCE4-EC128D4C2408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B4A5-664E-BCE4-EC128D4C2408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B4A5-664E-BCE4-EC128D4C2408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B4A5-664E-BCE4-EC128D4C2408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B4A5-664E-BCE4-EC128D4C2408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B4A5-664E-BCE4-EC128D4C2408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B4A5-664E-BCE4-EC128D4C2408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B4A5-664E-BCE4-EC128D4C2408}"/>
                </c:ext>
              </c:extLst>
            </c:dLbl>
            <c:dLbl>
              <c:idx val="13"/>
              <c:layout>
                <c:manualLayout>
                  <c:x val="-2.3796789161489057E-2"/>
                  <c:y val="-3.555333256503302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B4A5-664E-BCE4-EC128D4C2408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B4A5-664E-BCE4-EC128D4C2408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4A5-664E-BCE4-EC128D4C2408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B4A5-664E-BCE4-EC128D4C2408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B4A5-664E-BCE4-EC128D4C2408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6-B4A5-664E-BCE4-EC128D4C2408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B4A5-664E-BCE4-EC128D4C2408}"/>
                </c:ext>
              </c:extLst>
            </c:dLbl>
            <c:dLbl>
              <c:idx val="20"/>
              <c:layout>
                <c:manualLayout>
                  <c:x val="2.6440876846098899E-3"/>
                  <c:y val="3.555333256503286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F-B4A5-664E-BCE4-EC128D4C2408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8-B4A5-664E-BCE4-EC128D4C2408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B4A5-664E-BCE4-EC128D4C2408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9-B4A5-664E-BCE4-EC128D4C2408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C-B4A5-664E-BCE4-EC128D4C2408}"/>
                </c:ext>
              </c:extLst>
            </c:dLbl>
            <c:dLbl>
              <c:idx val="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A-B4A5-664E-BCE4-EC128D4C2408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B4A5-664E-BCE4-EC128D4C2408}"/>
                </c:ext>
              </c:extLst>
            </c:dLbl>
            <c:dLbl>
              <c:idx val="27"/>
              <c:layout>
                <c:manualLayout>
                  <c:x val="-3.4373139899928566E-2"/>
                  <c:y val="-6.221833198880769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E-B4A5-664E-BCE4-EC128D4C2408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D-B4A5-664E-BCE4-EC128D4C2408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0-B4A5-664E-BCE4-EC128D4C2408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3-B4A5-664E-BCE4-EC128D4C2408}"/>
                </c:ext>
              </c:extLst>
            </c:dLbl>
            <c:dLbl>
              <c:idx val="3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2-B4A5-664E-BCE4-EC128D4C2408}"/>
                </c:ext>
              </c:extLst>
            </c:dLbl>
            <c:dLbl>
              <c:idx val="3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1-B4A5-664E-BCE4-EC128D4C2408}"/>
                </c:ext>
              </c:extLst>
            </c:dLbl>
            <c:dLbl>
              <c:idx val="3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5-B4A5-664E-BCE4-EC128D4C2408}"/>
                </c:ext>
              </c:extLst>
            </c:dLbl>
            <c:dLbl>
              <c:idx val="3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4-B4A5-664E-BCE4-EC128D4C2408}"/>
                </c:ext>
              </c:extLst>
            </c:dLbl>
            <c:dLbl>
              <c:idx val="35"/>
              <c:layout>
                <c:manualLayout>
                  <c:x val="-2.6440876846100837E-3"/>
                  <c:y val="-4.7404443420043962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6-B4A5-664E-BCE4-EC128D4C240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endParaRPr lang="en-FR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Sheet1!$A$2:$A$37</c:f>
              <c:numCache>
                <c:formatCode>General</c:formatCode>
                <c:ptCount val="36"/>
                <c:pt idx="0">
                  <c:v>1985</c:v>
                </c:pt>
                <c:pt idx="1">
                  <c:v>1986</c:v>
                </c:pt>
                <c:pt idx="2">
                  <c:v>1987</c:v>
                </c:pt>
                <c:pt idx="3">
                  <c:v>1988</c:v>
                </c:pt>
                <c:pt idx="4">
                  <c:v>1989</c:v>
                </c:pt>
                <c:pt idx="5">
                  <c:v>1990</c:v>
                </c:pt>
                <c:pt idx="6">
                  <c:v>1991</c:v>
                </c:pt>
                <c:pt idx="7">
                  <c:v>1992</c:v>
                </c:pt>
                <c:pt idx="8">
                  <c:v>1993</c:v>
                </c:pt>
                <c:pt idx="9">
                  <c:v>1994</c:v>
                </c:pt>
                <c:pt idx="10">
                  <c:v>1995</c:v>
                </c:pt>
                <c:pt idx="11">
                  <c:v>1996</c:v>
                </c:pt>
                <c:pt idx="12">
                  <c:v>1997</c:v>
                </c:pt>
                <c:pt idx="13">
                  <c:v>1998</c:v>
                </c:pt>
                <c:pt idx="14">
                  <c:v>1999</c:v>
                </c:pt>
                <c:pt idx="15">
                  <c:v>2000</c:v>
                </c:pt>
                <c:pt idx="16">
                  <c:v>2001</c:v>
                </c:pt>
                <c:pt idx="17">
                  <c:v>2002</c:v>
                </c:pt>
                <c:pt idx="18">
                  <c:v>2003</c:v>
                </c:pt>
                <c:pt idx="19">
                  <c:v>2004</c:v>
                </c:pt>
                <c:pt idx="20">
                  <c:v>2005</c:v>
                </c:pt>
                <c:pt idx="21">
                  <c:v>2006</c:v>
                </c:pt>
                <c:pt idx="22">
                  <c:v>2007</c:v>
                </c:pt>
                <c:pt idx="23">
                  <c:v>2008</c:v>
                </c:pt>
                <c:pt idx="24">
                  <c:v>2009</c:v>
                </c:pt>
                <c:pt idx="25">
                  <c:v>2010</c:v>
                </c:pt>
                <c:pt idx="26">
                  <c:v>2011</c:v>
                </c:pt>
                <c:pt idx="27">
                  <c:v>2012</c:v>
                </c:pt>
                <c:pt idx="28">
                  <c:v>2013</c:v>
                </c:pt>
                <c:pt idx="29">
                  <c:v>2014</c:v>
                </c:pt>
                <c:pt idx="30">
                  <c:v>2015</c:v>
                </c:pt>
                <c:pt idx="31">
                  <c:v>2016</c:v>
                </c:pt>
                <c:pt idx="32">
                  <c:v>2017</c:v>
                </c:pt>
                <c:pt idx="33">
                  <c:v>2018</c:v>
                </c:pt>
                <c:pt idx="34">
                  <c:v>2019</c:v>
                </c:pt>
                <c:pt idx="35">
                  <c:v>2020</c:v>
                </c:pt>
              </c:numCache>
            </c:numRef>
          </c:cat>
          <c:val>
            <c:numRef>
              <c:f>Sheet1!$B$2:$B$37</c:f>
              <c:numCache>
                <c:formatCode>0.0%</c:formatCode>
                <c:ptCount val="36"/>
                <c:pt idx="0">
                  <c:v>0.20499999999999999</c:v>
                </c:pt>
                <c:pt idx="1">
                  <c:v>0.2</c:v>
                </c:pt>
                <c:pt idx="2">
                  <c:v>0.19699999999999998</c:v>
                </c:pt>
                <c:pt idx="3">
                  <c:v>0.19699999999999998</c:v>
                </c:pt>
                <c:pt idx="4">
                  <c:v>0.19800000000000001</c:v>
                </c:pt>
                <c:pt idx="5">
                  <c:v>0.20100000000000001</c:v>
                </c:pt>
                <c:pt idx="6">
                  <c:v>0.21199999999999999</c:v>
                </c:pt>
                <c:pt idx="7">
                  <c:v>0.218</c:v>
                </c:pt>
                <c:pt idx="8">
                  <c:v>0.22600000000000001</c:v>
                </c:pt>
                <c:pt idx="9">
                  <c:v>0.22800000000000001</c:v>
                </c:pt>
                <c:pt idx="10">
                  <c:v>0.23199999999999998</c:v>
                </c:pt>
                <c:pt idx="11">
                  <c:v>0.23499999999999999</c:v>
                </c:pt>
                <c:pt idx="12">
                  <c:v>0.23800000000000002</c:v>
                </c:pt>
                <c:pt idx="13">
                  <c:v>0.23699999999999999</c:v>
                </c:pt>
                <c:pt idx="14">
                  <c:v>0.23600000000000002</c:v>
                </c:pt>
                <c:pt idx="15">
                  <c:v>0.23</c:v>
                </c:pt>
                <c:pt idx="16">
                  <c:v>0.23</c:v>
                </c:pt>
                <c:pt idx="17">
                  <c:v>0.23199999999999998</c:v>
                </c:pt>
                <c:pt idx="18">
                  <c:v>0.23600000000000002</c:v>
                </c:pt>
                <c:pt idx="19">
                  <c:v>0.23800000000000002</c:v>
                </c:pt>
                <c:pt idx="20">
                  <c:v>0.24199999999999999</c:v>
                </c:pt>
                <c:pt idx="21">
                  <c:v>0.24600000000000002</c:v>
                </c:pt>
                <c:pt idx="22">
                  <c:v>0.245</c:v>
                </c:pt>
                <c:pt idx="23">
                  <c:v>0.249</c:v>
                </c:pt>
                <c:pt idx="24">
                  <c:v>0.25700000000000001</c:v>
                </c:pt>
                <c:pt idx="25">
                  <c:v>0.25800000000000001</c:v>
                </c:pt>
                <c:pt idx="26">
                  <c:v>0.25800000000000001</c:v>
                </c:pt>
                <c:pt idx="27">
                  <c:v>0.26600000000000001</c:v>
                </c:pt>
                <c:pt idx="28">
                  <c:v>0.27100000000000002</c:v>
                </c:pt>
                <c:pt idx="29">
                  <c:v>0.26899999999999996</c:v>
                </c:pt>
                <c:pt idx="30">
                  <c:v>0.26899999999999996</c:v>
                </c:pt>
                <c:pt idx="31">
                  <c:v>0.26700000000000002</c:v>
                </c:pt>
                <c:pt idx="32">
                  <c:v>0.26500000000000001</c:v>
                </c:pt>
                <c:pt idx="33">
                  <c:v>0.26500000000000001</c:v>
                </c:pt>
                <c:pt idx="34">
                  <c:v>0.26600000000000001</c:v>
                </c:pt>
                <c:pt idx="35">
                  <c:v>0.28499999999999998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4A5-664E-BCE4-EC128D4C240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8569856"/>
        <c:axId val="58052784"/>
      </c:lineChart>
      <c:catAx>
        <c:axId val="585698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en-FR"/>
          </a:p>
        </c:txPr>
        <c:crossAx val="58052784"/>
        <c:crosses val="autoZero"/>
        <c:auto val="1"/>
        <c:lblAlgn val="ctr"/>
        <c:lblOffset val="100"/>
        <c:noMultiLvlLbl val="0"/>
      </c:catAx>
      <c:valAx>
        <c:axId val="58052784"/>
        <c:scaling>
          <c:orientation val="minMax"/>
          <c:min val="0.18"/>
        </c:scaling>
        <c:delete val="0"/>
        <c:axPos val="l"/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en-FR"/>
          </a:p>
        </c:txPr>
        <c:crossAx val="585698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bg1"/>
          </a:solidFill>
          <a:latin typeface="Questrial" pitchFamily="2" charset="77"/>
          <a:ea typeface="Questrial" pitchFamily="2" charset="77"/>
          <a:cs typeface="Questrial" pitchFamily="2" charset="77"/>
        </a:defRPr>
      </a:pPr>
      <a:endParaRPr lang="en-FR"/>
    </a:p>
  </c:txPr>
  <c:externalData r:id="rId3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bg1"/>
              </a:solidFill>
              <a:latin typeface="Questrial" pitchFamily="2" charset="77"/>
              <a:ea typeface="Questrial" pitchFamily="2" charset="77"/>
              <a:cs typeface="Questrial" pitchFamily="2" charset="77"/>
            </a:defRPr>
          </a:pPr>
          <a:endParaRPr lang="en-F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Principaux postes de dépense des ménages français (2020)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endParaRPr lang="en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Logement</c:v>
                </c:pt>
                <c:pt idx="1">
                  <c:v>Alimentation</c:v>
                </c:pt>
                <c:pt idx="2">
                  <c:v>Transport</c:v>
                </c:pt>
              </c:strCache>
            </c:strRef>
          </c:cat>
          <c:val>
            <c:numRef>
              <c:f>Sheet1!$B$2:$B$4</c:f>
              <c:numCache>
                <c:formatCode>0.00%</c:formatCode>
                <c:ptCount val="3"/>
                <c:pt idx="0">
                  <c:v>0.28499999999999998</c:v>
                </c:pt>
                <c:pt idx="1">
                  <c:v>0.19500000000000001</c:v>
                </c:pt>
                <c:pt idx="2">
                  <c:v>0.11799999999999999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6DC-074C-9A85-C7BBEE9D915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94771391"/>
        <c:axId val="895067823"/>
      </c:barChart>
      <c:catAx>
        <c:axId val="89477139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en-FR"/>
          </a:p>
        </c:txPr>
        <c:crossAx val="895067823"/>
        <c:crosses val="autoZero"/>
        <c:auto val="1"/>
        <c:lblAlgn val="ctr"/>
        <c:lblOffset val="100"/>
        <c:noMultiLvlLbl val="0"/>
      </c:catAx>
      <c:valAx>
        <c:axId val="895067823"/>
        <c:scaling>
          <c:orientation val="minMax"/>
        </c:scaling>
        <c:delete val="0"/>
        <c:axPos val="l"/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en-FR"/>
          </a:p>
        </c:txPr>
        <c:crossAx val="89477139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bg1"/>
          </a:solidFill>
          <a:latin typeface="Questrial" pitchFamily="2" charset="77"/>
          <a:ea typeface="Questrial" pitchFamily="2" charset="77"/>
          <a:cs typeface="Questrial" pitchFamily="2" charset="77"/>
        </a:defRPr>
      </a:pPr>
      <a:endParaRPr lang="en-FR"/>
    </a:p>
  </c:txPr>
  <c:externalData r:id="rId3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rgbClr val="FFFFFF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r>
              <a:rPr lang="en-GB" dirty="0"/>
              <a:t>Les </a:t>
            </a:r>
            <a:r>
              <a:rPr lang="en-GB" baseline="0" dirty="0"/>
              <a:t>prix des </a:t>
            </a:r>
            <a:r>
              <a:rPr lang="en-GB" baseline="0" dirty="0" err="1"/>
              <a:t>logements</a:t>
            </a:r>
            <a:r>
              <a:rPr lang="en-GB" baseline="0" dirty="0"/>
              <a:t> </a:t>
            </a:r>
            <a:r>
              <a:rPr lang="en-GB" baseline="0" dirty="0" err="1"/>
              <a:t>anciens</a:t>
            </a:r>
            <a:r>
              <a:rPr lang="en-GB" baseline="0" dirty="0"/>
              <a:t> </a:t>
            </a:r>
            <a:r>
              <a:rPr lang="en-GB" baseline="0" dirty="0" err="1"/>
              <a:t>ont</a:t>
            </a:r>
            <a:r>
              <a:rPr lang="en-GB" baseline="0" dirty="0"/>
              <a:t> </a:t>
            </a:r>
            <a:r>
              <a:rPr lang="en-GB" baseline="0" dirty="0" err="1"/>
              <a:t>augmenté</a:t>
            </a:r>
            <a:r>
              <a:rPr lang="en-GB" baseline="0" dirty="0"/>
              <a:t> beaucoup plus </a:t>
            </a:r>
            <a:r>
              <a:rPr lang="en-GB" baseline="0" dirty="0" err="1"/>
              <a:t>fortement</a:t>
            </a:r>
            <a:r>
              <a:rPr lang="en-GB" baseline="0" dirty="0"/>
              <a:t> que les </a:t>
            </a:r>
            <a:r>
              <a:rPr lang="en-GB" baseline="0" dirty="0" err="1"/>
              <a:t>revenus</a:t>
            </a:r>
            <a:r>
              <a:rPr lang="en-GB" baseline="0" dirty="0"/>
              <a:t> et </a:t>
            </a:r>
            <a:r>
              <a:rPr lang="en-GB" baseline="0" dirty="0" err="1"/>
              <a:t>l’inflation</a:t>
            </a:r>
            <a:endParaRPr lang="en-GB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rgbClr val="FFFFFF"/>
              </a:solidFill>
              <a:latin typeface="Questrial" pitchFamily="2" charset="77"/>
              <a:ea typeface="Questrial" pitchFamily="2" charset="77"/>
              <a:cs typeface="Questrial" pitchFamily="2" charset="77"/>
            </a:defRPr>
          </a:pPr>
          <a:endParaRPr lang="en-GB"/>
        </a:p>
      </c:txPr>
    </c:title>
    <c:autoTitleDeleted val="0"/>
    <c:plotArea>
      <c:layout/>
      <c:lineChart>
        <c:grouping val="standard"/>
        <c:varyColors val="0"/>
        <c:ser>
          <c:idx val="2"/>
          <c:order val="0"/>
          <c:tx>
            <c:strRef>
              <c:f>Sheet1!$C$1</c:f>
              <c:strCache>
                <c:ptCount val="1"/>
                <c:pt idx="0">
                  <c:v>Prix des logements anciens 
en Île-de-France </c:v>
                </c:pt>
              </c:strCache>
            </c:strRef>
          </c:tx>
          <c:spPr>
            <a:ln w="38100" cap="rnd">
              <a:solidFill>
                <a:schemeClr val="bg1"/>
              </a:solidFill>
              <a:round/>
            </a:ln>
            <a:effectLst/>
          </c:spPr>
          <c:marker>
            <c:symbol val="none"/>
          </c:marker>
          <c:cat>
            <c:numRef>
              <c:f>Sheet1!$A$2:$A$79</c:f>
              <c:numCache>
                <c:formatCode>General</c:formatCode>
                <c:ptCount val="78"/>
                <c:pt idx="0">
                  <c:v>2001</c:v>
                </c:pt>
                <c:pt idx="1">
                  <c:v>2001</c:v>
                </c:pt>
                <c:pt idx="2">
                  <c:v>2001</c:v>
                </c:pt>
                <c:pt idx="3">
                  <c:v>2001</c:v>
                </c:pt>
                <c:pt idx="4">
                  <c:v>2002</c:v>
                </c:pt>
                <c:pt idx="5">
                  <c:v>2002</c:v>
                </c:pt>
                <c:pt idx="6">
                  <c:v>2002</c:v>
                </c:pt>
                <c:pt idx="7">
                  <c:v>2002</c:v>
                </c:pt>
                <c:pt idx="8">
                  <c:v>2003</c:v>
                </c:pt>
                <c:pt idx="9">
                  <c:v>2003</c:v>
                </c:pt>
                <c:pt idx="10">
                  <c:v>2003</c:v>
                </c:pt>
                <c:pt idx="11">
                  <c:v>2003</c:v>
                </c:pt>
                <c:pt idx="12">
                  <c:v>2004</c:v>
                </c:pt>
                <c:pt idx="13">
                  <c:v>2004</c:v>
                </c:pt>
                <c:pt idx="14">
                  <c:v>2004</c:v>
                </c:pt>
                <c:pt idx="15">
                  <c:v>2004</c:v>
                </c:pt>
                <c:pt idx="16">
                  <c:v>2005</c:v>
                </c:pt>
                <c:pt idx="17">
                  <c:v>2005</c:v>
                </c:pt>
                <c:pt idx="18">
                  <c:v>2005</c:v>
                </c:pt>
                <c:pt idx="19">
                  <c:v>2005</c:v>
                </c:pt>
                <c:pt idx="20">
                  <c:v>2006</c:v>
                </c:pt>
                <c:pt idx="21">
                  <c:v>2006</c:v>
                </c:pt>
                <c:pt idx="22">
                  <c:v>2006</c:v>
                </c:pt>
                <c:pt idx="23">
                  <c:v>2006</c:v>
                </c:pt>
                <c:pt idx="24">
                  <c:v>2007</c:v>
                </c:pt>
                <c:pt idx="25">
                  <c:v>2007</c:v>
                </c:pt>
                <c:pt idx="26">
                  <c:v>2007</c:v>
                </c:pt>
                <c:pt idx="27">
                  <c:v>2007</c:v>
                </c:pt>
                <c:pt idx="28">
                  <c:v>2008</c:v>
                </c:pt>
                <c:pt idx="29">
                  <c:v>2008</c:v>
                </c:pt>
                <c:pt idx="30">
                  <c:v>2008</c:v>
                </c:pt>
                <c:pt idx="31">
                  <c:v>2008</c:v>
                </c:pt>
                <c:pt idx="32">
                  <c:v>2009</c:v>
                </c:pt>
                <c:pt idx="33">
                  <c:v>2009</c:v>
                </c:pt>
                <c:pt idx="34">
                  <c:v>2009</c:v>
                </c:pt>
                <c:pt idx="35">
                  <c:v>2009</c:v>
                </c:pt>
                <c:pt idx="36">
                  <c:v>2010</c:v>
                </c:pt>
                <c:pt idx="37">
                  <c:v>2010</c:v>
                </c:pt>
                <c:pt idx="38">
                  <c:v>2010</c:v>
                </c:pt>
                <c:pt idx="39">
                  <c:v>2010</c:v>
                </c:pt>
                <c:pt idx="40">
                  <c:v>2011</c:v>
                </c:pt>
                <c:pt idx="41">
                  <c:v>2011</c:v>
                </c:pt>
                <c:pt idx="42">
                  <c:v>2011</c:v>
                </c:pt>
                <c:pt idx="43">
                  <c:v>2011</c:v>
                </c:pt>
                <c:pt idx="44">
                  <c:v>2012</c:v>
                </c:pt>
                <c:pt idx="45">
                  <c:v>2012</c:v>
                </c:pt>
                <c:pt idx="46">
                  <c:v>2012</c:v>
                </c:pt>
                <c:pt idx="47">
                  <c:v>2012</c:v>
                </c:pt>
                <c:pt idx="48">
                  <c:v>2013</c:v>
                </c:pt>
                <c:pt idx="49">
                  <c:v>2013</c:v>
                </c:pt>
                <c:pt idx="50">
                  <c:v>2013</c:v>
                </c:pt>
                <c:pt idx="51">
                  <c:v>2013</c:v>
                </c:pt>
                <c:pt idx="52">
                  <c:v>2014</c:v>
                </c:pt>
                <c:pt idx="53">
                  <c:v>2014</c:v>
                </c:pt>
                <c:pt idx="54">
                  <c:v>2014</c:v>
                </c:pt>
                <c:pt idx="55">
                  <c:v>2014</c:v>
                </c:pt>
                <c:pt idx="56">
                  <c:v>2015</c:v>
                </c:pt>
                <c:pt idx="57">
                  <c:v>2015</c:v>
                </c:pt>
                <c:pt idx="58">
                  <c:v>2015</c:v>
                </c:pt>
                <c:pt idx="59">
                  <c:v>2015</c:v>
                </c:pt>
                <c:pt idx="60">
                  <c:v>2016</c:v>
                </c:pt>
                <c:pt idx="61">
                  <c:v>2016</c:v>
                </c:pt>
                <c:pt idx="62">
                  <c:v>2016</c:v>
                </c:pt>
                <c:pt idx="63">
                  <c:v>2016</c:v>
                </c:pt>
                <c:pt idx="64">
                  <c:v>2017</c:v>
                </c:pt>
                <c:pt idx="65">
                  <c:v>2017</c:v>
                </c:pt>
                <c:pt idx="66">
                  <c:v>2017</c:v>
                </c:pt>
                <c:pt idx="67">
                  <c:v>2017</c:v>
                </c:pt>
                <c:pt idx="68">
                  <c:v>2018</c:v>
                </c:pt>
                <c:pt idx="69">
                  <c:v>2018</c:v>
                </c:pt>
                <c:pt idx="70">
                  <c:v>2018</c:v>
                </c:pt>
                <c:pt idx="71">
                  <c:v>2018</c:v>
                </c:pt>
                <c:pt idx="72">
                  <c:v>2019</c:v>
                </c:pt>
                <c:pt idx="73">
                  <c:v>2019</c:v>
                </c:pt>
                <c:pt idx="74">
                  <c:v>2019</c:v>
                </c:pt>
                <c:pt idx="75">
                  <c:v>2019</c:v>
                </c:pt>
                <c:pt idx="76">
                  <c:v>2020</c:v>
                </c:pt>
                <c:pt idx="77">
                  <c:v>2020</c:v>
                </c:pt>
              </c:numCache>
            </c:numRef>
          </c:cat>
          <c:val>
            <c:numRef>
              <c:f>Sheet1!$C$2:$C$79</c:f>
              <c:numCache>
                <c:formatCode>0.0</c:formatCode>
                <c:ptCount val="78"/>
                <c:pt idx="0">
                  <c:v>100</c:v>
                </c:pt>
                <c:pt idx="1">
                  <c:v>101.9</c:v>
                </c:pt>
                <c:pt idx="2">
                  <c:v>103.7</c:v>
                </c:pt>
                <c:pt idx="3">
                  <c:v>105.2</c:v>
                </c:pt>
                <c:pt idx="4">
                  <c:v>106.3</c:v>
                </c:pt>
                <c:pt idx="5">
                  <c:v>108.9</c:v>
                </c:pt>
                <c:pt idx="6">
                  <c:v>111.9</c:v>
                </c:pt>
                <c:pt idx="7">
                  <c:v>114.3</c:v>
                </c:pt>
                <c:pt idx="8">
                  <c:v>117.5</c:v>
                </c:pt>
                <c:pt idx="9">
                  <c:v>121</c:v>
                </c:pt>
                <c:pt idx="10">
                  <c:v>124.2</c:v>
                </c:pt>
                <c:pt idx="11">
                  <c:v>128.69999999999999</c:v>
                </c:pt>
                <c:pt idx="12">
                  <c:v>133.5</c:v>
                </c:pt>
                <c:pt idx="13">
                  <c:v>138</c:v>
                </c:pt>
                <c:pt idx="14">
                  <c:v>143</c:v>
                </c:pt>
                <c:pt idx="15">
                  <c:v>148.19999999999999</c:v>
                </c:pt>
                <c:pt idx="16">
                  <c:v>153.6</c:v>
                </c:pt>
                <c:pt idx="17">
                  <c:v>159.4</c:v>
                </c:pt>
                <c:pt idx="18">
                  <c:v>165.7</c:v>
                </c:pt>
                <c:pt idx="19">
                  <c:v>171.1</c:v>
                </c:pt>
                <c:pt idx="20">
                  <c:v>176.5</c:v>
                </c:pt>
                <c:pt idx="21">
                  <c:v>181.4</c:v>
                </c:pt>
                <c:pt idx="22">
                  <c:v>185.1</c:v>
                </c:pt>
                <c:pt idx="23">
                  <c:v>188.1</c:v>
                </c:pt>
                <c:pt idx="24">
                  <c:v>192.4</c:v>
                </c:pt>
                <c:pt idx="25">
                  <c:v>195</c:v>
                </c:pt>
                <c:pt idx="26">
                  <c:v>197.4</c:v>
                </c:pt>
                <c:pt idx="27">
                  <c:v>201.5</c:v>
                </c:pt>
                <c:pt idx="28">
                  <c:v>202.6</c:v>
                </c:pt>
                <c:pt idx="29">
                  <c:v>203.7</c:v>
                </c:pt>
                <c:pt idx="30">
                  <c:v>202.6</c:v>
                </c:pt>
                <c:pt idx="31">
                  <c:v>198.1</c:v>
                </c:pt>
                <c:pt idx="32">
                  <c:v>190.5</c:v>
                </c:pt>
                <c:pt idx="33">
                  <c:v>184.9</c:v>
                </c:pt>
                <c:pt idx="34">
                  <c:v>185.5</c:v>
                </c:pt>
                <c:pt idx="35">
                  <c:v>188.1</c:v>
                </c:pt>
                <c:pt idx="36">
                  <c:v>194.4</c:v>
                </c:pt>
                <c:pt idx="37">
                  <c:v>199.4</c:v>
                </c:pt>
                <c:pt idx="38">
                  <c:v>204.1</c:v>
                </c:pt>
                <c:pt idx="39">
                  <c:v>210.8</c:v>
                </c:pt>
                <c:pt idx="40">
                  <c:v>217.5</c:v>
                </c:pt>
                <c:pt idx="41">
                  <c:v>225.1</c:v>
                </c:pt>
                <c:pt idx="42">
                  <c:v>228.1</c:v>
                </c:pt>
                <c:pt idx="43">
                  <c:v>228.9</c:v>
                </c:pt>
                <c:pt idx="44">
                  <c:v>228.3</c:v>
                </c:pt>
                <c:pt idx="45">
                  <c:v>228.1</c:v>
                </c:pt>
                <c:pt idx="46">
                  <c:v>227</c:v>
                </c:pt>
                <c:pt idx="47">
                  <c:v>226.6</c:v>
                </c:pt>
                <c:pt idx="48">
                  <c:v>226.1</c:v>
                </c:pt>
                <c:pt idx="49">
                  <c:v>225.3</c:v>
                </c:pt>
                <c:pt idx="50">
                  <c:v>223.5</c:v>
                </c:pt>
                <c:pt idx="51">
                  <c:v>222.7</c:v>
                </c:pt>
                <c:pt idx="52">
                  <c:v>222</c:v>
                </c:pt>
                <c:pt idx="53">
                  <c:v>221</c:v>
                </c:pt>
                <c:pt idx="54">
                  <c:v>219.2</c:v>
                </c:pt>
                <c:pt idx="55">
                  <c:v>217.9</c:v>
                </c:pt>
                <c:pt idx="56">
                  <c:v>216.4</c:v>
                </c:pt>
                <c:pt idx="57">
                  <c:v>215.6</c:v>
                </c:pt>
                <c:pt idx="58">
                  <c:v>216</c:v>
                </c:pt>
                <c:pt idx="59">
                  <c:v>216</c:v>
                </c:pt>
                <c:pt idx="60">
                  <c:v>216.8</c:v>
                </c:pt>
                <c:pt idx="61">
                  <c:v>218.6</c:v>
                </c:pt>
                <c:pt idx="62">
                  <c:v>220.1</c:v>
                </c:pt>
                <c:pt idx="63">
                  <c:v>221.6</c:v>
                </c:pt>
                <c:pt idx="64">
                  <c:v>224.4</c:v>
                </c:pt>
                <c:pt idx="65">
                  <c:v>227.2</c:v>
                </c:pt>
                <c:pt idx="66">
                  <c:v>230.2</c:v>
                </c:pt>
                <c:pt idx="67">
                  <c:v>232</c:v>
                </c:pt>
                <c:pt idx="68">
                  <c:v>233.9</c:v>
                </c:pt>
                <c:pt idx="69">
                  <c:v>236.3</c:v>
                </c:pt>
                <c:pt idx="70">
                  <c:v>238.7</c:v>
                </c:pt>
                <c:pt idx="71">
                  <c:v>240.8</c:v>
                </c:pt>
                <c:pt idx="72">
                  <c:v>242.5</c:v>
                </c:pt>
                <c:pt idx="73">
                  <c:v>245.4</c:v>
                </c:pt>
                <c:pt idx="74">
                  <c:v>247.9</c:v>
                </c:pt>
                <c:pt idx="75">
                  <c:v>251.2</c:v>
                </c:pt>
                <c:pt idx="76">
                  <c:v>256.39999999999998</c:v>
                </c:pt>
                <c:pt idx="77">
                  <c:v>260.89999999999998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F74-474C-9217-455944152C93}"/>
            </c:ext>
          </c:extLst>
        </c:ser>
        <c:ser>
          <c:idx val="1"/>
          <c:order val="1"/>
          <c:tx>
            <c:strRef>
              <c:f>Sheet1!$B$1</c:f>
              <c:strCache>
                <c:ptCount val="1"/>
                <c:pt idx="0">
                  <c:v>Prix des logements anciens en France métropolitaine</c:v>
                </c:pt>
              </c:strCache>
            </c:strRef>
          </c:tx>
          <c:spPr>
            <a:ln w="38100" cap="rnd">
              <a:solidFill>
                <a:srgbClr val="C00000"/>
              </a:solidFill>
              <a:round/>
            </a:ln>
            <a:effectLst/>
          </c:spPr>
          <c:marker>
            <c:symbol val="none"/>
          </c:marker>
          <c:cat>
            <c:numRef>
              <c:f>Sheet1!$A$2:$A$79</c:f>
              <c:numCache>
                <c:formatCode>General</c:formatCode>
                <c:ptCount val="78"/>
                <c:pt idx="0">
                  <c:v>2001</c:v>
                </c:pt>
                <c:pt idx="1">
                  <c:v>2001</c:v>
                </c:pt>
                <c:pt idx="2">
                  <c:v>2001</c:v>
                </c:pt>
                <c:pt idx="3">
                  <c:v>2001</c:v>
                </c:pt>
                <c:pt idx="4">
                  <c:v>2002</c:v>
                </c:pt>
                <c:pt idx="5">
                  <c:v>2002</c:v>
                </c:pt>
                <c:pt idx="6">
                  <c:v>2002</c:v>
                </c:pt>
                <c:pt idx="7">
                  <c:v>2002</c:v>
                </c:pt>
                <c:pt idx="8">
                  <c:v>2003</c:v>
                </c:pt>
                <c:pt idx="9">
                  <c:v>2003</c:v>
                </c:pt>
                <c:pt idx="10">
                  <c:v>2003</c:v>
                </c:pt>
                <c:pt idx="11">
                  <c:v>2003</c:v>
                </c:pt>
                <c:pt idx="12">
                  <c:v>2004</c:v>
                </c:pt>
                <c:pt idx="13">
                  <c:v>2004</c:v>
                </c:pt>
                <c:pt idx="14">
                  <c:v>2004</c:v>
                </c:pt>
                <c:pt idx="15">
                  <c:v>2004</c:v>
                </c:pt>
                <c:pt idx="16">
                  <c:v>2005</c:v>
                </c:pt>
                <c:pt idx="17">
                  <c:v>2005</c:v>
                </c:pt>
                <c:pt idx="18">
                  <c:v>2005</c:v>
                </c:pt>
                <c:pt idx="19">
                  <c:v>2005</c:v>
                </c:pt>
                <c:pt idx="20">
                  <c:v>2006</c:v>
                </c:pt>
                <c:pt idx="21">
                  <c:v>2006</c:v>
                </c:pt>
                <c:pt idx="22">
                  <c:v>2006</c:v>
                </c:pt>
                <c:pt idx="23">
                  <c:v>2006</c:v>
                </c:pt>
                <c:pt idx="24">
                  <c:v>2007</c:v>
                </c:pt>
                <c:pt idx="25">
                  <c:v>2007</c:v>
                </c:pt>
                <c:pt idx="26">
                  <c:v>2007</c:v>
                </c:pt>
                <c:pt idx="27">
                  <c:v>2007</c:v>
                </c:pt>
                <c:pt idx="28">
                  <c:v>2008</c:v>
                </c:pt>
                <c:pt idx="29">
                  <c:v>2008</c:v>
                </c:pt>
                <c:pt idx="30">
                  <c:v>2008</c:v>
                </c:pt>
                <c:pt idx="31">
                  <c:v>2008</c:v>
                </c:pt>
                <c:pt idx="32">
                  <c:v>2009</c:v>
                </c:pt>
                <c:pt idx="33">
                  <c:v>2009</c:v>
                </c:pt>
                <c:pt idx="34">
                  <c:v>2009</c:v>
                </c:pt>
                <c:pt idx="35">
                  <c:v>2009</c:v>
                </c:pt>
                <c:pt idx="36">
                  <c:v>2010</c:v>
                </c:pt>
                <c:pt idx="37">
                  <c:v>2010</c:v>
                </c:pt>
                <c:pt idx="38">
                  <c:v>2010</c:v>
                </c:pt>
                <c:pt idx="39">
                  <c:v>2010</c:v>
                </c:pt>
                <c:pt idx="40">
                  <c:v>2011</c:v>
                </c:pt>
                <c:pt idx="41">
                  <c:v>2011</c:v>
                </c:pt>
                <c:pt idx="42">
                  <c:v>2011</c:v>
                </c:pt>
                <c:pt idx="43">
                  <c:v>2011</c:v>
                </c:pt>
                <c:pt idx="44">
                  <c:v>2012</c:v>
                </c:pt>
                <c:pt idx="45">
                  <c:v>2012</c:v>
                </c:pt>
                <c:pt idx="46">
                  <c:v>2012</c:v>
                </c:pt>
                <c:pt idx="47">
                  <c:v>2012</c:v>
                </c:pt>
                <c:pt idx="48">
                  <c:v>2013</c:v>
                </c:pt>
                <c:pt idx="49">
                  <c:v>2013</c:v>
                </c:pt>
                <c:pt idx="50">
                  <c:v>2013</c:v>
                </c:pt>
                <c:pt idx="51">
                  <c:v>2013</c:v>
                </c:pt>
                <c:pt idx="52">
                  <c:v>2014</c:v>
                </c:pt>
                <c:pt idx="53">
                  <c:v>2014</c:v>
                </c:pt>
                <c:pt idx="54">
                  <c:v>2014</c:v>
                </c:pt>
                <c:pt idx="55">
                  <c:v>2014</c:v>
                </c:pt>
                <c:pt idx="56">
                  <c:v>2015</c:v>
                </c:pt>
                <c:pt idx="57">
                  <c:v>2015</c:v>
                </c:pt>
                <c:pt idx="58">
                  <c:v>2015</c:v>
                </c:pt>
                <c:pt idx="59">
                  <c:v>2015</c:v>
                </c:pt>
                <c:pt idx="60">
                  <c:v>2016</c:v>
                </c:pt>
                <c:pt idx="61">
                  <c:v>2016</c:v>
                </c:pt>
                <c:pt idx="62">
                  <c:v>2016</c:v>
                </c:pt>
                <c:pt idx="63">
                  <c:v>2016</c:v>
                </c:pt>
                <c:pt idx="64">
                  <c:v>2017</c:v>
                </c:pt>
                <c:pt idx="65">
                  <c:v>2017</c:v>
                </c:pt>
                <c:pt idx="66">
                  <c:v>2017</c:v>
                </c:pt>
                <c:pt idx="67">
                  <c:v>2017</c:v>
                </c:pt>
                <c:pt idx="68">
                  <c:v>2018</c:v>
                </c:pt>
                <c:pt idx="69">
                  <c:v>2018</c:v>
                </c:pt>
                <c:pt idx="70">
                  <c:v>2018</c:v>
                </c:pt>
                <c:pt idx="71">
                  <c:v>2018</c:v>
                </c:pt>
                <c:pt idx="72">
                  <c:v>2019</c:v>
                </c:pt>
                <c:pt idx="73">
                  <c:v>2019</c:v>
                </c:pt>
                <c:pt idx="74">
                  <c:v>2019</c:v>
                </c:pt>
                <c:pt idx="75">
                  <c:v>2019</c:v>
                </c:pt>
                <c:pt idx="76">
                  <c:v>2020</c:v>
                </c:pt>
                <c:pt idx="77">
                  <c:v>2020</c:v>
                </c:pt>
              </c:numCache>
            </c:numRef>
          </c:cat>
          <c:val>
            <c:numRef>
              <c:f>Sheet1!$B$2:$B$79</c:f>
              <c:numCache>
                <c:formatCode>0.0</c:formatCode>
                <c:ptCount val="78"/>
                <c:pt idx="0">
                  <c:v>100</c:v>
                </c:pt>
                <c:pt idx="1">
                  <c:v>102.1</c:v>
                </c:pt>
                <c:pt idx="2">
                  <c:v>103.7</c:v>
                </c:pt>
                <c:pt idx="3">
                  <c:v>105.6</c:v>
                </c:pt>
                <c:pt idx="4">
                  <c:v>107.4</c:v>
                </c:pt>
                <c:pt idx="5">
                  <c:v>110.1</c:v>
                </c:pt>
                <c:pt idx="6">
                  <c:v>113.2</c:v>
                </c:pt>
                <c:pt idx="7">
                  <c:v>116.3</c:v>
                </c:pt>
                <c:pt idx="8">
                  <c:v>119.4</c:v>
                </c:pt>
                <c:pt idx="9">
                  <c:v>123.1</c:v>
                </c:pt>
                <c:pt idx="10">
                  <c:v>126.6</c:v>
                </c:pt>
                <c:pt idx="11">
                  <c:v>131.1</c:v>
                </c:pt>
                <c:pt idx="12">
                  <c:v>136.30000000000001</c:v>
                </c:pt>
                <c:pt idx="13">
                  <c:v>141</c:v>
                </c:pt>
                <c:pt idx="14">
                  <c:v>146.19999999999999</c:v>
                </c:pt>
                <c:pt idx="15">
                  <c:v>151.80000000000001</c:v>
                </c:pt>
                <c:pt idx="16">
                  <c:v>157.5</c:v>
                </c:pt>
                <c:pt idx="17">
                  <c:v>163.30000000000001</c:v>
                </c:pt>
                <c:pt idx="18">
                  <c:v>169.1</c:v>
                </c:pt>
                <c:pt idx="19">
                  <c:v>174.4</c:v>
                </c:pt>
                <c:pt idx="20">
                  <c:v>179.8</c:v>
                </c:pt>
                <c:pt idx="21">
                  <c:v>184.5</c:v>
                </c:pt>
                <c:pt idx="22">
                  <c:v>188.3</c:v>
                </c:pt>
                <c:pt idx="23">
                  <c:v>191.7</c:v>
                </c:pt>
                <c:pt idx="24">
                  <c:v>194.6</c:v>
                </c:pt>
                <c:pt idx="25">
                  <c:v>196.9</c:v>
                </c:pt>
                <c:pt idx="26">
                  <c:v>199.2</c:v>
                </c:pt>
                <c:pt idx="27">
                  <c:v>202.1</c:v>
                </c:pt>
                <c:pt idx="28">
                  <c:v>203.1</c:v>
                </c:pt>
                <c:pt idx="29">
                  <c:v>202.3</c:v>
                </c:pt>
                <c:pt idx="30">
                  <c:v>200.2</c:v>
                </c:pt>
                <c:pt idx="31">
                  <c:v>194.6</c:v>
                </c:pt>
                <c:pt idx="32">
                  <c:v>188.2</c:v>
                </c:pt>
                <c:pt idx="33">
                  <c:v>184.1</c:v>
                </c:pt>
                <c:pt idx="34">
                  <c:v>184.5</c:v>
                </c:pt>
                <c:pt idx="35">
                  <c:v>186.6</c:v>
                </c:pt>
                <c:pt idx="36">
                  <c:v>190.3</c:v>
                </c:pt>
                <c:pt idx="37">
                  <c:v>193.6</c:v>
                </c:pt>
                <c:pt idx="38">
                  <c:v>196.5</c:v>
                </c:pt>
                <c:pt idx="39">
                  <c:v>200.8</c:v>
                </c:pt>
                <c:pt idx="40">
                  <c:v>203.7</c:v>
                </c:pt>
                <c:pt idx="41">
                  <c:v>207.2</c:v>
                </c:pt>
                <c:pt idx="42">
                  <c:v>208.5</c:v>
                </c:pt>
                <c:pt idx="43">
                  <c:v>208.2</c:v>
                </c:pt>
                <c:pt idx="44">
                  <c:v>207.4</c:v>
                </c:pt>
                <c:pt idx="45">
                  <c:v>206.4</c:v>
                </c:pt>
                <c:pt idx="46">
                  <c:v>205.2</c:v>
                </c:pt>
                <c:pt idx="47">
                  <c:v>204.1</c:v>
                </c:pt>
                <c:pt idx="48">
                  <c:v>203.3</c:v>
                </c:pt>
                <c:pt idx="49">
                  <c:v>201.9</c:v>
                </c:pt>
                <c:pt idx="50">
                  <c:v>200.6</c:v>
                </c:pt>
                <c:pt idx="51">
                  <c:v>200.4</c:v>
                </c:pt>
                <c:pt idx="52">
                  <c:v>199.4</c:v>
                </c:pt>
                <c:pt idx="53">
                  <c:v>199.2</c:v>
                </c:pt>
                <c:pt idx="54">
                  <c:v>197.7</c:v>
                </c:pt>
                <c:pt idx="55">
                  <c:v>195.3</c:v>
                </c:pt>
                <c:pt idx="56">
                  <c:v>194.6</c:v>
                </c:pt>
                <c:pt idx="57">
                  <c:v>193.8</c:v>
                </c:pt>
                <c:pt idx="58">
                  <c:v>194</c:v>
                </c:pt>
                <c:pt idx="59">
                  <c:v>194.4</c:v>
                </c:pt>
                <c:pt idx="60">
                  <c:v>195</c:v>
                </c:pt>
                <c:pt idx="61">
                  <c:v>195.1</c:v>
                </c:pt>
                <c:pt idx="62">
                  <c:v>196.5</c:v>
                </c:pt>
                <c:pt idx="63">
                  <c:v>197.3</c:v>
                </c:pt>
                <c:pt idx="64">
                  <c:v>199.8</c:v>
                </c:pt>
                <c:pt idx="65">
                  <c:v>201.2</c:v>
                </c:pt>
                <c:pt idx="66">
                  <c:v>202.9</c:v>
                </c:pt>
                <c:pt idx="67">
                  <c:v>203.7</c:v>
                </c:pt>
                <c:pt idx="68">
                  <c:v>205.8</c:v>
                </c:pt>
                <c:pt idx="69">
                  <c:v>207</c:v>
                </c:pt>
                <c:pt idx="70">
                  <c:v>208.9</c:v>
                </c:pt>
                <c:pt idx="71">
                  <c:v>210.3</c:v>
                </c:pt>
                <c:pt idx="72">
                  <c:v>211.8</c:v>
                </c:pt>
                <c:pt idx="73">
                  <c:v>213.8</c:v>
                </c:pt>
                <c:pt idx="74">
                  <c:v>215.7</c:v>
                </c:pt>
                <c:pt idx="75">
                  <c:v>218.4</c:v>
                </c:pt>
                <c:pt idx="76">
                  <c:v>222.5</c:v>
                </c:pt>
                <c:pt idx="77">
                  <c:v>225.6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F74-474C-9217-455944152C93}"/>
            </c:ext>
          </c:extLst>
        </c:ser>
        <c:ser>
          <c:idx val="4"/>
          <c:order val="2"/>
          <c:tx>
            <c:strRef>
              <c:f>Sheet1!$E$1</c:f>
              <c:strCache>
                <c:ptCount val="1"/>
                <c:pt idx="0">
                  <c:v>Loyers d’habitation</c:v>
                </c:pt>
              </c:strCache>
            </c:strRef>
          </c:tx>
          <c:spPr>
            <a:ln w="38100" cap="rnd">
              <a:solidFill>
                <a:srgbClr val="FFC000"/>
              </a:solidFill>
              <a:round/>
            </a:ln>
            <a:effectLst/>
          </c:spPr>
          <c:marker>
            <c:symbol val="none"/>
          </c:marker>
          <c:cat>
            <c:numRef>
              <c:f>Sheet1!$A$2:$A$79</c:f>
              <c:numCache>
                <c:formatCode>General</c:formatCode>
                <c:ptCount val="78"/>
                <c:pt idx="0">
                  <c:v>2001</c:v>
                </c:pt>
                <c:pt idx="1">
                  <c:v>2001</c:v>
                </c:pt>
                <c:pt idx="2">
                  <c:v>2001</c:v>
                </c:pt>
                <c:pt idx="3">
                  <c:v>2001</c:v>
                </c:pt>
                <c:pt idx="4">
                  <c:v>2002</c:v>
                </c:pt>
                <c:pt idx="5">
                  <c:v>2002</c:v>
                </c:pt>
                <c:pt idx="6">
                  <c:v>2002</c:v>
                </c:pt>
                <c:pt idx="7">
                  <c:v>2002</c:v>
                </c:pt>
                <c:pt idx="8">
                  <c:v>2003</c:v>
                </c:pt>
                <c:pt idx="9">
                  <c:v>2003</c:v>
                </c:pt>
                <c:pt idx="10">
                  <c:v>2003</c:v>
                </c:pt>
                <c:pt idx="11">
                  <c:v>2003</c:v>
                </c:pt>
                <c:pt idx="12">
                  <c:v>2004</c:v>
                </c:pt>
                <c:pt idx="13">
                  <c:v>2004</c:v>
                </c:pt>
                <c:pt idx="14">
                  <c:v>2004</c:v>
                </c:pt>
                <c:pt idx="15">
                  <c:v>2004</c:v>
                </c:pt>
                <c:pt idx="16">
                  <c:v>2005</c:v>
                </c:pt>
                <c:pt idx="17">
                  <c:v>2005</c:v>
                </c:pt>
                <c:pt idx="18">
                  <c:v>2005</c:v>
                </c:pt>
                <c:pt idx="19">
                  <c:v>2005</c:v>
                </c:pt>
                <c:pt idx="20">
                  <c:v>2006</c:v>
                </c:pt>
                <c:pt idx="21">
                  <c:v>2006</c:v>
                </c:pt>
                <c:pt idx="22">
                  <c:v>2006</c:v>
                </c:pt>
                <c:pt idx="23">
                  <c:v>2006</c:v>
                </c:pt>
                <c:pt idx="24">
                  <c:v>2007</c:v>
                </c:pt>
                <c:pt idx="25">
                  <c:v>2007</c:v>
                </c:pt>
                <c:pt idx="26">
                  <c:v>2007</c:v>
                </c:pt>
                <c:pt idx="27">
                  <c:v>2007</c:v>
                </c:pt>
                <c:pt idx="28">
                  <c:v>2008</c:v>
                </c:pt>
                <c:pt idx="29">
                  <c:v>2008</c:v>
                </c:pt>
                <c:pt idx="30">
                  <c:v>2008</c:v>
                </c:pt>
                <c:pt idx="31">
                  <c:v>2008</c:v>
                </c:pt>
                <c:pt idx="32">
                  <c:v>2009</c:v>
                </c:pt>
                <c:pt idx="33">
                  <c:v>2009</c:v>
                </c:pt>
                <c:pt idx="34">
                  <c:v>2009</c:v>
                </c:pt>
                <c:pt idx="35">
                  <c:v>2009</c:v>
                </c:pt>
                <c:pt idx="36">
                  <c:v>2010</c:v>
                </c:pt>
                <c:pt idx="37">
                  <c:v>2010</c:v>
                </c:pt>
                <c:pt idx="38">
                  <c:v>2010</c:v>
                </c:pt>
                <c:pt idx="39">
                  <c:v>2010</c:v>
                </c:pt>
                <c:pt idx="40">
                  <c:v>2011</c:v>
                </c:pt>
                <c:pt idx="41">
                  <c:v>2011</c:v>
                </c:pt>
                <c:pt idx="42">
                  <c:v>2011</c:v>
                </c:pt>
                <c:pt idx="43">
                  <c:v>2011</c:v>
                </c:pt>
                <c:pt idx="44">
                  <c:v>2012</c:v>
                </c:pt>
                <c:pt idx="45">
                  <c:v>2012</c:v>
                </c:pt>
                <c:pt idx="46">
                  <c:v>2012</c:v>
                </c:pt>
                <c:pt idx="47">
                  <c:v>2012</c:v>
                </c:pt>
                <c:pt idx="48">
                  <c:v>2013</c:v>
                </c:pt>
                <c:pt idx="49">
                  <c:v>2013</c:v>
                </c:pt>
                <c:pt idx="50">
                  <c:v>2013</c:v>
                </c:pt>
                <c:pt idx="51">
                  <c:v>2013</c:v>
                </c:pt>
                <c:pt idx="52">
                  <c:v>2014</c:v>
                </c:pt>
                <c:pt idx="53">
                  <c:v>2014</c:v>
                </c:pt>
                <c:pt idx="54">
                  <c:v>2014</c:v>
                </c:pt>
                <c:pt idx="55">
                  <c:v>2014</c:v>
                </c:pt>
                <c:pt idx="56">
                  <c:v>2015</c:v>
                </c:pt>
                <c:pt idx="57">
                  <c:v>2015</c:v>
                </c:pt>
                <c:pt idx="58">
                  <c:v>2015</c:v>
                </c:pt>
                <c:pt idx="59">
                  <c:v>2015</c:v>
                </c:pt>
                <c:pt idx="60">
                  <c:v>2016</c:v>
                </c:pt>
                <c:pt idx="61">
                  <c:v>2016</c:v>
                </c:pt>
                <c:pt idx="62">
                  <c:v>2016</c:v>
                </c:pt>
                <c:pt idx="63">
                  <c:v>2016</c:v>
                </c:pt>
                <c:pt idx="64">
                  <c:v>2017</c:v>
                </c:pt>
                <c:pt idx="65">
                  <c:v>2017</c:v>
                </c:pt>
                <c:pt idx="66">
                  <c:v>2017</c:v>
                </c:pt>
                <c:pt idx="67">
                  <c:v>2017</c:v>
                </c:pt>
                <c:pt idx="68">
                  <c:v>2018</c:v>
                </c:pt>
                <c:pt idx="69">
                  <c:v>2018</c:v>
                </c:pt>
                <c:pt idx="70">
                  <c:v>2018</c:v>
                </c:pt>
                <c:pt idx="71">
                  <c:v>2018</c:v>
                </c:pt>
                <c:pt idx="72">
                  <c:v>2019</c:v>
                </c:pt>
                <c:pt idx="73">
                  <c:v>2019</c:v>
                </c:pt>
                <c:pt idx="74">
                  <c:v>2019</c:v>
                </c:pt>
                <c:pt idx="75">
                  <c:v>2019</c:v>
                </c:pt>
                <c:pt idx="76">
                  <c:v>2020</c:v>
                </c:pt>
                <c:pt idx="77">
                  <c:v>2020</c:v>
                </c:pt>
              </c:numCache>
            </c:numRef>
          </c:cat>
          <c:val>
            <c:numRef>
              <c:f>Sheet1!$E$2:$E$79</c:f>
              <c:numCache>
                <c:formatCode>0.0</c:formatCode>
                <c:ptCount val="78"/>
                <c:pt idx="0">
                  <c:v>100</c:v>
                </c:pt>
                <c:pt idx="1">
                  <c:v>100.4</c:v>
                </c:pt>
                <c:pt idx="2">
                  <c:v>100.9</c:v>
                </c:pt>
                <c:pt idx="3">
                  <c:v>101.9</c:v>
                </c:pt>
                <c:pt idx="4">
                  <c:v>102.6</c:v>
                </c:pt>
                <c:pt idx="5">
                  <c:v>103.3</c:v>
                </c:pt>
                <c:pt idx="6">
                  <c:v>103.9</c:v>
                </c:pt>
                <c:pt idx="7">
                  <c:v>105</c:v>
                </c:pt>
                <c:pt idx="8">
                  <c:v>105.4</c:v>
                </c:pt>
                <c:pt idx="9">
                  <c:v>106.1</c:v>
                </c:pt>
                <c:pt idx="10">
                  <c:v>106.6</c:v>
                </c:pt>
                <c:pt idx="11">
                  <c:v>107.6</c:v>
                </c:pt>
                <c:pt idx="12">
                  <c:v>108.1</c:v>
                </c:pt>
                <c:pt idx="13">
                  <c:v>109.1</c:v>
                </c:pt>
                <c:pt idx="14">
                  <c:v>109.9</c:v>
                </c:pt>
                <c:pt idx="15">
                  <c:v>111.3</c:v>
                </c:pt>
                <c:pt idx="16">
                  <c:v>111.9</c:v>
                </c:pt>
                <c:pt idx="17">
                  <c:v>112.9</c:v>
                </c:pt>
                <c:pt idx="18">
                  <c:v>114</c:v>
                </c:pt>
                <c:pt idx="19">
                  <c:v>115.3</c:v>
                </c:pt>
                <c:pt idx="20">
                  <c:v>116</c:v>
                </c:pt>
                <c:pt idx="21">
                  <c:v>116.8</c:v>
                </c:pt>
                <c:pt idx="22">
                  <c:v>117.6</c:v>
                </c:pt>
                <c:pt idx="23">
                  <c:v>118.9</c:v>
                </c:pt>
                <c:pt idx="24">
                  <c:v>119.8</c:v>
                </c:pt>
                <c:pt idx="25">
                  <c:v>120.6</c:v>
                </c:pt>
                <c:pt idx="26">
                  <c:v>121.3</c:v>
                </c:pt>
                <c:pt idx="27">
                  <c:v>122.3</c:v>
                </c:pt>
                <c:pt idx="28">
                  <c:v>122.7</c:v>
                </c:pt>
                <c:pt idx="29">
                  <c:v>123.3</c:v>
                </c:pt>
                <c:pt idx="30">
                  <c:v>123.7</c:v>
                </c:pt>
                <c:pt idx="31">
                  <c:v>124.8</c:v>
                </c:pt>
                <c:pt idx="32">
                  <c:v>125.4</c:v>
                </c:pt>
                <c:pt idx="33">
                  <c:v>126.1</c:v>
                </c:pt>
                <c:pt idx="34">
                  <c:v>126.3</c:v>
                </c:pt>
                <c:pt idx="35">
                  <c:v>127.1</c:v>
                </c:pt>
                <c:pt idx="36">
                  <c:v>127.5</c:v>
                </c:pt>
                <c:pt idx="37">
                  <c:v>127.8</c:v>
                </c:pt>
                <c:pt idx="38">
                  <c:v>128.1</c:v>
                </c:pt>
                <c:pt idx="39">
                  <c:v>128.5</c:v>
                </c:pt>
                <c:pt idx="40">
                  <c:v>128.80000000000001</c:v>
                </c:pt>
                <c:pt idx="41">
                  <c:v>128.80000000000001</c:v>
                </c:pt>
                <c:pt idx="42">
                  <c:v>129.19999999999999</c:v>
                </c:pt>
                <c:pt idx="43">
                  <c:v>130.30000000000001</c:v>
                </c:pt>
                <c:pt idx="44">
                  <c:v>130.69999999999999</c:v>
                </c:pt>
                <c:pt idx="45">
                  <c:v>130.9</c:v>
                </c:pt>
                <c:pt idx="46">
                  <c:v>131.30000000000001</c:v>
                </c:pt>
                <c:pt idx="47">
                  <c:v>132.4</c:v>
                </c:pt>
                <c:pt idx="48">
                  <c:v>132.69999999999999</c:v>
                </c:pt>
                <c:pt idx="49">
                  <c:v>133.1</c:v>
                </c:pt>
                <c:pt idx="50">
                  <c:v>133.19999999999999</c:v>
                </c:pt>
                <c:pt idx="51">
                  <c:v>133.9</c:v>
                </c:pt>
                <c:pt idx="52">
                  <c:v>134.19999999999999</c:v>
                </c:pt>
                <c:pt idx="53">
                  <c:v>134.30000000000001</c:v>
                </c:pt>
                <c:pt idx="54">
                  <c:v>134.6</c:v>
                </c:pt>
                <c:pt idx="55">
                  <c:v>134.9</c:v>
                </c:pt>
                <c:pt idx="56">
                  <c:v>135.1</c:v>
                </c:pt>
                <c:pt idx="57">
                  <c:v>135.30000000000001</c:v>
                </c:pt>
                <c:pt idx="58">
                  <c:v>135.1</c:v>
                </c:pt>
                <c:pt idx="59">
                  <c:v>135.30000000000001</c:v>
                </c:pt>
                <c:pt idx="60">
                  <c:v>135.4</c:v>
                </c:pt>
                <c:pt idx="61">
                  <c:v>135.5</c:v>
                </c:pt>
                <c:pt idx="62">
                  <c:v>135.5</c:v>
                </c:pt>
                <c:pt idx="63">
                  <c:v>135.5</c:v>
                </c:pt>
                <c:pt idx="64">
                  <c:v>135.69999999999999</c:v>
                </c:pt>
                <c:pt idx="65">
                  <c:v>135.69999999999999</c:v>
                </c:pt>
                <c:pt idx="66">
                  <c:v>135.80000000000001</c:v>
                </c:pt>
                <c:pt idx="67">
                  <c:v>136.1</c:v>
                </c:pt>
                <c:pt idx="68">
                  <c:v>136.4</c:v>
                </c:pt>
                <c:pt idx="69">
                  <c:v>134.6</c:v>
                </c:pt>
                <c:pt idx="70">
                  <c:v>134.9</c:v>
                </c:pt>
                <c:pt idx="71">
                  <c:v>135.69999999999999</c:v>
                </c:pt>
                <c:pt idx="72">
                  <c:v>136</c:v>
                </c:pt>
                <c:pt idx="73">
                  <c:v>136.1</c:v>
                </c:pt>
                <c:pt idx="74">
                  <c:v>136.19999999999999</c:v>
                </c:pt>
                <c:pt idx="75">
                  <c:v>136.4</c:v>
                </c:pt>
                <c:pt idx="76">
                  <c:v>136.4</c:v>
                </c:pt>
                <c:pt idx="77">
                  <c:v>136.5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6F74-474C-9217-455944152C93}"/>
            </c:ext>
          </c:extLst>
        </c:ser>
        <c:ser>
          <c:idx val="3"/>
          <c:order val="3"/>
          <c:tx>
            <c:strRef>
              <c:f>Sheet1!$D$1</c:f>
              <c:strCache>
                <c:ptCount val="1"/>
                <c:pt idx="0">
                  <c:v>Inflation</c:v>
                </c:pt>
              </c:strCache>
            </c:strRef>
          </c:tx>
          <c:spPr>
            <a:ln w="38100" cap="rnd">
              <a:solidFill>
                <a:srgbClr val="7030A0"/>
              </a:solidFill>
              <a:round/>
            </a:ln>
            <a:effectLst/>
          </c:spPr>
          <c:marker>
            <c:symbol val="none"/>
          </c:marker>
          <c:cat>
            <c:numRef>
              <c:f>Sheet1!$A$2:$A$79</c:f>
              <c:numCache>
                <c:formatCode>General</c:formatCode>
                <c:ptCount val="78"/>
                <c:pt idx="0">
                  <c:v>2001</c:v>
                </c:pt>
                <c:pt idx="1">
                  <c:v>2001</c:v>
                </c:pt>
                <c:pt idx="2">
                  <c:v>2001</c:v>
                </c:pt>
                <c:pt idx="3">
                  <c:v>2001</c:v>
                </c:pt>
                <c:pt idx="4">
                  <c:v>2002</c:v>
                </c:pt>
                <c:pt idx="5">
                  <c:v>2002</c:v>
                </c:pt>
                <c:pt idx="6">
                  <c:v>2002</c:v>
                </c:pt>
                <c:pt idx="7">
                  <c:v>2002</c:v>
                </c:pt>
                <c:pt idx="8">
                  <c:v>2003</c:v>
                </c:pt>
                <c:pt idx="9">
                  <c:v>2003</c:v>
                </c:pt>
                <c:pt idx="10">
                  <c:v>2003</c:v>
                </c:pt>
                <c:pt idx="11">
                  <c:v>2003</c:v>
                </c:pt>
                <c:pt idx="12">
                  <c:v>2004</c:v>
                </c:pt>
                <c:pt idx="13">
                  <c:v>2004</c:v>
                </c:pt>
                <c:pt idx="14">
                  <c:v>2004</c:v>
                </c:pt>
                <c:pt idx="15">
                  <c:v>2004</c:v>
                </c:pt>
                <c:pt idx="16">
                  <c:v>2005</c:v>
                </c:pt>
                <c:pt idx="17">
                  <c:v>2005</c:v>
                </c:pt>
                <c:pt idx="18">
                  <c:v>2005</c:v>
                </c:pt>
                <c:pt idx="19">
                  <c:v>2005</c:v>
                </c:pt>
                <c:pt idx="20">
                  <c:v>2006</c:v>
                </c:pt>
                <c:pt idx="21">
                  <c:v>2006</c:v>
                </c:pt>
                <c:pt idx="22">
                  <c:v>2006</c:v>
                </c:pt>
                <c:pt idx="23">
                  <c:v>2006</c:v>
                </c:pt>
                <c:pt idx="24">
                  <c:v>2007</c:v>
                </c:pt>
                <c:pt idx="25">
                  <c:v>2007</c:v>
                </c:pt>
                <c:pt idx="26">
                  <c:v>2007</c:v>
                </c:pt>
                <c:pt idx="27">
                  <c:v>2007</c:v>
                </c:pt>
                <c:pt idx="28">
                  <c:v>2008</c:v>
                </c:pt>
                <c:pt idx="29">
                  <c:v>2008</c:v>
                </c:pt>
                <c:pt idx="30">
                  <c:v>2008</c:v>
                </c:pt>
                <c:pt idx="31">
                  <c:v>2008</c:v>
                </c:pt>
                <c:pt idx="32">
                  <c:v>2009</c:v>
                </c:pt>
                <c:pt idx="33">
                  <c:v>2009</c:v>
                </c:pt>
                <c:pt idx="34">
                  <c:v>2009</c:v>
                </c:pt>
                <c:pt idx="35">
                  <c:v>2009</c:v>
                </c:pt>
                <c:pt idx="36">
                  <c:v>2010</c:v>
                </c:pt>
                <c:pt idx="37">
                  <c:v>2010</c:v>
                </c:pt>
                <c:pt idx="38">
                  <c:v>2010</c:v>
                </c:pt>
                <c:pt idx="39">
                  <c:v>2010</c:v>
                </c:pt>
                <c:pt idx="40">
                  <c:v>2011</c:v>
                </c:pt>
                <c:pt idx="41">
                  <c:v>2011</c:v>
                </c:pt>
                <c:pt idx="42">
                  <c:v>2011</c:v>
                </c:pt>
                <c:pt idx="43">
                  <c:v>2011</c:v>
                </c:pt>
                <c:pt idx="44">
                  <c:v>2012</c:v>
                </c:pt>
                <c:pt idx="45">
                  <c:v>2012</c:v>
                </c:pt>
                <c:pt idx="46">
                  <c:v>2012</c:v>
                </c:pt>
                <c:pt idx="47">
                  <c:v>2012</c:v>
                </c:pt>
                <c:pt idx="48">
                  <c:v>2013</c:v>
                </c:pt>
                <c:pt idx="49">
                  <c:v>2013</c:v>
                </c:pt>
                <c:pt idx="50">
                  <c:v>2013</c:v>
                </c:pt>
                <c:pt idx="51">
                  <c:v>2013</c:v>
                </c:pt>
                <c:pt idx="52">
                  <c:v>2014</c:v>
                </c:pt>
                <c:pt idx="53">
                  <c:v>2014</c:v>
                </c:pt>
                <c:pt idx="54">
                  <c:v>2014</c:v>
                </c:pt>
                <c:pt idx="55">
                  <c:v>2014</c:v>
                </c:pt>
                <c:pt idx="56">
                  <c:v>2015</c:v>
                </c:pt>
                <c:pt idx="57">
                  <c:v>2015</c:v>
                </c:pt>
                <c:pt idx="58">
                  <c:v>2015</c:v>
                </c:pt>
                <c:pt idx="59">
                  <c:v>2015</c:v>
                </c:pt>
                <c:pt idx="60">
                  <c:v>2016</c:v>
                </c:pt>
                <c:pt idx="61">
                  <c:v>2016</c:v>
                </c:pt>
                <c:pt idx="62">
                  <c:v>2016</c:v>
                </c:pt>
                <c:pt idx="63">
                  <c:v>2016</c:v>
                </c:pt>
                <c:pt idx="64">
                  <c:v>2017</c:v>
                </c:pt>
                <c:pt idx="65">
                  <c:v>2017</c:v>
                </c:pt>
                <c:pt idx="66">
                  <c:v>2017</c:v>
                </c:pt>
                <c:pt idx="67">
                  <c:v>2017</c:v>
                </c:pt>
                <c:pt idx="68">
                  <c:v>2018</c:v>
                </c:pt>
                <c:pt idx="69">
                  <c:v>2018</c:v>
                </c:pt>
                <c:pt idx="70">
                  <c:v>2018</c:v>
                </c:pt>
                <c:pt idx="71">
                  <c:v>2018</c:v>
                </c:pt>
                <c:pt idx="72">
                  <c:v>2019</c:v>
                </c:pt>
                <c:pt idx="73">
                  <c:v>2019</c:v>
                </c:pt>
                <c:pt idx="74">
                  <c:v>2019</c:v>
                </c:pt>
                <c:pt idx="75">
                  <c:v>2019</c:v>
                </c:pt>
                <c:pt idx="76">
                  <c:v>2020</c:v>
                </c:pt>
                <c:pt idx="77">
                  <c:v>2020</c:v>
                </c:pt>
              </c:numCache>
            </c:numRef>
          </c:cat>
          <c:val>
            <c:numRef>
              <c:f>Sheet1!$D$2:$D$79</c:f>
              <c:numCache>
                <c:formatCode>0.0</c:formatCode>
                <c:ptCount val="78"/>
                <c:pt idx="0">
                  <c:v>100</c:v>
                </c:pt>
                <c:pt idx="1">
                  <c:v>101.2</c:v>
                </c:pt>
                <c:pt idx="2">
                  <c:v>101.1</c:v>
                </c:pt>
                <c:pt idx="3">
                  <c:v>101</c:v>
                </c:pt>
                <c:pt idx="4">
                  <c:v>102.1</c:v>
                </c:pt>
                <c:pt idx="5">
                  <c:v>102.6</c:v>
                </c:pt>
                <c:pt idx="6">
                  <c:v>103</c:v>
                </c:pt>
                <c:pt idx="7">
                  <c:v>103.3</c:v>
                </c:pt>
                <c:pt idx="8">
                  <c:v>104.7</c:v>
                </c:pt>
                <c:pt idx="9">
                  <c:v>104.6</c:v>
                </c:pt>
                <c:pt idx="10">
                  <c:v>105.2</c:v>
                </c:pt>
                <c:pt idx="11">
                  <c:v>105.6</c:v>
                </c:pt>
                <c:pt idx="12">
                  <c:v>106.5</c:v>
                </c:pt>
                <c:pt idx="13">
                  <c:v>107.2</c:v>
                </c:pt>
                <c:pt idx="14">
                  <c:v>107.3</c:v>
                </c:pt>
                <c:pt idx="15">
                  <c:v>107.8</c:v>
                </c:pt>
                <c:pt idx="16">
                  <c:v>108.5</c:v>
                </c:pt>
                <c:pt idx="17">
                  <c:v>108.9</c:v>
                </c:pt>
                <c:pt idx="18">
                  <c:v>109.6</c:v>
                </c:pt>
                <c:pt idx="19">
                  <c:v>109.5</c:v>
                </c:pt>
                <c:pt idx="20">
                  <c:v>110.1</c:v>
                </c:pt>
                <c:pt idx="21">
                  <c:v>111.1</c:v>
                </c:pt>
                <c:pt idx="22">
                  <c:v>111</c:v>
                </c:pt>
                <c:pt idx="23">
                  <c:v>111.1</c:v>
                </c:pt>
                <c:pt idx="24">
                  <c:v>111.4</c:v>
                </c:pt>
                <c:pt idx="25">
                  <c:v>112.4</c:v>
                </c:pt>
                <c:pt idx="26">
                  <c:v>112.7</c:v>
                </c:pt>
                <c:pt idx="27">
                  <c:v>114</c:v>
                </c:pt>
                <c:pt idx="28">
                  <c:v>115</c:v>
                </c:pt>
                <c:pt idx="29">
                  <c:v>116.4</c:v>
                </c:pt>
                <c:pt idx="30">
                  <c:v>116</c:v>
                </c:pt>
                <c:pt idx="31">
                  <c:v>115.1</c:v>
                </c:pt>
                <c:pt idx="32">
                  <c:v>115.3</c:v>
                </c:pt>
                <c:pt idx="33">
                  <c:v>115.8</c:v>
                </c:pt>
                <c:pt idx="34">
                  <c:v>115.6</c:v>
                </c:pt>
                <c:pt idx="35">
                  <c:v>116.2</c:v>
                </c:pt>
                <c:pt idx="36">
                  <c:v>117.2</c:v>
                </c:pt>
                <c:pt idx="37">
                  <c:v>117.6</c:v>
                </c:pt>
                <c:pt idx="38">
                  <c:v>117.4</c:v>
                </c:pt>
                <c:pt idx="39">
                  <c:v>118.2</c:v>
                </c:pt>
                <c:pt idx="40">
                  <c:v>119.5</c:v>
                </c:pt>
                <c:pt idx="41">
                  <c:v>120</c:v>
                </c:pt>
                <c:pt idx="42">
                  <c:v>120</c:v>
                </c:pt>
                <c:pt idx="43">
                  <c:v>121.1</c:v>
                </c:pt>
                <c:pt idx="44">
                  <c:v>122.2</c:v>
                </c:pt>
                <c:pt idx="45">
                  <c:v>122.4</c:v>
                </c:pt>
                <c:pt idx="46">
                  <c:v>122.3</c:v>
                </c:pt>
                <c:pt idx="47">
                  <c:v>122.8</c:v>
                </c:pt>
                <c:pt idx="48">
                  <c:v>123.4</c:v>
                </c:pt>
                <c:pt idx="49">
                  <c:v>123.5</c:v>
                </c:pt>
                <c:pt idx="50">
                  <c:v>123.4</c:v>
                </c:pt>
                <c:pt idx="51">
                  <c:v>123.6</c:v>
                </c:pt>
                <c:pt idx="52">
                  <c:v>124.2</c:v>
                </c:pt>
                <c:pt idx="53">
                  <c:v>124.1</c:v>
                </c:pt>
                <c:pt idx="54">
                  <c:v>123.8</c:v>
                </c:pt>
                <c:pt idx="55">
                  <c:v>123.7</c:v>
                </c:pt>
                <c:pt idx="56">
                  <c:v>124.1</c:v>
                </c:pt>
                <c:pt idx="57">
                  <c:v>124.4</c:v>
                </c:pt>
                <c:pt idx="58">
                  <c:v>123.8</c:v>
                </c:pt>
                <c:pt idx="59">
                  <c:v>123.9</c:v>
                </c:pt>
                <c:pt idx="60">
                  <c:v>123.9</c:v>
                </c:pt>
                <c:pt idx="61">
                  <c:v>124.7</c:v>
                </c:pt>
                <c:pt idx="62">
                  <c:v>124.3</c:v>
                </c:pt>
                <c:pt idx="63">
                  <c:v>124.7</c:v>
                </c:pt>
                <c:pt idx="64">
                  <c:v>125.3</c:v>
                </c:pt>
                <c:pt idx="65">
                  <c:v>125.5</c:v>
                </c:pt>
                <c:pt idx="66">
                  <c:v>125.6</c:v>
                </c:pt>
                <c:pt idx="67">
                  <c:v>126.2</c:v>
                </c:pt>
                <c:pt idx="68">
                  <c:v>127.3</c:v>
                </c:pt>
                <c:pt idx="69">
                  <c:v>128.1</c:v>
                </c:pt>
                <c:pt idx="70">
                  <c:v>128.30000000000001</c:v>
                </c:pt>
                <c:pt idx="71">
                  <c:v>128.19999999999999</c:v>
                </c:pt>
                <c:pt idx="72">
                  <c:v>128.69999999999999</c:v>
                </c:pt>
                <c:pt idx="73">
                  <c:v>129.6</c:v>
                </c:pt>
                <c:pt idx="74">
                  <c:v>129.5</c:v>
                </c:pt>
                <c:pt idx="75">
                  <c:v>130.1</c:v>
                </c:pt>
                <c:pt idx="76">
                  <c:v>129.6</c:v>
                </c:pt>
                <c:pt idx="77">
                  <c:v>129.9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6F74-474C-9217-455944152C93}"/>
            </c:ext>
          </c:extLst>
        </c:ser>
        <c:ser>
          <c:idx val="5"/>
          <c:order val="4"/>
          <c:tx>
            <c:strRef>
              <c:f>Sheet1!$F$1</c:f>
              <c:strCache>
                <c:ptCount val="1"/>
                <c:pt idx="0">
                  <c:v>Revenu disponible brut par ménage 
</c:v>
                </c:pt>
              </c:strCache>
            </c:strRef>
          </c:tx>
          <c:spPr>
            <a:ln w="38100" cap="rnd">
              <a:solidFill>
                <a:srgbClr val="00B050"/>
              </a:solidFill>
              <a:round/>
            </a:ln>
            <a:effectLst/>
          </c:spPr>
          <c:marker>
            <c:symbol val="none"/>
          </c:marker>
          <c:cat>
            <c:numRef>
              <c:f>Sheet1!$A$2:$A$79</c:f>
              <c:numCache>
                <c:formatCode>General</c:formatCode>
                <c:ptCount val="78"/>
                <c:pt idx="0">
                  <c:v>2001</c:v>
                </c:pt>
                <c:pt idx="1">
                  <c:v>2001</c:v>
                </c:pt>
                <c:pt idx="2">
                  <c:v>2001</c:v>
                </c:pt>
                <c:pt idx="3">
                  <c:v>2001</c:v>
                </c:pt>
                <c:pt idx="4">
                  <c:v>2002</c:v>
                </c:pt>
                <c:pt idx="5">
                  <c:v>2002</c:v>
                </c:pt>
                <c:pt idx="6">
                  <c:v>2002</c:v>
                </c:pt>
                <c:pt idx="7">
                  <c:v>2002</c:v>
                </c:pt>
                <c:pt idx="8">
                  <c:v>2003</c:v>
                </c:pt>
                <c:pt idx="9">
                  <c:v>2003</c:v>
                </c:pt>
                <c:pt idx="10">
                  <c:v>2003</c:v>
                </c:pt>
                <c:pt idx="11">
                  <c:v>2003</c:v>
                </c:pt>
                <c:pt idx="12">
                  <c:v>2004</c:v>
                </c:pt>
                <c:pt idx="13">
                  <c:v>2004</c:v>
                </c:pt>
                <c:pt idx="14">
                  <c:v>2004</c:v>
                </c:pt>
                <c:pt idx="15">
                  <c:v>2004</c:v>
                </c:pt>
                <c:pt idx="16">
                  <c:v>2005</c:v>
                </c:pt>
                <c:pt idx="17">
                  <c:v>2005</c:v>
                </c:pt>
                <c:pt idx="18">
                  <c:v>2005</c:v>
                </c:pt>
                <c:pt idx="19">
                  <c:v>2005</c:v>
                </c:pt>
                <c:pt idx="20">
                  <c:v>2006</c:v>
                </c:pt>
                <c:pt idx="21">
                  <c:v>2006</c:v>
                </c:pt>
                <c:pt idx="22">
                  <c:v>2006</c:v>
                </c:pt>
                <c:pt idx="23">
                  <c:v>2006</c:v>
                </c:pt>
                <c:pt idx="24">
                  <c:v>2007</c:v>
                </c:pt>
                <c:pt idx="25">
                  <c:v>2007</c:v>
                </c:pt>
                <c:pt idx="26">
                  <c:v>2007</c:v>
                </c:pt>
                <c:pt idx="27">
                  <c:v>2007</c:v>
                </c:pt>
                <c:pt idx="28">
                  <c:v>2008</c:v>
                </c:pt>
                <c:pt idx="29">
                  <c:v>2008</c:v>
                </c:pt>
                <c:pt idx="30">
                  <c:v>2008</c:v>
                </c:pt>
                <c:pt idx="31">
                  <c:v>2008</c:v>
                </c:pt>
                <c:pt idx="32">
                  <c:v>2009</c:v>
                </c:pt>
                <c:pt idx="33">
                  <c:v>2009</c:v>
                </c:pt>
                <c:pt idx="34">
                  <c:v>2009</c:v>
                </c:pt>
                <c:pt idx="35">
                  <c:v>2009</c:v>
                </c:pt>
                <c:pt idx="36">
                  <c:v>2010</c:v>
                </c:pt>
                <c:pt idx="37">
                  <c:v>2010</c:v>
                </c:pt>
                <c:pt idx="38">
                  <c:v>2010</c:v>
                </c:pt>
                <c:pt idx="39">
                  <c:v>2010</c:v>
                </c:pt>
                <c:pt idx="40">
                  <c:v>2011</c:v>
                </c:pt>
                <c:pt idx="41">
                  <c:v>2011</c:v>
                </c:pt>
                <c:pt idx="42">
                  <c:v>2011</c:v>
                </c:pt>
                <c:pt idx="43">
                  <c:v>2011</c:v>
                </c:pt>
                <c:pt idx="44">
                  <c:v>2012</c:v>
                </c:pt>
                <c:pt idx="45">
                  <c:v>2012</c:v>
                </c:pt>
                <c:pt idx="46">
                  <c:v>2012</c:v>
                </c:pt>
                <c:pt idx="47">
                  <c:v>2012</c:v>
                </c:pt>
                <c:pt idx="48">
                  <c:v>2013</c:v>
                </c:pt>
                <c:pt idx="49">
                  <c:v>2013</c:v>
                </c:pt>
                <c:pt idx="50">
                  <c:v>2013</c:v>
                </c:pt>
                <c:pt idx="51">
                  <c:v>2013</c:v>
                </c:pt>
                <c:pt idx="52">
                  <c:v>2014</c:v>
                </c:pt>
                <c:pt idx="53">
                  <c:v>2014</c:v>
                </c:pt>
                <c:pt idx="54">
                  <c:v>2014</c:v>
                </c:pt>
                <c:pt idx="55">
                  <c:v>2014</c:v>
                </c:pt>
                <c:pt idx="56">
                  <c:v>2015</c:v>
                </c:pt>
                <c:pt idx="57">
                  <c:v>2015</c:v>
                </c:pt>
                <c:pt idx="58">
                  <c:v>2015</c:v>
                </c:pt>
                <c:pt idx="59">
                  <c:v>2015</c:v>
                </c:pt>
                <c:pt idx="60">
                  <c:v>2016</c:v>
                </c:pt>
                <c:pt idx="61">
                  <c:v>2016</c:v>
                </c:pt>
                <c:pt idx="62">
                  <c:v>2016</c:v>
                </c:pt>
                <c:pt idx="63">
                  <c:v>2016</c:v>
                </c:pt>
                <c:pt idx="64">
                  <c:v>2017</c:v>
                </c:pt>
                <c:pt idx="65">
                  <c:v>2017</c:v>
                </c:pt>
                <c:pt idx="66">
                  <c:v>2017</c:v>
                </c:pt>
                <c:pt idx="67">
                  <c:v>2017</c:v>
                </c:pt>
                <c:pt idx="68">
                  <c:v>2018</c:v>
                </c:pt>
                <c:pt idx="69">
                  <c:v>2018</c:v>
                </c:pt>
                <c:pt idx="70">
                  <c:v>2018</c:v>
                </c:pt>
                <c:pt idx="71">
                  <c:v>2018</c:v>
                </c:pt>
                <c:pt idx="72">
                  <c:v>2019</c:v>
                </c:pt>
                <c:pt idx="73">
                  <c:v>2019</c:v>
                </c:pt>
                <c:pt idx="74">
                  <c:v>2019</c:v>
                </c:pt>
                <c:pt idx="75">
                  <c:v>2019</c:v>
                </c:pt>
                <c:pt idx="76">
                  <c:v>2020</c:v>
                </c:pt>
                <c:pt idx="77">
                  <c:v>2020</c:v>
                </c:pt>
              </c:numCache>
            </c:numRef>
          </c:cat>
          <c:val>
            <c:numRef>
              <c:f>Sheet1!$F$2:$F$79</c:f>
              <c:numCache>
                <c:formatCode>0.0</c:formatCode>
                <c:ptCount val="78"/>
                <c:pt idx="0">
                  <c:v>100</c:v>
                </c:pt>
                <c:pt idx="1">
                  <c:v>100.3</c:v>
                </c:pt>
                <c:pt idx="2">
                  <c:v>101.8</c:v>
                </c:pt>
                <c:pt idx="3">
                  <c:v>102.6</c:v>
                </c:pt>
                <c:pt idx="4">
                  <c:v>102.8</c:v>
                </c:pt>
                <c:pt idx="5">
                  <c:v>103.2</c:v>
                </c:pt>
                <c:pt idx="6">
                  <c:v>103.5</c:v>
                </c:pt>
                <c:pt idx="7">
                  <c:v>105.8</c:v>
                </c:pt>
                <c:pt idx="8">
                  <c:v>104.1</c:v>
                </c:pt>
                <c:pt idx="9">
                  <c:v>104.5</c:v>
                </c:pt>
                <c:pt idx="10">
                  <c:v>105.3</c:v>
                </c:pt>
                <c:pt idx="11">
                  <c:v>106.1</c:v>
                </c:pt>
                <c:pt idx="12">
                  <c:v>106.8</c:v>
                </c:pt>
                <c:pt idx="13">
                  <c:v>108</c:v>
                </c:pt>
                <c:pt idx="14">
                  <c:v>108.7</c:v>
                </c:pt>
                <c:pt idx="15">
                  <c:v>109</c:v>
                </c:pt>
                <c:pt idx="16">
                  <c:v>108.9</c:v>
                </c:pt>
                <c:pt idx="17">
                  <c:v>109.8</c:v>
                </c:pt>
                <c:pt idx="18">
                  <c:v>110.6</c:v>
                </c:pt>
                <c:pt idx="19">
                  <c:v>111.6</c:v>
                </c:pt>
                <c:pt idx="20">
                  <c:v>112.2</c:v>
                </c:pt>
                <c:pt idx="21">
                  <c:v>114.2</c:v>
                </c:pt>
                <c:pt idx="22">
                  <c:v>115.2</c:v>
                </c:pt>
                <c:pt idx="23">
                  <c:v>116.5</c:v>
                </c:pt>
                <c:pt idx="24">
                  <c:v>117.4</c:v>
                </c:pt>
                <c:pt idx="25">
                  <c:v>118.8</c:v>
                </c:pt>
                <c:pt idx="26">
                  <c:v>119.8</c:v>
                </c:pt>
                <c:pt idx="27">
                  <c:v>121.2</c:v>
                </c:pt>
                <c:pt idx="28">
                  <c:v>122.5</c:v>
                </c:pt>
                <c:pt idx="29">
                  <c:v>122.5</c:v>
                </c:pt>
                <c:pt idx="30">
                  <c:v>121.8</c:v>
                </c:pt>
                <c:pt idx="31">
                  <c:v>121.3</c:v>
                </c:pt>
                <c:pt idx="32">
                  <c:v>120.6</c:v>
                </c:pt>
                <c:pt idx="33">
                  <c:v>120.8</c:v>
                </c:pt>
                <c:pt idx="34">
                  <c:v>121.2</c:v>
                </c:pt>
                <c:pt idx="35">
                  <c:v>121.5</c:v>
                </c:pt>
                <c:pt idx="36">
                  <c:v>122.2</c:v>
                </c:pt>
                <c:pt idx="37">
                  <c:v>123</c:v>
                </c:pt>
                <c:pt idx="38">
                  <c:v>123.7</c:v>
                </c:pt>
                <c:pt idx="39">
                  <c:v>124.1</c:v>
                </c:pt>
                <c:pt idx="40">
                  <c:v>124.4</c:v>
                </c:pt>
                <c:pt idx="41">
                  <c:v>124.7</c:v>
                </c:pt>
                <c:pt idx="42">
                  <c:v>124.5</c:v>
                </c:pt>
                <c:pt idx="43">
                  <c:v>124.6</c:v>
                </c:pt>
                <c:pt idx="44">
                  <c:v>125.4</c:v>
                </c:pt>
                <c:pt idx="45">
                  <c:v>125.7</c:v>
                </c:pt>
                <c:pt idx="46">
                  <c:v>125.1</c:v>
                </c:pt>
                <c:pt idx="47">
                  <c:v>122.9</c:v>
                </c:pt>
                <c:pt idx="48">
                  <c:v>123.6</c:v>
                </c:pt>
                <c:pt idx="49">
                  <c:v>123.3</c:v>
                </c:pt>
                <c:pt idx="50">
                  <c:v>122.8</c:v>
                </c:pt>
                <c:pt idx="51">
                  <c:v>122.4</c:v>
                </c:pt>
                <c:pt idx="52">
                  <c:v>123.4</c:v>
                </c:pt>
                <c:pt idx="53">
                  <c:v>123.5</c:v>
                </c:pt>
                <c:pt idx="54">
                  <c:v>124</c:v>
                </c:pt>
                <c:pt idx="55">
                  <c:v>123.6</c:v>
                </c:pt>
                <c:pt idx="56">
                  <c:v>123.7</c:v>
                </c:pt>
                <c:pt idx="57">
                  <c:v>123.7</c:v>
                </c:pt>
                <c:pt idx="58">
                  <c:v>124.1</c:v>
                </c:pt>
                <c:pt idx="59">
                  <c:v>124.3</c:v>
                </c:pt>
                <c:pt idx="60">
                  <c:v>124.7</c:v>
                </c:pt>
                <c:pt idx="61">
                  <c:v>124.7</c:v>
                </c:pt>
                <c:pt idx="62">
                  <c:v>125.6</c:v>
                </c:pt>
                <c:pt idx="63">
                  <c:v>125.6</c:v>
                </c:pt>
                <c:pt idx="64">
                  <c:v>126.5</c:v>
                </c:pt>
                <c:pt idx="65">
                  <c:v>127</c:v>
                </c:pt>
                <c:pt idx="66">
                  <c:v>127.4</c:v>
                </c:pt>
                <c:pt idx="67">
                  <c:v>128.4</c:v>
                </c:pt>
                <c:pt idx="68">
                  <c:v>128.5</c:v>
                </c:pt>
                <c:pt idx="69">
                  <c:v>129.69999999999999</c:v>
                </c:pt>
                <c:pt idx="70">
                  <c:v>130.30000000000001</c:v>
                </c:pt>
                <c:pt idx="71">
                  <c:v>131.69999999999999</c:v>
                </c:pt>
                <c:pt idx="72">
                  <c:v>132.4</c:v>
                </c:pt>
                <c:pt idx="73">
                  <c:v>132.4</c:v>
                </c:pt>
                <c:pt idx="74">
                  <c:v>133.1</c:v>
                </c:pt>
                <c:pt idx="75">
                  <c:v>133.80000000000001</c:v>
                </c:pt>
                <c:pt idx="76">
                  <c:v>132.5</c:v>
                </c:pt>
                <c:pt idx="77">
                  <c:v>128.80000000000001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6F74-474C-9217-455944152C9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34238672"/>
        <c:axId val="101776304"/>
      </c:lineChart>
      <c:catAx>
        <c:axId val="342386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FFFFFF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en-FR"/>
          </a:p>
        </c:txPr>
        <c:crossAx val="101776304"/>
        <c:crosses val="autoZero"/>
        <c:auto val="1"/>
        <c:lblAlgn val="ctr"/>
        <c:lblOffset val="100"/>
        <c:noMultiLvlLbl val="0"/>
      </c:catAx>
      <c:valAx>
        <c:axId val="101776304"/>
        <c:scaling>
          <c:orientation val="minMax"/>
          <c:max val="270"/>
          <c:min val="1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FFFFFF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en-FR"/>
          </a:p>
        </c:txPr>
        <c:crossAx val="342386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68783235201519444"/>
          <c:y val="0.39981364420437721"/>
          <c:w val="0.30062272870379042"/>
          <c:h val="0.4734780712673431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rgbClr val="FFFFFF"/>
              </a:solidFill>
              <a:latin typeface="Questrial" pitchFamily="2" charset="77"/>
              <a:ea typeface="Questrial" pitchFamily="2" charset="77"/>
              <a:cs typeface="Questrial" pitchFamily="2" charset="77"/>
            </a:defRPr>
          </a:pPr>
          <a:endParaRPr lang="en-F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rgbClr val="FFFFFF"/>
          </a:solidFill>
          <a:latin typeface="Questrial" pitchFamily="2" charset="77"/>
          <a:ea typeface="Questrial" pitchFamily="2" charset="77"/>
          <a:cs typeface="Questrial" pitchFamily="2" charset="77"/>
        </a:defRPr>
      </a:pPr>
      <a:endParaRPr lang="en-FR"/>
    </a:p>
  </c:txPr>
  <c:externalData r:id="rId3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rgbClr val="FFFFFF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r>
              <a:rPr lang="en-US" sz="1400" dirty="0"/>
              <a:t>Evolution</a:t>
            </a:r>
            <a:r>
              <a:rPr lang="en-US" sz="1400" baseline="0" dirty="0"/>
              <a:t> du </a:t>
            </a:r>
            <a:r>
              <a:rPr lang="en-US" sz="1400" baseline="0" dirty="0" err="1"/>
              <a:t>pouvoir</a:t>
            </a:r>
            <a:r>
              <a:rPr lang="en-US" sz="1400" baseline="0" dirty="0"/>
              <a:t> </a:t>
            </a:r>
            <a:r>
              <a:rPr lang="en-US" sz="1400" baseline="0" dirty="0" err="1"/>
              <a:t>d’achat</a:t>
            </a:r>
            <a:r>
              <a:rPr lang="en-US" sz="1400" baseline="0" dirty="0"/>
              <a:t> </a:t>
            </a:r>
            <a:r>
              <a:rPr lang="en-US" sz="1400" baseline="0" dirty="0" err="1"/>
              <a:t>immobilier</a:t>
            </a:r>
            <a:r>
              <a:rPr lang="en-US" sz="1400" baseline="0" dirty="0"/>
              <a:t> </a:t>
            </a:r>
            <a:r>
              <a:rPr lang="en-US" sz="1400" baseline="0" dirty="0" err="1"/>
              <a:t>en</a:t>
            </a:r>
            <a:r>
              <a:rPr lang="en-US" sz="1400" baseline="0" dirty="0"/>
              <a:t> 2023</a:t>
            </a:r>
          </a:p>
          <a:p>
            <a:pPr>
              <a:defRPr sz="1400"/>
            </a:pPr>
            <a:r>
              <a:rPr lang="en-US" sz="1400" baseline="0" dirty="0"/>
              <a:t> </a:t>
            </a:r>
            <a:r>
              <a:rPr lang="en-US" sz="1400" baseline="0" dirty="0" err="1"/>
              <a:t>Indicateur</a:t>
            </a:r>
            <a:r>
              <a:rPr lang="en-US" sz="1400" baseline="0" dirty="0"/>
              <a:t> FNAIM </a:t>
            </a:r>
            <a:endParaRPr lang="en-US" sz="14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rgbClr val="FFFFFF"/>
              </a:solidFill>
              <a:latin typeface="Questrial" pitchFamily="2" charset="77"/>
              <a:ea typeface="Questrial" pitchFamily="2" charset="77"/>
              <a:cs typeface="Questrial" pitchFamily="2" charset="77"/>
            </a:defRPr>
          </a:pPr>
          <a:endParaRPr lang="en-F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Evolution (%)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cat>
            <c:strRef>
              <c:f>Sheet1!$A$2:$A$26</c:f>
              <c:strCache>
                <c:ptCount val="25"/>
                <c:pt idx="0">
                  <c:v>Perpignan</c:v>
                </c:pt>
                <c:pt idx="1">
                  <c:v>Nice</c:v>
                </c:pt>
                <c:pt idx="2">
                  <c:v>Nîmes</c:v>
                </c:pt>
                <c:pt idx="3">
                  <c:v>Reims</c:v>
                </c:pt>
                <c:pt idx="4">
                  <c:v>Montpellier</c:v>
                </c:pt>
                <c:pt idx="5">
                  <c:v>Amiens</c:v>
                </c:pt>
                <c:pt idx="6">
                  <c:v>Metz</c:v>
                </c:pt>
                <c:pt idx="7">
                  <c:v>Marseille</c:v>
                </c:pt>
                <c:pt idx="8">
                  <c:v>Orléans</c:v>
                </c:pt>
                <c:pt idx="9">
                  <c:v>Dijon</c:v>
                </c:pt>
                <c:pt idx="10">
                  <c:v>Le Havre</c:v>
                </c:pt>
                <c:pt idx="11">
                  <c:v>Brest</c:v>
                </c:pt>
                <c:pt idx="12">
                  <c:v>Clermont-Ferrand</c:v>
                </c:pt>
                <c:pt idx="13">
                  <c:v>Le Mans</c:v>
                </c:pt>
                <c:pt idx="14">
                  <c:v>Mulhouse</c:v>
                </c:pt>
                <c:pt idx="15">
                  <c:v>Caen</c:v>
                </c:pt>
                <c:pt idx="16">
                  <c:v>Strasbourg</c:v>
                </c:pt>
                <c:pt idx="17">
                  <c:v>Toulouse</c:v>
                </c:pt>
                <c:pt idx="18">
                  <c:v>Lille</c:v>
                </c:pt>
                <c:pt idx="19">
                  <c:v>Rouen</c:v>
                </c:pt>
                <c:pt idx="20">
                  <c:v>Bordeaux</c:v>
                </c:pt>
                <c:pt idx="21">
                  <c:v>Nantes</c:v>
                </c:pt>
                <c:pt idx="22">
                  <c:v>Lyon</c:v>
                </c:pt>
                <c:pt idx="23">
                  <c:v>Paris</c:v>
                </c:pt>
                <c:pt idx="24">
                  <c:v>Limoges</c:v>
                </c:pt>
              </c:strCache>
            </c:strRef>
          </c:cat>
          <c:val>
            <c:numRef>
              <c:f>Sheet1!$B$2:$B$26</c:f>
              <c:numCache>
                <c:formatCode>0%</c:formatCode>
                <c:ptCount val="25"/>
                <c:pt idx="0" formatCode="0.00%">
                  <c:v>-0.158</c:v>
                </c:pt>
                <c:pt idx="1">
                  <c:v>-0.12</c:v>
                </c:pt>
                <c:pt idx="2">
                  <c:v>-0.11799999999999999</c:v>
                </c:pt>
                <c:pt idx="3">
                  <c:v>-0.11</c:v>
                </c:pt>
                <c:pt idx="4" formatCode="0.00%">
                  <c:v>-0.108</c:v>
                </c:pt>
                <c:pt idx="5" formatCode="0.00%">
                  <c:v>-0.10100000000000001</c:v>
                </c:pt>
                <c:pt idx="6" formatCode="0.00%">
                  <c:v>-9.8000000000000004E-2</c:v>
                </c:pt>
                <c:pt idx="7" formatCode="0.00%">
                  <c:v>-9.5000000000000001E-2</c:v>
                </c:pt>
                <c:pt idx="8" formatCode="0.00%">
                  <c:v>-9.5000000000000001E-2</c:v>
                </c:pt>
                <c:pt idx="9" formatCode="0.00%">
                  <c:v>-9.5000000000000001E-2</c:v>
                </c:pt>
                <c:pt idx="10" formatCode="0.00%">
                  <c:v>-9.4E-2</c:v>
                </c:pt>
                <c:pt idx="11" formatCode="0.00%">
                  <c:v>-9.2999999999999999E-2</c:v>
                </c:pt>
                <c:pt idx="12">
                  <c:v>-0.09</c:v>
                </c:pt>
                <c:pt idx="13" formatCode="0.00%">
                  <c:v>-8.7999999999999995E-2</c:v>
                </c:pt>
                <c:pt idx="14" formatCode="0.00%">
                  <c:v>-7.8E-2</c:v>
                </c:pt>
                <c:pt idx="15" formatCode="0.00%">
                  <c:v>-7.6999999999999999E-2</c:v>
                </c:pt>
                <c:pt idx="16">
                  <c:v>-7.0000000000000007E-2</c:v>
                </c:pt>
                <c:pt idx="17" formatCode="0.00%">
                  <c:v>-6.9000000000000006E-2</c:v>
                </c:pt>
                <c:pt idx="18" formatCode="0.00%">
                  <c:v>-6.9000000000000006E-2</c:v>
                </c:pt>
                <c:pt idx="19" formatCode="0.00%">
                  <c:v>-5.8000000000000003E-2</c:v>
                </c:pt>
                <c:pt idx="20">
                  <c:v>-0.05</c:v>
                </c:pt>
                <c:pt idx="21" formatCode="0.00%">
                  <c:v>-4.8000000000000001E-2</c:v>
                </c:pt>
                <c:pt idx="22" formatCode="0.00%">
                  <c:v>-3.7999999999999999E-2</c:v>
                </c:pt>
                <c:pt idx="23">
                  <c:v>-0.03</c:v>
                </c:pt>
                <c:pt idx="24" formatCode="0.00%">
                  <c:v>-2.9000000000000001E-2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DB2-D841-9484-E40A7422938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83941840"/>
        <c:axId val="283896080"/>
      </c:barChart>
      <c:catAx>
        <c:axId val="2839418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FFFFFF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en-FR"/>
          </a:p>
        </c:txPr>
        <c:crossAx val="283896080"/>
        <c:crosses val="autoZero"/>
        <c:auto val="1"/>
        <c:lblAlgn val="ctr"/>
        <c:lblOffset val="100"/>
        <c:noMultiLvlLbl val="0"/>
      </c:catAx>
      <c:valAx>
        <c:axId val="283896080"/>
        <c:scaling>
          <c:orientation val="minMax"/>
          <c:min val="-0.16"/>
        </c:scaling>
        <c:delete val="0"/>
        <c:axPos val="l"/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FFFFFF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en-FR"/>
          </a:p>
        </c:txPr>
        <c:crossAx val="2839418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rgbClr val="FFFFFF"/>
          </a:solidFill>
          <a:latin typeface="Questrial" pitchFamily="2" charset="77"/>
          <a:ea typeface="Questrial" pitchFamily="2" charset="77"/>
          <a:cs typeface="Questrial" pitchFamily="2" charset="77"/>
        </a:defRPr>
      </a:pPr>
      <a:endParaRPr lang="en-FR"/>
    </a:p>
  </c:txPr>
  <c:externalData r:id="rId3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r>
              <a:rPr lang="en-US" dirty="0" err="1"/>
              <a:t>Dépenses</a:t>
            </a:r>
            <a:r>
              <a:rPr lang="en-US" dirty="0"/>
              <a:t> </a:t>
            </a:r>
            <a:r>
              <a:rPr lang="en-US" dirty="0" err="1"/>
              <a:t>publiques</a:t>
            </a:r>
            <a:r>
              <a:rPr lang="en-US" dirty="0"/>
              <a:t> </a:t>
            </a:r>
            <a:r>
              <a:rPr lang="en-US" dirty="0" err="1"/>
              <a:t>dédiées</a:t>
            </a:r>
            <a:r>
              <a:rPr lang="en-US" baseline="0" dirty="0"/>
              <a:t> au </a:t>
            </a:r>
            <a:r>
              <a:rPr lang="en-US" baseline="0" dirty="0" err="1"/>
              <a:t>logement</a:t>
            </a:r>
            <a:r>
              <a:rPr lang="en-US" baseline="0" dirty="0"/>
              <a:t> social</a:t>
            </a:r>
            <a:r>
              <a:rPr lang="en-US" dirty="0"/>
              <a:t>, % PIB, 2022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bg1"/>
              </a:solidFill>
              <a:latin typeface="Questrial" pitchFamily="2" charset="77"/>
              <a:ea typeface="Questrial" pitchFamily="2" charset="77"/>
              <a:cs typeface="Questrial" pitchFamily="2" charset="77"/>
            </a:defRPr>
          </a:pPr>
          <a:endParaRPr lang="en-F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Public spending on supporting social rental housing in selected OECD countries, % PIB, 2022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7160-F84A-A761-8BBF311A105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endParaRPr lang="en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Austria </c:v>
                </c:pt>
                <c:pt idx="1">
                  <c:v>France </c:v>
                </c:pt>
                <c:pt idx="2">
                  <c:v>Estonia</c:v>
                </c:pt>
                <c:pt idx="3">
                  <c:v>Germany </c:v>
                </c:pt>
                <c:pt idx="4">
                  <c:v>Finland </c:v>
                </c:pt>
                <c:pt idx="5">
                  <c:v>Poland</c:v>
                </c:pt>
                <c:pt idx="6">
                  <c:v>Slovak Republic</c:v>
                </c:pt>
                <c:pt idx="7">
                  <c:v>Denmark</c:v>
                </c:pt>
                <c:pt idx="8">
                  <c:v>Portugal</c:v>
                </c:pt>
                <c:pt idx="9">
                  <c:v>Belgium</c:v>
                </c:pt>
                <c:pt idx="10">
                  <c:v>Ireland</c:v>
                </c:pt>
                <c:pt idx="11">
                  <c:v>Czechia</c:v>
                </c:pt>
              </c:strCache>
            </c:strRef>
          </c:cat>
          <c:val>
            <c:numRef>
              <c:f>Sheet1!$B$2:$B$13</c:f>
              <c:numCache>
                <c:formatCode>0.00%</c:formatCode>
                <c:ptCount val="12"/>
                <c:pt idx="0">
                  <c:v>2.0728384576285414E-3</c:v>
                </c:pt>
                <c:pt idx="1">
                  <c:v>1.9665467143656448E-3</c:v>
                </c:pt>
                <c:pt idx="2">
                  <c:v>7.7401769649956364E-4</c:v>
                </c:pt>
                <c:pt idx="3">
                  <c:v>7.2150271600160334E-4</c:v>
                </c:pt>
                <c:pt idx="4">
                  <c:v>4.8607827627805445E-4</c:v>
                </c:pt>
                <c:pt idx="5">
                  <c:v>4.8154277181969307E-4</c:v>
                </c:pt>
                <c:pt idx="6">
                  <c:v>3.5009991866127014E-4</c:v>
                </c:pt>
                <c:pt idx="7">
                  <c:v>3.2706459525756336E-4</c:v>
                </c:pt>
                <c:pt idx="8">
                  <c:v>2.0284417270519079E-4</c:v>
                </c:pt>
                <c:pt idx="9">
                  <c:v>5.2213537961842272E-5</c:v>
                </c:pt>
                <c:pt idx="10">
                  <c:v>5.1016702213103546E-6</c:v>
                </c:pt>
                <c:pt idx="11">
                  <c:v>2.158179451673592E-6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0D2-3E45-A5A3-F5115A1BE8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40418943"/>
        <c:axId val="730596112"/>
      </c:barChart>
      <c:catAx>
        <c:axId val="4404189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en-FR"/>
          </a:p>
        </c:txPr>
        <c:crossAx val="730596112"/>
        <c:crosses val="autoZero"/>
        <c:auto val="1"/>
        <c:lblAlgn val="ctr"/>
        <c:lblOffset val="100"/>
        <c:noMultiLvlLbl val="0"/>
      </c:catAx>
      <c:valAx>
        <c:axId val="730596112"/>
        <c:scaling>
          <c:orientation val="minMax"/>
        </c:scaling>
        <c:delete val="1"/>
        <c:axPos val="l"/>
        <c:numFmt formatCode="0.0%" sourceLinked="0"/>
        <c:majorTickMark val="none"/>
        <c:minorTickMark val="none"/>
        <c:tickLblPos val="nextTo"/>
        <c:crossAx val="4404189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bg1"/>
          </a:solidFill>
          <a:latin typeface="Questrial" pitchFamily="2" charset="77"/>
          <a:ea typeface="Questrial" pitchFamily="2" charset="77"/>
          <a:cs typeface="Questrial" pitchFamily="2" charset="77"/>
        </a:defRPr>
      </a:pPr>
      <a:endParaRPr lang="en-FR"/>
    </a:p>
  </c:txPr>
  <c:externalData r:id="rId3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Part allant réellement au locataire</c:v>
                </c:pt>
              </c:strCache>
            </c:strRef>
          </c:tx>
          <c:spPr>
            <a:solidFill>
              <a:srgbClr val="FFFFFF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800" b="0" i="0" u="none" strike="noStrike" kern="1200" baseline="0">
                        <a:solidFill>
                          <a:schemeClr val="tx1"/>
                        </a:solidFill>
                        <a:latin typeface="Questrial" pitchFamily="2" charset="77"/>
                        <a:ea typeface="Questrial" pitchFamily="2" charset="77"/>
                        <a:cs typeface="Questrial" pitchFamily="2" charset="77"/>
                      </a:defRPr>
                    </a:pPr>
                    <a:r>
                      <a:rPr lang="en-US" sz="1800">
                        <a:latin typeface="Questrial" pitchFamily="2" charset="77"/>
                        <a:ea typeface="Questrial" pitchFamily="2" charset="77"/>
                        <a:cs typeface="Questrial" pitchFamily="2" charset="77"/>
                      </a:rPr>
                      <a:t>3,5 </a:t>
                    </a:r>
                    <a:br>
                      <a:rPr lang="en-US" sz="1800">
                        <a:latin typeface="Questrial" pitchFamily="2" charset="77"/>
                        <a:ea typeface="Questrial" pitchFamily="2" charset="77"/>
                        <a:cs typeface="Questrial" pitchFamily="2" charset="77"/>
                      </a:rPr>
                    </a:br>
                    <a:r>
                      <a:rPr lang="en-US" sz="1800">
                        <a:latin typeface="Questrial" pitchFamily="2" charset="77"/>
                        <a:ea typeface="Questrial" pitchFamily="2" charset="77"/>
                        <a:cs typeface="Questrial" pitchFamily="2" charset="77"/>
                      </a:rPr>
                      <a:t>Md€</a:t>
                    </a:r>
                    <a:endParaRPr lang="en-US" sz="1800" dirty="0">
                      <a:latin typeface="Questrial" pitchFamily="2" charset="77"/>
                      <a:ea typeface="Questrial" pitchFamily="2" charset="77"/>
                      <a:cs typeface="Questrial" pitchFamily="2" charset="77"/>
                    </a:endParaRP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800" b="0" i="0" u="none" strike="noStrike" kern="1200" baseline="0">
                      <a:solidFill>
                        <a:schemeClr val="tx1"/>
                      </a:solidFill>
                      <a:latin typeface="Questrial" pitchFamily="2" charset="77"/>
                      <a:ea typeface="Questrial" pitchFamily="2" charset="77"/>
                      <a:cs typeface="Questrial" pitchFamily="2" charset="77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C8CE-B649-8BB7-E416A418A32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0" i="0" u="none" strike="noStrike" kern="1200" baseline="0">
                    <a:solidFill>
                      <a:schemeClr val="tx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endParaRPr lang="en-F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Aides aux occupants de logement</c:v>
                </c:pt>
              </c:strCache>
            </c:strRef>
          </c:cat>
          <c:val>
            <c:numRef>
              <c:f>Sheet1!$B$2</c:f>
              <c:numCache>
                <c:formatCode>0.0</c:formatCode>
                <c:ptCount val="1"/>
                <c:pt idx="0">
                  <c:v>5.0599999999999996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8CE-B649-8BB7-E416A418A32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Hausse de loyer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dirty="0"/>
                      <a:t>12,5 </a:t>
                    </a:r>
                    <a:br>
                      <a:rPr lang="en-US" dirty="0"/>
                    </a:br>
                    <a:r>
                      <a:rPr lang="en-US" dirty="0"/>
                      <a:t>Md€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C8CE-B649-8BB7-E416A418A32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0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endParaRPr lang="en-F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Aides aux occupants de logement</c:v>
                </c:pt>
              </c:strCache>
            </c:strRef>
          </c:cat>
          <c:val>
            <c:numRef>
              <c:f>Sheet1!$C$2</c:f>
              <c:numCache>
                <c:formatCode>0.0</c:formatCode>
                <c:ptCount val="1"/>
                <c:pt idx="0">
                  <c:v>17.940000000000001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8CE-B649-8BB7-E416A418A32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122048287"/>
        <c:axId val="1122143023"/>
      </c:barChart>
      <c:catAx>
        <c:axId val="11220482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en-FR"/>
          </a:p>
        </c:txPr>
        <c:crossAx val="1122143023"/>
        <c:crosses val="autoZero"/>
        <c:auto val="1"/>
        <c:lblAlgn val="ctr"/>
        <c:lblOffset val="100"/>
        <c:noMultiLvlLbl val="0"/>
      </c:catAx>
      <c:valAx>
        <c:axId val="1122143023"/>
        <c:scaling>
          <c:orientation val="minMax"/>
        </c:scaling>
        <c:delete val="0"/>
        <c:axPos val="l"/>
        <c:numFmt formatCode="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FR"/>
          </a:p>
        </c:txPr>
        <c:crossAx val="112204828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bg1"/>
          </a:solidFill>
        </a:defRPr>
      </a:pPr>
      <a:endParaRPr lang="en-FR"/>
    </a:p>
  </c:txPr>
  <c:externalData r:id="rId3">
    <c:autoUpdate val="0"/>
  </c:externalData>
</c:chartSpace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000" b="0" i="0" u="none" strike="noStrike" kern="1200" spc="0" baseline="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pPr>
            <a:r>
              <a:rPr lang="fr-FR" sz="2000"/>
              <a:t>Répartition locataires HLM/non-HLM selon le pays de naissance (%) en 2017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spc="0" baseline="0">
              <a:solidFill>
                <a:schemeClr val="bg1"/>
              </a:solidFill>
              <a:latin typeface="Questrial" pitchFamily="2" charset="77"/>
              <a:ea typeface="+mn-ea"/>
              <a:cs typeface="+mn-cs"/>
            </a:defRPr>
          </a:pPr>
          <a:endParaRPr lang="fr-F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Feuil2!$D$2</c:f>
              <c:strCache>
                <c:ptCount val="1"/>
                <c:pt idx="0">
                  <c:v>Locataire non HLM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+mn-ea"/>
                    <a:cs typeface="+mn-cs"/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Feuil2!$B$4:$B$18</c:f>
              <c:strCache>
                <c:ptCount val="15"/>
                <c:pt idx="0">
                  <c:v>Portugal</c:v>
                </c:pt>
                <c:pt idx="1">
                  <c:v>Italie</c:v>
                </c:pt>
                <c:pt idx="2">
                  <c:v>Espagne</c:v>
                </c:pt>
                <c:pt idx="3">
                  <c:v>Autres pays UE</c:v>
                </c:pt>
                <c:pt idx="4">
                  <c:v>Autres pays Europe</c:v>
                </c:pt>
                <c:pt idx="5">
                  <c:v>Algérie</c:v>
                </c:pt>
                <c:pt idx="6">
                  <c:v>Maroc</c:v>
                </c:pt>
                <c:pt idx="7">
                  <c:v>Tunisie</c:v>
                </c:pt>
                <c:pt idx="8">
                  <c:v>Autres pays Afrique</c:v>
                </c:pt>
                <c:pt idx="9">
                  <c:v>Turquie</c:v>
                </c:pt>
                <c:pt idx="10">
                  <c:v>Autres pays</c:v>
                </c:pt>
                <c:pt idx="12">
                  <c:v>Ménages immigrés</c:v>
                </c:pt>
                <c:pt idx="13">
                  <c:v>Ménages non immigrés</c:v>
                </c:pt>
                <c:pt idx="14">
                  <c:v>Ensemble des ménages</c:v>
                </c:pt>
              </c:strCache>
            </c:strRef>
          </c:cat>
          <c:val>
            <c:numRef>
              <c:f>Feuil2!$D$4:$D$18</c:f>
              <c:numCache>
                <c:formatCode>General</c:formatCode>
                <c:ptCount val="15"/>
                <c:pt idx="0">
                  <c:v>24</c:v>
                </c:pt>
                <c:pt idx="1">
                  <c:v>18</c:v>
                </c:pt>
                <c:pt idx="2">
                  <c:v>20</c:v>
                </c:pt>
                <c:pt idx="3">
                  <c:v>28</c:v>
                </c:pt>
                <c:pt idx="4">
                  <c:v>29</c:v>
                </c:pt>
                <c:pt idx="5">
                  <c:v>21</c:v>
                </c:pt>
                <c:pt idx="6">
                  <c:v>23</c:v>
                </c:pt>
                <c:pt idx="7">
                  <c:v>30</c:v>
                </c:pt>
                <c:pt idx="8">
                  <c:v>26</c:v>
                </c:pt>
                <c:pt idx="9">
                  <c:v>22</c:v>
                </c:pt>
                <c:pt idx="10">
                  <c:v>31</c:v>
                </c:pt>
                <c:pt idx="12">
                  <c:v>25</c:v>
                </c:pt>
                <c:pt idx="13">
                  <c:v>22</c:v>
                </c:pt>
                <c:pt idx="14">
                  <c:v>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B34-BA47-BB4D-903C534CCF32}"/>
            </c:ext>
          </c:extLst>
        </c:ser>
        <c:ser>
          <c:idx val="1"/>
          <c:order val="1"/>
          <c:tx>
            <c:strRef>
              <c:f>Feuil2!$E$2</c:f>
              <c:strCache>
                <c:ptCount val="1"/>
                <c:pt idx="0">
                  <c:v>Locataire HLM</c:v>
                </c:pt>
              </c:strCache>
            </c:strRef>
          </c:tx>
          <c:spPr>
            <a:solidFill>
              <a:schemeClr val="bg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+mn-ea"/>
                    <a:cs typeface="+mn-cs"/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Feuil2!$B$4:$B$18</c:f>
              <c:strCache>
                <c:ptCount val="15"/>
                <c:pt idx="0">
                  <c:v>Portugal</c:v>
                </c:pt>
                <c:pt idx="1">
                  <c:v>Italie</c:v>
                </c:pt>
                <c:pt idx="2">
                  <c:v>Espagne</c:v>
                </c:pt>
                <c:pt idx="3">
                  <c:v>Autres pays UE</c:v>
                </c:pt>
                <c:pt idx="4">
                  <c:v>Autres pays Europe</c:v>
                </c:pt>
                <c:pt idx="5">
                  <c:v>Algérie</c:v>
                </c:pt>
                <c:pt idx="6">
                  <c:v>Maroc</c:v>
                </c:pt>
                <c:pt idx="7">
                  <c:v>Tunisie</c:v>
                </c:pt>
                <c:pt idx="8">
                  <c:v>Autres pays Afrique</c:v>
                </c:pt>
                <c:pt idx="9">
                  <c:v>Turquie</c:v>
                </c:pt>
                <c:pt idx="10">
                  <c:v>Autres pays</c:v>
                </c:pt>
                <c:pt idx="12">
                  <c:v>Ménages immigrés</c:v>
                </c:pt>
                <c:pt idx="13">
                  <c:v>Ménages non immigrés</c:v>
                </c:pt>
                <c:pt idx="14">
                  <c:v>Ensemble des ménages</c:v>
                </c:pt>
              </c:strCache>
            </c:strRef>
          </c:cat>
          <c:val>
            <c:numRef>
              <c:f>Feuil2!$E$4:$E$18</c:f>
              <c:numCache>
                <c:formatCode>General</c:formatCode>
                <c:ptCount val="15"/>
                <c:pt idx="0">
                  <c:v>15</c:v>
                </c:pt>
                <c:pt idx="1">
                  <c:v>10</c:v>
                </c:pt>
                <c:pt idx="2">
                  <c:v>13</c:v>
                </c:pt>
                <c:pt idx="3">
                  <c:v>9</c:v>
                </c:pt>
                <c:pt idx="4">
                  <c:v>24</c:v>
                </c:pt>
                <c:pt idx="5">
                  <c:v>50</c:v>
                </c:pt>
                <c:pt idx="6">
                  <c:v>45</c:v>
                </c:pt>
                <c:pt idx="7">
                  <c:v>38</c:v>
                </c:pt>
                <c:pt idx="8">
                  <c:v>48</c:v>
                </c:pt>
                <c:pt idx="9">
                  <c:v>48</c:v>
                </c:pt>
                <c:pt idx="10">
                  <c:v>20</c:v>
                </c:pt>
                <c:pt idx="12">
                  <c:v>31</c:v>
                </c:pt>
                <c:pt idx="13">
                  <c:v>13</c:v>
                </c:pt>
                <c:pt idx="14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B34-BA47-BB4D-903C534CCF3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024276208"/>
        <c:axId val="1741426080"/>
      </c:barChart>
      <c:catAx>
        <c:axId val="10242762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pPr>
            <a:endParaRPr lang="fr-FR"/>
          </a:p>
        </c:txPr>
        <c:crossAx val="1741426080"/>
        <c:crosses val="autoZero"/>
        <c:auto val="1"/>
        <c:lblAlgn val="ctr"/>
        <c:lblOffset val="100"/>
        <c:noMultiLvlLbl val="0"/>
      </c:catAx>
      <c:valAx>
        <c:axId val="174142608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pPr>
            <a:endParaRPr lang="fr-FR"/>
          </a:p>
        </c:txPr>
        <c:crossAx val="10242762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bg1"/>
              </a:solidFill>
              <a:latin typeface="Questrial" pitchFamily="2" charset="77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400">
          <a:solidFill>
            <a:schemeClr val="bg1"/>
          </a:solidFill>
          <a:latin typeface="Questrial" pitchFamily="2" charset="77"/>
        </a:defRPr>
      </a:pPr>
      <a:endParaRPr lang="fr-FR"/>
    </a:p>
  </c:txPr>
  <c:externalData r:id="rId3">
    <c:autoUpdate val="0"/>
  </c:externalData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560" b="0" i="0" u="none" strike="noStrike" kern="1200" spc="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r>
              <a:rPr lang="en-US"/>
              <a:t>Inflation interannuelle en Argentine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560" b="0" i="0" u="none" strike="noStrike" kern="1200" spc="0" baseline="0">
              <a:solidFill>
                <a:schemeClr val="bg1"/>
              </a:solidFill>
              <a:latin typeface="Questrial" pitchFamily="2" charset="77"/>
              <a:ea typeface="Questrial" pitchFamily="2" charset="77"/>
              <a:cs typeface="Questrial" pitchFamily="2" charset="77"/>
            </a:defRPr>
          </a:pPr>
          <a:endParaRPr lang="en-F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Inflation interannuelle </c:v>
                </c:pt>
              </c:strCache>
            </c:strRef>
          </c:tx>
          <c:spPr>
            <a:ln w="47625" cap="rnd">
              <a:solidFill>
                <a:srgbClr val="C00000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673D-8D44-A7C6-F26E8EFA6BE3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73D-8D44-A7C6-F26E8EFA6BE3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673D-8D44-A7C6-F26E8EFA6BE3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73D-8D44-A7C6-F26E8EFA6BE3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673D-8D44-A7C6-F26E8EFA6BE3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73D-8D44-A7C6-F26E8EFA6BE3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673D-8D44-A7C6-F26E8EFA6BE3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673D-8D44-A7C6-F26E8EFA6BE3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673D-8D44-A7C6-F26E8EFA6BE3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673D-8D44-A7C6-F26E8EFA6BE3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673D-8D44-A7C6-F26E8EFA6BE3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673D-8D44-A7C6-F26E8EFA6BE3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673D-8D44-A7C6-F26E8EFA6BE3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673D-8D44-A7C6-F26E8EFA6BE3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673D-8D44-A7C6-F26E8EFA6BE3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673D-8D44-A7C6-F26E8EFA6BE3}"/>
                </c:ext>
              </c:extLst>
            </c:dLbl>
            <c:dLbl>
              <c:idx val="18"/>
              <c:layout>
                <c:manualLayout>
                  <c:x val="-6.5691714208725702E-2"/>
                  <c:y val="-3.332421135512710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673D-8D44-A7C6-F26E8EFA6BE3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673D-8D44-A7C6-F26E8EFA6BE3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673D-8D44-A7C6-F26E8EFA6BE3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673D-8D44-A7C6-F26E8EFA6BE3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673D-8D44-A7C6-F26E8EFA6BE3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673D-8D44-A7C6-F26E8EFA6BE3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6-673D-8D44-A7C6-F26E8EFA6BE3}"/>
                </c:ext>
              </c:extLst>
            </c:dLbl>
            <c:dLbl>
              <c:idx val="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673D-8D44-A7C6-F26E8EFA6BE3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8-673D-8D44-A7C6-F26E8EFA6BE3}"/>
                </c:ext>
              </c:extLst>
            </c:dLbl>
            <c:dLbl>
              <c:idx val="27"/>
              <c:layout>
                <c:manualLayout>
                  <c:x val="-7.5612449794345463E-2"/>
                  <c:y val="-3.801445925873401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9-673D-8D44-A7C6-F26E8EFA6BE3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A-673D-8D44-A7C6-F26E8EFA6BE3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673D-8D44-A7C6-F26E8EFA6BE3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C-673D-8D44-A7C6-F26E8EFA6BE3}"/>
                </c:ext>
              </c:extLst>
            </c:dLbl>
            <c:dLbl>
              <c:idx val="3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D-673D-8D44-A7C6-F26E8EFA6BE3}"/>
                </c:ext>
              </c:extLst>
            </c:dLbl>
            <c:dLbl>
              <c:idx val="3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E-673D-8D44-A7C6-F26E8EFA6BE3}"/>
                </c:ext>
              </c:extLst>
            </c:dLbl>
            <c:dLbl>
              <c:idx val="3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F-673D-8D44-A7C6-F26E8EFA6BE3}"/>
                </c:ext>
              </c:extLst>
            </c:dLbl>
            <c:dLbl>
              <c:idx val="34"/>
              <c:layout>
                <c:manualLayout>
                  <c:x val="-0.10629513717255097"/>
                  <c:y val="-2.3943715547913282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0-673D-8D44-A7C6-F26E8EFA6BE3}"/>
                </c:ext>
              </c:extLst>
            </c:dLbl>
            <c:dLbl>
              <c:idx val="35"/>
              <c:layout>
                <c:manualLayout>
                  <c:x val="-9.8113087205029453E-2"/>
                  <c:y val="-4.73949550659478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1-673D-8D44-A7C6-F26E8EFA6BE3}"/>
                </c:ext>
              </c:extLst>
            </c:dLbl>
            <c:dLbl>
              <c:idx val="36"/>
              <c:layout>
                <c:manualLayout>
                  <c:x val="-9.6067574713149084E-2"/>
                  <c:y val="-3.332421135512710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8.3722826292663241E-2"/>
                      <c:h val="5.023255504763002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22-673D-8D44-A7C6-F26E8EFA6BE3}"/>
                </c:ext>
              </c:extLst>
            </c:dLbl>
            <c:dLbl>
              <c:idx val="3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3-673D-8D44-A7C6-F26E8EFA6BE3}"/>
                </c:ext>
              </c:extLst>
            </c:dLbl>
            <c:dLbl>
              <c:idx val="3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4-673D-8D44-A7C6-F26E8EFA6BE3}"/>
                </c:ext>
              </c:extLst>
            </c:dLbl>
            <c:dLbl>
              <c:idx val="4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5-673D-8D44-A7C6-F26E8EFA6BE3}"/>
                </c:ext>
              </c:extLst>
            </c:dLbl>
            <c:dLbl>
              <c:idx val="4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6-673D-8D44-A7C6-F26E8EFA6BE3}"/>
                </c:ext>
              </c:extLst>
            </c:dLbl>
            <c:dLbl>
              <c:idx val="42"/>
              <c:layout>
                <c:manualLayout>
                  <c:x val="-6.0650250704132932E-3"/>
                  <c:y val="-3.097908740332365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7-673D-8D44-A7C6-F26E8EFA6BE3}"/>
                </c:ext>
              </c:extLst>
            </c:dLbl>
            <c:dLbl>
              <c:idx val="4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8-673D-8D44-A7C6-F26E8EFA6BE3}"/>
                </c:ext>
              </c:extLst>
            </c:dLbl>
            <c:dLbl>
              <c:idx val="4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9-673D-8D44-A7C6-F26E8EFA6BE3}"/>
                </c:ext>
              </c:extLst>
            </c:dLbl>
            <c:dLbl>
              <c:idx val="45"/>
              <c:layout>
                <c:manualLayout>
                  <c:x val="-2.6520149989216767E-2"/>
                  <c:y val="-5.2085202969554753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A-673D-8D44-A7C6-F26E8EFA6BE3}"/>
                </c:ext>
              </c:extLst>
            </c:dLbl>
            <c:dLbl>
              <c:idx val="46"/>
              <c:layout>
                <c:manualLayout>
                  <c:x val="-6.065025070413144E-3"/>
                  <c:y val="-3.332421135512710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B-673D-8D44-A7C6-F26E8EFA6BE3}"/>
                </c:ext>
              </c:extLst>
            </c:dLbl>
            <c:dLbl>
              <c:idx val="47"/>
              <c:layout>
                <c:manualLayout>
                  <c:x val="-8.1105375622935062E-3"/>
                  <c:y val="-3.801445925873401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C-673D-8D44-A7C6-F26E8EFA6BE3}"/>
                </c:ext>
              </c:extLst>
            </c:dLbl>
            <c:dLbl>
              <c:idx val="4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D-673D-8D44-A7C6-F26E8EFA6BE3}"/>
                </c:ext>
              </c:extLst>
            </c:dLbl>
            <c:dLbl>
              <c:idx val="49"/>
              <c:delete val="1"/>
              <c:extLst>
                <c:ext xmlns:c15="http://schemas.microsoft.com/office/drawing/2012/chart" uri="{CE6537A1-D6FC-4f65-9D91-7224C49458BB}">
                  <c15:layout>
                    <c:manualLayout>
                      <c:w val="6.7972380105184443E-2"/>
                      <c:h val="5.023255504763002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2E-673D-8D44-A7C6-F26E8EFA6BE3}"/>
                </c:ext>
              </c:extLst>
            </c:dLbl>
            <c:dLbl>
              <c:idx val="5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F-673D-8D44-A7C6-F26E8EFA6BE3}"/>
                </c:ext>
              </c:extLst>
            </c:dLbl>
            <c:dLbl>
              <c:idx val="51"/>
              <c:layout>
                <c:manualLayout>
                  <c:x val="-1.2508389419836435E-2"/>
                  <c:y val="-4.270470716234092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0-673D-8D44-A7C6-F26E8EFA6BE3}"/>
                </c:ext>
              </c:extLst>
            </c:dLbl>
            <c:dLbl>
              <c:idx val="5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1-673D-8D44-A7C6-F26E8EFA6BE3}"/>
                </c:ext>
              </c:extLst>
            </c:dLbl>
            <c:dLbl>
              <c:idx val="5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2-673D-8D44-A7C6-F26E8EFA6BE3}"/>
                </c:ext>
              </c:extLst>
            </c:dLbl>
            <c:dLbl>
              <c:idx val="5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3-673D-8D44-A7C6-F26E8EFA6BE3}"/>
                </c:ext>
              </c:extLst>
            </c:dLbl>
            <c:dLbl>
              <c:idx val="5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4-673D-8D44-A7C6-F26E8EFA6BE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50" b="0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endParaRPr lang="en-F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Sheet1!$A$2:$A$58</c:f>
              <c:numCache>
                <c:formatCode>[$-40C]mmm\-yy;@</c:formatCode>
                <c:ptCount val="57"/>
                <c:pt idx="0">
                  <c:v>44227</c:v>
                </c:pt>
                <c:pt idx="1">
                  <c:v>44255</c:v>
                </c:pt>
                <c:pt idx="2">
                  <c:v>44286</c:v>
                </c:pt>
                <c:pt idx="3">
                  <c:v>44316</c:v>
                </c:pt>
                <c:pt idx="4">
                  <c:v>44347</c:v>
                </c:pt>
                <c:pt idx="5">
                  <c:v>44377</c:v>
                </c:pt>
                <c:pt idx="6">
                  <c:v>44408</c:v>
                </c:pt>
                <c:pt idx="7">
                  <c:v>44439</c:v>
                </c:pt>
                <c:pt idx="8">
                  <c:v>44469</c:v>
                </c:pt>
                <c:pt idx="9">
                  <c:v>44500</c:v>
                </c:pt>
                <c:pt idx="10">
                  <c:v>44530</c:v>
                </c:pt>
                <c:pt idx="11">
                  <c:v>44561</c:v>
                </c:pt>
                <c:pt idx="12">
                  <c:v>44592</c:v>
                </c:pt>
                <c:pt idx="13">
                  <c:v>44620</c:v>
                </c:pt>
                <c:pt idx="14">
                  <c:v>44651</c:v>
                </c:pt>
                <c:pt idx="15">
                  <c:v>44681</c:v>
                </c:pt>
                <c:pt idx="16">
                  <c:v>44712</c:v>
                </c:pt>
                <c:pt idx="17">
                  <c:v>44742</c:v>
                </c:pt>
                <c:pt idx="18">
                  <c:v>44773</c:v>
                </c:pt>
                <c:pt idx="19">
                  <c:v>44804</c:v>
                </c:pt>
                <c:pt idx="20">
                  <c:v>44834</c:v>
                </c:pt>
                <c:pt idx="21">
                  <c:v>44865</c:v>
                </c:pt>
                <c:pt idx="22">
                  <c:v>44895</c:v>
                </c:pt>
                <c:pt idx="23">
                  <c:v>44926</c:v>
                </c:pt>
                <c:pt idx="24">
                  <c:v>44957</c:v>
                </c:pt>
                <c:pt idx="25">
                  <c:v>44985</c:v>
                </c:pt>
                <c:pt idx="26">
                  <c:v>45016</c:v>
                </c:pt>
                <c:pt idx="27">
                  <c:v>45046</c:v>
                </c:pt>
                <c:pt idx="28">
                  <c:v>45077</c:v>
                </c:pt>
                <c:pt idx="29">
                  <c:v>45107</c:v>
                </c:pt>
                <c:pt idx="30">
                  <c:v>45138</c:v>
                </c:pt>
                <c:pt idx="31">
                  <c:v>45169</c:v>
                </c:pt>
                <c:pt idx="32">
                  <c:v>45199</c:v>
                </c:pt>
                <c:pt idx="33">
                  <c:v>45230</c:v>
                </c:pt>
                <c:pt idx="34">
                  <c:v>45260</c:v>
                </c:pt>
                <c:pt idx="35">
                  <c:v>45291</c:v>
                </c:pt>
                <c:pt idx="36">
                  <c:v>45322</c:v>
                </c:pt>
                <c:pt idx="37">
                  <c:v>45351</c:v>
                </c:pt>
                <c:pt idx="38">
                  <c:v>45382</c:v>
                </c:pt>
                <c:pt idx="39">
                  <c:v>45412</c:v>
                </c:pt>
                <c:pt idx="40">
                  <c:v>45443</c:v>
                </c:pt>
                <c:pt idx="41">
                  <c:v>45473</c:v>
                </c:pt>
                <c:pt idx="42">
                  <c:v>45504</c:v>
                </c:pt>
                <c:pt idx="43">
                  <c:v>45535</c:v>
                </c:pt>
                <c:pt idx="44">
                  <c:v>45565</c:v>
                </c:pt>
                <c:pt idx="45">
                  <c:v>45596</c:v>
                </c:pt>
                <c:pt idx="46">
                  <c:v>45626</c:v>
                </c:pt>
                <c:pt idx="47">
                  <c:v>45657</c:v>
                </c:pt>
                <c:pt idx="48">
                  <c:v>45688</c:v>
                </c:pt>
                <c:pt idx="49">
                  <c:v>45716</c:v>
                </c:pt>
                <c:pt idx="50">
                  <c:v>45747</c:v>
                </c:pt>
                <c:pt idx="51">
                  <c:v>45777</c:v>
                </c:pt>
                <c:pt idx="52">
                  <c:v>45808</c:v>
                </c:pt>
                <c:pt idx="53">
                  <c:v>45838</c:v>
                </c:pt>
                <c:pt idx="54">
                  <c:v>45869</c:v>
                </c:pt>
                <c:pt idx="55">
                  <c:v>45900</c:v>
                </c:pt>
                <c:pt idx="56">
                  <c:v>45930</c:v>
                </c:pt>
              </c:numCache>
            </c:numRef>
          </c:cat>
          <c:val>
            <c:numRef>
              <c:f>Sheet1!$B$2:$B$58</c:f>
              <c:numCache>
                <c:formatCode>0%</c:formatCode>
                <c:ptCount val="57"/>
                <c:pt idx="0">
                  <c:v>0.38500000000000001</c:v>
                </c:pt>
                <c:pt idx="1">
                  <c:v>0.40700000000000003</c:v>
                </c:pt>
                <c:pt idx="2">
                  <c:v>0.42599999999999999</c:v>
                </c:pt>
                <c:pt idx="3">
                  <c:v>0.46299999999999997</c:v>
                </c:pt>
                <c:pt idx="4">
                  <c:v>0.48799999999999999</c:v>
                </c:pt>
                <c:pt idx="5">
                  <c:v>0.502</c:v>
                </c:pt>
                <c:pt idx="6">
                  <c:v>0.51800000000000002</c:v>
                </c:pt>
                <c:pt idx="7">
                  <c:v>0.51400000000000001</c:v>
                </c:pt>
                <c:pt idx="8">
                  <c:v>0.52500000000000002</c:v>
                </c:pt>
                <c:pt idx="9">
                  <c:v>0.52100000000000002</c:v>
                </c:pt>
                <c:pt idx="10">
                  <c:v>0.51200000000000001</c:v>
                </c:pt>
                <c:pt idx="11">
                  <c:v>0.50900000000000001</c:v>
                </c:pt>
                <c:pt idx="12">
                  <c:v>0.50700000000000001</c:v>
                </c:pt>
                <c:pt idx="13">
                  <c:v>0.52300000000000002</c:v>
                </c:pt>
                <c:pt idx="14">
                  <c:v>0.55100000000000005</c:v>
                </c:pt>
                <c:pt idx="15">
                  <c:v>0.57999999999999996</c:v>
                </c:pt>
                <c:pt idx="16">
                  <c:v>0.60699999999999998</c:v>
                </c:pt>
                <c:pt idx="17">
                  <c:v>0.64</c:v>
                </c:pt>
                <c:pt idx="18">
                  <c:v>0.71</c:v>
                </c:pt>
                <c:pt idx="19">
                  <c:v>0.78500000000000003</c:v>
                </c:pt>
                <c:pt idx="20">
                  <c:v>0.83</c:v>
                </c:pt>
                <c:pt idx="21">
                  <c:v>0.88</c:v>
                </c:pt>
                <c:pt idx="22">
                  <c:v>0.92400000000000004</c:v>
                </c:pt>
                <c:pt idx="23">
                  <c:v>0.94799999999999995</c:v>
                </c:pt>
                <c:pt idx="24">
                  <c:v>0.98799999999999999</c:v>
                </c:pt>
                <c:pt idx="25">
                  <c:v>1.0249999999999999</c:v>
                </c:pt>
                <c:pt idx="26">
                  <c:v>1.0429999999999999</c:v>
                </c:pt>
                <c:pt idx="27">
                  <c:v>1.0880000000000001</c:v>
                </c:pt>
                <c:pt idx="28">
                  <c:v>1.1420000000000001</c:v>
                </c:pt>
                <c:pt idx="29">
                  <c:v>1.1559999999999999</c:v>
                </c:pt>
                <c:pt idx="30">
                  <c:v>1.1340000000000001</c:v>
                </c:pt>
                <c:pt idx="31">
                  <c:v>1.244</c:v>
                </c:pt>
                <c:pt idx="32">
                  <c:v>1.383</c:v>
                </c:pt>
                <c:pt idx="33">
                  <c:v>1.4269999999999998</c:v>
                </c:pt>
                <c:pt idx="34">
                  <c:v>1.609</c:v>
                </c:pt>
                <c:pt idx="35">
                  <c:v>2.1139999999999999</c:v>
                </c:pt>
                <c:pt idx="36">
                  <c:v>2.5419999999999998</c:v>
                </c:pt>
                <c:pt idx="37">
                  <c:v>2.762</c:v>
                </c:pt>
                <c:pt idx="38">
                  <c:v>2.8789999999999996</c:v>
                </c:pt>
                <c:pt idx="39">
                  <c:v>2.8939999999999997</c:v>
                </c:pt>
                <c:pt idx="40">
                  <c:v>2.7639999999999998</c:v>
                </c:pt>
                <c:pt idx="41">
                  <c:v>2.7149999999999999</c:v>
                </c:pt>
                <c:pt idx="42">
                  <c:v>2.6339999999999999</c:v>
                </c:pt>
                <c:pt idx="43">
                  <c:v>2.367</c:v>
                </c:pt>
                <c:pt idx="44">
                  <c:v>2.09</c:v>
                </c:pt>
                <c:pt idx="45">
                  <c:v>1.93</c:v>
                </c:pt>
                <c:pt idx="46">
                  <c:v>1.66</c:v>
                </c:pt>
                <c:pt idx="47">
                  <c:v>1.1779999999999999</c:v>
                </c:pt>
                <c:pt idx="48">
                  <c:v>0.84499999999999997</c:v>
                </c:pt>
                <c:pt idx="49">
                  <c:v>0.66900000000000004</c:v>
                </c:pt>
                <c:pt idx="50">
                  <c:v>0.55899999999999994</c:v>
                </c:pt>
                <c:pt idx="51">
                  <c:v>0.47299999999999998</c:v>
                </c:pt>
                <c:pt idx="52">
                  <c:v>0.435</c:v>
                </c:pt>
                <c:pt idx="53">
                  <c:v>0.39399999999999996</c:v>
                </c:pt>
                <c:pt idx="54">
                  <c:v>0.36599999999999999</c:v>
                </c:pt>
                <c:pt idx="55">
                  <c:v>0.33600000000000002</c:v>
                </c:pt>
                <c:pt idx="56">
                  <c:v>0.318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35-673D-8D44-A7C6-F26E8EFA6BE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293649984"/>
        <c:axId val="921644784"/>
      </c:lineChart>
      <c:dateAx>
        <c:axId val="1293649984"/>
        <c:scaling>
          <c:orientation val="minMax"/>
        </c:scaling>
        <c:delete val="0"/>
        <c:axPos val="b"/>
        <c:numFmt formatCode="[$-40C]mmm\-yy;@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300" b="0" i="0" u="none" strike="noStrike" kern="120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en-FR"/>
          </a:p>
        </c:txPr>
        <c:crossAx val="921644784"/>
        <c:crosses val="autoZero"/>
        <c:auto val="1"/>
        <c:lblOffset val="100"/>
        <c:baseTimeUnit val="months"/>
      </c:dateAx>
      <c:valAx>
        <c:axId val="921644784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300" b="0" i="0" u="none" strike="noStrike" kern="120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en-FR"/>
          </a:p>
        </c:txPr>
        <c:crossAx val="12936499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300">
          <a:solidFill>
            <a:schemeClr val="bg1"/>
          </a:solidFill>
          <a:latin typeface="Questrial" pitchFamily="2" charset="77"/>
          <a:ea typeface="Questrial" pitchFamily="2" charset="77"/>
          <a:cs typeface="Questrial" pitchFamily="2" charset="77"/>
        </a:defRPr>
      </a:pPr>
      <a:endParaRPr lang="en-FR"/>
    </a:p>
  </c:txPr>
  <c:externalData r:id="rId3">
    <c:autoUpdate val="0"/>
  </c:externalData>
</c:chartSpace>
</file>

<file path=ppt/charts/chart4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320" b="0" i="0" u="none" strike="noStrike" kern="1200" spc="0" baseline="0">
              <a:solidFill>
                <a:schemeClr val="bg1"/>
              </a:solidFill>
              <a:latin typeface="Questrial" pitchFamily="2" charset="77"/>
              <a:ea typeface="Questrial" pitchFamily="2" charset="77"/>
              <a:cs typeface="Questrial" pitchFamily="2" charset="77"/>
            </a:defRPr>
          </a:pPr>
          <a:endParaRPr lang="en-F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Solde budgétaire (% PIB)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Pt>
            <c:idx val="6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249-D349-80E1-C52AA8F2174F}"/>
              </c:ext>
            </c:extLst>
          </c:dPt>
          <c:dLbls>
            <c:dLbl>
              <c:idx val="6"/>
              <c:tx>
                <c:rich>
                  <a:bodyPr/>
                  <a:lstStyle/>
                  <a:p>
                    <a:r>
                      <a:rPr lang="en-US"/>
                      <a:t>+</a:t>
                    </a:r>
                    <a:fld id="{95342006-1647-9E45-8FCF-2F3EFBF6F467}" type="VALUE">
                      <a:rPr lang="en-US" smtClean="0"/>
                      <a:pPr/>
                      <a:t>[VALUE]</a:t>
                    </a:fld>
                    <a:endParaRPr lang="en-US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F249-D349-80E1-C52AA8F2174F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endParaRPr lang="en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Sheet1!$A$2:$A$8</c:f>
              <c:numCache>
                <c:formatCode>General</c:formatCode>
                <c:ptCount val="7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-4.9368372095193361E-2</c:v>
                </c:pt>
                <c:pt idx="1">
                  <c:v>-3.8008628744203694E-2</c:v>
                </c:pt>
                <c:pt idx="2">
                  <c:v>-8.4264835760420806E-2</c:v>
                </c:pt>
                <c:pt idx="3">
                  <c:v>-3.601286467828535E-2</c:v>
                </c:pt>
                <c:pt idx="4">
                  <c:v>-3.8144578010400366E-2</c:v>
                </c:pt>
                <c:pt idx="5">
                  <c:v>-4.5999999999999999E-2</c:v>
                </c:pt>
                <c:pt idx="6">
                  <c:v>3.0466955269252529E-3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249-D349-80E1-C52AA8F2174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729247072"/>
        <c:axId val="304468464"/>
      </c:barChart>
      <c:catAx>
        <c:axId val="17292470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en-FR"/>
          </a:p>
        </c:txPr>
        <c:crossAx val="304468464"/>
        <c:crosses val="autoZero"/>
        <c:auto val="1"/>
        <c:lblAlgn val="ctr"/>
        <c:lblOffset val="100"/>
        <c:noMultiLvlLbl val="0"/>
      </c:catAx>
      <c:valAx>
        <c:axId val="304468464"/>
        <c:scaling>
          <c:orientation val="minMax"/>
        </c:scaling>
        <c:delete val="0"/>
        <c:axPos val="l"/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en-FR"/>
          </a:p>
        </c:txPr>
        <c:crossAx val="17292470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100">
          <a:solidFill>
            <a:schemeClr val="bg1"/>
          </a:solidFill>
          <a:latin typeface="Questrial" pitchFamily="2" charset="77"/>
          <a:ea typeface="Questrial" pitchFamily="2" charset="77"/>
          <a:cs typeface="Questrial" pitchFamily="2" charset="77"/>
        </a:defRPr>
      </a:pPr>
      <a:endParaRPr lang="en-FR"/>
    </a:p>
  </c:txPr>
  <c:externalData r:id="rId3">
    <c:autoUpdate val="0"/>
  </c:externalData>
</c:chartSpace>
</file>

<file path=ppt/charts/chart4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320" b="0" i="0" u="none" strike="noStrike" kern="1200" spc="0" baseline="0">
              <a:solidFill>
                <a:schemeClr val="bg1"/>
              </a:solidFill>
              <a:latin typeface="Questrial" pitchFamily="2" charset="77"/>
              <a:ea typeface="Questrial" pitchFamily="2" charset="77"/>
              <a:cs typeface="Questrial" pitchFamily="2" charset="77"/>
            </a:defRPr>
          </a:pPr>
          <a:endParaRPr lang="en-F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Dépense publique totale (% PIB)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Pt>
            <c:idx val="5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2D3-7B42-BA17-C4906360A8BF}"/>
              </c:ext>
            </c:extLst>
          </c:dPt>
          <c:dPt>
            <c:idx val="6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2D3-7B42-BA17-C4906360A8BF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endParaRPr lang="en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2015</c:v>
                </c:pt>
                <c:pt idx="1">
                  <c:v>2018</c:v>
                </c:pt>
                <c:pt idx="2">
                  <c:v>2020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Objectif</c:v>
                </c:pt>
              </c:strCache>
            </c:strRef>
          </c:cat>
          <c:val>
            <c:numRef>
              <c:f>Sheet1!$B$2:$B$8</c:f>
              <c:numCache>
                <c:formatCode>0%</c:formatCode>
                <c:ptCount val="7"/>
                <c:pt idx="0">
                  <c:v>0.46</c:v>
                </c:pt>
                <c:pt idx="1">
                  <c:v>0.44</c:v>
                </c:pt>
                <c:pt idx="2">
                  <c:v>0.47</c:v>
                </c:pt>
                <c:pt idx="3">
                  <c:v>0.42</c:v>
                </c:pt>
                <c:pt idx="4">
                  <c:v>0.44</c:v>
                </c:pt>
                <c:pt idx="5">
                  <c:v>0.32</c:v>
                </c:pt>
                <c:pt idx="6">
                  <c:v>0.25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2D3-7B42-BA17-C4906360A8B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655772144"/>
        <c:axId val="1101338815"/>
      </c:barChart>
      <c:catAx>
        <c:axId val="16557721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en-FR"/>
          </a:p>
        </c:txPr>
        <c:crossAx val="1101338815"/>
        <c:crosses val="autoZero"/>
        <c:auto val="1"/>
        <c:lblAlgn val="ctr"/>
        <c:lblOffset val="100"/>
        <c:noMultiLvlLbl val="0"/>
      </c:catAx>
      <c:valAx>
        <c:axId val="1101338815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en-FR"/>
          </a:p>
        </c:txPr>
        <c:crossAx val="16557721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100">
          <a:solidFill>
            <a:schemeClr val="bg1"/>
          </a:solidFill>
          <a:latin typeface="Questrial" pitchFamily="2" charset="77"/>
          <a:ea typeface="Questrial" pitchFamily="2" charset="77"/>
          <a:cs typeface="Questrial" pitchFamily="2" charset="77"/>
        </a:defRPr>
      </a:pPr>
      <a:endParaRPr lang="en-FR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'Retraites % PIB OCDE'!$B$37:$B$41</cx:f>
        <cx:lvl ptCount="5">
          <cx:pt idx="0">Volume des dépenses publiques de retraite en France</cx:pt>
          <cx:pt idx="1">Volume des dépenses publiques de retraite en France ) - Si alignement sur l'Allemagne</cx:pt>
          <cx:pt idx="2">Volume des dépenses publiques de retraite en France ) - Si alignement sur la Suède</cx:pt>
          <cx:pt idx="3">Volume des dépenses publiques de retraite en France ) - Si alignement sur l'OCDE</cx:pt>
          <cx:pt idx="4">Volume des dépenses publiques de retraite en France ) - Si alignement sur le Royaume-Uni</cx:pt>
        </cx:lvl>
      </cx:strDim>
      <cx:numDim type="val">
        <cx:f>'Retraites % PIB OCDE'!$C$37:$C$41</cx:f>
        <cx:lvl ptCount="5" formatCode="0">
          <cx:pt idx="0">353</cx:pt>
          <cx:pt idx="1">-97.171780000000027</cx:pt>
          <cx:pt idx="2">-30.557339999999954</cx:pt>
          <cx:pt idx="3">-31.314959999999999</cx:pt>
          <cx:pt idx="4">-70.767320000000012</cx:pt>
        </cx:lvl>
      </cx:numDim>
    </cx:data>
  </cx:chartData>
  <cx:chart>
    <cx:plotArea>
      <cx:plotAreaRegion>
        <cx:series layoutId="waterfall" uniqueId="{547202EA-F098-544A-AC1C-238B85BDEC66}" formatIdx="0">
          <cx:tx>
            <cx:txData>
              <cx:f>'Retraites % PIB OCDE'!$B$36</cx:f>
              <cx:v>Année 2023</cx:v>
            </cx:txData>
          </cx:tx>
          <cx:spPr>
            <a:solidFill>
              <a:srgbClr val="CA2E4D"/>
            </a:solidFill>
          </cx:spPr>
          <cx:dataPt idx="0">
            <cx:spPr>
              <a:solidFill>
                <a:srgbClr val="C00000"/>
              </a:solidFill>
            </cx:spPr>
          </cx:dataPt>
          <cx:dataPt idx="1">
            <cx:spPr>
              <a:solidFill>
                <a:prstClr val="white"/>
              </a:solidFill>
            </cx:spPr>
          </cx:dataPt>
          <cx:dataPt idx="2">
            <cx:spPr>
              <a:solidFill>
                <a:prstClr val="white"/>
              </a:solidFill>
            </cx:spPr>
          </cx:dataPt>
          <cx:dataPt idx="3">
            <cx:spPr>
              <a:solidFill>
                <a:prstClr val="white"/>
              </a:solidFill>
            </cx:spPr>
          </cx:dataPt>
          <cx:dataPt idx="4">
            <cx:spPr>
              <a:solidFill>
                <a:prstClr val="white"/>
              </a:solidFill>
            </cx:spPr>
          </cx:dataPt>
          <cx:dataLabels pos="outEnd">
            <cx:txPr>
              <a:bodyPr vertOverflow="overflow" horzOverflow="overflow" wrap="square" lIns="0" tIns="0" rIns="0" bIns="0"/>
              <a:lstStyle/>
              <a:p>
                <a:pPr algn="ctr" rtl="0">
                  <a:defRPr sz="900" b="0" i="0">
                    <a:solidFill>
                      <a:schemeClr val="bg1"/>
                    </a:solidFill>
                    <a:latin typeface="Questrial" pitchFamily="2" charset="77"/>
                    <a:ea typeface="Questrial" pitchFamily="2" charset="77"/>
                    <a:cs typeface="Questrial" pitchFamily="2" charset="77"/>
                  </a:defRPr>
                </a:pPr>
                <a:endParaRPr lang="fr-FR">
                  <a:solidFill>
                    <a:schemeClr val="bg1"/>
                  </a:solidFill>
                  <a:latin typeface="Questrial" pitchFamily="2" charset="77"/>
                  <a:ea typeface="Questrial" pitchFamily="2" charset="77"/>
                  <a:cs typeface="Questrial" pitchFamily="2" charset="77"/>
                </a:endParaRPr>
              </a:p>
            </cx:txPr>
            <cx:visibility seriesName="0" categoryName="0" value="1"/>
            <cx:dataLabel idx="0">
              <cx:visibility seriesName="0" categoryName="0" value="0"/>
            </cx:dataLabel>
            <cx:dataLabel idx="1">
              <cx:visibility seriesName="0" categoryName="0" value="0"/>
            </cx:dataLabel>
            <cx:dataLabel idx="2">
              <cx:visibility seriesName="0" categoryName="0" value="0"/>
            </cx:dataLabel>
            <cx:dataLabel idx="3">
              <cx:visibility seriesName="0" categoryName="0" value="0"/>
            </cx:dataLabel>
            <cx:dataLabel idx="4">
              <cx:visibility seriesName="0" categoryName="0" value="0"/>
            </cx:dataLabel>
          </cx:dataLabels>
          <cx:dataId val="0"/>
          <cx:layoutPr>
            <cx:subtotals/>
          </cx:layoutPr>
        </cx:series>
      </cx:plotAreaRegion>
      <cx:axis id="0" hidden="1">
        <cx:catScaling gapWidth="0.5"/>
        <cx:tickLabels/>
        <cx:txPr>
          <a:bodyPr vertOverflow="overflow" horzOverflow="overflow" wrap="square" lIns="0" tIns="0" rIns="0" bIns="0"/>
          <a:lstStyle/>
          <a:p>
            <a:pPr algn="ctr" rtl="0">
              <a:defRPr sz="900" b="0" i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fr-FR">
              <a:solidFill>
                <a:schemeClr val="bg1"/>
              </a:solidFill>
              <a:latin typeface="Questrial" pitchFamily="2" charset="77"/>
              <a:ea typeface="Questrial" pitchFamily="2" charset="77"/>
              <a:cs typeface="Questrial" pitchFamily="2" charset="77"/>
            </a:endParaRPr>
          </a:p>
        </cx:txPr>
      </cx:axis>
      <cx:axis id="1">
        <cx:valScaling/>
        <cx:tickLabels/>
        <cx:txPr>
          <a:bodyPr vertOverflow="overflow" horzOverflow="overflow" wrap="square" lIns="0" tIns="0" rIns="0" bIns="0"/>
          <a:lstStyle/>
          <a:p>
            <a:pPr algn="ctr" rtl="0">
              <a:defRPr sz="900" b="0" i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pPr>
            <a:endParaRPr lang="fr-FR">
              <a:solidFill>
                <a:schemeClr val="bg1"/>
              </a:solidFill>
              <a:latin typeface="Questrial" pitchFamily="2" charset="77"/>
              <a:ea typeface="Questrial" pitchFamily="2" charset="77"/>
              <a:cs typeface="Questrial" pitchFamily="2" charset="77"/>
            </a:endParaRPr>
          </a:p>
        </cx:txPr>
      </cx:axis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39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2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0.32552</cdr:x>
      <cdr:y>0.16677</cdr:y>
    </cdr:from>
    <cdr:to>
      <cdr:x>0.50068</cdr:x>
      <cdr:y>0.29931</cdr:y>
    </cdr:to>
    <cdr:sp macro="" textlink="">
      <cdr:nvSpPr>
        <cdr:cNvPr id="2" name="TextBox 1">
          <a:extLst xmlns:a="http://schemas.openxmlformats.org/drawingml/2006/main">
            <a:ext uri="{FF2B5EF4-FFF2-40B4-BE49-F238E27FC236}">
              <a16:creationId xmlns:a16="http://schemas.microsoft.com/office/drawing/2014/main" id="{2DEE03B5-9584-0236-182F-7EE280D56008}"/>
            </a:ext>
          </a:extLst>
        </cdr:cNvPr>
        <cdr:cNvSpPr txBox="1"/>
      </cdr:nvSpPr>
      <cdr:spPr>
        <a:xfrm xmlns:a="http://schemas.openxmlformats.org/drawingml/2006/main">
          <a:off x="1678968" y="614474"/>
          <a:ext cx="903419" cy="488371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en-FR" sz="1600" kern="1200" dirty="0">
              <a:solidFill>
                <a:srgbClr val="FFFFFF"/>
              </a:solidFill>
              <a:latin typeface="Questrial" pitchFamily="2" charset="77"/>
              <a:ea typeface="Questrial" pitchFamily="2" charset="77"/>
              <a:cs typeface="Questrial" pitchFamily="2" charset="77"/>
            </a:rPr>
            <a:t>-24%</a:t>
          </a:r>
        </a:p>
      </cdr:txBody>
    </cdr:sp>
  </cdr:relSizeAnchor>
  <cdr:relSizeAnchor xmlns:cdr="http://schemas.openxmlformats.org/drawingml/2006/chartDrawing">
    <cdr:from>
      <cdr:x>0.57936</cdr:x>
      <cdr:y>0.29311</cdr:y>
    </cdr:from>
    <cdr:to>
      <cdr:x>0.75452</cdr:x>
      <cdr:y>0.42565</cdr:y>
    </cdr:to>
    <cdr:sp macro="" textlink="">
      <cdr:nvSpPr>
        <cdr:cNvPr id="3" name="TextBox 1">
          <a:extLst xmlns:a="http://schemas.openxmlformats.org/drawingml/2006/main">
            <a:ext uri="{FF2B5EF4-FFF2-40B4-BE49-F238E27FC236}">
              <a16:creationId xmlns:a16="http://schemas.microsoft.com/office/drawing/2014/main" id="{18411A88-7755-BAEC-6CCA-C8B5BC9A8470}"/>
            </a:ext>
          </a:extLst>
        </cdr:cNvPr>
        <cdr:cNvSpPr txBox="1"/>
      </cdr:nvSpPr>
      <cdr:spPr>
        <a:xfrm xmlns:a="http://schemas.openxmlformats.org/drawingml/2006/main">
          <a:off x="2988223" y="1079987"/>
          <a:ext cx="903419" cy="488371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FR" sz="1600" kern="1200" dirty="0">
              <a:solidFill>
                <a:srgbClr val="FFFFFF"/>
              </a:solidFill>
              <a:latin typeface="Questrial" pitchFamily="2" charset="77"/>
              <a:ea typeface="Questrial" pitchFamily="2" charset="77"/>
              <a:cs typeface="Questrial" pitchFamily="2" charset="77"/>
            </a:rPr>
            <a:t>-22%</a:t>
          </a:r>
        </a:p>
      </cdr:txBody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0.63161</cdr:x>
      <cdr:y>0.05746</cdr:y>
    </cdr:from>
    <cdr:to>
      <cdr:x>0.80591</cdr:x>
      <cdr:y>0.19</cdr:y>
    </cdr:to>
    <cdr:sp macro="" textlink="">
      <cdr:nvSpPr>
        <cdr:cNvPr id="2" name="TextBox 1">
          <a:extLst xmlns:a="http://schemas.openxmlformats.org/drawingml/2006/main">
            <a:ext uri="{FF2B5EF4-FFF2-40B4-BE49-F238E27FC236}">
              <a16:creationId xmlns:a16="http://schemas.microsoft.com/office/drawing/2014/main" id="{AF61EAFA-99E2-E993-0A1C-96C153E1C9CA}"/>
            </a:ext>
          </a:extLst>
        </cdr:cNvPr>
        <cdr:cNvSpPr txBox="1"/>
      </cdr:nvSpPr>
      <cdr:spPr>
        <a:xfrm xmlns:a="http://schemas.openxmlformats.org/drawingml/2006/main">
          <a:off x="3273772" y="211705"/>
          <a:ext cx="903430" cy="488355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FR" sz="1600" kern="1200" dirty="0">
              <a:solidFill>
                <a:srgbClr val="FFFFFF"/>
              </a:solidFill>
              <a:latin typeface="Questrial" pitchFamily="2" charset="77"/>
              <a:ea typeface="Questrial" pitchFamily="2" charset="77"/>
              <a:cs typeface="Questrial" pitchFamily="2" charset="77"/>
            </a:rPr>
            <a:t>-22%</a:t>
          </a:r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BA9D0E-5180-704D-9481-C8C690CBA6E2}" type="datetimeFigureOut">
              <a:rPr lang="fr-FR" smtClean="0"/>
              <a:t>02/05/2026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C20A36-A6D8-EF4D-B99F-04156E9E35C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808340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C20A36-A6D8-EF4D-B99F-04156E9E35C5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942813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1" i="1" dirty="0">
                <a:solidFill>
                  <a:srgbClr val="F39C12"/>
                </a:solidFill>
              </a:rPr>
              <a:t>Moins </a:t>
            </a:r>
            <a:r>
              <a:rPr lang="en-GB" sz="1200" b="1" i="1" dirty="0" err="1">
                <a:solidFill>
                  <a:srgbClr val="F39C12"/>
                </a:solidFill>
              </a:rPr>
              <a:t>d'industrie</a:t>
            </a:r>
            <a:r>
              <a:rPr lang="en-GB" sz="1200" b="1" i="1" dirty="0">
                <a:solidFill>
                  <a:srgbClr val="F39C12"/>
                </a:solidFill>
              </a:rPr>
              <a:t> = </a:t>
            </a:r>
            <a:r>
              <a:rPr lang="en-GB" sz="1200" b="1" i="1" dirty="0" err="1">
                <a:solidFill>
                  <a:srgbClr val="F39C12"/>
                </a:solidFill>
              </a:rPr>
              <a:t>moins</a:t>
            </a:r>
            <a:r>
              <a:rPr lang="en-GB" sz="1200" b="1" i="1" dirty="0">
                <a:solidFill>
                  <a:srgbClr val="F39C12"/>
                </a:solidFill>
              </a:rPr>
              <a:t> </a:t>
            </a:r>
            <a:r>
              <a:rPr lang="en-GB" sz="1200" b="1" i="1" dirty="0" err="1">
                <a:solidFill>
                  <a:srgbClr val="F39C12"/>
                </a:solidFill>
              </a:rPr>
              <a:t>d'exportations</a:t>
            </a:r>
            <a:r>
              <a:rPr lang="en-GB" sz="1200" b="1" i="1" dirty="0">
                <a:solidFill>
                  <a:srgbClr val="F39C12"/>
                </a:solidFill>
              </a:rPr>
              <a:t>, </a:t>
            </a:r>
            <a:r>
              <a:rPr lang="en-GB" sz="1200" b="1" i="1" dirty="0" err="1">
                <a:solidFill>
                  <a:srgbClr val="F39C12"/>
                </a:solidFill>
              </a:rPr>
              <a:t>moins</a:t>
            </a:r>
            <a:r>
              <a:rPr lang="en-GB" sz="1200" b="1" i="1" dirty="0">
                <a:solidFill>
                  <a:srgbClr val="F39C12"/>
                </a:solidFill>
              </a:rPr>
              <a:t> de </a:t>
            </a:r>
            <a:r>
              <a:rPr lang="en-GB" sz="1200" b="1" i="1" dirty="0" err="1">
                <a:solidFill>
                  <a:srgbClr val="F39C12"/>
                </a:solidFill>
              </a:rPr>
              <a:t>productivité</a:t>
            </a:r>
            <a:r>
              <a:rPr lang="en-GB" sz="1200" b="1" i="1" dirty="0">
                <a:solidFill>
                  <a:srgbClr val="F39C12"/>
                </a:solidFill>
              </a:rPr>
              <a:t>, </a:t>
            </a:r>
            <a:r>
              <a:rPr lang="en-GB" sz="1200" b="1" i="1" dirty="0" err="1">
                <a:solidFill>
                  <a:srgbClr val="F39C12"/>
                </a:solidFill>
              </a:rPr>
              <a:t>moins</a:t>
            </a:r>
            <a:r>
              <a:rPr lang="en-GB" sz="1200" b="1" i="1" dirty="0">
                <a:solidFill>
                  <a:srgbClr val="F39C12"/>
                </a:solidFill>
              </a:rPr>
              <a:t> de </a:t>
            </a:r>
            <a:r>
              <a:rPr lang="en-GB" sz="1200" b="1" i="1" dirty="0" err="1">
                <a:solidFill>
                  <a:srgbClr val="F39C12"/>
                </a:solidFill>
              </a:rPr>
              <a:t>recettes</a:t>
            </a:r>
            <a:r>
              <a:rPr lang="en-GB" sz="1200" b="1" i="1" dirty="0">
                <a:solidFill>
                  <a:srgbClr val="F39C12"/>
                </a:solidFill>
              </a:rPr>
              <a:t> </a:t>
            </a:r>
            <a:r>
              <a:rPr lang="en-GB" sz="1200" b="1" i="1" dirty="0" err="1">
                <a:solidFill>
                  <a:srgbClr val="F39C12"/>
                </a:solidFill>
              </a:rPr>
              <a:t>fiscales</a:t>
            </a:r>
            <a:r>
              <a:rPr lang="en-GB" sz="1200" b="1" i="1" dirty="0">
                <a:solidFill>
                  <a:srgbClr val="F39C12"/>
                </a:solidFill>
              </a:rPr>
              <a:t>.</a:t>
            </a:r>
            <a:endParaRPr lang="en-FR" sz="1200" b="1" i="1" dirty="0">
              <a:solidFill>
                <a:srgbClr val="F39C12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C20A36-A6D8-EF4D-B99F-04156E9E35C5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9097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C20A36-A6D8-EF4D-B99F-04156E9E35C5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39271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https://data-</a:t>
            </a:r>
            <a:r>
              <a:rPr lang="en-GB" dirty="0" err="1"/>
              <a:t>explorer.oecd.org</a:t>
            </a:r>
            <a:r>
              <a:rPr lang="en-GB" dirty="0"/>
              <a:t>/vis?fs%5B0%5D=Topic%2C1%7CEconomy%23ECO%23%7CNational%20accounts%23ECO_NAD%23&amp;fs%5B1%5D=Topic%2C3%7CEconomy%23ECO%23%7CNational%20accounts%23ECO_NAD%23%7CGDP%20and%20non-financial%20accounts%23ECO_NAD_GNF%23%7CNational%20Accounts%20at%20a%20Glance%23ECO_NAD_GNF_NAT%23&amp;pg=0&amp;fc=</a:t>
            </a:r>
            <a:r>
              <a:rPr lang="en-GB" dirty="0" err="1"/>
              <a:t>Topic&amp;snb</a:t>
            </a:r>
            <a:r>
              <a:rPr lang="en-GB" dirty="0"/>
              <a:t>=12&amp;df%5Bds%5D=dsDisseminateFinalDMZ&amp;df%5Bid%5D=DSD_NAAG_VI%40DF_NAAG_OTEF&amp;df%5Bag%5D=</a:t>
            </a:r>
            <a:r>
              <a:rPr lang="en-GB" dirty="0" err="1"/>
              <a:t>OECD.SDD.NAD&amp;dq</a:t>
            </a:r>
            <a:r>
              <a:rPr lang="en-GB" dirty="0"/>
              <a:t>=A..OTES13F...&amp;pd=%2C&amp;to%5BTIME_PERIOD%5D=</a:t>
            </a:r>
            <a:r>
              <a:rPr lang="en-GB" dirty="0" err="1"/>
              <a:t>false&amp;vw</a:t>
            </a:r>
            <a:r>
              <a:rPr lang="en-GB" dirty="0"/>
              <a:t>=tb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r>
              <a:rPr lang="en-GB" dirty="0"/>
              <a:t>https://data-</a:t>
            </a:r>
            <a:r>
              <a:rPr lang="en-GB" dirty="0" err="1"/>
              <a:t>explorer.oecd.org</a:t>
            </a:r>
            <a:r>
              <a:rPr lang="en-GB" dirty="0"/>
              <a:t>/</a:t>
            </a:r>
            <a:r>
              <a:rPr lang="en-GB" dirty="0" err="1"/>
              <a:t>vis?tm</a:t>
            </a:r>
            <a:r>
              <a:rPr lang="en-GB" dirty="0"/>
              <a:t>=</a:t>
            </a:r>
            <a:r>
              <a:rPr lang="en-GB" dirty="0" err="1"/>
              <a:t>culture&amp;pg</a:t>
            </a:r>
            <a:r>
              <a:rPr lang="en-GB" dirty="0"/>
              <a:t>=0&amp;snb=127&amp;df[ds]=</a:t>
            </a:r>
            <a:r>
              <a:rPr lang="en-GB" dirty="0" err="1"/>
              <a:t>dsDisseminateFinalDMZ&amp;df</a:t>
            </a:r>
            <a:r>
              <a:rPr lang="en-GB" dirty="0"/>
              <a:t>[id]=DSD_NASEC10%40DF_TABLE11&amp;df[ag]=</a:t>
            </a:r>
            <a:r>
              <a:rPr lang="en-GB" dirty="0" err="1"/>
              <a:t>OECD.SDD.NAD&amp;df</a:t>
            </a:r>
            <a:r>
              <a:rPr lang="en-GB" dirty="0"/>
              <a:t>[vs]=1.1&amp;dq=A.ITA.S13...OTE.....V..&amp;</a:t>
            </a:r>
            <a:r>
              <a:rPr lang="en-GB" dirty="0" err="1"/>
              <a:t>lom</a:t>
            </a:r>
            <a:r>
              <a:rPr lang="en-GB" dirty="0"/>
              <a:t>=</a:t>
            </a:r>
            <a:r>
              <a:rPr lang="en-GB" dirty="0" err="1"/>
              <a:t>LASTNPERIODS&amp;lo</a:t>
            </a:r>
            <a:r>
              <a:rPr lang="en-GB" dirty="0"/>
              <a:t>=5&amp;to[TIME_PERIOD]=false</a:t>
            </a:r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C20A36-A6D8-EF4D-B99F-04156E9E35C5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30035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</a:t>
            </a:r>
            <a:r>
              <a:rPr lang="en-GB" dirty="0" err="1"/>
              <a:t>www.sipri.org</a:t>
            </a:r>
            <a:r>
              <a:rPr lang="en-GB"/>
              <a:t>/sites/default/files/2025-04/2504_fs_milex_2024.pdf</a:t>
            </a:r>
            <a:endParaRPr lang="en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C20A36-A6D8-EF4D-B99F-04156E9E35C5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6342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</a:t>
            </a:r>
            <a:r>
              <a:rPr lang="en-GB" dirty="0" err="1"/>
              <a:t>donnees.banquemondiale.org</a:t>
            </a:r>
            <a:r>
              <a:rPr lang="en-GB" dirty="0"/>
              <a:t>/</a:t>
            </a:r>
            <a:r>
              <a:rPr lang="en-GB" dirty="0" err="1"/>
              <a:t>indicateur</a:t>
            </a:r>
            <a:r>
              <a:rPr lang="en-GB" dirty="0"/>
              <a:t>/NY.GDP.MKTP.CD</a:t>
            </a:r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C20A36-A6D8-EF4D-B99F-04156E9E35C5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037037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P</a:t>
            </a:r>
            <a:r>
              <a:rPr lang="en-FR" dirty="0"/>
              <a:t> 35  : </a:t>
            </a:r>
            <a:r>
              <a:rPr lang="en-GB" dirty="0"/>
              <a:t>https://</a:t>
            </a:r>
            <a:r>
              <a:rPr lang="en-GB" dirty="0" err="1"/>
              <a:t>drees.solidarites-sante.gouv.fr</a:t>
            </a:r>
            <a:r>
              <a:rPr lang="en-GB" dirty="0"/>
              <a:t>/sites/default/files/2024-02/PTROTSOC23MAJ130224.pdf</a:t>
            </a:r>
            <a:endParaRPr lang="en-FR" dirty="0"/>
          </a:p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C20A36-A6D8-EF4D-B99F-04156E9E35C5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927641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fr-FR" sz="1200" b="1" dirty="0">
                <a:solidFill>
                  <a:srgbClr val="F39C12"/>
                </a:solidFill>
              </a:rPr>
              <a:t>L'anomalie fiscale : </a:t>
            </a:r>
            <a:r>
              <a:rPr lang="fr-FR" sz="1200" dirty="0">
                <a:solidFill>
                  <a:srgbClr val="FFFFFF"/>
                </a:solidFill>
              </a:rPr>
              <a:t>la TVA s'applique aussi sur la TICPE. Quand le brut monte, l'État encaisse mécaniquement plus.</a:t>
            </a:r>
          </a:p>
          <a:p>
            <a:pPr>
              <a:buNone/>
            </a:pPr>
            <a:endParaRPr lang="fr-FR" sz="1200" dirty="0"/>
          </a:p>
          <a:p>
            <a:pPr>
              <a:buNone/>
            </a:pPr>
            <a:r>
              <a:rPr lang="fr-FR" sz="1200" b="1" dirty="0">
                <a:solidFill>
                  <a:srgbClr val="F39C12"/>
                </a:solidFill>
              </a:rPr>
              <a:t>Top 5 européen </a:t>
            </a:r>
            <a:r>
              <a:rPr lang="fr-FR" sz="1200" dirty="0">
                <a:solidFill>
                  <a:srgbClr val="FFFFFF"/>
                </a:solidFill>
              </a:rPr>
              <a:t>des taxes sur l'essence (6e) et le gazole (4e).</a:t>
            </a:r>
          </a:p>
          <a:p>
            <a:pPr>
              <a:buNone/>
            </a:pPr>
            <a:endParaRPr lang="fr-FR" sz="1200" dirty="0"/>
          </a:p>
          <a:p>
            <a:pPr>
              <a:buNone/>
            </a:pPr>
            <a:r>
              <a:rPr lang="fr-FR" sz="1200" dirty="0">
                <a:solidFill>
                  <a:srgbClr val="FFFFFF"/>
                </a:solidFill>
              </a:rPr>
              <a:t>Le gouvernement annonce 6 Md€ d'économies… tout en bénéficiant de la hausse des recettes TVA.</a:t>
            </a:r>
          </a:p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C20A36-A6D8-EF4D-B99F-04156E9E35C5}" type="slidenum">
              <a:rPr lang="fr-FR" smtClean="0"/>
              <a:t>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804599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http://francestrategie1727.fr/</a:t>
            </a:r>
            <a:r>
              <a:rPr lang="fr-FR" dirty="0" err="1"/>
              <a:t>wp</a:t>
            </a:r>
            <a:r>
              <a:rPr lang="fr-FR" dirty="0"/>
              <a:t>-content/</a:t>
            </a:r>
            <a:r>
              <a:rPr lang="fr-FR" dirty="0" err="1"/>
              <a:t>uploads</a:t>
            </a:r>
            <a:r>
              <a:rPr lang="fr-FR" dirty="0"/>
              <a:t>/2016/02/contribution-jeunesse-</a:t>
            </a:r>
            <a:r>
              <a:rPr lang="fr-FR" dirty="0" err="1"/>
              <a:t>melete.pdf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C20A36-A6D8-EF4D-B99F-04156E9E35C5}" type="slidenum">
              <a:rPr lang="fr-FR" smtClean="0"/>
              <a:t>37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53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59D06-C394-5817-E500-87C1E93AA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97E73C-0ECE-F3C1-9265-3CEBAFD77D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B8B69E-84A0-6C59-6EAE-20ED066A93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</a:t>
            </a:r>
            <a:r>
              <a:rPr lang="en-GB" dirty="0" err="1"/>
              <a:t>www.cavp.fr</a:t>
            </a:r>
            <a:endParaRPr lang="en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31701A-2657-14B0-11F9-A95D9FE6AF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C20A36-A6D8-EF4D-B99F-04156E9E35C5}" type="slidenum">
              <a:rPr lang="fr-FR" smtClean="0"/>
              <a:t>50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997064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Espérance de vie : https://</a:t>
            </a:r>
            <a:r>
              <a:rPr lang="fr-FR" dirty="0" err="1"/>
              <a:t>donnees.banquemondiale.org</a:t>
            </a:r>
            <a:r>
              <a:rPr lang="fr-FR" dirty="0"/>
              <a:t>/</a:t>
            </a:r>
            <a:r>
              <a:rPr lang="fr-FR" dirty="0" err="1"/>
              <a:t>indicator</a:t>
            </a:r>
            <a:r>
              <a:rPr lang="fr-FR" dirty="0"/>
              <a:t>/SP.DYN.LE00.IN?locations=</a:t>
            </a:r>
            <a:r>
              <a:rPr lang="fr-FR" dirty="0" err="1"/>
              <a:t>SE&amp;utm_source</a:t>
            </a:r>
            <a:r>
              <a:rPr lang="fr-FR" dirty="0"/>
              <a:t>=</a:t>
            </a:r>
            <a:r>
              <a:rPr lang="fr-FR" dirty="0" err="1"/>
              <a:t>chatgpt.com</a:t>
            </a:r>
            <a:endParaRPr lang="fr-FR" dirty="0"/>
          </a:p>
          <a:p>
            <a:endParaRPr lang="fr-FR" dirty="0"/>
          </a:p>
          <a:p>
            <a:r>
              <a:rPr lang="fr-FR" dirty="0"/>
              <a:t>Chômage Suède : https://</a:t>
            </a:r>
            <a:r>
              <a:rPr lang="fr-FR" dirty="0" err="1"/>
              <a:t>shs.cairn.info</a:t>
            </a:r>
            <a:r>
              <a:rPr lang="fr-FR" dirty="0"/>
              <a:t>/revue-de-l-ires-2008-3-page-145?lang=</a:t>
            </a:r>
            <a:r>
              <a:rPr lang="fr-FR" dirty="0" err="1"/>
              <a:t>fr&amp;utm_source</a:t>
            </a:r>
            <a:r>
              <a:rPr lang="fr-FR" dirty="0"/>
              <a:t>=</a:t>
            </a:r>
            <a:r>
              <a:rPr lang="fr-FR" dirty="0" err="1"/>
              <a:t>chatgpt.com</a:t>
            </a:r>
            <a:endParaRPr lang="fr-FR" dirty="0"/>
          </a:p>
          <a:p>
            <a:endParaRPr lang="fr-FR" dirty="0"/>
          </a:p>
          <a:p>
            <a:r>
              <a:rPr lang="fr-FR" dirty="0"/>
              <a:t>Crise Suède : https://</a:t>
            </a:r>
            <a:r>
              <a:rPr lang="fr-FR" dirty="0" err="1"/>
              <a:t>www.tresor.economie.gouv.fr</a:t>
            </a:r>
            <a:r>
              <a:rPr lang="fr-FR" dirty="0"/>
              <a:t>/Articles/0f9001f5-0599-4574-89cf-5f5fb3e10d9f/files/3dccd55e-2629-4b6b-bcea-9b6b394995bd?utm_source=</a:t>
            </a:r>
            <a:r>
              <a:rPr lang="fr-FR" dirty="0" err="1"/>
              <a:t>chatgpt.com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C20A36-A6D8-EF4D-B99F-04156E9E35C5}" type="slidenum">
              <a:rPr lang="fr-FR" smtClean="0"/>
              <a:t>51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891482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https://</a:t>
            </a:r>
            <a:r>
              <a:rPr lang="fr-FR" dirty="0" err="1"/>
              <a:t>www.pensionsmyndigheten.se</a:t>
            </a:r>
            <a:r>
              <a:rPr lang="fr-FR" dirty="0"/>
              <a:t>/</a:t>
            </a:r>
            <a:r>
              <a:rPr lang="fr-FR" dirty="0" err="1"/>
              <a:t>statistik</a:t>
            </a:r>
            <a:r>
              <a:rPr lang="fr-FR" dirty="0"/>
              <a:t>/</a:t>
            </a:r>
            <a:r>
              <a:rPr lang="fr-FR" dirty="0" err="1"/>
              <a:t>publikationer</a:t>
            </a:r>
            <a:r>
              <a:rPr lang="fr-FR" dirty="0"/>
              <a:t>/orange-report-2020/4-how-the-national-pension-system-works.html</a:t>
            </a:r>
          </a:p>
          <a:p>
            <a:endParaRPr lang="fr-FR" dirty="0"/>
          </a:p>
          <a:p>
            <a:r>
              <a:rPr lang="fr-FR" dirty="0"/>
              <a:t>https://</a:t>
            </a:r>
            <a:r>
              <a:rPr lang="fr-FR" dirty="0" err="1"/>
              <a:t>www.pensionsmyndigheten.se</a:t>
            </a:r>
            <a:r>
              <a:rPr lang="fr-FR" dirty="0"/>
              <a:t>/</a:t>
            </a:r>
            <a:r>
              <a:rPr lang="fr-FR" dirty="0" err="1"/>
              <a:t>statistik</a:t>
            </a:r>
            <a:r>
              <a:rPr lang="fr-FR" dirty="0"/>
              <a:t>/</a:t>
            </a:r>
            <a:r>
              <a:rPr lang="fr-FR" dirty="0" err="1"/>
              <a:t>publikationer</a:t>
            </a:r>
            <a:r>
              <a:rPr lang="fr-FR" dirty="0"/>
              <a:t>/orange-report-2020/orange-report-2020.pdf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C20A36-A6D8-EF4D-B99F-04156E9E35C5}" type="slidenum">
              <a:rPr lang="fr-FR" smtClean="0"/>
              <a:t>52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357576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AP 2 : https://ap2.se/</a:t>
            </a:r>
            <a:r>
              <a:rPr lang="fr-FR" dirty="0" err="1"/>
              <a:t>wp</a:t>
            </a:r>
            <a:r>
              <a:rPr lang="fr-FR" dirty="0"/>
              <a:t>-content/</a:t>
            </a:r>
            <a:r>
              <a:rPr lang="fr-FR" dirty="0" err="1"/>
              <a:t>uploads</a:t>
            </a:r>
            <a:r>
              <a:rPr lang="fr-FR" dirty="0"/>
              <a:t>/2024/02/Annual-report-2023.pdf</a:t>
            </a:r>
          </a:p>
          <a:p>
            <a:endParaRPr lang="fr-FR" dirty="0"/>
          </a:p>
          <a:p>
            <a:r>
              <a:rPr lang="fr-FR" dirty="0"/>
              <a:t>https://</a:t>
            </a:r>
            <a:r>
              <a:rPr lang="fr-FR" dirty="0" err="1"/>
              <a:t>www.amf.se</a:t>
            </a:r>
            <a:r>
              <a:rPr lang="fr-FR" dirty="0"/>
              <a:t>/</a:t>
            </a:r>
            <a:r>
              <a:rPr lang="fr-FR" dirty="0" err="1"/>
              <a:t>globalassets</a:t>
            </a:r>
            <a:r>
              <a:rPr lang="fr-FR" dirty="0"/>
              <a:t>/</a:t>
            </a:r>
            <a:r>
              <a:rPr lang="fr-FR" dirty="0" err="1"/>
              <a:t>pdf</a:t>
            </a:r>
            <a:r>
              <a:rPr lang="fr-FR" dirty="0"/>
              <a:t>/rapporter/amf_annual_report_and_sustainability_report_2022.pdf</a:t>
            </a:r>
          </a:p>
          <a:p>
            <a:endParaRPr lang="fr-FR" dirty="0"/>
          </a:p>
          <a:p>
            <a:r>
              <a:rPr lang="fr-FR" dirty="0"/>
              <a:t>AP1 : https://wwwap1se.cdn.triggerfish.cloud/</a:t>
            </a:r>
            <a:r>
              <a:rPr lang="fr-FR" dirty="0" err="1"/>
              <a:t>uploads</a:t>
            </a:r>
            <a:r>
              <a:rPr lang="fr-FR" dirty="0"/>
              <a:t>/2024/03/ap-fonden-ar-2023-utskrift-eng-0306.pdf</a:t>
            </a:r>
          </a:p>
          <a:p>
            <a:endParaRPr lang="fr-FR" dirty="0"/>
          </a:p>
          <a:p>
            <a:r>
              <a:rPr lang="fr-FR" dirty="0"/>
              <a:t>AP 3: https://</a:t>
            </a:r>
            <a:r>
              <a:rPr lang="fr-FR" dirty="0" err="1"/>
              <a:t>a.storyblok.com</a:t>
            </a:r>
            <a:r>
              <a:rPr lang="fr-FR" dirty="0"/>
              <a:t>/f/257759/x/cb3eb74380/ap3_ar23_eng_print.pdf</a:t>
            </a:r>
          </a:p>
          <a:p>
            <a:endParaRPr lang="fr-FR" dirty="0"/>
          </a:p>
          <a:p>
            <a:r>
              <a:rPr lang="fr-FR" dirty="0"/>
              <a:t>AP 4 :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C20A36-A6D8-EF4D-B99F-04156E9E35C5}" type="slidenum">
              <a:rPr lang="fr-FR" smtClean="0"/>
              <a:t>59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623746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https://</a:t>
            </a:r>
            <a:r>
              <a:rPr lang="fr-FR" dirty="0" err="1"/>
              <a:t>www.thinkingaheadinstitute.org</a:t>
            </a:r>
            <a:r>
              <a:rPr lang="fr-FR" dirty="0"/>
              <a:t>/</a:t>
            </a:r>
            <a:r>
              <a:rPr lang="fr-FR" dirty="0" err="1"/>
              <a:t>research-papers</a:t>
            </a:r>
            <a:r>
              <a:rPr lang="fr-FR" dirty="0"/>
              <a:t>/the-worlds-largest-pension-funds-2023/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C20A36-A6D8-EF4D-B99F-04156E9E35C5}" type="slidenum">
              <a:rPr lang="fr-FR" smtClean="0"/>
              <a:t>60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5357822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C20A36-A6D8-EF4D-B99F-04156E9E35C5}" type="slidenum">
              <a:rPr lang="fr-FR" smtClean="0"/>
              <a:t>66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473819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</a:t>
            </a:r>
            <a:r>
              <a:rPr lang="en-GB" dirty="0" err="1"/>
              <a:t>www.banquedesterritoires.fr</a:t>
            </a:r>
            <a:r>
              <a:rPr lang="en-GB" dirty="0"/>
              <a:t>/le-taux-dattribution-des-logements-sociaux-passe-sous-les-10-en-2024?utm_source=</a:t>
            </a:r>
            <a:r>
              <a:rPr lang="en-GB" dirty="0" err="1"/>
              <a:t>chatgpt.com</a:t>
            </a:r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C20A36-A6D8-EF4D-B99F-04156E9E35C5}" type="slidenum">
              <a:rPr lang="fr-FR" smtClean="0"/>
              <a:t>67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194394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</a:t>
            </a:r>
            <a:r>
              <a:rPr lang="en-GB" dirty="0" err="1"/>
              <a:t>www.insee.fr</a:t>
            </a:r>
            <a:r>
              <a:rPr lang="en-GB" dirty="0"/>
              <a:t>/</a:t>
            </a:r>
            <a:r>
              <a:rPr lang="en-GB" dirty="0" err="1"/>
              <a:t>fr</a:t>
            </a:r>
            <a:r>
              <a:rPr lang="en-GB" dirty="0"/>
              <a:t>/</a:t>
            </a:r>
            <a:r>
              <a:rPr lang="en-GB" dirty="0" err="1"/>
              <a:t>statistiques</a:t>
            </a:r>
            <a:r>
              <a:rPr lang="en-GB" dirty="0"/>
              <a:t>/5432495?sommaire=5435421&amp;utm_source=chatgpt.com#tableau-figure2</a:t>
            </a:r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C20A36-A6D8-EF4D-B99F-04156E9E35C5}" type="slidenum">
              <a:rPr lang="fr-FR" smtClean="0"/>
              <a:t>68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9363457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</a:t>
            </a:r>
            <a:r>
              <a:rPr lang="en-GB" dirty="0" err="1"/>
              <a:t>www.insee.fr</a:t>
            </a:r>
            <a:r>
              <a:rPr lang="en-GB" dirty="0"/>
              <a:t>/</a:t>
            </a:r>
            <a:r>
              <a:rPr lang="en-GB" dirty="0" err="1"/>
              <a:t>fr</a:t>
            </a:r>
            <a:r>
              <a:rPr lang="en-GB" dirty="0"/>
              <a:t>/</a:t>
            </a:r>
            <a:r>
              <a:rPr lang="en-GB" dirty="0" err="1"/>
              <a:t>statistiques</a:t>
            </a:r>
            <a:r>
              <a:rPr lang="en-GB" dirty="0"/>
              <a:t>/5371271?sommaire=5371304#:~:text=Les%20prix%20des%20logements%20anciens,au%203e%20trimestre%202019).</a:t>
            </a:r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C20A36-A6D8-EF4D-B99F-04156E9E35C5}" type="slidenum">
              <a:rPr lang="fr-FR" smtClean="0"/>
              <a:t>69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9507194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FR" dirty="0"/>
              <a:t>P38</a:t>
            </a:r>
          </a:p>
          <a:p>
            <a:endParaRPr lang="en-FR" dirty="0"/>
          </a:p>
          <a:p>
            <a:r>
              <a:rPr lang="en-GB" dirty="0"/>
              <a:t>https://</a:t>
            </a:r>
            <a:r>
              <a:rPr lang="en-GB" dirty="0" err="1"/>
              <a:t>docs.fnaim.fr</a:t>
            </a:r>
            <a:r>
              <a:rPr lang="en-GB" dirty="0"/>
              <a:t>/LABEL/2024/FNAIM-Le-Logement-en-France-et-Europe-2023.pdf</a:t>
            </a:r>
          </a:p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C20A36-A6D8-EF4D-B99F-04156E9E35C5}" type="slidenum">
              <a:rPr lang="fr-FR" smtClean="0"/>
              <a:t>70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073105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C20A36-A6D8-EF4D-B99F-04156E9E35C5}" type="slidenum">
              <a:rPr lang="fr-FR" smtClean="0"/>
              <a:t>79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258751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1" i="1" dirty="0">
                <a:solidFill>
                  <a:srgbClr val="F39C12"/>
                </a:solidFill>
              </a:rPr>
              <a:t>⚠ Mais </a:t>
            </a:r>
            <a:r>
              <a:rPr lang="en-GB" sz="1200" b="1" i="1" dirty="0" err="1">
                <a:solidFill>
                  <a:srgbClr val="F39C12"/>
                </a:solidFill>
              </a:rPr>
              <a:t>ces</a:t>
            </a:r>
            <a:r>
              <a:rPr lang="en-GB" sz="1200" b="1" i="1" dirty="0">
                <a:solidFill>
                  <a:srgbClr val="F39C12"/>
                </a:solidFill>
              </a:rPr>
              <a:t> champions </a:t>
            </a:r>
            <a:r>
              <a:rPr lang="en-GB" sz="1200" b="1" i="1" dirty="0" err="1">
                <a:solidFill>
                  <a:srgbClr val="F39C12"/>
                </a:solidFill>
              </a:rPr>
              <a:t>résistent</a:t>
            </a:r>
            <a:r>
              <a:rPr lang="en-GB" sz="1200" b="1" i="1" dirty="0">
                <a:solidFill>
                  <a:srgbClr val="F39C12"/>
                </a:solidFill>
              </a:rPr>
              <a:t> malgré le </a:t>
            </a:r>
            <a:r>
              <a:rPr lang="en-GB" sz="1200" b="1" i="1" dirty="0" err="1">
                <a:solidFill>
                  <a:srgbClr val="F39C12"/>
                </a:solidFill>
              </a:rPr>
              <a:t>système</a:t>
            </a:r>
            <a:r>
              <a:rPr lang="en-GB" sz="1200" b="1" i="1" dirty="0">
                <a:solidFill>
                  <a:srgbClr val="F39C12"/>
                </a:solidFill>
              </a:rPr>
              <a:t>, pas grâce à </a:t>
            </a:r>
            <a:r>
              <a:rPr lang="en-GB" sz="1200" b="1" i="1" dirty="0" err="1">
                <a:solidFill>
                  <a:srgbClr val="F39C12"/>
                </a:solidFill>
              </a:rPr>
              <a:t>lui</a:t>
            </a:r>
            <a:r>
              <a:rPr lang="en-GB" sz="1200" b="1" i="1" dirty="0">
                <a:solidFill>
                  <a:srgbClr val="F39C12"/>
                </a:solidFill>
              </a:rPr>
              <a:t> : </a:t>
            </a:r>
            <a:r>
              <a:rPr lang="en-GB" sz="1200" b="1" i="1" dirty="0" err="1">
                <a:solidFill>
                  <a:srgbClr val="F39C12"/>
                </a:solidFill>
              </a:rPr>
              <a:t>sièges</a:t>
            </a:r>
            <a:r>
              <a:rPr lang="en-GB" sz="1200" b="1" i="1" dirty="0">
                <a:solidFill>
                  <a:srgbClr val="F39C12"/>
                </a:solidFill>
              </a:rPr>
              <a:t> à </a:t>
            </a:r>
            <a:r>
              <a:rPr lang="en-GB" sz="1200" b="1" i="1" dirty="0" err="1">
                <a:solidFill>
                  <a:srgbClr val="F39C12"/>
                </a:solidFill>
              </a:rPr>
              <a:t>l'étranger</a:t>
            </a:r>
            <a:r>
              <a:rPr lang="en-GB" sz="1200" b="1" i="1" dirty="0">
                <a:solidFill>
                  <a:srgbClr val="F39C12"/>
                </a:solidFill>
              </a:rPr>
              <a:t>, R&amp;D </a:t>
            </a:r>
            <a:r>
              <a:rPr lang="en-GB" sz="1200" b="1" i="1" dirty="0" err="1">
                <a:solidFill>
                  <a:srgbClr val="F39C12"/>
                </a:solidFill>
              </a:rPr>
              <a:t>délocalisée</a:t>
            </a:r>
            <a:r>
              <a:rPr lang="en-GB" sz="1200" b="1" i="1" dirty="0">
                <a:solidFill>
                  <a:srgbClr val="F39C12"/>
                </a:solidFill>
              </a:rPr>
              <a:t>, concurrence </a:t>
            </a:r>
            <a:r>
              <a:rPr lang="en-GB" sz="1200" b="1" i="1" dirty="0" err="1">
                <a:solidFill>
                  <a:srgbClr val="F39C12"/>
                </a:solidFill>
              </a:rPr>
              <a:t>chinoise</a:t>
            </a:r>
            <a:r>
              <a:rPr lang="en-GB" sz="1200" b="1" i="1" dirty="0">
                <a:solidFill>
                  <a:srgbClr val="F39C12"/>
                </a:solidFill>
              </a:rPr>
              <a:t>.</a:t>
            </a:r>
            <a:endParaRPr lang="en-FR" sz="1200" b="1" i="1" dirty="0">
              <a:solidFill>
                <a:srgbClr val="F39C12"/>
              </a:solidFill>
            </a:endParaRPr>
          </a:p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C20A36-A6D8-EF4D-B99F-04156E9E35C5}" type="slidenum">
              <a:rPr lang="fr-FR" smtClean="0"/>
              <a:t>81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378166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C20A36-A6D8-EF4D-B99F-04156E9E35C5}" type="slidenum">
              <a:rPr lang="fr-FR" smtClean="0"/>
              <a:t>82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163865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EEEF5DC-D707-6EA5-72C2-8E2E79DD3C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  <a:latin typeface="Questrial" pitchFamily="2" charset="77"/>
              </a:defRPr>
            </a:lvl1pPr>
          </a:lstStyle>
          <a:p>
            <a:r>
              <a:rPr lang="en-GB"/>
              <a:t>Click to edit Master title style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6EBF78E-651A-7CBA-91AA-AE4BC35ADD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Questrial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D2691B3-07C1-8C58-7EDD-77DB747D1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4DD9A44D-1AFF-BF46-BCE0-DDB9F7A1CD2B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530156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B2F1DA-CDB5-8CC4-4892-783364EEC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E2E79E8-E1F1-F252-ECA0-E11EF6AAB5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1A65B33-AA28-9BF7-0F21-1DCB3278D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fld id="{AC89D6E9-9044-E940-994A-AB3931074BBF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814810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417D78B-F166-1349-604E-6726008AA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71ED397-7368-2987-2657-22E44C81DD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6109DDB-129A-7F25-C1D3-15D84CED7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fld id="{219167F2-4312-F544-A9DF-38E78825945B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336951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7630148-5F80-8945-9029-734265408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249407D-EF29-8FA2-E655-A37BCAACF5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EB4DCEC-6B8A-4D3B-FA4D-A943A07B98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7DF832D-8BE0-C319-4571-E3528B577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fld id="{69845F0F-D9C2-AE41-BCD1-ACA1875F0A6E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DE689A6-8032-3BA1-5D8C-85A582BF4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F868CB-5B44-3E4F-9E7D-17B01CBB6C2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634599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E839C3-46BB-D4BC-BFF0-2C2C6D71A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C258502-D9A5-59C7-5B73-CE080CA450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B6DCC76-60B2-153D-8280-1B5415B3AD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545E742-5D08-6DEB-6BC3-7CD58CA5AA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E904E0E-39AE-5E37-94BE-0FC27B3100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236ADCD9-D22F-5547-D481-0098E3EAB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fld id="{81C5BCAC-E680-0348-8DBA-6AD1DDBF08D7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DC5FDDD7-BDC6-85BC-2ED4-286E72604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F868CB-5B44-3E4F-9E7D-17B01CBB6C2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265352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74D904-513A-726D-D03D-065B0C8D0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725C147-02A1-C989-F0AF-2B48C0B6E9E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8F69055-DCF8-FD05-FC03-C4EBB349A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fld id="{06958E61-9089-1749-ABE7-F7F0B00D2CFD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6B370C3-5BA1-62E8-255B-4AB5C3FF2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F868CB-5B44-3E4F-9E7D-17B01CBB6C2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00681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63AC0F8C-1B45-D4E8-2559-F3559DD06DE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fr-FR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7551064-C0B1-1A6D-FFC1-5A8EA5FA0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fld id="{487B11E9-DBE6-8B42-9EFA-3CA3460CD65E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CF3B6C6-F6D2-5131-08D1-173CAF6B2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F868CB-5B44-3E4F-9E7D-17B01CBB6C2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387388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B4D634E-0D94-F1A0-416A-DD980383A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029FADE-AFD1-A6B5-26D9-F93A1B7F50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5A2B552-D174-CA00-33BE-2765E2F458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A9A6303-4C2C-34E2-96DA-F60483D03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fld id="{D13141F8-D387-FD44-800B-5C4185830235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451048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F6A854-EDF7-0350-5A85-A9F2A07A51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782E2DF1-8E25-391A-C8E4-E6B64D286B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F1B1A0D-2C58-6BC9-839F-4BB1921291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8BCFDC6-FD00-DF92-EC35-CADD752D5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E820782-BACF-5C20-D210-668589E53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fld id="{780601D7-6751-9042-B240-1A87F8D31194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FEE137F-BA83-D56F-F8BC-DDF1B9A27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F868CB-5B44-3E4F-9E7D-17B01CBB6C2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95044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36D962-9417-6C7C-8B90-B08EAE1B7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C2A50FF-9D45-4912-D5AB-86F9A94653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3405174-913D-3EA0-3922-4800630210D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83002FC-B98B-7D10-DF88-88D86E758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fld id="{E9D16A70-E49F-0D44-AEC1-2DDBFA58432A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49012B1-A7FE-C44D-E59C-85778A11B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F868CB-5B44-3E4F-9E7D-17B01CBB6C2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204260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63A20792-ED3E-E095-A98E-EB923458D1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4BE7F01-82CA-9A59-5A70-DF37EBDF82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EB65B3C-4367-7FCE-69B7-4A6A20D373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18FA143-127F-3BFA-9F3A-1176CEDF8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fld id="{9DEDBA53-3E2F-784A-90F4-58DEE86E29E9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8D2737F-322D-F7BF-2342-63DA22E7A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F868CB-5B44-3E4F-9E7D-17B01CBB6C2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66534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rgbClr val="1A3EE2">
                <a:lumMod val="100000"/>
              </a:srgbClr>
            </a:gs>
            <a:gs pos="68000">
              <a:srgbClr val="1923A4"/>
            </a:gs>
            <a:gs pos="4000">
              <a:schemeClr val="tx1"/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7001C13E-9A34-E7AF-F62E-1FFF1DBE8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dirty="0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9B71FDD-3090-8E20-CE8F-8A4DB5899F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AF443F7-E32C-151C-D734-F39835CDC1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C118D4E-C8B3-204D-885A-3A2EC2F95843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69702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Questrial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Questrial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Questrial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Questrial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Questrial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Questrial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4.png"/><Relationship Id="rId3" Type="http://schemas.openxmlformats.org/officeDocument/2006/relationships/chart" Target="../charts/chart7.xml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4.xml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5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chart" Target="../charts/chart16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7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8.xml"/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Les%20re&#769;formes%20re&#769;centes%20des%20re&#769;gimes%20de%20retraite%20sont-elles%20e&#769;quitables%20%252525252525252525252525252525253F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0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9.xml"/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0.xml"/><Relationship Id="rId1" Type="http://schemas.openxmlformats.org/officeDocument/2006/relationships/slideLayout" Target="../slideLayouts/slideLayout8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1.xml"/><Relationship Id="rId1" Type="http://schemas.openxmlformats.org/officeDocument/2006/relationships/slideLayout" Target="../slideLayouts/slideLayout8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2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3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4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5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6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7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8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10" Type="http://schemas.openxmlformats.org/officeDocument/2006/relationships/image" Target="../media/image40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7" Type="http://schemas.openxmlformats.org/officeDocument/2006/relationships/image" Target="../media/image42.png"/><Relationship Id="rId2" Type="http://schemas.microsoft.com/office/2014/relationships/chartEx" Target="../charts/chartEx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1.png"/><Relationship Id="rId4" Type="http://schemas.openxmlformats.org/officeDocument/2006/relationships/image" Target="../media/image41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9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0.xml"/><Relationship Id="rId1" Type="http://schemas.openxmlformats.org/officeDocument/2006/relationships/slideLayout" Target="../slideLayouts/slideLayout8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1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2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4" Type="http://schemas.openxmlformats.org/officeDocument/2006/relationships/chart" Target="../charts/chart33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4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5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36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chart" Target="../charts/chart37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38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9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hyperlink" Target="https://ideas.repec.org/s/eee/labeco.html" TargetMode="External"/><Relationship Id="rId2" Type="http://schemas.openxmlformats.org/officeDocument/2006/relationships/hyperlink" Target="https://ideas.repec.org/a/eee/labeco/v13y2006i6p747-771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40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1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44.xml"/><Relationship Id="rId5" Type="http://schemas.openxmlformats.org/officeDocument/2006/relationships/chart" Target="../charts/chart43.xml"/><Relationship Id="rId4" Type="http://schemas.openxmlformats.org/officeDocument/2006/relationships/chart" Target="../charts/chart4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AF3C9C9-5DC0-8B35-AFAC-7721965EC3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28699" y="1512278"/>
            <a:ext cx="10480431" cy="2883876"/>
          </a:xfrm>
        </p:spPr>
        <p:txBody>
          <a:bodyPr>
            <a:normAutofit/>
          </a:bodyPr>
          <a:lstStyle/>
          <a:p>
            <a:r>
              <a:rPr lang="fr-FR" sz="8800" b="1" dirty="0">
                <a:solidFill>
                  <a:schemeClr val="bg1"/>
                </a:solidFill>
              </a:rPr>
              <a:t>IFP</a:t>
            </a:r>
            <a:br>
              <a:rPr lang="fr-FR" sz="8800" b="1" dirty="0">
                <a:solidFill>
                  <a:schemeClr val="bg1"/>
                </a:solidFill>
              </a:rPr>
            </a:br>
            <a:r>
              <a:rPr lang="fr-FR" sz="2000" b="1" dirty="0">
                <a:solidFill>
                  <a:schemeClr val="bg1"/>
                </a:solidFill>
              </a:rPr>
              <a:t>2 mai 2026</a:t>
            </a:r>
            <a:br>
              <a:rPr lang="fr-FR" sz="2000" b="1" dirty="0">
                <a:solidFill>
                  <a:schemeClr val="bg1"/>
                </a:solidFill>
              </a:rPr>
            </a:br>
            <a:r>
              <a:rPr lang="fr-FR" sz="2000" b="1" dirty="0">
                <a:solidFill>
                  <a:schemeClr val="bg1"/>
                </a:solidFill>
              </a:rPr>
              <a:t>Emmanuel Blézès</a:t>
            </a:r>
            <a:endParaRPr lang="fr-FR" sz="8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50329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45080-2D95-B27A-3700-36CE6CBEF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b="1" dirty="0">
                <a:solidFill>
                  <a:srgbClr val="FFFFFF"/>
                </a:solidFill>
              </a:rPr>
              <a:t>PIB par habitant : la France 11ᵉ de </a:t>
            </a:r>
            <a:r>
              <a:rPr lang="en-GB" sz="3600" b="1" dirty="0" err="1">
                <a:solidFill>
                  <a:srgbClr val="FFFFFF"/>
                </a:solidFill>
              </a:rPr>
              <a:t>l'UE</a:t>
            </a:r>
            <a:r>
              <a:rPr lang="en-GB" sz="3600" b="1" dirty="0">
                <a:solidFill>
                  <a:srgbClr val="FFFFFF"/>
                </a:solidFill>
              </a:rPr>
              <a:t>, 4ᵉ </a:t>
            </a:r>
            <a:r>
              <a:rPr lang="en-GB" sz="3600" b="1" dirty="0" err="1">
                <a:solidFill>
                  <a:srgbClr val="FFFFFF"/>
                </a:solidFill>
              </a:rPr>
              <a:t>année</a:t>
            </a:r>
            <a:r>
              <a:rPr lang="en-GB" sz="3600" b="1" dirty="0">
                <a:solidFill>
                  <a:srgbClr val="FFFFFF"/>
                </a:solidFill>
              </a:rPr>
              <a:t> </a:t>
            </a:r>
            <a:r>
              <a:rPr lang="en-GB" sz="3600" b="1" dirty="0" err="1">
                <a:solidFill>
                  <a:srgbClr val="FFFFFF"/>
                </a:solidFill>
              </a:rPr>
              <a:t>consécutive</a:t>
            </a:r>
            <a:r>
              <a:rPr lang="en-GB" sz="3600" b="1" dirty="0">
                <a:solidFill>
                  <a:srgbClr val="FFFFFF"/>
                </a:solidFill>
              </a:rPr>
              <a:t> sous la </a:t>
            </a:r>
            <a:r>
              <a:rPr lang="en-GB" sz="3600" b="1" dirty="0" err="1">
                <a:solidFill>
                  <a:srgbClr val="FFFFFF"/>
                </a:solidFill>
              </a:rPr>
              <a:t>moyenne</a:t>
            </a:r>
            <a:endParaRPr lang="en-FR" sz="3600" b="1" dirty="0">
              <a:solidFill>
                <a:srgbClr val="FFFFFF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A7C4BF1-E207-F575-306B-F138F80B8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868CB-5B44-3E4F-9E7D-17B01CBB6C29}" type="slidenum">
              <a:rPr lang="fr-FR" smtClean="0"/>
              <a:t>2</a:t>
            </a:fld>
            <a:endParaRPr lang="fr-FR"/>
          </a:p>
        </p:txBody>
      </p:sp>
      <p:graphicFrame>
        <p:nvGraphicFramePr>
          <p:cNvPr id="201" name="Chart 1"/>
          <p:cNvGraphicFramePr/>
          <p:nvPr>
            <p:extLst>
              <p:ext uri="{D42A27DB-BD31-4B8C-83A1-F6EECF244321}">
                <p14:modId xmlns:p14="http://schemas.microsoft.com/office/powerpoint/2010/main" val="3084458873"/>
              </p:ext>
            </p:extLst>
          </p:nvPr>
        </p:nvGraphicFramePr>
        <p:xfrm>
          <a:off x="838200" y="1739900"/>
          <a:ext cx="105156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BD4FC5D-5997-9749-A055-2B49A35532F3}"/>
              </a:ext>
            </a:extLst>
          </p:cNvPr>
          <p:cNvSpPr txBox="1"/>
          <p:nvPr/>
        </p:nvSpPr>
        <p:spPr>
          <a:xfrm>
            <a:off x="838200" y="6388100"/>
            <a:ext cx="762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100" i="1">
                <a:solidFill>
                  <a:srgbClr val="95A5A6"/>
                </a:solidFill>
              </a:rPr>
              <a:t>Source : Eurostat, premières estimations 2025 (PIB/habitant en SPA)</a:t>
            </a:r>
            <a:endParaRPr lang="en-FR" sz="1100" i="1">
              <a:solidFill>
                <a:srgbClr val="95A5A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5836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A5368-C34D-7097-5CE7-DD2B0C6AF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588A26-DAF4-01A9-348D-D295357F8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868CB-5B44-3E4F-9E7D-17B01CBB6C29}" type="slidenum">
              <a:rPr lang="fr-FR" smtClean="0"/>
              <a:t>3</a:t>
            </a:fld>
            <a:endParaRPr lang="fr-FR"/>
          </a:p>
        </p:txBody>
      </p:sp>
      <p:pic>
        <p:nvPicPr>
          <p:cNvPr id="4" name="Picture 3" descr="A graph of a graph&#10;&#10;AI-generated content may be incorrect.">
            <a:extLst>
              <a:ext uri="{FF2B5EF4-FFF2-40B4-BE49-F238E27FC236}">
                <a16:creationId xmlns:a16="http://schemas.microsoft.com/office/drawing/2014/main" id="{0E13BF8F-21CE-4FC9-8FE8-8753C98B6D4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5087" y="29367"/>
            <a:ext cx="7902531" cy="6692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528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4E7B7-0DBE-6D01-DC68-DEA1AF982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800" b="1">
                <a:solidFill>
                  <a:srgbClr val="FFFFFF"/>
                </a:solidFill>
              </a:rPr>
              <a:t>La désindustrialisation : l'industrie n'est plus que 10 % du PIB</a:t>
            </a:r>
            <a:endParaRPr lang="en-FR" sz="2800" b="1">
              <a:solidFill>
                <a:srgbClr val="FFFFFF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B401536-767D-5301-995B-16A3370C2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868CB-5B44-3E4F-9E7D-17B01CBB6C29}" type="slidenum">
              <a:rPr lang="fr-FR" smtClean="0"/>
              <a:t>4</a:t>
            </a:fld>
            <a:endParaRPr lang="fr-FR"/>
          </a:p>
        </p:txBody>
      </p:sp>
      <p:graphicFrame>
        <p:nvGraphicFramePr>
          <p:cNvPr id="201" name="Chart 1"/>
          <p:cNvGraphicFramePr/>
          <p:nvPr>
            <p:extLst>
              <p:ext uri="{D42A27DB-BD31-4B8C-83A1-F6EECF244321}">
                <p14:modId xmlns:p14="http://schemas.microsoft.com/office/powerpoint/2010/main" val="1314530981"/>
              </p:ext>
            </p:extLst>
          </p:nvPr>
        </p:nvGraphicFramePr>
        <p:xfrm>
          <a:off x="838200" y="1739900"/>
          <a:ext cx="60960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D901E5B-5F9F-5647-84FF-C90103C7A598}"/>
              </a:ext>
            </a:extLst>
          </p:cNvPr>
          <p:cNvSpPr txBox="1"/>
          <p:nvPr/>
        </p:nvSpPr>
        <p:spPr>
          <a:xfrm>
            <a:off x="7446706" y="2664951"/>
            <a:ext cx="43180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8800" b="1" dirty="0">
                <a:solidFill>
                  <a:srgbClr val="C00000"/>
                </a:solidFill>
              </a:rPr>
              <a:t>− 2,5 M</a:t>
            </a:r>
            <a:endParaRPr lang="en-FR" sz="8800" b="1" dirty="0">
              <a:solidFill>
                <a:srgbClr val="C0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33BF3F-064C-484B-BD6C-401D60080190}"/>
              </a:ext>
            </a:extLst>
          </p:cNvPr>
          <p:cNvSpPr txBox="1"/>
          <p:nvPr/>
        </p:nvSpPr>
        <p:spPr>
          <a:xfrm>
            <a:off x="7446706" y="3998451"/>
            <a:ext cx="4318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en-GB" sz="3200" b="1" dirty="0" err="1">
                <a:solidFill>
                  <a:srgbClr val="FFFFFF"/>
                </a:solidFill>
              </a:rPr>
              <a:t>emplois</a:t>
            </a:r>
            <a:r>
              <a:rPr lang="en-GB" sz="3200" b="1" dirty="0">
                <a:solidFill>
                  <a:srgbClr val="FFFFFF"/>
                </a:solidFill>
              </a:rPr>
              <a:t> </a:t>
            </a:r>
            <a:r>
              <a:rPr lang="en-GB" sz="3200" b="1" dirty="0" err="1">
                <a:solidFill>
                  <a:srgbClr val="FFFFFF"/>
                </a:solidFill>
              </a:rPr>
              <a:t>industriels</a:t>
            </a:r>
            <a:r>
              <a:rPr lang="en-GB" sz="3200" b="1" dirty="0">
                <a:solidFill>
                  <a:srgbClr val="FFFFFF"/>
                </a:solidFill>
              </a:rPr>
              <a:t> perdus</a:t>
            </a:r>
            <a:endParaRPr lang="en-FR" sz="3200" b="1" dirty="0">
              <a:solidFill>
                <a:srgbClr val="FFFFFF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03789F-04EF-B14F-BC89-2942CC56D4B9}"/>
              </a:ext>
            </a:extLst>
          </p:cNvPr>
          <p:cNvSpPr txBox="1"/>
          <p:nvPr/>
        </p:nvSpPr>
        <p:spPr>
          <a:xfrm>
            <a:off x="7446706" y="5050400"/>
            <a:ext cx="431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en-GB" sz="2400" i="1" dirty="0" err="1">
                <a:solidFill>
                  <a:srgbClr val="BDC3C7"/>
                </a:solidFill>
              </a:rPr>
              <a:t>Depuis</a:t>
            </a:r>
            <a:r>
              <a:rPr lang="en-GB" sz="2400" i="1" dirty="0">
                <a:solidFill>
                  <a:srgbClr val="BDC3C7"/>
                </a:solidFill>
              </a:rPr>
              <a:t> 1974</a:t>
            </a:r>
            <a:endParaRPr lang="en-FR" sz="2400" i="1" dirty="0">
              <a:solidFill>
                <a:srgbClr val="BDC3C7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9D4B4C-14CC-6E44-874B-1DD2872DFC47}"/>
              </a:ext>
            </a:extLst>
          </p:cNvPr>
          <p:cNvSpPr txBox="1"/>
          <p:nvPr/>
        </p:nvSpPr>
        <p:spPr>
          <a:xfrm>
            <a:off x="838200" y="6388100"/>
            <a:ext cx="762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100" i="1">
                <a:solidFill>
                  <a:srgbClr val="95A5A6"/>
                </a:solidFill>
              </a:rPr>
              <a:t>Sources : Eurostat, INSEE, Banque de France</a:t>
            </a:r>
            <a:endParaRPr lang="en-FR" sz="1100" i="1">
              <a:solidFill>
                <a:srgbClr val="95A5A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65865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B992C-2FB6-64F5-978D-864D7EEB1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R" dirty="0"/>
              <a:t>La France est un guichet social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B2DD53-DAB6-6A4D-2C38-5A92C9A787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FR" dirty="0"/>
              <a:t>Panorama dépense publique</a:t>
            </a:r>
          </a:p>
          <a:p>
            <a:r>
              <a:rPr lang="en-FR" dirty="0"/>
              <a:t>Fiscalité</a:t>
            </a:r>
          </a:p>
          <a:p>
            <a:r>
              <a:rPr lang="en-FR" dirty="0"/>
              <a:t>Dépense sociale </a:t>
            </a:r>
          </a:p>
          <a:p>
            <a:r>
              <a:rPr lang="en-FR" dirty="0"/>
              <a:t>Retraites</a:t>
            </a:r>
          </a:p>
          <a:p>
            <a:r>
              <a:rPr lang="en-FR" dirty="0"/>
              <a:t>Retraite par capitalisation</a:t>
            </a:r>
          </a:p>
          <a:p>
            <a:r>
              <a:rPr lang="en-FR" dirty="0"/>
              <a:t>Politique du logement</a:t>
            </a:r>
          </a:p>
          <a:p>
            <a:r>
              <a:rPr lang="en-FR" dirty="0"/>
              <a:t>Inspirations étrangères</a:t>
            </a:r>
          </a:p>
        </p:txBody>
      </p:sp>
    </p:spTree>
    <p:extLst>
      <p:ext uri="{BB962C8B-B14F-4D97-AF65-F5344CB8AC3E}">
        <p14:creationId xmlns:p14="http://schemas.microsoft.com/office/powerpoint/2010/main" val="37107083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1DBCC-255F-74BB-9A0A-AEB16B5E3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R" dirty="0"/>
              <a:t>Panorama de la dépense publique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0D49BA-B105-9338-FD1A-E6EB648BAD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6129218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07228-E83D-FED0-B63A-E87640211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R" dirty="0"/>
              <a:t>La France a le taux de dépenses publiques le plus élevé d’Europe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155D7B42-2FC6-24FB-24C4-35A59A7F43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49415546"/>
              </p:ext>
            </p:extLst>
          </p:nvPr>
        </p:nvGraphicFramePr>
        <p:xfrm>
          <a:off x="936171" y="1823788"/>
          <a:ext cx="10613571" cy="43330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E47C43E-9B7F-B00D-D8B3-2588AA6AE675}"/>
              </a:ext>
            </a:extLst>
          </p:cNvPr>
          <p:cNvSpPr txBox="1"/>
          <p:nvPr/>
        </p:nvSpPr>
        <p:spPr>
          <a:xfrm>
            <a:off x="5676447" y="6289916"/>
            <a:ext cx="1669461" cy="2276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R" sz="879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Source : Eurostat</a:t>
            </a:r>
          </a:p>
        </p:txBody>
      </p:sp>
    </p:spTree>
    <p:extLst>
      <p:ext uri="{BB962C8B-B14F-4D97-AF65-F5344CB8AC3E}">
        <p14:creationId xmlns:p14="http://schemas.microsoft.com/office/powerpoint/2010/main" val="30451697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BEC47-04F2-7B6E-18AF-75D6FF379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FR" dirty="0"/>
              <a:t>Volume de dépenses publiques FR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4BFDC-3CC6-7B0A-EF22-384891A88D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86906"/>
            <a:ext cx="10515600" cy="357368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FR" sz="7200" dirty="0"/>
              <a:t>3000 Md€ x 57% PIB </a:t>
            </a:r>
          </a:p>
          <a:p>
            <a:pPr marL="0" indent="0" algn="ctr">
              <a:buNone/>
            </a:pPr>
            <a:r>
              <a:rPr lang="en-FR" sz="7200" dirty="0"/>
              <a:t>= </a:t>
            </a:r>
          </a:p>
          <a:p>
            <a:pPr marL="0" indent="0" algn="ctr">
              <a:buNone/>
            </a:pPr>
            <a:r>
              <a:rPr lang="en-FR" sz="7200" dirty="0"/>
              <a:t>1700 Md€</a:t>
            </a:r>
          </a:p>
        </p:txBody>
      </p:sp>
    </p:spTree>
    <p:extLst>
      <p:ext uri="{BB962C8B-B14F-4D97-AF65-F5344CB8AC3E}">
        <p14:creationId xmlns:p14="http://schemas.microsoft.com/office/powerpoint/2010/main" val="7084030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E400A-ACCC-1C03-56BD-33A2393A7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R" dirty="0"/>
              <a:t>La France n’a pas eu de budget à l’équilibre depuis 1974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3BFA7811-66C8-34D4-EFAB-FB624ADF6F6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83173422"/>
              </p:ext>
            </p:extLst>
          </p:nvPr>
        </p:nvGraphicFramePr>
        <p:xfrm>
          <a:off x="1175658" y="2035332"/>
          <a:ext cx="10406743" cy="40047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B5F38D6-14CE-1261-16AB-C5B1E27C873B}"/>
              </a:ext>
            </a:extLst>
          </p:cNvPr>
          <p:cNvSpPr txBox="1"/>
          <p:nvPr/>
        </p:nvSpPr>
        <p:spPr>
          <a:xfrm>
            <a:off x="6096000" y="6384704"/>
            <a:ext cx="2468143" cy="2163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R" sz="806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Source : Insee</a:t>
            </a:r>
          </a:p>
        </p:txBody>
      </p:sp>
    </p:spTree>
    <p:extLst>
      <p:ext uri="{BB962C8B-B14F-4D97-AF65-F5344CB8AC3E}">
        <p14:creationId xmlns:p14="http://schemas.microsoft.com/office/powerpoint/2010/main" val="454404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197F4-9252-B647-4087-F30FA2D66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R" dirty="0"/>
              <a:t>170 Md€ : la France a le déficit public le plus élevé de la zone euro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EA456B4F-4F5C-079E-79A3-5E756B8DD89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44582725"/>
              </p:ext>
            </p:extLst>
          </p:nvPr>
        </p:nvGraphicFramePr>
        <p:xfrm>
          <a:off x="838200" y="1735354"/>
          <a:ext cx="10657114" cy="45658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DA75FBBA-5306-323E-63B1-9FBF4E639901}"/>
              </a:ext>
            </a:extLst>
          </p:cNvPr>
          <p:cNvSpPr txBox="1"/>
          <p:nvPr/>
        </p:nvSpPr>
        <p:spPr>
          <a:xfrm>
            <a:off x="5719587" y="6301192"/>
            <a:ext cx="1048651" cy="2163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R" sz="806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Source : Eurostat</a:t>
            </a:r>
          </a:p>
        </p:txBody>
      </p:sp>
    </p:spTree>
    <p:extLst>
      <p:ext uri="{BB962C8B-B14F-4D97-AF65-F5344CB8AC3E}">
        <p14:creationId xmlns:p14="http://schemas.microsoft.com/office/powerpoint/2010/main" val="15948887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AF1A1-E5B7-6FC4-6F3B-E0DBF1078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FR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2810899-DE8E-DA7E-F6E5-CD84437D9E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53836" y="144746"/>
            <a:ext cx="6179261" cy="6568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7824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5F183-FE04-9259-6C80-20F250089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360" y="17578"/>
            <a:ext cx="10949247" cy="1325563"/>
          </a:xfrm>
        </p:spPr>
        <p:txBody>
          <a:bodyPr/>
          <a:lstStyle/>
          <a:p>
            <a:r>
              <a:rPr lang="en-FR" dirty="0"/>
              <a:t>Les intérêts de la dette augmentent</a:t>
            </a:r>
          </a:p>
        </p:txBody>
      </p:sp>
      <p:pic>
        <p:nvPicPr>
          <p:cNvPr id="3" name="Picture 2" descr="Image">
            <a:extLst>
              <a:ext uri="{FF2B5EF4-FFF2-40B4-BE49-F238E27FC236}">
                <a16:creationId xmlns:a16="http://schemas.microsoft.com/office/drawing/2014/main" id="{DE0BD37E-8739-795F-E152-421A433069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5065" y="1137400"/>
            <a:ext cx="5227542" cy="5561214"/>
          </a:xfrm>
          <a:prstGeom prst="rect">
            <a:avLst/>
          </a:prstGeom>
        </p:spPr>
      </p:pic>
      <p:pic>
        <p:nvPicPr>
          <p:cNvPr id="5" name="Picture 4" descr="Image">
            <a:extLst>
              <a:ext uri="{FF2B5EF4-FFF2-40B4-BE49-F238E27FC236}">
                <a16:creationId xmlns:a16="http://schemas.microsoft.com/office/drawing/2014/main" id="{F55C8BC9-07B3-54E3-6816-DDD215331F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360" y="1137400"/>
            <a:ext cx="5227542" cy="5561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4825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55078-3000-AA4C-792D-05E0E5529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FR" dirty="0"/>
              <a:t>La dépense sociale représente près de 60% de la dépense publique totale en France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FEBBD4E-A49A-BDD0-7B42-5787294321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29587668"/>
              </p:ext>
            </p:extLst>
          </p:nvPr>
        </p:nvGraphicFramePr>
        <p:xfrm>
          <a:off x="1796142" y="1826163"/>
          <a:ext cx="8882743" cy="43502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0B2A300-48DF-2011-55A0-B9BF7F114B48}"/>
              </a:ext>
            </a:extLst>
          </p:cNvPr>
          <p:cNvSpPr txBox="1"/>
          <p:nvPr/>
        </p:nvSpPr>
        <p:spPr>
          <a:xfrm>
            <a:off x="5794469" y="6408309"/>
            <a:ext cx="223748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R" sz="9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Source : OCDE (2023)</a:t>
            </a:r>
          </a:p>
        </p:txBody>
      </p:sp>
    </p:spTree>
    <p:extLst>
      <p:ext uri="{BB962C8B-B14F-4D97-AF65-F5344CB8AC3E}">
        <p14:creationId xmlns:p14="http://schemas.microsoft.com/office/powerpoint/2010/main" val="30931107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AAA22-6526-5464-AA48-E5012DDFB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FR" dirty="0"/>
              <a:t>Les Etats-Unis et la Chine sont les pays qui investissent le plus pour leur défense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7FA115F-85D1-3097-BDE0-3663D6A71E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20847632"/>
              </p:ext>
            </p:extLst>
          </p:nvPr>
        </p:nvGraphicFramePr>
        <p:xfrm>
          <a:off x="3821184" y="1825686"/>
          <a:ext cx="6178222" cy="42308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9AFBB77-7850-ACCA-DB49-94DA7D4D840C}"/>
              </a:ext>
            </a:extLst>
          </p:cNvPr>
          <p:cNvSpPr txBox="1"/>
          <p:nvPr/>
        </p:nvSpPr>
        <p:spPr>
          <a:xfrm>
            <a:off x="5494258" y="6391395"/>
            <a:ext cx="1203485" cy="2051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R" sz="733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Source : SIPRI, 2024</a:t>
            </a:r>
          </a:p>
        </p:txBody>
      </p:sp>
      <p:pic>
        <p:nvPicPr>
          <p:cNvPr id="3" name="Picture 2" descr="A flag with a star&#10;&#10;AI-generated content may be incorrect.">
            <a:extLst>
              <a:ext uri="{FF2B5EF4-FFF2-40B4-BE49-F238E27FC236}">
                <a16:creationId xmlns:a16="http://schemas.microsoft.com/office/drawing/2014/main" id="{5CF69316-947D-9E47-340F-1AE3BA6ED0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8157" y="2622550"/>
            <a:ext cx="378370" cy="244491"/>
          </a:xfrm>
          <a:prstGeom prst="rect">
            <a:avLst/>
          </a:prstGeom>
        </p:spPr>
      </p:pic>
      <p:pic>
        <p:nvPicPr>
          <p:cNvPr id="6" name="Picture 5" descr="A flag with stars and stripes&#10;&#10;AI-generated content may be incorrect.">
            <a:extLst>
              <a:ext uri="{FF2B5EF4-FFF2-40B4-BE49-F238E27FC236}">
                <a16:creationId xmlns:a16="http://schemas.microsoft.com/office/drawing/2014/main" id="{A4B9603D-0978-EF33-600A-A5C529CD36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32198" y="2228605"/>
            <a:ext cx="373523" cy="226987"/>
          </a:xfrm>
          <a:prstGeom prst="rect">
            <a:avLst/>
          </a:prstGeom>
        </p:spPr>
      </p:pic>
      <p:pic>
        <p:nvPicPr>
          <p:cNvPr id="7" name="Picture 6" descr="A flag with a cross with Great Britain in the background&#10;&#10;AI-generated content may be incorrect.">
            <a:extLst>
              <a:ext uri="{FF2B5EF4-FFF2-40B4-BE49-F238E27FC236}">
                <a16:creationId xmlns:a16="http://schemas.microsoft.com/office/drawing/2014/main" id="{07CDABD0-4B59-DF1A-E22E-9530873055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3796" y="4144408"/>
            <a:ext cx="404193" cy="218169"/>
          </a:xfrm>
          <a:prstGeom prst="rect">
            <a:avLst/>
          </a:prstGeom>
        </p:spPr>
      </p:pic>
      <p:pic>
        <p:nvPicPr>
          <p:cNvPr id="8" name="Picture 7" descr="A flag of the russian federation&#10;&#10;AI-generated content may be incorrect.">
            <a:extLst>
              <a:ext uri="{FF2B5EF4-FFF2-40B4-BE49-F238E27FC236}">
                <a16:creationId xmlns:a16="http://schemas.microsoft.com/office/drawing/2014/main" id="{454A73B7-2D67-E445-C4C4-9CA2092B56C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44261" y="3002037"/>
            <a:ext cx="340615" cy="226988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F94C8FF7-4C2D-CCF7-42F2-F48E10AFE9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40170" y="4514568"/>
            <a:ext cx="381058" cy="254039"/>
          </a:xfrm>
          <a:prstGeom prst="rect">
            <a:avLst/>
          </a:prstGeom>
        </p:spPr>
      </p:pic>
      <p:pic>
        <p:nvPicPr>
          <p:cNvPr id="10" name="Picture 9" descr="A red white and blue flag&#10;&#10;AI-generated content may be incorrect.">
            <a:extLst>
              <a:ext uri="{FF2B5EF4-FFF2-40B4-BE49-F238E27FC236}">
                <a16:creationId xmlns:a16="http://schemas.microsoft.com/office/drawing/2014/main" id="{697A7962-F3CD-BAB6-36DE-C69B6F960C4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18960" y="4877596"/>
            <a:ext cx="340615" cy="247692"/>
          </a:xfrm>
          <a:prstGeom prst="rect">
            <a:avLst/>
          </a:prstGeom>
        </p:spPr>
      </p:pic>
      <p:pic>
        <p:nvPicPr>
          <p:cNvPr id="11" name="Picture 10" descr="A flag with red and yellow stripes&#10;&#10;AI-generated content may be incorrect.">
            <a:extLst>
              <a:ext uri="{FF2B5EF4-FFF2-40B4-BE49-F238E27FC236}">
                <a16:creationId xmlns:a16="http://schemas.microsoft.com/office/drawing/2014/main" id="{1A9A9886-8E7B-8D00-0012-FD5D4E85B13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21227" y="3382683"/>
            <a:ext cx="376698" cy="226019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7D1DD1C2-950C-53CE-A54F-967F4506E8F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292880" y="5270275"/>
            <a:ext cx="340615" cy="20428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52EFA54C-E2D7-9042-30CF-36BA164668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489267" y="3774303"/>
            <a:ext cx="340615" cy="227077"/>
          </a:xfrm>
          <a:prstGeom prst="rect">
            <a:avLst/>
          </a:prstGeom>
        </p:spPr>
      </p:pic>
      <p:pic>
        <p:nvPicPr>
          <p:cNvPr id="14" name="Picture 13" descr="A red circle with white background&#10;&#10;AI-generated content may be incorrect.">
            <a:extLst>
              <a:ext uri="{FF2B5EF4-FFF2-40B4-BE49-F238E27FC236}">
                <a16:creationId xmlns:a16="http://schemas.microsoft.com/office/drawing/2014/main" id="{C2F5D374-851B-56F6-7F11-9703401D326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44261" y="5641513"/>
            <a:ext cx="373523" cy="248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9627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645B2-9E9B-C71A-7D5A-4FA4EA151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FR" dirty="0"/>
              <a:t>Les dépenses sociales de la France sont particulièrement élevées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E7C8733-8D00-8A33-E870-8A3BDE00092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39491565"/>
              </p:ext>
            </p:extLst>
          </p:nvPr>
        </p:nvGraphicFramePr>
        <p:xfrm>
          <a:off x="2378296" y="1690688"/>
          <a:ext cx="8082875" cy="42044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CBC9F9D-6FD5-FFAE-4CBB-738E95058B67}"/>
              </a:ext>
            </a:extLst>
          </p:cNvPr>
          <p:cNvSpPr txBox="1"/>
          <p:nvPr/>
        </p:nvSpPr>
        <p:spPr>
          <a:xfrm>
            <a:off x="5953784" y="6299104"/>
            <a:ext cx="223748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R" sz="11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Source : OCDE (2023)</a:t>
            </a:r>
          </a:p>
        </p:txBody>
      </p:sp>
    </p:spTree>
    <p:extLst>
      <p:ext uri="{BB962C8B-B14F-4D97-AF65-F5344CB8AC3E}">
        <p14:creationId xmlns:p14="http://schemas.microsoft.com/office/powerpoint/2010/main" val="4725011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B47A7-A324-F080-BE23-41A8ED5C9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FR" dirty="0"/>
              <a:t>La France représente 0,8% de la population mais 5% des dépenses sociales mondiales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37A5AF3-E038-046F-B5CE-24EDB666F00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40239007"/>
              </p:ext>
            </p:extLst>
          </p:nvPr>
        </p:nvGraphicFramePr>
        <p:xfrm>
          <a:off x="3272033" y="2296007"/>
          <a:ext cx="6290257" cy="37687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8CACA524-A93C-650F-E244-D852A268000A}"/>
              </a:ext>
            </a:extLst>
          </p:cNvPr>
          <p:cNvSpPr/>
          <p:nvPr/>
        </p:nvSpPr>
        <p:spPr>
          <a:xfrm>
            <a:off x="-5122983" y="82947"/>
            <a:ext cx="4850920" cy="23392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sz="1319" u="sng" dirty="0"/>
              <a:t>Méthode de calcul</a:t>
            </a:r>
          </a:p>
          <a:p>
            <a:pPr algn="ctr"/>
            <a:endParaRPr lang="en-FR" sz="1319" dirty="0"/>
          </a:p>
          <a:p>
            <a:pPr marL="209369" indent="-209369" algn="ctr">
              <a:buFontTx/>
              <a:buChar char="-"/>
            </a:pPr>
            <a:r>
              <a:rPr lang="en-FR" sz="1319" dirty="0"/>
              <a:t>PIB Monde= 111 250 milliards USD (2024) </a:t>
            </a:r>
          </a:p>
          <a:p>
            <a:pPr marL="209369" indent="-209369" algn="ctr">
              <a:buFontTx/>
              <a:buChar char="-"/>
            </a:pPr>
            <a:r>
              <a:rPr lang="en-FR" sz="1319" dirty="0"/>
              <a:t>PIB France = 3 162 milliards  USD (2024)</a:t>
            </a:r>
          </a:p>
          <a:p>
            <a:pPr marL="209369" indent="-209369" algn="ctr">
              <a:buFontTx/>
              <a:buChar char="-"/>
            </a:pPr>
            <a:endParaRPr lang="en-FR" sz="1319" dirty="0"/>
          </a:p>
          <a:p>
            <a:pPr marL="209369" indent="-209369" algn="ctr">
              <a:buFontTx/>
              <a:buChar char="-"/>
            </a:pPr>
            <a:r>
              <a:rPr lang="en-FR" sz="1319" dirty="0"/>
              <a:t>Dépense publique Monde = 19,3%*PIB Monde = 21 471 </a:t>
            </a:r>
          </a:p>
          <a:p>
            <a:pPr marL="209369" indent="-209369" algn="ctr">
              <a:buFontTx/>
              <a:buChar char="-"/>
            </a:pPr>
            <a:r>
              <a:rPr lang="en-FR" sz="1319" dirty="0"/>
              <a:t>Dépense publique France = 34,1%*PIB France = 1078</a:t>
            </a:r>
          </a:p>
          <a:p>
            <a:pPr marL="209369" indent="-209369" algn="ctr">
              <a:buFontTx/>
              <a:buChar char="-"/>
            </a:pPr>
            <a:endParaRPr lang="en-FR" sz="1319" dirty="0"/>
          </a:p>
          <a:p>
            <a:pPr marL="209369" indent="-209369" algn="ctr">
              <a:buFontTx/>
              <a:buChar char="-"/>
            </a:pPr>
            <a:endParaRPr lang="en-FR" sz="1319" dirty="0"/>
          </a:p>
          <a:p>
            <a:pPr marL="209369" indent="-209369" algn="ctr">
              <a:buFontTx/>
              <a:buChar char="-"/>
            </a:pPr>
            <a:r>
              <a:rPr lang="en-FR" sz="1319" dirty="0"/>
              <a:t>Ratio =  1078/21471 = 5%</a:t>
            </a:r>
          </a:p>
          <a:p>
            <a:pPr marL="209369" indent="-209369" algn="ctr">
              <a:buFontTx/>
              <a:buChar char="-"/>
            </a:pPr>
            <a:endParaRPr lang="en-FR" sz="1319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41010D-411D-B0D6-0ECD-6F6DC7BB9D0E}"/>
              </a:ext>
            </a:extLst>
          </p:cNvPr>
          <p:cNvSpPr txBox="1"/>
          <p:nvPr/>
        </p:nvSpPr>
        <p:spPr>
          <a:xfrm>
            <a:off x="5601206" y="6323743"/>
            <a:ext cx="2237484" cy="193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R" sz="659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Sources : OIT, Banque mondiale</a:t>
            </a:r>
          </a:p>
        </p:txBody>
      </p:sp>
    </p:spTree>
    <p:extLst>
      <p:ext uri="{BB962C8B-B14F-4D97-AF65-F5344CB8AC3E}">
        <p14:creationId xmlns:p14="http://schemas.microsoft.com/office/powerpoint/2010/main" val="14446938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AD965-A2DB-7657-0B52-678EBE0C6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R" dirty="0"/>
              <a:t>Dépense sociale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5919B9-3B3C-D299-B627-6E2C3FD694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3841695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CCFA9-735A-EA32-3EA7-64D695DE6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R" dirty="0"/>
              <a:t>Explosion de la dépense sociale</a:t>
            </a:r>
          </a:p>
        </p:txBody>
      </p:sp>
      <p:graphicFrame>
        <p:nvGraphicFramePr>
          <p:cNvPr id="4" name="Graphique 12">
            <a:extLst>
              <a:ext uri="{FF2B5EF4-FFF2-40B4-BE49-F238E27FC236}">
                <a16:creationId xmlns:a16="http://schemas.microsoft.com/office/drawing/2014/main" id="{B2B8E041-4E5B-6678-19B8-8B0FC862C41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00423045"/>
              </p:ext>
            </p:extLst>
          </p:nvPr>
        </p:nvGraphicFramePr>
        <p:xfrm>
          <a:off x="1115786" y="1837010"/>
          <a:ext cx="9960428" cy="43869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7073941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C8C40-B6DC-E848-F9A2-608D7A6B3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4657" y="1954440"/>
            <a:ext cx="3646714" cy="1325563"/>
          </a:xfrm>
        </p:spPr>
        <p:txBody>
          <a:bodyPr>
            <a:noAutofit/>
          </a:bodyPr>
          <a:lstStyle/>
          <a:p>
            <a:r>
              <a:rPr lang="en-FR" sz="4800" dirty="0"/>
              <a:t>La dépense sociale est une dépense de prestations</a:t>
            </a:r>
          </a:p>
        </p:txBody>
      </p:sp>
      <p:pic>
        <p:nvPicPr>
          <p:cNvPr id="5" name="Image 26" descr="Une image contenant texte, capture d’écran, Police, Page web&#10;&#10;Description générée automatiquement">
            <a:extLst>
              <a:ext uri="{FF2B5EF4-FFF2-40B4-BE49-F238E27FC236}">
                <a16:creationId xmlns:a16="http://schemas.microsoft.com/office/drawing/2014/main" id="{901DED13-21B0-AEFF-8101-651376A33E0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1195" y="651140"/>
            <a:ext cx="6066518" cy="55557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953914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1EEEB-E7D6-88D3-98F4-938F480F4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309234"/>
            <a:ext cx="4539343" cy="4239532"/>
          </a:xfrm>
        </p:spPr>
        <p:txBody>
          <a:bodyPr>
            <a:normAutofit/>
          </a:bodyPr>
          <a:lstStyle/>
          <a:p>
            <a:r>
              <a:rPr lang="en-FR" dirty="0"/>
              <a:t>Le système social français est très redistributif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AC57736-D716-6C9D-6CF0-607C34084CA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09280200"/>
              </p:ext>
            </p:extLst>
          </p:nvPr>
        </p:nvGraphicFramePr>
        <p:xfrm>
          <a:off x="4727433" y="1027907"/>
          <a:ext cx="7061795" cy="48021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ECC648E-2A4E-1CFB-B88A-A9F857421B92}"/>
              </a:ext>
            </a:extLst>
          </p:cNvPr>
          <p:cNvSpPr txBox="1"/>
          <p:nvPr/>
        </p:nvSpPr>
        <p:spPr>
          <a:xfrm>
            <a:off x="8258330" y="6115991"/>
            <a:ext cx="133412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R" sz="11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Source : Drees</a:t>
            </a:r>
          </a:p>
        </p:txBody>
      </p:sp>
      <p:pic>
        <p:nvPicPr>
          <p:cNvPr id="8" name="Content Placeholder 4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277B6E10-92EC-977C-8718-B74A751DFD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54262" y="365125"/>
            <a:ext cx="5156960" cy="5384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3735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14DA6-8B63-15A9-2450-5E4BB5674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R" dirty="0"/>
              <a:t>Les Français ont-ils compris ?</a:t>
            </a:r>
          </a:p>
        </p:txBody>
      </p:sp>
      <p:pic>
        <p:nvPicPr>
          <p:cNvPr id="6" name="Image 15" descr="Une image contenant capture d’écran, cercle, diagramme, Police&#10;&#10;Description générée automatiquement">
            <a:extLst>
              <a:ext uri="{FF2B5EF4-FFF2-40B4-BE49-F238E27FC236}">
                <a16:creationId xmlns:a16="http://schemas.microsoft.com/office/drawing/2014/main" id="{237267A7-6F8C-68AA-62EB-B450F5A9D8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9594" y="1690688"/>
            <a:ext cx="7981257" cy="453317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8C0EE62-2A9F-3BA9-8932-474FFB334117}"/>
              </a:ext>
            </a:extLst>
          </p:cNvPr>
          <p:cNvSpPr txBox="1"/>
          <p:nvPr/>
        </p:nvSpPr>
        <p:spPr>
          <a:xfrm>
            <a:off x="4735285" y="6308209"/>
            <a:ext cx="3973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R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Sondage Elabe 12 septembre 2024</a:t>
            </a:r>
          </a:p>
        </p:txBody>
      </p:sp>
    </p:spTree>
    <p:extLst>
      <p:ext uri="{BB962C8B-B14F-4D97-AF65-F5344CB8AC3E}">
        <p14:creationId xmlns:p14="http://schemas.microsoft.com/office/powerpoint/2010/main" val="23955437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50961-CF8C-F595-9778-050104AF8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949" y="1013518"/>
            <a:ext cx="4149436" cy="1325563"/>
          </a:xfrm>
        </p:spPr>
        <p:txBody>
          <a:bodyPr/>
          <a:lstStyle/>
          <a:p>
            <a:r>
              <a:rPr lang="en-FR" dirty="0"/>
              <a:t>Un système très redistributif</a:t>
            </a:r>
          </a:p>
        </p:txBody>
      </p:sp>
      <p:pic>
        <p:nvPicPr>
          <p:cNvPr id="4" name="Picture 3" descr="Image">
            <a:extLst>
              <a:ext uri="{FF2B5EF4-FFF2-40B4-BE49-F238E27FC236}">
                <a16:creationId xmlns:a16="http://schemas.microsoft.com/office/drawing/2014/main" id="{CE309DF1-3B44-4EF5-61D0-65195BB75B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3819" y="226522"/>
            <a:ext cx="5980438" cy="6357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2720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FD79E-A8A5-FD9C-2CD4-42885A4976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FR" dirty="0"/>
              <a:t>L’enfer fiscal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735018-A321-6CFA-F42A-7705102EE34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e</a:t>
            </a:r>
            <a:r>
              <a:rPr lang="en-FR" dirty="0"/>
              <a:t>st pavé de bonnes intentions</a:t>
            </a:r>
          </a:p>
        </p:txBody>
      </p:sp>
    </p:spTree>
    <p:extLst>
      <p:ext uri="{BB962C8B-B14F-4D97-AF65-F5344CB8AC3E}">
        <p14:creationId xmlns:p14="http://schemas.microsoft.com/office/powerpoint/2010/main" val="9745713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04C8E-4116-620C-1468-E5D4C447C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9EDD2-1615-BA26-1A52-122D20176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198" y="2715560"/>
            <a:ext cx="4800694" cy="1325563"/>
          </a:xfrm>
        </p:spPr>
        <p:txBody>
          <a:bodyPr>
            <a:noAutofit/>
          </a:bodyPr>
          <a:lstStyle/>
          <a:p>
            <a:r>
              <a:rPr lang="en-FR" sz="5400" dirty="0"/>
              <a:t>Prélèvements obligatoires les plus élevés d’Europe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EBC92A3-352E-3C0E-CE4D-2BCAACED7B8B}"/>
              </a:ext>
            </a:extLst>
          </p:cNvPr>
          <p:cNvSpPr txBox="1">
            <a:spLocks/>
          </p:cNvSpPr>
          <p:nvPr/>
        </p:nvSpPr>
        <p:spPr>
          <a:xfrm>
            <a:off x="7948367" y="-3271105"/>
            <a:ext cx="6209407" cy="8933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Questrial" pitchFamily="2" charset="77"/>
                <a:ea typeface="+mj-ea"/>
                <a:cs typeface="+mj-cs"/>
              </a:defRPr>
            </a:lvl1pPr>
          </a:lstStyle>
          <a:p>
            <a:pPr algn="ctr"/>
            <a:r>
              <a:rPr lang="en-FR" sz="4000"/>
              <a:t>3000€ </a:t>
            </a:r>
            <a:br>
              <a:rPr lang="en-FR" sz="4000"/>
            </a:br>
            <a:r>
              <a:rPr lang="en-FR" sz="4000"/>
              <a:t>NET vs. BRUT</a:t>
            </a:r>
            <a:endParaRPr lang="en-FR" sz="4000" dirty="0"/>
          </a:p>
        </p:txBody>
      </p:sp>
      <p:sp>
        <p:nvSpPr>
          <p:cNvPr id="7" name="Chevron 6">
            <a:extLst>
              <a:ext uri="{FF2B5EF4-FFF2-40B4-BE49-F238E27FC236}">
                <a16:creationId xmlns:a16="http://schemas.microsoft.com/office/drawing/2014/main" id="{01645CB5-682F-AC8C-19AE-6D8A89C36816}"/>
              </a:ext>
            </a:extLst>
          </p:cNvPr>
          <p:cNvSpPr/>
          <p:nvPr/>
        </p:nvSpPr>
        <p:spPr>
          <a:xfrm rot="5400000">
            <a:off x="10895283" y="-3653182"/>
            <a:ext cx="253366" cy="3321380"/>
          </a:xfrm>
          <a:prstGeom prst="chevron">
            <a:avLst>
              <a:gd name="adj" fmla="val 95574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sz="1600" dirty="0">
              <a:solidFill>
                <a:schemeClr val="tx1"/>
              </a:solidFill>
            </a:endParaRPr>
          </a:p>
        </p:txBody>
      </p:sp>
      <p:pic>
        <p:nvPicPr>
          <p:cNvPr id="3" name="Image 14" descr="Une image contenant texte, capture d’écran, ligne, Parallèle&#10;&#10;Description générée automatiquement">
            <a:extLst>
              <a:ext uri="{FF2B5EF4-FFF2-40B4-BE49-F238E27FC236}">
                <a16:creationId xmlns:a16="http://schemas.microsoft.com/office/drawing/2014/main" id="{7B4E57DB-554A-C26C-9784-82B200F0255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9110" y="426400"/>
            <a:ext cx="4997133" cy="60052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275856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 descr="Image">
            <a:extLst>
              <a:ext uri="{FF2B5EF4-FFF2-40B4-BE49-F238E27FC236}">
                <a16:creationId xmlns:a16="http://schemas.microsoft.com/office/drawing/2014/main" id="{1CD0F5EA-B3AA-B29B-0280-8036EE28A8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8034" y="88322"/>
            <a:ext cx="6681356" cy="6681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6996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80B58-0FD0-DE9F-16C5-0C0350217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600" b="1">
                <a:solidFill>
                  <a:srgbClr val="FFFFFF"/>
                </a:solidFill>
              </a:rPr>
              <a:t>Pour 100 € versés par l'employeur, 52,80 € arrivent au salarié</a:t>
            </a:r>
            <a:endParaRPr lang="en-FR" sz="2600" b="1">
              <a:solidFill>
                <a:srgbClr val="FFFFFF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C102B2-C85A-AEFF-8CA0-E5D9264D4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868CB-5B44-3E4F-9E7D-17B01CBB6C29}" type="slidenum">
              <a:rPr lang="fr-FR" smtClean="0"/>
              <a:t>26</a:t>
            </a:fld>
            <a:endParaRPr lang="fr-FR"/>
          </a:p>
        </p:txBody>
      </p:sp>
      <p:graphicFrame>
        <p:nvGraphicFramePr>
          <p:cNvPr id="201" name="Chart 1"/>
          <p:cNvGraphicFramePr/>
          <p:nvPr>
            <p:extLst>
              <p:ext uri="{D42A27DB-BD31-4B8C-83A1-F6EECF244321}">
                <p14:modId xmlns:p14="http://schemas.microsoft.com/office/powerpoint/2010/main" val="157788771"/>
              </p:ext>
            </p:extLst>
          </p:nvPr>
        </p:nvGraphicFramePr>
        <p:xfrm>
          <a:off x="838200" y="1739900"/>
          <a:ext cx="5994862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6312B88-1645-6341-9233-96E1DBBBE815}"/>
              </a:ext>
            </a:extLst>
          </p:cNvPr>
          <p:cNvSpPr txBox="1"/>
          <p:nvPr/>
        </p:nvSpPr>
        <p:spPr>
          <a:xfrm>
            <a:off x="838200" y="6388100"/>
            <a:ext cx="762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100" i="1">
                <a:solidFill>
                  <a:srgbClr val="95A5A6"/>
                </a:solidFill>
              </a:rPr>
              <a:t>Source : OCDE, Taxing Wages 2026 (coin fiscal célibataire au salaire moyen)</a:t>
            </a:r>
            <a:endParaRPr lang="en-FR" sz="1100" i="1">
              <a:solidFill>
                <a:srgbClr val="95A5A6"/>
              </a:solidFill>
            </a:endParaRPr>
          </a:p>
        </p:txBody>
      </p:sp>
      <p:pic>
        <p:nvPicPr>
          <p:cNvPr id="6" name="Picture 5" descr="Image">
            <a:extLst>
              <a:ext uri="{FF2B5EF4-FFF2-40B4-BE49-F238E27FC236}">
                <a16:creationId xmlns:a16="http://schemas.microsoft.com/office/drawing/2014/main" id="{75E750C8-61FC-D5DC-0857-5DDE2E69E9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2511" y="1343140"/>
            <a:ext cx="4840751" cy="5149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3890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1EC0A-D4CF-683D-662B-5469E62F0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198" y="2715560"/>
            <a:ext cx="4800694" cy="1325563"/>
          </a:xfrm>
        </p:spPr>
        <p:txBody>
          <a:bodyPr>
            <a:noAutofit/>
          </a:bodyPr>
          <a:lstStyle/>
          <a:p>
            <a:r>
              <a:rPr lang="en-FR" sz="5400" dirty="0"/>
              <a:t>Conséquence : un salaire net faible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60A8BF2-D848-88D0-712C-73062C49AF63}"/>
              </a:ext>
            </a:extLst>
          </p:cNvPr>
          <p:cNvSpPr txBox="1">
            <a:spLocks/>
          </p:cNvSpPr>
          <p:nvPr/>
        </p:nvSpPr>
        <p:spPr>
          <a:xfrm>
            <a:off x="7948367" y="-3271105"/>
            <a:ext cx="6209407" cy="8933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Questrial" pitchFamily="2" charset="77"/>
                <a:ea typeface="+mj-ea"/>
                <a:cs typeface="+mj-cs"/>
              </a:defRPr>
            </a:lvl1pPr>
          </a:lstStyle>
          <a:p>
            <a:pPr algn="ctr"/>
            <a:r>
              <a:rPr lang="en-FR" sz="4000"/>
              <a:t>3000€ </a:t>
            </a:r>
            <a:br>
              <a:rPr lang="en-FR" sz="4000"/>
            </a:br>
            <a:r>
              <a:rPr lang="en-FR" sz="4000"/>
              <a:t>NET vs. BRUT</a:t>
            </a:r>
            <a:endParaRPr lang="en-FR" sz="4000" dirty="0"/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56B83EA0-A6A7-803E-6B25-5578D4076A6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56210634"/>
              </p:ext>
            </p:extLst>
          </p:nvPr>
        </p:nvGraphicFramePr>
        <p:xfrm>
          <a:off x="6489312" y="807820"/>
          <a:ext cx="5702688" cy="55322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73377F6-180E-B76B-8DCC-15FB924EB9BD}"/>
              </a:ext>
            </a:extLst>
          </p:cNvPr>
          <p:cNvSpPr txBox="1"/>
          <p:nvPr/>
        </p:nvSpPr>
        <p:spPr>
          <a:xfrm>
            <a:off x="1840840" y="6155355"/>
            <a:ext cx="2470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R" sz="9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Sources : Urssaf, Deutsche Flagge, confrera.com, BOE “Cotizacion”</a:t>
            </a:r>
          </a:p>
        </p:txBody>
      </p:sp>
      <p:sp>
        <p:nvSpPr>
          <p:cNvPr id="7" name="Chevron 6">
            <a:extLst>
              <a:ext uri="{FF2B5EF4-FFF2-40B4-BE49-F238E27FC236}">
                <a16:creationId xmlns:a16="http://schemas.microsoft.com/office/drawing/2014/main" id="{1A081DCA-93D8-0C18-333B-B6573CBE434D}"/>
              </a:ext>
            </a:extLst>
          </p:cNvPr>
          <p:cNvSpPr/>
          <p:nvPr/>
        </p:nvSpPr>
        <p:spPr>
          <a:xfrm rot="5400000">
            <a:off x="10895283" y="-3653182"/>
            <a:ext cx="253366" cy="3321380"/>
          </a:xfrm>
          <a:prstGeom prst="chevron">
            <a:avLst>
              <a:gd name="adj" fmla="val 95574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sz="1600" dirty="0">
              <a:solidFill>
                <a:schemeClr val="tx1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6CEA8F9-C45F-5C5D-92DE-9F106683B12F}"/>
              </a:ext>
            </a:extLst>
          </p:cNvPr>
          <p:cNvCxnSpPr>
            <a:cxnSpLocks/>
          </p:cNvCxnSpPr>
          <p:nvPr/>
        </p:nvCxnSpPr>
        <p:spPr>
          <a:xfrm>
            <a:off x="10429328" y="1157388"/>
            <a:ext cx="0" cy="4601155"/>
          </a:xfrm>
          <a:prstGeom prst="line">
            <a:avLst/>
          </a:prstGeom>
          <a:ln w="22225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1">
            <a:extLst>
              <a:ext uri="{FF2B5EF4-FFF2-40B4-BE49-F238E27FC236}">
                <a16:creationId xmlns:a16="http://schemas.microsoft.com/office/drawing/2014/main" id="{54E6599E-1E66-EEE4-36A6-F7A6B97DBB01}"/>
              </a:ext>
            </a:extLst>
          </p:cNvPr>
          <p:cNvSpPr txBox="1">
            <a:spLocks/>
          </p:cNvSpPr>
          <p:nvPr/>
        </p:nvSpPr>
        <p:spPr>
          <a:xfrm>
            <a:off x="8796422" y="339752"/>
            <a:ext cx="3395578" cy="748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7199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64" kern="120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lvl1pPr>
          </a:lstStyle>
          <a:p>
            <a:pPr algn="ctr"/>
            <a:r>
              <a:rPr lang="en-FR" sz="2000" dirty="0"/>
              <a:t>3000€ </a:t>
            </a:r>
          </a:p>
          <a:p>
            <a:pPr algn="ctr"/>
            <a:r>
              <a:rPr lang="en-FR" sz="2000" dirty="0"/>
              <a:t>BRUTS</a:t>
            </a:r>
            <a:endParaRPr lang="en-FR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690A40-DD74-5448-062A-4F3275510A15}"/>
              </a:ext>
            </a:extLst>
          </p:cNvPr>
          <p:cNvSpPr txBox="1"/>
          <p:nvPr/>
        </p:nvSpPr>
        <p:spPr>
          <a:xfrm>
            <a:off x="8531214" y="2827639"/>
            <a:ext cx="1073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R" sz="12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NETS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C359619-4090-2615-79C6-5675F862A09C}"/>
              </a:ext>
            </a:extLst>
          </p:cNvPr>
          <p:cNvSpPr txBox="1"/>
          <p:nvPr/>
        </p:nvSpPr>
        <p:spPr>
          <a:xfrm>
            <a:off x="8534177" y="1227181"/>
            <a:ext cx="1073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R" sz="12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NETS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6E768C-A3E2-6B8F-83EE-CF38BF5822FC}"/>
              </a:ext>
            </a:extLst>
          </p:cNvPr>
          <p:cNvSpPr txBox="1"/>
          <p:nvPr/>
        </p:nvSpPr>
        <p:spPr>
          <a:xfrm>
            <a:off x="8350965" y="5569128"/>
            <a:ext cx="1073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R" sz="12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NETS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9BB4395-8EC9-8196-4FF5-4A09479EEF69}"/>
              </a:ext>
            </a:extLst>
          </p:cNvPr>
          <p:cNvSpPr txBox="1"/>
          <p:nvPr/>
        </p:nvSpPr>
        <p:spPr>
          <a:xfrm>
            <a:off x="8405730" y="4471142"/>
            <a:ext cx="1073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R" sz="12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NETS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83CF112A-EF26-CE5F-B02B-B4480769B0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6467739" y="3256950"/>
            <a:ext cx="364171" cy="242781"/>
          </a:xfrm>
          <a:prstGeom prst="rect">
            <a:avLst/>
          </a:prstGeom>
        </p:spPr>
      </p:pic>
      <p:pic>
        <p:nvPicPr>
          <p:cNvPr id="15" name="Picture 14" descr="A flag with a red and yellow stripe&#10;&#10;AI-generated content may be incorrect.">
            <a:extLst>
              <a:ext uri="{FF2B5EF4-FFF2-40B4-BE49-F238E27FC236}">
                <a16:creationId xmlns:a16="http://schemas.microsoft.com/office/drawing/2014/main" id="{FB6DAAEA-889A-BCE0-BB75-8A1B410BF6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668214"/>
            <a:ext cx="365634" cy="242781"/>
          </a:xfrm>
          <a:prstGeom prst="rect">
            <a:avLst/>
          </a:prstGeom>
        </p:spPr>
      </p:pic>
      <p:pic>
        <p:nvPicPr>
          <p:cNvPr id="16" name="Picture 15" descr="A flag of germany with red yellow and black stripes&#10;&#10;AI-generated content may be incorrect.">
            <a:extLst>
              <a:ext uri="{FF2B5EF4-FFF2-40B4-BE49-F238E27FC236}">
                <a16:creationId xmlns:a16="http://schemas.microsoft.com/office/drawing/2014/main" id="{9181C751-57ED-8F42-488E-CE5A75DF16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8369" y="4835310"/>
            <a:ext cx="394634" cy="262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3882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43332-6D79-8928-8FC7-B980383D3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646815" cy="1325563"/>
          </a:xfrm>
        </p:spPr>
        <p:txBody>
          <a:bodyPr/>
          <a:lstStyle/>
          <a:p>
            <a:r>
              <a:rPr lang="en-FR" dirty="0"/>
              <a:t>Resultat : des salaires faibles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0095807-1459-5C28-CAE7-6517A05D8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868CB-5B44-3E4F-9E7D-17B01CBB6C29}" type="slidenum">
              <a:rPr lang="fr-FR" smtClean="0"/>
              <a:t>28</a:t>
            </a:fld>
            <a:endParaRPr lang="fr-FR"/>
          </a:p>
        </p:txBody>
      </p:sp>
      <p:pic>
        <p:nvPicPr>
          <p:cNvPr id="4" name="Picture 3" descr="Image">
            <a:extLst>
              <a:ext uri="{FF2B5EF4-FFF2-40B4-BE49-F238E27FC236}">
                <a16:creationId xmlns:a16="http://schemas.microsoft.com/office/drawing/2014/main" id="{16681178-0919-91E7-DD01-0AF6F5C7DC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36525"/>
            <a:ext cx="5846636" cy="6219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6552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EAD6A-857B-B89B-BA3C-A0C9C1B50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A113036-68DC-3CB2-0EBE-55A752CA1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868CB-5B44-3E4F-9E7D-17B01CBB6C29}" type="slidenum">
              <a:rPr lang="fr-FR" smtClean="0"/>
              <a:t>29</a:t>
            </a:fld>
            <a:endParaRPr lang="fr-FR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E84E38-873E-E83C-6106-5DFAD396CA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0200" y="0"/>
            <a:ext cx="64516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4692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9EB22-264C-A8E9-332A-84EC9B007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D327D-A85F-8FA5-3C6F-82401B066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R" dirty="0"/>
              <a:t>Retraites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909873-D7C7-24EF-1C41-D483CBC8CA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4539139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D5D1A-EF29-1325-5C0F-C23FBAAB8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Graphique 2">
            <a:extLst>
              <a:ext uri="{FF2B5EF4-FFF2-40B4-BE49-F238E27FC236}">
                <a16:creationId xmlns:a16="http://schemas.microsoft.com/office/drawing/2014/main" id="{A0AD377F-A13D-385B-E3FE-00C86D1C7972}"/>
              </a:ext>
            </a:extLst>
          </p:cNvPr>
          <p:cNvGraphicFramePr>
            <a:graphicFrameLocks/>
          </p:cNvGraphicFramePr>
          <p:nvPr/>
        </p:nvGraphicFramePr>
        <p:xfrm>
          <a:off x="2884714" y="343324"/>
          <a:ext cx="6672945" cy="57504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ZoneTexte 6">
            <a:extLst>
              <a:ext uri="{FF2B5EF4-FFF2-40B4-BE49-F238E27FC236}">
                <a16:creationId xmlns:a16="http://schemas.microsoft.com/office/drawing/2014/main" id="{DD3F53AC-7BDE-1193-FB91-0728CB10C935}"/>
              </a:ext>
            </a:extLst>
          </p:cNvPr>
          <p:cNvSpPr txBox="1"/>
          <p:nvPr/>
        </p:nvSpPr>
        <p:spPr>
          <a:xfrm>
            <a:off x="7223426" y="2621066"/>
            <a:ext cx="206987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solidFill>
                  <a:srgbClr val="CA2E4D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Augmentation de l’espérance de vie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3BB4DFE9-E572-194E-4FA0-05AA563A7044}"/>
              </a:ext>
            </a:extLst>
          </p:cNvPr>
          <p:cNvSpPr txBox="1"/>
          <p:nvPr/>
        </p:nvSpPr>
        <p:spPr>
          <a:xfrm>
            <a:off x="3507000" y="2313290"/>
            <a:ext cx="18288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Baisse du ratio cotisants/</a:t>
            </a:r>
          </a:p>
          <a:p>
            <a:pPr algn="ctr"/>
            <a:r>
              <a:rPr lang="fr-FR" sz="2000" b="1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retraités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3A8F35FE-2E20-D4F3-A104-0313CE0501D7}"/>
              </a:ext>
            </a:extLst>
          </p:cNvPr>
          <p:cNvSpPr txBox="1"/>
          <p:nvPr/>
        </p:nvSpPr>
        <p:spPr>
          <a:xfrm>
            <a:off x="3333735" y="1021649"/>
            <a:ext cx="10876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4,68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6826E796-E446-EF51-8996-EA1C117BAB4E}"/>
              </a:ext>
            </a:extLst>
          </p:cNvPr>
          <p:cNvSpPr txBox="1"/>
          <p:nvPr/>
        </p:nvSpPr>
        <p:spPr>
          <a:xfrm>
            <a:off x="8488135" y="4051082"/>
            <a:ext cx="6281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1,8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3D710989-E761-8BC7-FD61-2C9958868796}"/>
              </a:ext>
            </a:extLst>
          </p:cNvPr>
          <p:cNvSpPr txBox="1"/>
          <p:nvPr/>
        </p:nvSpPr>
        <p:spPr>
          <a:xfrm>
            <a:off x="4974847" y="4235723"/>
            <a:ext cx="10876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solidFill>
                  <a:srgbClr val="CA2E4D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87 ans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DC4964D1-2D6E-75BE-EEAF-F397C1106444}"/>
              </a:ext>
            </a:extLst>
          </p:cNvPr>
          <p:cNvSpPr txBox="1"/>
          <p:nvPr/>
        </p:nvSpPr>
        <p:spPr>
          <a:xfrm>
            <a:off x="8258363" y="1046305"/>
            <a:ext cx="10876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solidFill>
                  <a:srgbClr val="CA2E4D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91 ans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F03AE3E-AC66-8EA4-97F4-304233C05734}"/>
              </a:ext>
            </a:extLst>
          </p:cNvPr>
          <p:cNvSpPr txBox="1"/>
          <p:nvPr/>
        </p:nvSpPr>
        <p:spPr>
          <a:xfrm>
            <a:off x="3155191" y="6255963"/>
            <a:ext cx="18196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Source : COR, juin 2024</a:t>
            </a:r>
          </a:p>
        </p:txBody>
      </p:sp>
    </p:spTree>
    <p:extLst>
      <p:ext uri="{BB962C8B-B14F-4D97-AF65-F5344CB8AC3E}">
        <p14:creationId xmlns:p14="http://schemas.microsoft.com/office/powerpoint/2010/main" val="36125907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96E24-E9DB-F2B0-E324-B4F4A7142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2" y="385848"/>
            <a:ext cx="9763896" cy="1325563"/>
          </a:xfrm>
        </p:spPr>
        <p:txBody>
          <a:bodyPr>
            <a:normAutofit/>
          </a:bodyPr>
          <a:lstStyle/>
          <a:p>
            <a:r>
              <a:rPr lang="en-FR" dirty="0"/>
              <a:t>Le vieillissement est un phénomène des sociétés développées </a:t>
            </a:r>
          </a:p>
        </p:txBody>
      </p:sp>
      <p:pic>
        <p:nvPicPr>
          <p:cNvPr id="5" name="Picture 4" descr="A graph of the number of countries/regions&#10;&#10;AI-generated content may be incorrect.">
            <a:extLst>
              <a:ext uri="{FF2B5EF4-FFF2-40B4-BE49-F238E27FC236}">
                <a16:creationId xmlns:a16="http://schemas.microsoft.com/office/drawing/2014/main" id="{1CD00CC5-FD03-DC89-D2EF-3B58909287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2" y="2014045"/>
            <a:ext cx="5162964" cy="4090194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A35A17B0-D569-8B91-36E5-90DB2CBFC8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98180" y="1108905"/>
            <a:ext cx="3007836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FR" altLang="en-FR" sz="12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Old-age dependency ratio is the number of individuals aged 65 or older per 100 people of working age, defined as those aged between 20 to 64 years old.</a:t>
            </a:r>
            <a:endParaRPr kumimoji="0" lang="en-FR" altLang="en-FR" sz="1800" b="0" i="1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Questrial" pitchFamily="2" charset="77"/>
              <a:ea typeface="Questrial" pitchFamily="2" charset="77"/>
              <a:cs typeface="Questrial" pitchFamily="2" charset="77"/>
            </a:endParaRPr>
          </a:p>
        </p:txBody>
      </p:sp>
      <p:pic>
        <p:nvPicPr>
          <p:cNvPr id="10" name="Picture 9" descr="A graph of the number of countries/regions&#10;&#10;AI-generated content may be incorrect.">
            <a:extLst>
              <a:ext uri="{FF2B5EF4-FFF2-40B4-BE49-F238E27FC236}">
                <a16:creationId xmlns:a16="http://schemas.microsoft.com/office/drawing/2014/main" id="{43C13EFB-8C4B-C434-B4E7-FAEAC9CE77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7177" y="2014045"/>
            <a:ext cx="5408767" cy="4090194"/>
          </a:xfrm>
          <a:prstGeom prst="rect">
            <a:avLst/>
          </a:prstGeom>
        </p:spPr>
      </p:pic>
      <p:sp>
        <p:nvSpPr>
          <p:cNvPr id="11" name="Rectangle 1">
            <a:extLst>
              <a:ext uri="{FF2B5EF4-FFF2-40B4-BE49-F238E27FC236}">
                <a16:creationId xmlns:a16="http://schemas.microsoft.com/office/drawing/2014/main" id="{80483423-476C-D3B6-2B23-98F225428E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3452" y="6206817"/>
            <a:ext cx="248669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FR" altLang="en-FR" sz="2000" b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2025</a:t>
            </a:r>
            <a:endParaRPr kumimoji="0" lang="en-FR" altLang="en-FR" sz="3200" b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Questrial" pitchFamily="2" charset="77"/>
              <a:ea typeface="Questrial" pitchFamily="2" charset="77"/>
              <a:cs typeface="Questrial" pitchFamily="2" charset="7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5CE80C7C-DD9D-66CC-8309-3C01053B0B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1560" y="6206817"/>
            <a:ext cx="248669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FR" altLang="en-FR" sz="2000" b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2075</a:t>
            </a:r>
            <a:endParaRPr kumimoji="0" lang="en-FR" altLang="en-FR" sz="3200" b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Questrial" pitchFamily="2" charset="77"/>
              <a:ea typeface="Questrial" pitchFamily="2" charset="77"/>
              <a:cs typeface="Questrial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6663092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78754-C3B9-6D1D-7F5B-5A10366CC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78447-A285-74DD-7672-4095770A6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2103437"/>
            <a:ext cx="4049486" cy="1325563"/>
          </a:xfrm>
        </p:spPr>
        <p:txBody>
          <a:bodyPr>
            <a:normAutofit fontScale="90000"/>
          </a:bodyPr>
          <a:lstStyle/>
          <a:p>
            <a:r>
              <a:rPr lang="fr-FR" dirty="0"/>
              <a:t>Les cotisations ne suffisent pas à financer le système de retraites </a:t>
            </a:r>
            <a:endParaRPr lang="en-FR" dirty="0"/>
          </a:p>
        </p:txBody>
      </p:sp>
      <p:graphicFrame>
        <p:nvGraphicFramePr>
          <p:cNvPr id="16" name="Graphique 9">
            <a:extLst>
              <a:ext uri="{FF2B5EF4-FFF2-40B4-BE49-F238E27FC236}">
                <a16:creationId xmlns:a16="http://schemas.microsoft.com/office/drawing/2014/main" id="{AA685F2C-9FE0-D2E8-77F9-85BC2D88C69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7921930"/>
              </p:ext>
            </p:extLst>
          </p:nvPr>
        </p:nvGraphicFramePr>
        <p:xfrm>
          <a:off x="4353410" y="1041957"/>
          <a:ext cx="6440814" cy="5105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7" name="ZoneTexte 16">
            <a:extLst>
              <a:ext uri="{FF2B5EF4-FFF2-40B4-BE49-F238E27FC236}">
                <a16:creationId xmlns:a16="http://schemas.microsoft.com/office/drawing/2014/main" id="{366FF68A-90C0-50BF-DCBC-1AD58A5E55F9}"/>
              </a:ext>
            </a:extLst>
          </p:cNvPr>
          <p:cNvSpPr txBox="1"/>
          <p:nvPr/>
        </p:nvSpPr>
        <p:spPr>
          <a:xfrm>
            <a:off x="6946272" y="5388484"/>
            <a:ext cx="24187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Source : COR, 2024</a:t>
            </a:r>
          </a:p>
        </p:txBody>
      </p:sp>
      <p:sp>
        <p:nvSpPr>
          <p:cNvPr id="18" name="ZoneTexte 12">
            <a:extLst>
              <a:ext uri="{FF2B5EF4-FFF2-40B4-BE49-F238E27FC236}">
                <a16:creationId xmlns:a16="http://schemas.microsoft.com/office/drawing/2014/main" id="{BCD258C4-32F0-861F-E830-09E8DF795AF1}"/>
              </a:ext>
            </a:extLst>
          </p:cNvPr>
          <p:cNvSpPr txBox="1"/>
          <p:nvPr/>
        </p:nvSpPr>
        <p:spPr>
          <a:xfrm>
            <a:off x="9719015" y="3656615"/>
            <a:ext cx="215041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Cotisations</a:t>
            </a:r>
            <a:endParaRPr lang="fr-FR" sz="1600" dirty="0">
              <a:solidFill>
                <a:schemeClr val="bg1"/>
              </a:solidFill>
              <a:latin typeface="Questrial" pitchFamily="2" charset="77"/>
              <a:ea typeface="Questrial" pitchFamily="2" charset="77"/>
              <a:cs typeface="Questrial" pitchFamily="2" charset="77"/>
            </a:endParaRPr>
          </a:p>
          <a:p>
            <a:pPr algn="ctr"/>
            <a:r>
              <a:rPr lang="fr-FR" sz="32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260 Md€</a:t>
            </a:r>
          </a:p>
        </p:txBody>
      </p:sp>
      <p:sp>
        <p:nvSpPr>
          <p:cNvPr id="19" name="ZoneTexte 13">
            <a:extLst>
              <a:ext uri="{FF2B5EF4-FFF2-40B4-BE49-F238E27FC236}">
                <a16:creationId xmlns:a16="http://schemas.microsoft.com/office/drawing/2014/main" id="{43772A45-AAFF-6364-189E-F07D40601AD8}"/>
              </a:ext>
            </a:extLst>
          </p:cNvPr>
          <p:cNvSpPr txBox="1"/>
          <p:nvPr/>
        </p:nvSpPr>
        <p:spPr>
          <a:xfrm>
            <a:off x="9396446" y="1792527"/>
            <a:ext cx="27955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Autres ressources </a:t>
            </a:r>
          </a:p>
          <a:p>
            <a:pPr algn="ctr"/>
            <a:r>
              <a:rPr lang="fr-FR" sz="32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130 Md€</a:t>
            </a:r>
          </a:p>
        </p:txBody>
      </p:sp>
      <p:sp>
        <p:nvSpPr>
          <p:cNvPr id="20" name="Titre 1">
            <a:extLst>
              <a:ext uri="{FF2B5EF4-FFF2-40B4-BE49-F238E27FC236}">
                <a16:creationId xmlns:a16="http://schemas.microsoft.com/office/drawing/2014/main" id="{CCD0932E-3C04-47AA-D26F-78AC179ADDBD}"/>
              </a:ext>
            </a:extLst>
          </p:cNvPr>
          <p:cNvSpPr txBox="1">
            <a:spLocks/>
          </p:cNvSpPr>
          <p:nvPr/>
        </p:nvSpPr>
        <p:spPr>
          <a:xfrm>
            <a:off x="5749254" y="923303"/>
            <a:ext cx="3855680" cy="7129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71990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64" kern="120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defRPr>
            </a:lvl1pPr>
          </a:lstStyle>
          <a:p>
            <a:pPr algn="ctr"/>
            <a:r>
              <a:rPr lang="fr-FR" sz="1800" u="sng" dirty="0"/>
              <a:t>Ressources du système de retraite</a:t>
            </a:r>
            <a:endParaRPr lang="fr-FR" sz="1400" u="sng" dirty="0"/>
          </a:p>
        </p:txBody>
      </p:sp>
      <p:sp>
        <p:nvSpPr>
          <p:cNvPr id="21" name="ZoneTexte 12">
            <a:extLst>
              <a:ext uri="{FF2B5EF4-FFF2-40B4-BE49-F238E27FC236}">
                <a16:creationId xmlns:a16="http://schemas.microsoft.com/office/drawing/2014/main" id="{96B0BCF9-AA26-161A-7B58-89FD0006EC87}"/>
              </a:ext>
            </a:extLst>
          </p:cNvPr>
          <p:cNvSpPr txBox="1"/>
          <p:nvPr/>
        </p:nvSpPr>
        <p:spPr>
          <a:xfrm>
            <a:off x="6580505" y="4539233"/>
            <a:ext cx="215041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Cotisations</a:t>
            </a:r>
          </a:p>
          <a:p>
            <a:pPr algn="ctr"/>
            <a:r>
              <a:rPr lang="fr-FR" sz="14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salariés </a:t>
            </a:r>
          </a:p>
          <a:p>
            <a:pPr algn="ctr"/>
            <a:r>
              <a:rPr lang="fr-FR" sz="14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25%</a:t>
            </a:r>
          </a:p>
        </p:txBody>
      </p:sp>
      <p:sp>
        <p:nvSpPr>
          <p:cNvPr id="22" name="ZoneTexte 12">
            <a:extLst>
              <a:ext uri="{FF2B5EF4-FFF2-40B4-BE49-F238E27FC236}">
                <a16:creationId xmlns:a16="http://schemas.microsoft.com/office/drawing/2014/main" id="{534831F1-54E1-104D-F2E0-329BD5FF9C9D}"/>
              </a:ext>
            </a:extLst>
          </p:cNvPr>
          <p:cNvSpPr txBox="1"/>
          <p:nvPr/>
        </p:nvSpPr>
        <p:spPr>
          <a:xfrm>
            <a:off x="6601886" y="3508568"/>
            <a:ext cx="21504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Cotisations patronales</a:t>
            </a:r>
          </a:p>
          <a:p>
            <a:pPr algn="ctr"/>
            <a:r>
              <a:rPr lang="fr-FR" sz="14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41%</a:t>
            </a:r>
          </a:p>
        </p:txBody>
      </p:sp>
      <p:sp>
        <p:nvSpPr>
          <p:cNvPr id="23" name="Right Brace 22">
            <a:extLst>
              <a:ext uri="{FF2B5EF4-FFF2-40B4-BE49-F238E27FC236}">
                <a16:creationId xmlns:a16="http://schemas.microsoft.com/office/drawing/2014/main" id="{EA32FA69-DA54-7F71-A8CC-E1198CA5057F}"/>
              </a:ext>
            </a:extLst>
          </p:cNvPr>
          <p:cNvSpPr/>
          <p:nvPr/>
        </p:nvSpPr>
        <p:spPr>
          <a:xfrm>
            <a:off x="9570062" y="2864971"/>
            <a:ext cx="148953" cy="2523513"/>
          </a:xfrm>
          <a:prstGeom prst="rightBrac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24" name="ZoneTexte 12">
            <a:extLst>
              <a:ext uri="{FF2B5EF4-FFF2-40B4-BE49-F238E27FC236}">
                <a16:creationId xmlns:a16="http://schemas.microsoft.com/office/drawing/2014/main" id="{2A820471-F2F3-FDC3-58E8-170607C8B088}"/>
              </a:ext>
            </a:extLst>
          </p:cNvPr>
          <p:cNvSpPr txBox="1"/>
          <p:nvPr/>
        </p:nvSpPr>
        <p:spPr>
          <a:xfrm>
            <a:off x="5956069" y="2317507"/>
            <a:ext cx="34420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Subventions et contributions d’équilibre</a:t>
            </a:r>
          </a:p>
          <a:p>
            <a:pPr algn="ctr"/>
            <a:r>
              <a:rPr lang="fr-FR" sz="14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14%</a:t>
            </a:r>
          </a:p>
        </p:txBody>
      </p:sp>
      <p:sp>
        <p:nvSpPr>
          <p:cNvPr id="25" name="ZoneTexte 12">
            <a:extLst>
              <a:ext uri="{FF2B5EF4-FFF2-40B4-BE49-F238E27FC236}">
                <a16:creationId xmlns:a16="http://schemas.microsoft.com/office/drawing/2014/main" id="{7B933188-184E-7616-4F19-E5D76D60897F}"/>
              </a:ext>
            </a:extLst>
          </p:cNvPr>
          <p:cNvSpPr txBox="1"/>
          <p:nvPr/>
        </p:nvSpPr>
        <p:spPr>
          <a:xfrm>
            <a:off x="5956068" y="1716152"/>
            <a:ext cx="34420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Impôts, taxes, CSG, produits financiers</a:t>
            </a:r>
          </a:p>
          <a:p>
            <a:pPr algn="ctr"/>
            <a:r>
              <a:rPr lang="fr-FR" sz="14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20%</a:t>
            </a:r>
          </a:p>
        </p:txBody>
      </p:sp>
      <p:sp>
        <p:nvSpPr>
          <p:cNvPr id="26" name="Right Brace 25">
            <a:extLst>
              <a:ext uri="{FF2B5EF4-FFF2-40B4-BE49-F238E27FC236}">
                <a16:creationId xmlns:a16="http://schemas.microsoft.com/office/drawing/2014/main" id="{EEB40AF8-4669-4E06-BB37-78A6A98FC5AD}"/>
              </a:ext>
            </a:extLst>
          </p:cNvPr>
          <p:cNvSpPr/>
          <p:nvPr/>
        </p:nvSpPr>
        <p:spPr>
          <a:xfrm>
            <a:off x="9558588" y="1633773"/>
            <a:ext cx="148953" cy="1130656"/>
          </a:xfrm>
          <a:prstGeom prst="rightBrac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3" name="ZoneTexte 12">
            <a:extLst>
              <a:ext uri="{FF2B5EF4-FFF2-40B4-BE49-F238E27FC236}">
                <a16:creationId xmlns:a16="http://schemas.microsoft.com/office/drawing/2014/main" id="{9BD8828A-FCC6-C0AF-0FED-C73E80BBEEC9}"/>
              </a:ext>
            </a:extLst>
          </p:cNvPr>
          <p:cNvSpPr txBox="1"/>
          <p:nvPr/>
        </p:nvSpPr>
        <p:spPr>
          <a:xfrm>
            <a:off x="5221320" y="6065128"/>
            <a:ext cx="64441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u="sng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Total = env. 400 Md€</a:t>
            </a:r>
            <a:endParaRPr lang="fr-FR" sz="1600" b="1" u="sng" dirty="0">
              <a:solidFill>
                <a:schemeClr val="bg1"/>
              </a:solidFill>
              <a:latin typeface="Questrial" pitchFamily="2" charset="77"/>
              <a:ea typeface="Questrial" pitchFamily="2" charset="77"/>
              <a:cs typeface="Questrial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20847412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661C9-256D-CB4C-553C-05E472121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Graphique 5">
            <a:extLst>
              <a:ext uri="{FF2B5EF4-FFF2-40B4-BE49-F238E27FC236}">
                <a16:creationId xmlns:a16="http://schemas.microsoft.com/office/drawing/2014/main" id="{0D32BA65-9267-4146-C17B-BC3A17D915F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69324104"/>
              </p:ext>
            </p:extLst>
          </p:nvPr>
        </p:nvGraphicFramePr>
        <p:xfrm>
          <a:off x="838200" y="2228799"/>
          <a:ext cx="5714999" cy="38091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ZoneTexte 7">
            <a:extLst>
              <a:ext uri="{FF2B5EF4-FFF2-40B4-BE49-F238E27FC236}">
                <a16:creationId xmlns:a16="http://schemas.microsoft.com/office/drawing/2014/main" id="{63356D97-77FD-C313-0685-EA43679F95E5}"/>
              </a:ext>
            </a:extLst>
          </p:cNvPr>
          <p:cNvSpPr txBox="1"/>
          <p:nvPr/>
        </p:nvSpPr>
        <p:spPr>
          <a:xfrm>
            <a:off x="2854262" y="6215876"/>
            <a:ext cx="28079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Source : COR, juin 2024</a:t>
            </a:r>
          </a:p>
        </p:txBody>
      </p:sp>
      <p:sp>
        <p:nvSpPr>
          <p:cNvPr id="5" name="ZoneTexte 8">
            <a:extLst>
              <a:ext uri="{FF2B5EF4-FFF2-40B4-BE49-F238E27FC236}">
                <a16:creationId xmlns:a16="http://schemas.microsoft.com/office/drawing/2014/main" id="{40E3492E-1AB8-31D0-0C58-1F11BFD66E9B}"/>
              </a:ext>
            </a:extLst>
          </p:cNvPr>
          <p:cNvSpPr txBox="1"/>
          <p:nvPr/>
        </p:nvSpPr>
        <p:spPr>
          <a:xfrm>
            <a:off x="838200" y="1431957"/>
            <a:ext cx="60190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>
              <a:defRPr sz="180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fr-FR" sz="2000" u="sng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Evolution du niveau de vie relatif des retraités par rapport au</a:t>
            </a:r>
            <a:r>
              <a:rPr lang="fr-FR" sz="2000" u="sng" baseline="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 reste de la population</a:t>
            </a:r>
            <a:endParaRPr lang="fr-FR" sz="2000" u="sng" dirty="0">
              <a:solidFill>
                <a:schemeClr val="bg1"/>
              </a:solidFill>
              <a:latin typeface="Questrial" pitchFamily="2" charset="77"/>
              <a:ea typeface="Questrial" pitchFamily="2" charset="77"/>
              <a:cs typeface="Questrial" pitchFamily="2" charset="77"/>
            </a:endParaRP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168E1060-E4CC-0A35-F31C-B00BE360E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R" dirty="0"/>
              <a:t>Une injustice générationnelle</a:t>
            </a:r>
          </a:p>
        </p:txBody>
      </p:sp>
      <p:pic>
        <p:nvPicPr>
          <p:cNvPr id="6" name="Picture 5" descr="Image">
            <a:extLst>
              <a:ext uri="{FF2B5EF4-FFF2-40B4-BE49-F238E27FC236}">
                <a16:creationId xmlns:a16="http://schemas.microsoft.com/office/drawing/2014/main" id="{77C747AF-3E8D-A32A-C55B-3067E53AEA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7227" y="1431957"/>
            <a:ext cx="5149735" cy="5149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66556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99CF3-5CF1-013F-7074-84C3E821F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2466301"/>
            <a:ext cx="4250569" cy="1325563"/>
          </a:xfrm>
        </p:spPr>
        <p:txBody>
          <a:bodyPr>
            <a:normAutofit fontScale="90000"/>
          </a:bodyPr>
          <a:lstStyle/>
          <a:p>
            <a:r>
              <a:rPr lang="en-FR" dirty="0"/>
              <a:t>Le rendement implicite du régime par répartition est extrêmement bas </a:t>
            </a:r>
            <a:r>
              <a:rPr lang="en-FR" sz="8900" dirty="0"/>
              <a:t>0,3% </a:t>
            </a:r>
            <a:endParaRPr lang="en-FR" dirty="0"/>
          </a:p>
        </p:txBody>
      </p:sp>
      <p:graphicFrame>
        <p:nvGraphicFramePr>
          <p:cNvPr id="4" name="Graphique 7">
            <a:extLst>
              <a:ext uri="{FF2B5EF4-FFF2-40B4-BE49-F238E27FC236}">
                <a16:creationId xmlns:a16="http://schemas.microsoft.com/office/drawing/2014/main" id="{BB92EDA1-1146-A512-1765-FA1A3B722B8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48352172"/>
              </p:ext>
            </p:extLst>
          </p:nvPr>
        </p:nvGraphicFramePr>
        <p:xfrm>
          <a:off x="4767757" y="950621"/>
          <a:ext cx="7103230" cy="51135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ZoneTexte 2">
            <a:extLst>
              <a:ext uri="{FF2B5EF4-FFF2-40B4-BE49-F238E27FC236}">
                <a16:creationId xmlns:a16="http://schemas.microsoft.com/office/drawing/2014/main" id="{5CAF4268-8AE4-8A0E-9E63-FD16AB626ACB}"/>
              </a:ext>
            </a:extLst>
          </p:cNvPr>
          <p:cNvSpPr txBox="1"/>
          <p:nvPr/>
        </p:nvSpPr>
        <p:spPr>
          <a:xfrm>
            <a:off x="5630532" y="6336286"/>
            <a:ext cx="18196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Source : COR, juin 2024</a:t>
            </a:r>
          </a:p>
        </p:txBody>
      </p:sp>
    </p:spTree>
    <p:extLst>
      <p:ext uri="{BB962C8B-B14F-4D97-AF65-F5344CB8AC3E}">
        <p14:creationId xmlns:p14="http://schemas.microsoft.com/office/powerpoint/2010/main" val="142933402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53504B-79DC-EF1C-A0A9-8CFC12528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8" y="439977"/>
            <a:ext cx="11038945" cy="1018729"/>
          </a:xfrm>
        </p:spPr>
        <p:txBody>
          <a:bodyPr>
            <a:noAutofit/>
          </a:bodyPr>
          <a:lstStyle/>
          <a:p>
            <a:r>
              <a:rPr lang="fr-FR" b="1" dirty="0"/>
              <a:t>Ce que j’obtiens si je cotise 500 euros par mois pendant 43 ans, avec le rendement du régime par répartition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22C6652F-1561-EEF9-2D29-31A1DBA248BC}"/>
              </a:ext>
            </a:extLst>
          </p:cNvPr>
          <p:cNvSpPr txBox="1"/>
          <p:nvPr/>
        </p:nvSpPr>
        <p:spPr>
          <a:xfrm>
            <a:off x="3285759" y="6200745"/>
            <a:ext cx="71275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Hypothèses : Le taux de rendement interne (TRI)par génération correspond au taux de rendement interne utilisé par le COR dans ses modèles (juin 2024)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13C4923D-6A74-8301-11D9-B55600F32752}"/>
              </a:ext>
            </a:extLst>
          </p:cNvPr>
          <p:cNvSpPr txBox="1"/>
          <p:nvPr/>
        </p:nvSpPr>
        <p:spPr>
          <a:xfrm>
            <a:off x="4235310" y="5828996"/>
            <a:ext cx="8472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TRI: 2,4% </a:t>
            </a:r>
          </a:p>
        </p:txBody>
      </p:sp>
      <p:graphicFrame>
        <p:nvGraphicFramePr>
          <p:cNvPr id="4" name="Graphique 3">
            <a:extLst>
              <a:ext uri="{FF2B5EF4-FFF2-40B4-BE49-F238E27FC236}">
                <a16:creationId xmlns:a16="http://schemas.microsoft.com/office/drawing/2014/main" id="{6B7AF7EA-4DDB-F100-E718-FAD6A52B3EAA}"/>
              </a:ext>
            </a:extLst>
          </p:cNvPr>
          <p:cNvGraphicFramePr/>
          <p:nvPr/>
        </p:nvGraphicFramePr>
        <p:xfrm>
          <a:off x="2713395" y="1674421"/>
          <a:ext cx="7493329" cy="42342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ZoneTexte 4">
            <a:extLst>
              <a:ext uri="{FF2B5EF4-FFF2-40B4-BE49-F238E27FC236}">
                <a16:creationId xmlns:a16="http://schemas.microsoft.com/office/drawing/2014/main" id="{C71FE391-AA69-2691-54CA-7A3AC728B4BD}"/>
              </a:ext>
            </a:extLst>
          </p:cNvPr>
          <p:cNvSpPr txBox="1"/>
          <p:nvPr/>
        </p:nvSpPr>
        <p:spPr>
          <a:xfrm>
            <a:off x="6462217" y="5828996"/>
            <a:ext cx="8472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TRI: 0,7% 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F62FAB7B-455F-7671-F0B1-18633021CCE8}"/>
              </a:ext>
            </a:extLst>
          </p:cNvPr>
          <p:cNvSpPr txBox="1"/>
          <p:nvPr/>
        </p:nvSpPr>
        <p:spPr>
          <a:xfrm>
            <a:off x="8665011" y="5828996"/>
            <a:ext cx="8472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TRI: 0,3% </a:t>
            </a:r>
          </a:p>
        </p:txBody>
      </p:sp>
    </p:spTree>
    <p:extLst>
      <p:ext uri="{BB962C8B-B14F-4D97-AF65-F5344CB8AC3E}">
        <p14:creationId xmlns:p14="http://schemas.microsoft.com/office/powerpoint/2010/main" val="391297419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DC55CE9-3787-2CB1-4756-386303965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618" y="4481112"/>
            <a:ext cx="3187926" cy="1600200"/>
          </a:xfrm>
        </p:spPr>
        <p:txBody>
          <a:bodyPr>
            <a:noAutofit/>
          </a:bodyPr>
          <a:lstStyle/>
          <a:p>
            <a:r>
              <a:rPr lang="fr-FR" sz="4400" dirty="0"/>
              <a:t>La génération du baby-boom a cotisé deux fois moins que son niveau de pension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0D05D28C-B01B-3052-AFD7-3062142D52FF}"/>
              </a:ext>
            </a:extLst>
          </p:cNvPr>
          <p:cNvSpPr txBox="1"/>
          <p:nvPr/>
        </p:nvSpPr>
        <p:spPr>
          <a:xfrm>
            <a:off x="5451468" y="5619647"/>
            <a:ext cx="60974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u="sng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Source : France Stratégie, « </a:t>
            </a:r>
            <a:r>
              <a:rPr lang="fr-FR" sz="1200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Les réformes récentes des régimes de retraite sont-elles équitables ?</a:t>
            </a:r>
            <a:endParaRPr lang="fr-FR" sz="1200" u="sng" dirty="0">
              <a:solidFill>
                <a:schemeClr val="bg1"/>
              </a:solidFill>
            </a:endParaRPr>
          </a:p>
        </p:txBody>
      </p:sp>
      <p:pic>
        <p:nvPicPr>
          <p:cNvPr id="12" name="Espace réservé du contenu 11" descr="Une image contenant texte, ligne, Tracé, diagramme&#10;&#10;Description générée automatiquement">
            <a:extLst>
              <a:ext uri="{FF2B5EF4-FFF2-40B4-BE49-F238E27FC236}">
                <a16:creationId xmlns:a16="http://schemas.microsoft.com/office/drawing/2014/main" id="{D3523135-B409-9731-2F3F-CF7BA9D341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grayscl/>
          </a:blip>
          <a:srcRect l="2954" t="14175" r="1211" b="8486"/>
          <a:stretch/>
        </p:blipFill>
        <p:spPr>
          <a:xfrm>
            <a:off x="5539933" y="1699850"/>
            <a:ext cx="6269676" cy="3811589"/>
          </a:xfr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30108CDA-509F-EE2A-D187-4F1FAB35D74C}"/>
              </a:ext>
            </a:extLst>
          </p:cNvPr>
          <p:cNvSpPr txBox="1"/>
          <p:nvPr/>
        </p:nvSpPr>
        <p:spPr>
          <a:xfrm>
            <a:off x="5544986" y="1081313"/>
            <a:ext cx="60974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b="1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Taux de récupération, taux de prestation et taux de la contribution</a:t>
            </a:r>
          </a:p>
          <a:p>
            <a:pPr algn="ctr"/>
            <a:r>
              <a:rPr lang="fr-FR" sz="1400" b="1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 selon l’année de naissance</a:t>
            </a:r>
          </a:p>
        </p:txBody>
      </p:sp>
    </p:spTree>
    <p:extLst>
      <p:ext uri="{BB962C8B-B14F-4D97-AF65-F5344CB8AC3E}">
        <p14:creationId xmlns:p14="http://schemas.microsoft.com/office/powerpoint/2010/main" val="136056471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70490-0D7A-E003-B029-9C5CF30CC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R" dirty="0"/>
              <a:t>Retraite par capitalisation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2C7F44-E18F-56F8-48C9-BDF44FF126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FR" dirty="0"/>
              <a:t>Fonctionnement</a:t>
            </a:r>
          </a:p>
        </p:txBody>
      </p:sp>
    </p:spTree>
    <p:extLst>
      <p:ext uri="{BB962C8B-B14F-4D97-AF65-F5344CB8AC3E}">
        <p14:creationId xmlns:p14="http://schemas.microsoft.com/office/powerpoint/2010/main" val="77336268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4748E0-978A-662A-B988-648ECAF3B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Répartition             vs.          Capitalisation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3D20377-9AE0-E50F-7CB9-896E21AE94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6175" y="2874454"/>
            <a:ext cx="4656667" cy="2255330"/>
          </a:xfrm>
        </p:spPr>
        <p:txBody>
          <a:bodyPr>
            <a:normAutofit lnSpcReduction="10000"/>
          </a:bodyPr>
          <a:lstStyle/>
          <a:p>
            <a:pPr marL="715963" indent="-708025">
              <a:buFont typeface="Police système Courant"/>
              <a:buChar char="❌"/>
            </a:pPr>
            <a:r>
              <a:rPr lang="fr-FR" sz="3200" b="0" i="0" u="none" strike="noStrike" dirty="0">
                <a:effectLst/>
                <a:ea typeface="Questrial" pitchFamily="2" charset="77"/>
                <a:cs typeface="Questrial" pitchFamily="2" charset="77"/>
              </a:rPr>
              <a:t>Les actifs cotisent pour financer immédiatement les pensions des retraités</a:t>
            </a:r>
          </a:p>
          <a:p>
            <a:pPr marL="407988" indent="-398463">
              <a:buFont typeface="Police système Courant"/>
              <a:buChar char="❌"/>
            </a:pPr>
            <a:endParaRPr lang="fr-FR" sz="4100" b="0" i="0" u="none" strike="noStrike" dirty="0">
              <a:effectLst/>
              <a:ea typeface="Questrial" pitchFamily="2" charset="77"/>
              <a:cs typeface="Questrial" pitchFamily="2" charset="77"/>
            </a:endParaRPr>
          </a:p>
          <a:p>
            <a:pPr marL="407988" indent="-398463">
              <a:buFont typeface="Police système Courant"/>
              <a:buChar char="❌"/>
            </a:pPr>
            <a:endParaRPr lang="fr-FR" sz="4100" b="0" i="0" u="none" strike="noStrike" dirty="0">
              <a:effectLst/>
              <a:ea typeface="Questrial" pitchFamily="2" charset="77"/>
              <a:cs typeface="Questrial" pitchFamily="2" charset="77"/>
            </a:endParaRPr>
          </a:p>
          <a:p>
            <a:pPr marL="407988" indent="-398463">
              <a:buFont typeface="Police système Courant"/>
              <a:buChar char="❌"/>
            </a:pPr>
            <a:endParaRPr lang="fr-FR" dirty="0">
              <a:ea typeface="Questrial" pitchFamily="2" charset="77"/>
              <a:cs typeface="Questrial" pitchFamily="2" charset="77"/>
            </a:endParaRP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899AD10-B9F4-9C32-C75A-34E45EC2A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12503" y="2487167"/>
            <a:ext cx="5046132" cy="2935225"/>
          </a:xfrm>
        </p:spPr>
        <p:txBody>
          <a:bodyPr>
            <a:normAutofit lnSpcReduction="10000"/>
          </a:bodyPr>
          <a:lstStyle/>
          <a:p>
            <a:pPr marL="466725" indent="-457200">
              <a:buFont typeface="Police système Courant"/>
              <a:buChar char="✅"/>
            </a:pPr>
            <a:endParaRPr lang="fr-FR" dirty="0">
              <a:ea typeface="Questrial" pitchFamily="2" charset="77"/>
              <a:cs typeface="Questrial" pitchFamily="2" charset="77"/>
            </a:endParaRPr>
          </a:p>
          <a:p>
            <a:pPr marL="889000" indent="-798513">
              <a:buFont typeface="Police système Courant"/>
              <a:buChar char="✅"/>
            </a:pPr>
            <a:r>
              <a:rPr lang="fr-FR" sz="3200" b="0" i="0" u="none" strike="noStrike" dirty="0">
                <a:effectLst/>
                <a:ea typeface="Questrial" pitchFamily="2" charset="77"/>
                <a:cs typeface="Questrial" pitchFamily="2" charset="77"/>
              </a:rPr>
              <a:t>Les cotisations sont placées dans des fonds d'investissement</a:t>
            </a:r>
            <a:r>
              <a:rPr lang="fr-FR" sz="3200" dirty="0">
                <a:ea typeface="Questrial" pitchFamily="2" charset="77"/>
                <a:cs typeface="Questrial" pitchFamily="2" charset="77"/>
              </a:rPr>
              <a:t> et génèrent des rendements élevés</a:t>
            </a:r>
            <a:endParaRPr lang="fr-FR" sz="3200" b="0" i="0" u="none" strike="noStrike" dirty="0">
              <a:effectLst/>
              <a:ea typeface="Questrial" pitchFamily="2" charset="77"/>
              <a:cs typeface="Questrial" pitchFamily="2" charset="77"/>
            </a:endParaRPr>
          </a:p>
          <a:p>
            <a:pPr marL="9525" indent="0">
              <a:buNone/>
            </a:pPr>
            <a:endParaRPr lang="fr-FR" sz="3200" dirty="0">
              <a:ea typeface="Questrial" pitchFamily="2" charset="77"/>
              <a:cs typeface="Questrial" pitchFamily="2" charset="77"/>
            </a:endParaRPr>
          </a:p>
          <a:p>
            <a:pPr marL="9525" indent="0">
              <a:buNone/>
            </a:pPr>
            <a:endParaRPr lang="fr-FR" dirty="0">
              <a:ea typeface="Questrial" pitchFamily="2" charset="77"/>
              <a:cs typeface="Questrial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25936634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A625F-BA0E-F596-2309-0F007A48E8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845" y="620484"/>
            <a:ext cx="3710441" cy="3875315"/>
          </a:xfrm>
        </p:spPr>
        <p:txBody>
          <a:bodyPr>
            <a:normAutofit/>
          </a:bodyPr>
          <a:lstStyle/>
          <a:p>
            <a:r>
              <a:rPr lang="en-FR" sz="4000" dirty="0"/>
              <a:t>La magie des intérêts composés</a:t>
            </a:r>
          </a:p>
        </p:txBody>
      </p:sp>
      <p:graphicFrame>
        <p:nvGraphicFramePr>
          <p:cNvPr id="5" name="Graphique 4">
            <a:extLst>
              <a:ext uri="{FF2B5EF4-FFF2-40B4-BE49-F238E27FC236}">
                <a16:creationId xmlns:a16="http://schemas.microsoft.com/office/drawing/2014/main" id="{189FB1C1-833F-C869-566A-F34B2B77079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94773378"/>
              </p:ext>
            </p:extLst>
          </p:nvPr>
        </p:nvGraphicFramePr>
        <p:xfrm>
          <a:off x="4354287" y="620484"/>
          <a:ext cx="7193868" cy="56861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40570041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1CC14-517C-FE01-A4D0-6A835A68A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1">
            <a:extLst>
              <a:ext uri="{FF2B5EF4-FFF2-40B4-BE49-F238E27FC236}">
                <a16:creationId xmlns:a16="http://schemas.microsoft.com/office/drawing/2014/main" id="{48A39403-8D2E-11DC-DF50-2B157315CDF3}"/>
              </a:ext>
            </a:extLst>
          </p:cNvPr>
          <p:cNvSpPr txBox="1">
            <a:spLocks/>
          </p:cNvSpPr>
          <p:nvPr/>
        </p:nvSpPr>
        <p:spPr>
          <a:xfrm>
            <a:off x="676677" y="3021028"/>
            <a:ext cx="4507014" cy="81594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Questrial" pitchFamily="2" charset="77"/>
                <a:ea typeface="+mj-ea"/>
                <a:cs typeface="+mj-cs"/>
              </a:defRPr>
            </a:lvl1pPr>
          </a:lstStyle>
          <a:p>
            <a:pPr algn="ctr"/>
            <a:r>
              <a:rPr lang="fr-FR" b="1" dirty="0"/>
              <a:t>En répartition</a:t>
            </a:r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5F88B97E-3F2B-1061-4CDC-2103114779A2}"/>
              </a:ext>
            </a:extLst>
          </p:cNvPr>
          <p:cNvSpPr txBox="1">
            <a:spLocks/>
          </p:cNvSpPr>
          <p:nvPr/>
        </p:nvSpPr>
        <p:spPr>
          <a:xfrm>
            <a:off x="1032069" y="655871"/>
            <a:ext cx="10451592" cy="112074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Questrial" pitchFamily="2" charset="77"/>
                <a:ea typeface="+mj-ea"/>
                <a:cs typeface="+mj-cs"/>
              </a:defRPr>
            </a:lvl1pPr>
          </a:lstStyle>
          <a:p>
            <a:pPr algn="ctr"/>
            <a:r>
              <a:rPr lang="fr-FR" sz="4400" b="1" dirty="0"/>
              <a:t>Une personne qui gagne </a:t>
            </a:r>
          </a:p>
          <a:p>
            <a:pPr algn="ctr"/>
            <a:r>
              <a:rPr lang="fr-FR" sz="4400" b="1" dirty="0"/>
              <a:t>2700 euros net par mois</a:t>
            </a:r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51ABA28C-9DCD-4C02-A80B-2B76DFE76B73}"/>
              </a:ext>
            </a:extLst>
          </p:cNvPr>
          <p:cNvSpPr txBox="1">
            <a:spLocks/>
          </p:cNvSpPr>
          <p:nvPr/>
        </p:nvSpPr>
        <p:spPr>
          <a:xfrm>
            <a:off x="6431498" y="3008376"/>
            <a:ext cx="5256212" cy="81594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Questrial" pitchFamily="2" charset="77"/>
                <a:ea typeface="+mj-ea"/>
                <a:cs typeface="+mj-cs"/>
              </a:defRPr>
            </a:lvl1pPr>
          </a:lstStyle>
          <a:p>
            <a:pPr algn="ctr"/>
            <a:r>
              <a:rPr lang="fr-FR" b="1" dirty="0"/>
              <a:t>En capitalisation</a:t>
            </a:r>
          </a:p>
        </p:txBody>
      </p:sp>
      <p:sp>
        <p:nvSpPr>
          <p:cNvPr id="12" name="Espace réservé du contenu 2">
            <a:extLst>
              <a:ext uri="{FF2B5EF4-FFF2-40B4-BE49-F238E27FC236}">
                <a16:creationId xmlns:a16="http://schemas.microsoft.com/office/drawing/2014/main" id="{D8FC2B9E-572F-FECD-F2E4-30F9B3BE6607}"/>
              </a:ext>
            </a:extLst>
          </p:cNvPr>
          <p:cNvSpPr txBox="1">
            <a:spLocks/>
          </p:cNvSpPr>
          <p:nvPr/>
        </p:nvSpPr>
        <p:spPr>
          <a:xfrm>
            <a:off x="1032069" y="3953350"/>
            <a:ext cx="4234675" cy="71544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6600" dirty="0"/>
              <a:t>528 612 €</a:t>
            </a:r>
          </a:p>
          <a:p>
            <a:pPr marL="0" indent="0">
              <a:buNone/>
            </a:pPr>
            <a:endParaRPr lang="fr-FR" sz="6600" dirty="0"/>
          </a:p>
          <a:p>
            <a:pPr marL="0" indent="0">
              <a:buNone/>
            </a:pPr>
            <a:endParaRPr lang="fr-FR" sz="6600" dirty="0"/>
          </a:p>
          <a:p>
            <a:endParaRPr lang="fr-FR" sz="6600" dirty="0"/>
          </a:p>
        </p:txBody>
      </p:sp>
      <p:sp>
        <p:nvSpPr>
          <p:cNvPr id="15" name="Espace réservé du contenu 2">
            <a:extLst>
              <a:ext uri="{FF2B5EF4-FFF2-40B4-BE49-F238E27FC236}">
                <a16:creationId xmlns:a16="http://schemas.microsoft.com/office/drawing/2014/main" id="{05FCFDC5-2342-3086-BE18-326A975BAA91}"/>
              </a:ext>
            </a:extLst>
          </p:cNvPr>
          <p:cNvSpPr txBox="1">
            <a:spLocks/>
          </p:cNvSpPr>
          <p:nvPr/>
        </p:nvSpPr>
        <p:spPr>
          <a:xfrm>
            <a:off x="2255345" y="5084981"/>
            <a:ext cx="2410878" cy="4498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2400" dirty="0"/>
              <a:t>de capital</a:t>
            </a:r>
          </a:p>
          <a:p>
            <a:pPr marL="0" indent="0">
              <a:buNone/>
            </a:pPr>
            <a:endParaRPr lang="fr-FR" sz="4000" dirty="0"/>
          </a:p>
        </p:txBody>
      </p:sp>
      <p:sp>
        <p:nvSpPr>
          <p:cNvPr id="16" name="Espace réservé du contenu 2">
            <a:extLst>
              <a:ext uri="{FF2B5EF4-FFF2-40B4-BE49-F238E27FC236}">
                <a16:creationId xmlns:a16="http://schemas.microsoft.com/office/drawing/2014/main" id="{30591C65-2A70-907E-7BD0-D856102FCB6B}"/>
              </a:ext>
            </a:extLst>
          </p:cNvPr>
          <p:cNvSpPr txBox="1">
            <a:spLocks/>
          </p:cNvSpPr>
          <p:nvPr/>
        </p:nvSpPr>
        <p:spPr>
          <a:xfrm>
            <a:off x="6817224" y="3953350"/>
            <a:ext cx="4484760" cy="10731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6600" dirty="0"/>
              <a:t>1 684 701 €</a:t>
            </a:r>
          </a:p>
          <a:p>
            <a:pPr marL="0" indent="0">
              <a:buNone/>
            </a:pPr>
            <a:endParaRPr lang="fr-FR" sz="4400" dirty="0"/>
          </a:p>
          <a:p>
            <a:pPr marL="0" indent="0">
              <a:buNone/>
            </a:pPr>
            <a:endParaRPr lang="fr-FR" sz="4400" dirty="0"/>
          </a:p>
          <a:p>
            <a:endParaRPr lang="fr-FR" sz="4400" dirty="0"/>
          </a:p>
        </p:txBody>
      </p:sp>
      <p:sp>
        <p:nvSpPr>
          <p:cNvPr id="18" name="Espace réservé du contenu 2">
            <a:extLst>
              <a:ext uri="{FF2B5EF4-FFF2-40B4-BE49-F238E27FC236}">
                <a16:creationId xmlns:a16="http://schemas.microsoft.com/office/drawing/2014/main" id="{C06964DA-E389-7757-6C1F-2B5463DED5A6}"/>
              </a:ext>
            </a:extLst>
          </p:cNvPr>
          <p:cNvSpPr txBox="1">
            <a:spLocks/>
          </p:cNvSpPr>
          <p:nvPr/>
        </p:nvSpPr>
        <p:spPr>
          <a:xfrm>
            <a:off x="8365141" y="5026521"/>
            <a:ext cx="2410878" cy="4498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2400" dirty="0"/>
              <a:t>de capital</a:t>
            </a:r>
          </a:p>
          <a:p>
            <a:pPr marL="0" indent="0">
              <a:buNone/>
            </a:pPr>
            <a:endParaRPr lang="fr-FR" sz="400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2CE0464-BB30-9CF9-CF35-5CD4C8279F17}"/>
              </a:ext>
            </a:extLst>
          </p:cNvPr>
          <p:cNvSpPr txBox="1">
            <a:spLocks/>
          </p:cNvSpPr>
          <p:nvPr/>
        </p:nvSpPr>
        <p:spPr>
          <a:xfrm>
            <a:off x="3563497" y="1864445"/>
            <a:ext cx="5256212" cy="81594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Questrial" pitchFamily="2" charset="77"/>
                <a:ea typeface="+mj-ea"/>
                <a:cs typeface="+mj-cs"/>
              </a:defRPr>
            </a:lvl1pPr>
          </a:lstStyle>
          <a:p>
            <a:pPr algn="ctr"/>
            <a:r>
              <a:rPr lang="fr-FR" sz="2400" b="1" dirty="0"/>
              <a:t>obtient à la retraite</a:t>
            </a:r>
          </a:p>
        </p:txBody>
      </p:sp>
    </p:spTree>
    <p:extLst>
      <p:ext uri="{BB962C8B-B14F-4D97-AF65-F5344CB8AC3E}">
        <p14:creationId xmlns:p14="http://schemas.microsoft.com/office/powerpoint/2010/main" val="10155199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BC13485-54B5-F87F-DAB5-3D7D69391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587" y="3563493"/>
            <a:ext cx="3932237" cy="1600200"/>
          </a:xfrm>
        </p:spPr>
        <p:txBody>
          <a:bodyPr>
            <a:noAutofit/>
          </a:bodyPr>
          <a:lstStyle/>
          <a:p>
            <a:r>
              <a:rPr lang="fr-FR" sz="4400" dirty="0"/>
              <a:t>La retraite par capitalisation permet d’accumuler du capital plus rapidement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AAC5084B-CDE1-8109-D902-7310AE5285EE}"/>
              </a:ext>
            </a:extLst>
          </p:cNvPr>
          <p:cNvSpPr txBox="1">
            <a:spLocks/>
          </p:cNvSpPr>
          <p:nvPr/>
        </p:nvSpPr>
        <p:spPr>
          <a:xfrm>
            <a:off x="5893935" y="5851783"/>
            <a:ext cx="4837565" cy="72161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Questrial" pitchFamily="2" charset="77"/>
                <a:ea typeface="+mj-ea"/>
                <a:cs typeface="+mj-cs"/>
              </a:defRPr>
            </a:lvl1pPr>
          </a:lstStyle>
          <a:p>
            <a:r>
              <a:rPr lang="fr-FR" sz="1100" b="1" dirty="0"/>
              <a:t>Hypothèses 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1100" b="1" dirty="0"/>
              <a:t>Age de début de cotisation : 22 ans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1100" b="1" dirty="0"/>
              <a:t>0,3% correspond au taux de rendement du régime par répartition actuel d’après le COR</a:t>
            </a:r>
          </a:p>
        </p:txBody>
      </p:sp>
      <p:graphicFrame>
        <p:nvGraphicFramePr>
          <p:cNvPr id="3" name="Graphique 2">
            <a:extLst>
              <a:ext uri="{FF2B5EF4-FFF2-40B4-BE49-F238E27FC236}">
                <a16:creationId xmlns:a16="http://schemas.microsoft.com/office/drawing/2014/main" id="{AA686FA3-5E1B-0F35-4B15-536AB6E400B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10304443"/>
              </p:ext>
            </p:extLst>
          </p:nvPr>
        </p:nvGraphicFramePr>
        <p:xfrm>
          <a:off x="5110162" y="284605"/>
          <a:ext cx="6815138" cy="49933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ZoneTexte 7">
            <a:extLst>
              <a:ext uri="{FF2B5EF4-FFF2-40B4-BE49-F238E27FC236}">
                <a16:creationId xmlns:a16="http://schemas.microsoft.com/office/drawing/2014/main" id="{70932DC8-8FB0-9BB9-6448-1D09EA84C644}"/>
              </a:ext>
            </a:extLst>
          </p:cNvPr>
          <p:cNvSpPr txBox="1"/>
          <p:nvPr/>
        </p:nvSpPr>
        <p:spPr>
          <a:xfrm>
            <a:off x="5554664" y="5029309"/>
            <a:ext cx="9651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Rendement du régime par répartition</a:t>
            </a:r>
          </a:p>
        </p:txBody>
      </p:sp>
    </p:spTree>
    <p:extLst>
      <p:ext uri="{BB962C8B-B14F-4D97-AF65-F5344CB8AC3E}">
        <p14:creationId xmlns:p14="http://schemas.microsoft.com/office/powerpoint/2010/main" val="193575940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BC13485-54B5-F87F-DAB5-3D7D69391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656012" cy="5551057"/>
          </a:xfrm>
        </p:spPr>
        <p:txBody>
          <a:bodyPr>
            <a:normAutofit/>
          </a:bodyPr>
          <a:lstStyle/>
          <a:p>
            <a:r>
              <a:rPr lang="fr-FR" sz="4400" dirty="0"/>
              <a:t>La retraite par capitalisation permet de payer moins de cotisations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AAC5084B-CDE1-8109-D902-7310AE5285EE}"/>
              </a:ext>
            </a:extLst>
          </p:cNvPr>
          <p:cNvSpPr txBox="1">
            <a:spLocks/>
          </p:cNvSpPr>
          <p:nvPr/>
        </p:nvSpPr>
        <p:spPr>
          <a:xfrm>
            <a:off x="5783868" y="6008257"/>
            <a:ext cx="6408132" cy="54258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Questrial" pitchFamily="2" charset="77"/>
                <a:ea typeface="+mj-ea"/>
                <a:cs typeface="+mj-cs"/>
              </a:defRPr>
            </a:lvl1pPr>
          </a:lstStyle>
          <a:p>
            <a:r>
              <a:rPr lang="fr-FR" sz="1100" b="1" dirty="0"/>
              <a:t>Hypothèse 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1100" b="1" dirty="0"/>
              <a:t>Durée de cotisation : 43 ans</a:t>
            </a:r>
          </a:p>
        </p:txBody>
      </p:sp>
      <p:graphicFrame>
        <p:nvGraphicFramePr>
          <p:cNvPr id="3" name="Graphique 2">
            <a:extLst>
              <a:ext uri="{FF2B5EF4-FFF2-40B4-BE49-F238E27FC236}">
                <a16:creationId xmlns:a16="http://schemas.microsoft.com/office/drawing/2014/main" id="{BB50CC6B-5F53-29FB-F5DC-AF145985E20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69628789"/>
              </p:ext>
            </p:extLst>
          </p:nvPr>
        </p:nvGraphicFramePr>
        <p:xfrm>
          <a:off x="5067301" y="307160"/>
          <a:ext cx="6908800" cy="53894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ZoneTexte 6">
            <a:extLst>
              <a:ext uri="{FF2B5EF4-FFF2-40B4-BE49-F238E27FC236}">
                <a16:creationId xmlns:a16="http://schemas.microsoft.com/office/drawing/2014/main" id="{4CB0F954-F469-7DD0-8D41-AE4A1F874A86}"/>
              </a:ext>
            </a:extLst>
          </p:cNvPr>
          <p:cNvSpPr txBox="1"/>
          <p:nvPr/>
        </p:nvSpPr>
        <p:spPr>
          <a:xfrm>
            <a:off x="5613402" y="5427645"/>
            <a:ext cx="9651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Rendement du régime par répartition</a:t>
            </a:r>
          </a:p>
        </p:txBody>
      </p:sp>
    </p:spTree>
    <p:extLst>
      <p:ext uri="{BB962C8B-B14F-4D97-AF65-F5344CB8AC3E}">
        <p14:creationId xmlns:p14="http://schemas.microsoft.com/office/powerpoint/2010/main" val="363980251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55B00EA-DD0B-D452-C0B5-3040B975B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rendements des fonds de pension sont élevés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D9ED98B3-BDE9-8B87-533F-3F95DA7E3D7C}"/>
              </a:ext>
            </a:extLst>
          </p:cNvPr>
          <p:cNvSpPr txBox="1"/>
          <p:nvPr/>
        </p:nvSpPr>
        <p:spPr>
          <a:xfrm>
            <a:off x="6293796" y="6492875"/>
            <a:ext cx="489522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Source : OCDE, Pensions at </a:t>
            </a:r>
            <a:r>
              <a:rPr lang="fr-FR" sz="800" dirty="0" err="1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Glance</a:t>
            </a:r>
            <a:r>
              <a:rPr lang="fr-FR" sz="8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, 2023 – Rendements sur 10 ans des fonds de pension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C219E2F-DA2C-C473-0A04-2CE9640A8ACC}"/>
              </a:ext>
            </a:extLst>
          </p:cNvPr>
          <p:cNvSpPr txBox="1"/>
          <p:nvPr/>
        </p:nvSpPr>
        <p:spPr>
          <a:xfrm>
            <a:off x="11189016" y="5134806"/>
            <a:ext cx="9775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7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Rendement du système de retraite français actuel: 0,3%</a:t>
            </a:r>
          </a:p>
        </p:txBody>
      </p:sp>
      <p:graphicFrame>
        <p:nvGraphicFramePr>
          <p:cNvPr id="4" name="Graphique 3">
            <a:extLst>
              <a:ext uri="{FF2B5EF4-FFF2-40B4-BE49-F238E27FC236}">
                <a16:creationId xmlns:a16="http://schemas.microsoft.com/office/drawing/2014/main" id="{3E3C650B-61F9-9ADD-3D4A-02DE427BF5F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72445321"/>
              </p:ext>
            </p:extLst>
          </p:nvPr>
        </p:nvGraphicFramePr>
        <p:xfrm>
          <a:off x="911225" y="1947856"/>
          <a:ext cx="10369550" cy="41750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33E9B5CE-DE83-7DE6-16FC-B33D6EFF853A}"/>
              </a:ext>
            </a:extLst>
          </p:cNvPr>
          <p:cNvCxnSpPr/>
          <p:nvPr/>
        </p:nvCxnSpPr>
        <p:spPr>
          <a:xfrm>
            <a:off x="1193769" y="5396416"/>
            <a:ext cx="9995247" cy="0"/>
          </a:xfrm>
          <a:prstGeom prst="line">
            <a:avLst/>
          </a:prstGeom>
          <a:ln>
            <a:solidFill>
              <a:schemeClr val="bg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945454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B410F-E6BA-F841-91A5-03F6D077A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R" dirty="0"/>
              <a:t>Avec la capitalisation : cotiser moins pour gagner plus</a:t>
            </a:r>
          </a:p>
        </p:txBody>
      </p:sp>
      <p:graphicFrame>
        <p:nvGraphicFramePr>
          <p:cNvPr id="5" name="Graphique 3">
            <a:extLst>
              <a:ext uri="{FF2B5EF4-FFF2-40B4-BE49-F238E27FC236}">
                <a16:creationId xmlns:a16="http://schemas.microsoft.com/office/drawing/2014/main" id="{0AB07950-5B95-63C0-9367-034A0EB741A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95417974"/>
              </p:ext>
            </p:extLst>
          </p:nvPr>
        </p:nvGraphicFramePr>
        <p:xfrm>
          <a:off x="4357370" y="1476981"/>
          <a:ext cx="7493329" cy="42342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Right Arrow 10">
            <a:extLst>
              <a:ext uri="{FF2B5EF4-FFF2-40B4-BE49-F238E27FC236}">
                <a16:creationId xmlns:a16="http://schemas.microsoft.com/office/drawing/2014/main" id="{1C1FC2A8-5623-0626-FA05-1CCAEE10536F}"/>
              </a:ext>
            </a:extLst>
          </p:cNvPr>
          <p:cNvSpPr/>
          <p:nvPr/>
        </p:nvSpPr>
        <p:spPr>
          <a:xfrm>
            <a:off x="3219113" y="3269607"/>
            <a:ext cx="593388" cy="520575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12" name="Titre 1">
            <a:extLst>
              <a:ext uri="{FF2B5EF4-FFF2-40B4-BE49-F238E27FC236}">
                <a16:creationId xmlns:a16="http://schemas.microsoft.com/office/drawing/2014/main" id="{F150C3A9-55B9-C83F-8A10-3BAAB5C02CBA}"/>
              </a:ext>
            </a:extLst>
          </p:cNvPr>
          <p:cNvSpPr txBox="1">
            <a:spLocks/>
          </p:cNvSpPr>
          <p:nvPr/>
        </p:nvSpPr>
        <p:spPr>
          <a:xfrm>
            <a:off x="728995" y="2266254"/>
            <a:ext cx="2472660" cy="226654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Questrial" pitchFamily="2" charset="77"/>
                <a:ea typeface="+mj-ea"/>
                <a:cs typeface="+mj-cs"/>
              </a:defRPr>
            </a:lvl1pPr>
          </a:lstStyle>
          <a:p>
            <a:r>
              <a:rPr lang="fr-FR" sz="2400" dirty="0"/>
              <a:t>Une personne au SMIC cotise 500€/mois pendant </a:t>
            </a:r>
          </a:p>
          <a:p>
            <a:r>
              <a:rPr lang="fr-FR" sz="2400" dirty="0"/>
              <a:t>43 ans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17E20E7-7677-6033-8A57-FD4F10882061}"/>
              </a:ext>
            </a:extLst>
          </p:cNvPr>
          <p:cNvSpPr txBox="1"/>
          <p:nvPr/>
        </p:nvSpPr>
        <p:spPr>
          <a:xfrm>
            <a:off x="5695950" y="1645722"/>
            <a:ext cx="1238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R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878 000 €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295C618-3397-5413-FE18-8AC8C0DDC1AF}"/>
              </a:ext>
            </a:extLst>
          </p:cNvPr>
          <p:cNvSpPr txBox="1"/>
          <p:nvPr/>
        </p:nvSpPr>
        <p:spPr>
          <a:xfrm>
            <a:off x="7131050" y="2346055"/>
            <a:ext cx="1238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R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670 000 €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1F9FD37-646D-E143-AF43-78DE8000A34D}"/>
              </a:ext>
            </a:extLst>
          </p:cNvPr>
          <p:cNvSpPr txBox="1"/>
          <p:nvPr/>
        </p:nvSpPr>
        <p:spPr>
          <a:xfrm>
            <a:off x="8743950" y="3004622"/>
            <a:ext cx="1238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R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472 000 €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2E036B6-0207-F665-D67B-C3DD03C404DD}"/>
              </a:ext>
            </a:extLst>
          </p:cNvPr>
          <p:cNvSpPr txBox="1"/>
          <p:nvPr/>
        </p:nvSpPr>
        <p:spPr>
          <a:xfrm>
            <a:off x="10320349" y="3676008"/>
            <a:ext cx="1238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R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276 000 €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C0478C6-C496-5E90-3138-F2725515DEF6}"/>
              </a:ext>
            </a:extLst>
          </p:cNvPr>
          <p:cNvCxnSpPr>
            <a:cxnSpLocks/>
          </p:cNvCxnSpPr>
          <p:nvPr/>
        </p:nvCxnSpPr>
        <p:spPr>
          <a:xfrm flipH="1" flipV="1">
            <a:off x="6934200" y="1784167"/>
            <a:ext cx="4460881" cy="1677225"/>
          </a:xfrm>
          <a:prstGeom prst="straightConnector1">
            <a:avLst/>
          </a:prstGeom>
          <a:ln w="47625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98BDF386-CDE6-F175-F01C-12286E802D47}"/>
              </a:ext>
            </a:extLst>
          </p:cNvPr>
          <p:cNvSpPr txBox="1"/>
          <p:nvPr/>
        </p:nvSpPr>
        <p:spPr>
          <a:xfrm>
            <a:off x="8988425" y="1973867"/>
            <a:ext cx="12382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x</a:t>
            </a:r>
            <a:r>
              <a:rPr lang="en-FR" sz="32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 3,2</a:t>
            </a:r>
          </a:p>
        </p:txBody>
      </p:sp>
    </p:spTree>
    <p:extLst>
      <p:ext uri="{BB962C8B-B14F-4D97-AF65-F5344CB8AC3E}">
        <p14:creationId xmlns:p14="http://schemas.microsoft.com/office/powerpoint/2010/main" val="121029373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AC971-F28E-67DE-8167-C12E2EA16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745" y="725048"/>
            <a:ext cx="3548974" cy="3798313"/>
          </a:xfrm>
        </p:spPr>
        <p:txBody>
          <a:bodyPr>
            <a:normAutofit/>
          </a:bodyPr>
          <a:lstStyle/>
          <a:p>
            <a:r>
              <a:rPr lang="en-FR" dirty="0"/>
              <a:t>A terme, l’âge de départ à la retraite n’est plus un sujet</a:t>
            </a:r>
          </a:p>
        </p:txBody>
      </p:sp>
      <p:graphicFrame>
        <p:nvGraphicFramePr>
          <p:cNvPr id="4" name="Graphique 2">
            <a:extLst>
              <a:ext uri="{FF2B5EF4-FFF2-40B4-BE49-F238E27FC236}">
                <a16:creationId xmlns:a16="http://schemas.microsoft.com/office/drawing/2014/main" id="{F5A1847E-00EF-1DE5-BE9D-940B7D31B60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50597562"/>
              </p:ext>
            </p:extLst>
          </p:nvPr>
        </p:nvGraphicFramePr>
        <p:xfrm>
          <a:off x="4435813" y="466928"/>
          <a:ext cx="7450577" cy="56476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81960123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25A0A-BFD2-BA23-4ED5-94E5B7CF0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4A353-6EAC-47F0-7475-B11288AE7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R" dirty="0"/>
              <a:t>Retraite par capitalisation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2500FD-AD1F-3E94-B21C-0CDDDA8C92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FR" dirty="0"/>
              <a:t>L’exception française </a:t>
            </a:r>
          </a:p>
        </p:txBody>
      </p:sp>
    </p:spTree>
    <p:extLst>
      <p:ext uri="{BB962C8B-B14F-4D97-AF65-F5344CB8AC3E}">
        <p14:creationId xmlns:p14="http://schemas.microsoft.com/office/powerpoint/2010/main" val="113609772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DBDE74F-B830-D972-AD0B-D2A6B47E1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3600" b="1" dirty="0"/>
              <a:t>La part des dépenses privées de retraite est très faible en France, en comparaison internationale</a:t>
            </a:r>
          </a:p>
        </p:txBody>
      </p:sp>
      <p:graphicFrame>
        <p:nvGraphicFramePr>
          <p:cNvPr id="11" name="Graphique 10">
            <a:extLst>
              <a:ext uri="{FF2B5EF4-FFF2-40B4-BE49-F238E27FC236}">
                <a16:creationId xmlns:a16="http://schemas.microsoft.com/office/drawing/2014/main" id="{C2184A31-609C-54EE-41C8-4012334A5B2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68279459"/>
              </p:ext>
            </p:extLst>
          </p:nvPr>
        </p:nvGraphicFramePr>
        <p:xfrm>
          <a:off x="2429005" y="1690688"/>
          <a:ext cx="7333989" cy="40876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5" name="ZoneTexte 14">
            <a:extLst>
              <a:ext uri="{FF2B5EF4-FFF2-40B4-BE49-F238E27FC236}">
                <a16:creationId xmlns:a16="http://schemas.microsoft.com/office/drawing/2014/main" id="{FDEF696F-7FAE-6F07-F25B-453C2C731C29}"/>
              </a:ext>
            </a:extLst>
          </p:cNvPr>
          <p:cNvSpPr txBox="1"/>
          <p:nvPr/>
        </p:nvSpPr>
        <p:spPr>
          <a:xfrm rot="18161780">
            <a:off x="3953796" y="5744093"/>
            <a:ext cx="99769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ts val="375"/>
              </a:spcBef>
            </a:pPr>
            <a:r>
              <a:rPr lang="fr-FR" sz="1000" dirty="0">
                <a:solidFill>
                  <a:schemeClr val="bg1"/>
                </a:solidFill>
                <a:latin typeface="Questrial" pitchFamily="2" charset="77"/>
              </a:rPr>
              <a:t>Allemagne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4D5CCCD4-44F1-509F-121F-6296984D9519}"/>
              </a:ext>
            </a:extLst>
          </p:cNvPr>
          <p:cNvSpPr txBox="1"/>
          <p:nvPr/>
        </p:nvSpPr>
        <p:spPr>
          <a:xfrm rot="18161780">
            <a:off x="3405377" y="5684839"/>
            <a:ext cx="99769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ts val="375"/>
              </a:spcBef>
            </a:pPr>
            <a:r>
              <a:rPr lang="fr-FR" sz="1000" dirty="0">
                <a:solidFill>
                  <a:schemeClr val="bg1"/>
                </a:solidFill>
                <a:latin typeface="Questrial" pitchFamily="2" charset="77"/>
              </a:rPr>
              <a:t>Espagne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0924AF61-3778-79E5-039D-C69298D3B140}"/>
              </a:ext>
            </a:extLst>
          </p:cNvPr>
          <p:cNvSpPr txBox="1"/>
          <p:nvPr/>
        </p:nvSpPr>
        <p:spPr>
          <a:xfrm rot="18161780">
            <a:off x="2933440" y="5655210"/>
            <a:ext cx="99769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ts val="375"/>
              </a:spcBef>
            </a:pPr>
            <a:r>
              <a:rPr lang="fr-FR" sz="1000" dirty="0">
                <a:solidFill>
                  <a:schemeClr val="bg1"/>
                </a:solidFill>
                <a:latin typeface="Questrial" pitchFamily="2" charset="77"/>
              </a:rPr>
              <a:t>France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528B2C6D-5914-9B7E-376F-9795659E6373}"/>
              </a:ext>
            </a:extLst>
          </p:cNvPr>
          <p:cNvSpPr txBox="1"/>
          <p:nvPr/>
        </p:nvSpPr>
        <p:spPr>
          <a:xfrm rot="18161780">
            <a:off x="4502216" y="5625583"/>
            <a:ext cx="99769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ts val="375"/>
              </a:spcBef>
            </a:pPr>
            <a:r>
              <a:rPr lang="fr-FR" sz="1000" dirty="0">
                <a:solidFill>
                  <a:schemeClr val="bg1"/>
                </a:solidFill>
                <a:latin typeface="Questrial" pitchFamily="2" charset="77"/>
              </a:rPr>
              <a:t>Italie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D3631F39-F678-D77C-8531-5586E6C004F8}"/>
              </a:ext>
            </a:extLst>
          </p:cNvPr>
          <p:cNvSpPr txBox="1"/>
          <p:nvPr/>
        </p:nvSpPr>
        <p:spPr>
          <a:xfrm rot="18161780">
            <a:off x="4974153" y="5744093"/>
            <a:ext cx="99769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ts val="375"/>
              </a:spcBef>
            </a:pPr>
            <a:r>
              <a:rPr lang="fr-FR" sz="1000" dirty="0">
                <a:solidFill>
                  <a:schemeClr val="bg1"/>
                </a:solidFill>
                <a:latin typeface="Questrial" pitchFamily="2" charset="77"/>
              </a:rPr>
              <a:t>Belgique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00272120-4B63-C50C-2EB2-AFB5B04313ED}"/>
              </a:ext>
            </a:extLst>
          </p:cNvPr>
          <p:cNvSpPr txBox="1"/>
          <p:nvPr/>
        </p:nvSpPr>
        <p:spPr>
          <a:xfrm rot="18161780">
            <a:off x="5577905" y="5625584"/>
            <a:ext cx="99769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ts val="375"/>
              </a:spcBef>
            </a:pPr>
            <a:r>
              <a:rPr lang="fr-FR" sz="1000" dirty="0">
                <a:solidFill>
                  <a:schemeClr val="bg1"/>
                </a:solidFill>
                <a:latin typeface="Questrial" pitchFamily="2" charset="77"/>
              </a:rPr>
              <a:t>OCDE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ACA4FBFD-C170-8C5C-B27D-E7F0D788D954}"/>
              </a:ext>
            </a:extLst>
          </p:cNvPr>
          <p:cNvSpPr txBox="1"/>
          <p:nvPr/>
        </p:nvSpPr>
        <p:spPr>
          <a:xfrm rot="18161780">
            <a:off x="5968388" y="5627947"/>
            <a:ext cx="99769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ts val="375"/>
              </a:spcBef>
            </a:pPr>
            <a:r>
              <a:rPr lang="fr-FR" sz="1000" dirty="0">
                <a:solidFill>
                  <a:schemeClr val="bg1"/>
                </a:solidFill>
                <a:latin typeface="Questrial" pitchFamily="2" charset="77"/>
              </a:rPr>
              <a:t>Japon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55DDDE42-C7B7-98CC-527D-D8646A9B6D1D}"/>
              </a:ext>
            </a:extLst>
          </p:cNvPr>
          <p:cNvSpPr txBox="1"/>
          <p:nvPr/>
        </p:nvSpPr>
        <p:spPr>
          <a:xfrm rot="18161780">
            <a:off x="6495657" y="5627945"/>
            <a:ext cx="99769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ts val="375"/>
              </a:spcBef>
            </a:pPr>
            <a:r>
              <a:rPr lang="fr-FR" sz="1000" dirty="0">
                <a:solidFill>
                  <a:schemeClr val="bg1"/>
                </a:solidFill>
                <a:latin typeface="Questrial" pitchFamily="2" charset="77"/>
              </a:rPr>
              <a:t>Suède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845F99EB-D9CF-EF2A-2ECD-1C491DF27B56}"/>
              </a:ext>
            </a:extLst>
          </p:cNvPr>
          <p:cNvSpPr txBox="1"/>
          <p:nvPr/>
        </p:nvSpPr>
        <p:spPr>
          <a:xfrm rot="18161780">
            <a:off x="6889882" y="5746457"/>
            <a:ext cx="99769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ts val="375"/>
              </a:spcBef>
            </a:pPr>
            <a:r>
              <a:rPr lang="fr-FR" sz="1000" dirty="0">
                <a:solidFill>
                  <a:schemeClr val="bg1"/>
                </a:solidFill>
                <a:latin typeface="Questrial" pitchFamily="2" charset="77"/>
              </a:rPr>
              <a:t>Pays-Bas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4701148A-E131-A1F0-A76F-1A4DA314D5FC}"/>
              </a:ext>
            </a:extLst>
          </p:cNvPr>
          <p:cNvSpPr txBox="1"/>
          <p:nvPr/>
        </p:nvSpPr>
        <p:spPr>
          <a:xfrm rot="18161780">
            <a:off x="7405345" y="5759838"/>
            <a:ext cx="99769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ts val="375"/>
              </a:spcBef>
            </a:pPr>
            <a:r>
              <a:rPr lang="fr-FR" sz="1000" dirty="0">
                <a:solidFill>
                  <a:schemeClr val="bg1"/>
                </a:solidFill>
                <a:latin typeface="Questrial" pitchFamily="2" charset="77"/>
              </a:rPr>
              <a:t>Etats-Unis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D50C9A61-5999-9EB6-1015-519F3A4A1F48}"/>
              </a:ext>
            </a:extLst>
          </p:cNvPr>
          <p:cNvSpPr txBox="1"/>
          <p:nvPr/>
        </p:nvSpPr>
        <p:spPr>
          <a:xfrm rot="18161780">
            <a:off x="7846424" y="5900727"/>
            <a:ext cx="99769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ts val="375"/>
              </a:spcBef>
            </a:pPr>
            <a:r>
              <a:rPr lang="fr-FR" sz="1000" dirty="0">
                <a:solidFill>
                  <a:schemeClr val="bg1"/>
                </a:solidFill>
                <a:latin typeface="Questrial" pitchFamily="2" charset="77"/>
              </a:rPr>
              <a:t>Royaume-Uni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CB148712-700C-88E1-B06D-F97232B96D2A}"/>
              </a:ext>
            </a:extLst>
          </p:cNvPr>
          <p:cNvSpPr txBox="1"/>
          <p:nvPr/>
        </p:nvSpPr>
        <p:spPr>
          <a:xfrm rot="18161780">
            <a:off x="8429892" y="5749355"/>
            <a:ext cx="99769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ts val="375"/>
              </a:spcBef>
            </a:pPr>
            <a:r>
              <a:rPr lang="fr-FR" sz="1000" dirty="0">
                <a:solidFill>
                  <a:schemeClr val="bg1"/>
                </a:solidFill>
                <a:latin typeface="Questrial" pitchFamily="2" charset="77"/>
              </a:rPr>
              <a:t>Canada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A1E13191-36DC-7D38-6C9C-465A45BD507E}"/>
              </a:ext>
            </a:extLst>
          </p:cNvPr>
          <p:cNvSpPr txBox="1"/>
          <p:nvPr/>
        </p:nvSpPr>
        <p:spPr>
          <a:xfrm>
            <a:off x="5297270" y="6472018"/>
            <a:ext cx="13241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ts val="375"/>
              </a:spcBef>
            </a:pPr>
            <a:r>
              <a:rPr lang="fr-FR" sz="1000" dirty="0">
                <a:solidFill>
                  <a:schemeClr val="bg1"/>
                </a:solidFill>
                <a:latin typeface="Questrial" pitchFamily="2" charset="77"/>
              </a:rPr>
              <a:t>Source : OCDE, IAP</a:t>
            </a:r>
          </a:p>
        </p:txBody>
      </p:sp>
    </p:spTree>
    <p:extLst>
      <p:ext uri="{BB962C8B-B14F-4D97-AF65-F5344CB8AC3E}">
        <p14:creationId xmlns:p14="http://schemas.microsoft.com/office/powerpoint/2010/main" val="342711071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4413B48-E39E-DD01-1B16-1C6FDDDE0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Les pays ayant mis en place la retraite par capitalisation ont massivement libéré les volumes de capitaux disponibles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BAB63516-9179-1031-4B02-7F731779BDF3}"/>
              </a:ext>
            </a:extLst>
          </p:cNvPr>
          <p:cNvSpPr txBox="1"/>
          <p:nvPr/>
        </p:nvSpPr>
        <p:spPr>
          <a:xfrm>
            <a:off x="7951741" y="6445965"/>
            <a:ext cx="260527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ts val="375"/>
              </a:spcBef>
            </a:pPr>
            <a:r>
              <a:rPr lang="fr-FR" sz="1000" dirty="0">
                <a:solidFill>
                  <a:schemeClr val="bg1"/>
                </a:solidFill>
                <a:latin typeface="Questrial" pitchFamily="2" charset="77"/>
              </a:rPr>
              <a:t>Source : OCDE, Pensions at </a:t>
            </a:r>
            <a:r>
              <a:rPr lang="fr-FR" sz="1000" dirty="0" err="1">
                <a:solidFill>
                  <a:schemeClr val="bg1"/>
                </a:solidFill>
                <a:latin typeface="Questrial" pitchFamily="2" charset="77"/>
              </a:rPr>
              <a:t>Glance</a:t>
            </a:r>
            <a:r>
              <a:rPr lang="fr-FR" sz="1000" dirty="0">
                <a:solidFill>
                  <a:schemeClr val="bg1"/>
                </a:solidFill>
                <a:latin typeface="Questrial" pitchFamily="2" charset="77"/>
              </a:rPr>
              <a:t>, 2023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2FC49A6E-A3A2-2A49-E36D-9E3536AB4600}"/>
              </a:ext>
            </a:extLst>
          </p:cNvPr>
          <p:cNvSpPr txBox="1"/>
          <p:nvPr/>
        </p:nvSpPr>
        <p:spPr>
          <a:xfrm>
            <a:off x="7951741" y="6609650"/>
            <a:ext cx="260527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ts val="375"/>
              </a:spcBef>
            </a:pPr>
            <a:r>
              <a:rPr lang="fr-FR" sz="1000" dirty="0">
                <a:solidFill>
                  <a:schemeClr val="bg1"/>
                </a:solidFill>
                <a:latin typeface="Questrial" pitchFamily="2" charset="77"/>
              </a:rPr>
              <a:t>*Incluant les fonds de réserve</a:t>
            </a:r>
          </a:p>
        </p:txBody>
      </p:sp>
      <p:graphicFrame>
        <p:nvGraphicFramePr>
          <p:cNvPr id="13" name="Graphique 12">
            <a:extLst>
              <a:ext uri="{FF2B5EF4-FFF2-40B4-BE49-F238E27FC236}">
                <a16:creationId xmlns:a16="http://schemas.microsoft.com/office/drawing/2014/main" id="{59585A4B-A720-16AE-5636-AEBE81E5B4D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84947010"/>
              </p:ext>
            </p:extLst>
          </p:nvPr>
        </p:nvGraphicFramePr>
        <p:xfrm>
          <a:off x="927100" y="2053983"/>
          <a:ext cx="10972800" cy="43681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90156495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D0D2D8-1C74-933B-9B8D-94B934459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C80FD-2383-32F5-7A71-F20F1221A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084" y="636345"/>
            <a:ext cx="10199915" cy="954511"/>
          </a:xfrm>
        </p:spPr>
        <p:txBody>
          <a:bodyPr>
            <a:normAutofit fontScale="90000"/>
          </a:bodyPr>
          <a:lstStyle/>
          <a:p>
            <a:r>
              <a:rPr lang="en-FR" dirty="0"/>
              <a:t>La capitalisation obligatoire existe déjà pour les fonctionnaires : RAFP</a:t>
            </a:r>
          </a:p>
        </p:txBody>
      </p:sp>
      <p:sp>
        <p:nvSpPr>
          <p:cNvPr id="5" name="ZoneTexte 9">
            <a:extLst>
              <a:ext uri="{FF2B5EF4-FFF2-40B4-BE49-F238E27FC236}">
                <a16:creationId xmlns:a16="http://schemas.microsoft.com/office/drawing/2014/main" id="{2050D102-2EF3-F85D-E014-F2FDD93A5125}"/>
              </a:ext>
            </a:extLst>
          </p:cNvPr>
          <p:cNvSpPr txBox="1"/>
          <p:nvPr/>
        </p:nvSpPr>
        <p:spPr>
          <a:xfrm>
            <a:off x="6027906" y="6160825"/>
            <a:ext cx="22606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700" dirty="0">
                <a:solidFill>
                  <a:schemeClr val="bg1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Source : RAFP, Rapport annuel 2023 </a:t>
            </a:r>
            <a:endParaRPr lang="fr-FR" sz="700" dirty="0">
              <a:solidFill>
                <a:schemeClr val="bg1"/>
              </a:solidFill>
              <a:latin typeface="Questrial" pitchFamily="2" charset="77"/>
              <a:ea typeface="Questrial" pitchFamily="2" charset="77"/>
              <a:cs typeface="Questrial" pitchFamily="2" charset="77"/>
            </a:endParaRPr>
          </a:p>
        </p:txBody>
      </p:sp>
      <p:graphicFrame>
        <p:nvGraphicFramePr>
          <p:cNvPr id="6" name="Graphique 10">
            <a:extLst>
              <a:ext uri="{FF2B5EF4-FFF2-40B4-BE49-F238E27FC236}">
                <a16:creationId xmlns:a16="http://schemas.microsoft.com/office/drawing/2014/main" id="{F58F987B-B053-2367-4FE9-A95BC781799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92803646"/>
              </p:ext>
            </p:extLst>
          </p:nvPr>
        </p:nvGraphicFramePr>
        <p:xfrm>
          <a:off x="6096000" y="1905926"/>
          <a:ext cx="5484560" cy="42218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" name="Graphique 8">
            <a:extLst>
              <a:ext uri="{FF2B5EF4-FFF2-40B4-BE49-F238E27FC236}">
                <a16:creationId xmlns:a16="http://schemas.microsoft.com/office/drawing/2014/main" id="{717A7C14-4C6C-3300-073E-6F73DEF72F58}"/>
              </a:ext>
            </a:extLst>
          </p:cNvPr>
          <p:cNvGraphicFramePr>
            <a:graphicFrameLocks/>
          </p:cNvGraphicFramePr>
          <p:nvPr/>
        </p:nvGraphicFramePr>
        <p:xfrm>
          <a:off x="849084" y="1905926"/>
          <a:ext cx="4701202" cy="43157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75953569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F8B00C5-C690-D6FD-587E-DDBBEC4C4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383" y="1348947"/>
            <a:ext cx="5939531" cy="719396"/>
          </a:xfrm>
        </p:spPr>
        <p:txBody>
          <a:bodyPr>
            <a:normAutofit fontScale="90000"/>
          </a:bodyPr>
          <a:lstStyle/>
          <a:p>
            <a:r>
              <a:rPr lang="fr-FR" dirty="0"/>
              <a:t>La Suède a mis en place la retraite par capitalisation il y a 25 ans</a:t>
            </a:r>
          </a:p>
        </p:txBody>
      </p:sp>
      <p:sp>
        <p:nvSpPr>
          <p:cNvPr id="5" name="Flèche vers la droite 4">
            <a:extLst>
              <a:ext uri="{FF2B5EF4-FFF2-40B4-BE49-F238E27FC236}">
                <a16:creationId xmlns:a16="http://schemas.microsoft.com/office/drawing/2014/main" id="{01EB024E-E5B1-44B5-BA1A-EE78D6CDC767}"/>
              </a:ext>
            </a:extLst>
          </p:cNvPr>
          <p:cNvSpPr/>
          <p:nvPr/>
        </p:nvSpPr>
        <p:spPr>
          <a:xfrm>
            <a:off x="1731037" y="4789658"/>
            <a:ext cx="8958434" cy="644129"/>
          </a:xfrm>
          <a:prstGeom prst="rightArrow">
            <a:avLst>
              <a:gd name="adj1" fmla="val 50000"/>
              <a:gd name="adj2" fmla="val 19484"/>
            </a:avLst>
          </a:prstGeom>
          <a:gradFill>
            <a:gsLst>
              <a:gs pos="10000">
                <a:srgbClr val="CA2E4D"/>
              </a:gs>
              <a:gs pos="100000">
                <a:srgbClr val="1A3EE2">
                  <a:lumMod val="100000"/>
                </a:srgbClr>
              </a:gs>
              <a:gs pos="64000">
                <a:srgbClr val="170766"/>
              </a:gs>
            </a:gsLst>
            <a:path path="circle">
              <a:fillToRect r="100000" b="100000"/>
            </a:path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5B3B01EA-8652-B1DB-289E-0E5AF8BBE0F9}"/>
              </a:ext>
            </a:extLst>
          </p:cNvPr>
          <p:cNvSpPr txBox="1"/>
          <p:nvPr/>
        </p:nvSpPr>
        <p:spPr>
          <a:xfrm>
            <a:off x="1184468" y="3848813"/>
            <a:ext cx="23453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Années 1980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F13D6CA2-4159-B12E-E479-06EA7CCF66D2}"/>
              </a:ext>
            </a:extLst>
          </p:cNvPr>
          <p:cNvSpPr txBox="1"/>
          <p:nvPr/>
        </p:nvSpPr>
        <p:spPr>
          <a:xfrm>
            <a:off x="831383" y="4229174"/>
            <a:ext cx="24375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Vieillissement de la population suédoise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09C96D33-840C-5A78-8CEB-24073BF54A41}"/>
              </a:ext>
            </a:extLst>
          </p:cNvPr>
          <p:cNvSpPr txBox="1"/>
          <p:nvPr/>
        </p:nvSpPr>
        <p:spPr>
          <a:xfrm>
            <a:off x="4269015" y="3749218"/>
            <a:ext cx="1568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1991-1993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2A107ABE-E1DD-AB87-B0CA-57BEE87BB8D7}"/>
              </a:ext>
            </a:extLst>
          </p:cNvPr>
          <p:cNvSpPr txBox="1"/>
          <p:nvPr/>
        </p:nvSpPr>
        <p:spPr>
          <a:xfrm>
            <a:off x="3879734" y="4229174"/>
            <a:ext cx="22541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Crise économique </a:t>
            </a:r>
          </a:p>
          <a:p>
            <a:pPr algn="ctr"/>
            <a:r>
              <a:rPr lang="fr-FR" sz="14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sévère 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380EAD12-BB00-1C70-C8F5-3E9E51E76A2A}"/>
              </a:ext>
            </a:extLst>
          </p:cNvPr>
          <p:cNvSpPr txBox="1"/>
          <p:nvPr/>
        </p:nvSpPr>
        <p:spPr>
          <a:xfrm>
            <a:off x="7358051" y="3749729"/>
            <a:ext cx="23453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1994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74AD7C82-E4EF-B3B7-DB2C-F1AFF0AE776D}"/>
              </a:ext>
            </a:extLst>
          </p:cNvPr>
          <p:cNvSpPr txBox="1"/>
          <p:nvPr/>
        </p:nvSpPr>
        <p:spPr>
          <a:xfrm>
            <a:off x="6483740" y="4245050"/>
            <a:ext cx="27866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Lancement de la réforme de la retraite par capitalisation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AC8051FC-3DFE-5ECA-0C07-2BBDD10067E5}"/>
              </a:ext>
            </a:extLst>
          </p:cNvPr>
          <p:cNvSpPr txBox="1"/>
          <p:nvPr/>
        </p:nvSpPr>
        <p:spPr>
          <a:xfrm>
            <a:off x="10106342" y="3762007"/>
            <a:ext cx="23453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1999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2C32515B-01D7-9213-53D4-6E58F8739DAA}"/>
              </a:ext>
            </a:extLst>
          </p:cNvPr>
          <p:cNvSpPr txBox="1"/>
          <p:nvPr/>
        </p:nvSpPr>
        <p:spPr>
          <a:xfrm>
            <a:off x="9341921" y="4229174"/>
            <a:ext cx="23453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Entrée en vigueur de la réforme</a:t>
            </a:r>
          </a:p>
        </p:txBody>
      </p:sp>
      <p:pic>
        <p:nvPicPr>
          <p:cNvPr id="6" name="Image 5" descr="Une image contenant symbole, jaune, Bleu électrique, bleu&#10;&#10;Description générée automatiquement">
            <a:extLst>
              <a:ext uri="{FF2B5EF4-FFF2-40B4-BE49-F238E27FC236}">
                <a16:creationId xmlns:a16="http://schemas.microsoft.com/office/drawing/2014/main" id="{FE572CB7-4E33-3F84-D1D7-D15C30D7BD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1463" y="1001689"/>
            <a:ext cx="1841265" cy="1248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26121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5E0FA-59FA-6248-EAAC-40BBE64DD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E5C87A6-511A-E1B9-239C-32210EA24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9396"/>
          </a:xfrm>
        </p:spPr>
        <p:txBody>
          <a:bodyPr>
            <a:noAutofit/>
          </a:bodyPr>
          <a:lstStyle/>
          <a:p>
            <a:r>
              <a:rPr lang="fr-FR" b="1" dirty="0"/>
              <a:t>Le système de retraites suédois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A479670-A8FF-9E6E-6E03-67C57CF655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7703" y="2133138"/>
            <a:ext cx="6021320" cy="1100455"/>
          </a:xfrm>
        </p:spPr>
        <p:txBody>
          <a:bodyPr>
            <a:normAutofit fontScale="55000" lnSpcReduction="20000"/>
          </a:bodyPr>
          <a:lstStyle/>
          <a:p>
            <a:r>
              <a:rPr lang="fr-FR" sz="3600" dirty="0"/>
              <a:t>Épargne volontaire privée</a:t>
            </a:r>
          </a:p>
          <a:p>
            <a:pPr lvl="1"/>
            <a:r>
              <a:rPr lang="fr-FR" sz="2200" dirty="0"/>
              <a:t>Fonds de retraite facultatifs gérés par des institutions financières privées.</a:t>
            </a:r>
          </a:p>
          <a:p>
            <a:pPr lvl="1"/>
            <a:r>
              <a:rPr lang="fr-FR" sz="2200" dirty="0"/>
              <a:t>Peu utilisé : 5% des revenus de retraite</a:t>
            </a:r>
          </a:p>
          <a:p>
            <a:pPr marL="0" indent="0">
              <a:buNone/>
            </a:pPr>
            <a:br>
              <a:rPr lang="fr-FR" dirty="0"/>
            </a:br>
            <a:endParaRPr lang="fr-FR" sz="2000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08235F31-B2DD-6871-0E8A-97E01475313A}"/>
              </a:ext>
            </a:extLst>
          </p:cNvPr>
          <p:cNvSpPr txBox="1">
            <a:spLocks/>
          </p:cNvSpPr>
          <p:nvPr/>
        </p:nvSpPr>
        <p:spPr>
          <a:xfrm>
            <a:off x="838200" y="942828"/>
            <a:ext cx="10515600" cy="7193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Questrial" pitchFamily="2" charset="77"/>
                <a:ea typeface="+mj-ea"/>
                <a:cs typeface="+mj-cs"/>
              </a:defRPr>
            </a:lvl1pPr>
          </a:lstStyle>
          <a:p>
            <a:r>
              <a:rPr lang="fr-FR" sz="2800" dirty="0"/>
              <a:t>Un système en 3 piliers</a:t>
            </a:r>
          </a:p>
        </p:txBody>
      </p:sp>
      <p:sp>
        <p:nvSpPr>
          <p:cNvPr id="5" name="Triangle 4">
            <a:extLst>
              <a:ext uri="{FF2B5EF4-FFF2-40B4-BE49-F238E27FC236}">
                <a16:creationId xmlns:a16="http://schemas.microsoft.com/office/drawing/2014/main" id="{3E4D0662-A02F-E6D0-830B-55FE71525948}"/>
              </a:ext>
            </a:extLst>
          </p:cNvPr>
          <p:cNvSpPr/>
          <p:nvPr/>
        </p:nvSpPr>
        <p:spPr>
          <a:xfrm>
            <a:off x="2737149" y="2096980"/>
            <a:ext cx="4141694" cy="3732903"/>
          </a:xfrm>
          <a:prstGeom prst="triangle">
            <a:avLst/>
          </a:prstGeom>
          <a:gradFill flip="none" rotWithShape="1">
            <a:gsLst>
              <a:gs pos="10000">
                <a:srgbClr val="CA2E4D"/>
              </a:gs>
              <a:gs pos="100000">
                <a:srgbClr val="1A3EE2">
                  <a:lumMod val="100000"/>
                </a:srgbClr>
              </a:gs>
              <a:gs pos="64000">
                <a:srgbClr val="170766"/>
              </a:gs>
            </a:gsLst>
            <a:path path="circle">
              <a:fillToRect l="100000" t="100000"/>
            </a:path>
            <a:tileRect r="-100000" b="-100000"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74C7A0B9-4414-9ED6-35ED-145C34A881C8}"/>
              </a:ext>
            </a:extLst>
          </p:cNvPr>
          <p:cNvCxnSpPr/>
          <p:nvPr/>
        </p:nvCxnSpPr>
        <p:spPr>
          <a:xfrm>
            <a:off x="6179596" y="4661939"/>
            <a:ext cx="107576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A7420248-E6BC-9974-D0D1-C9C885DC328B}"/>
              </a:ext>
            </a:extLst>
          </p:cNvPr>
          <p:cNvCxnSpPr>
            <a:cxnSpLocks/>
          </p:cNvCxnSpPr>
          <p:nvPr/>
        </p:nvCxnSpPr>
        <p:spPr>
          <a:xfrm>
            <a:off x="5149237" y="2937970"/>
            <a:ext cx="107576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space réservé du contenu 2">
            <a:extLst>
              <a:ext uri="{FF2B5EF4-FFF2-40B4-BE49-F238E27FC236}">
                <a16:creationId xmlns:a16="http://schemas.microsoft.com/office/drawing/2014/main" id="{119CB949-3D38-9111-5377-E8DAFF31F058}"/>
              </a:ext>
            </a:extLst>
          </p:cNvPr>
          <p:cNvSpPr txBox="1">
            <a:spLocks/>
          </p:cNvSpPr>
          <p:nvPr/>
        </p:nvSpPr>
        <p:spPr>
          <a:xfrm>
            <a:off x="5846621" y="3319742"/>
            <a:ext cx="5880560" cy="11004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000" dirty="0"/>
              <a:t>Pension obligatoire par capitalisation </a:t>
            </a:r>
          </a:p>
          <a:p>
            <a:pPr marL="669925" lvl="1" indent="-165100"/>
            <a:r>
              <a:rPr lang="fr-FR" sz="1200" dirty="0"/>
              <a:t>Une épargne individuelle investie dans des fonds de pension</a:t>
            </a:r>
          </a:p>
          <a:p>
            <a:pPr marL="669925" lvl="1" indent="-165100"/>
            <a:r>
              <a:rPr lang="fr-FR" sz="1200" dirty="0"/>
              <a:t>Chaque travailleur choisit parmi + de 500 fonds ou est automatiquement inscrit dans le fonds public AP7</a:t>
            </a:r>
          </a:p>
        </p:txBody>
      </p:sp>
      <p:sp>
        <p:nvSpPr>
          <p:cNvPr id="11" name="Espace réservé du contenu 2">
            <a:extLst>
              <a:ext uri="{FF2B5EF4-FFF2-40B4-BE49-F238E27FC236}">
                <a16:creationId xmlns:a16="http://schemas.microsoft.com/office/drawing/2014/main" id="{3AFC8DF2-CA58-D9B9-A912-0827AE846FBE}"/>
              </a:ext>
            </a:extLst>
          </p:cNvPr>
          <p:cNvSpPr txBox="1">
            <a:spLocks/>
          </p:cNvSpPr>
          <p:nvPr/>
        </p:nvSpPr>
        <p:spPr>
          <a:xfrm>
            <a:off x="6512223" y="4847138"/>
            <a:ext cx="5214958" cy="108983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000" dirty="0"/>
              <a:t>Pension publique répartition / capitalisation</a:t>
            </a:r>
          </a:p>
          <a:p>
            <a:pPr lvl="1"/>
            <a:r>
              <a:rPr lang="fr-FR" sz="1200" dirty="0"/>
              <a:t>Système mixte basé sur les cotisations des actifs actuels</a:t>
            </a:r>
          </a:p>
          <a:p>
            <a:pPr lvl="1"/>
            <a:r>
              <a:rPr lang="fr-FR" sz="1200" dirty="0"/>
              <a:t>La pension est calculée en fonction des cotisations versées tout au long de la vie (</a:t>
            </a:r>
            <a:r>
              <a:rPr lang="fr-FR" sz="1200" dirty="0" err="1"/>
              <a:t>Notional</a:t>
            </a:r>
            <a:r>
              <a:rPr lang="fr-FR" sz="1200" dirty="0"/>
              <a:t> </a:t>
            </a:r>
            <a:r>
              <a:rPr lang="fr-FR" sz="1200" dirty="0" err="1"/>
              <a:t>Defined</a:t>
            </a:r>
            <a:r>
              <a:rPr lang="fr-FR" sz="1200" dirty="0"/>
              <a:t> Contribution – ND)</a:t>
            </a:r>
          </a:p>
          <a:p>
            <a:pPr lvl="1"/>
            <a:endParaRPr lang="fr-FR" sz="2000" dirty="0">
              <a:solidFill>
                <a:srgbClr val="FF0000"/>
              </a:solidFill>
            </a:endParaRPr>
          </a:p>
          <a:p>
            <a:pPr lvl="1"/>
            <a:endParaRPr lang="fr-FR" sz="2800" dirty="0">
              <a:solidFill>
                <a:srgbClr val="FF0000"/>
              </a:solidFill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CCB55A3D-C411-A879-592E-9D35E104D19C}"/>
              </a:ext>
            </a:extLst>
          </p:cNvPr>
          <p:cNvSpPr txBox="1"/>
          <p:nvPr/>
        </p:nvSpPr>
        <p:spPr>
          <a:xfrm>
            <a:off x="4098865" y="4897738"/>
            <a:ext cx="14224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Pilier 1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A78A4BFA-616F-F0C7-65B3-8F888FC278BD}"/>
              </a:ext>
            </a:extLst>
          </p:cNvPr>
          <p:cNvSpPr txBox="1"/>
          <p:nvPr/>
        </p:nvSpPr>
        <p:spPr>
          <a:xfrm>
            <a:off x="4261731" y="3619749"/>
            <a:ext cx="10925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Pilier 2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73EC9B88-8930-60BD-695C-E843F5BF6FC5}"/>
              </a:ext>
            </a:extLst>
          </p:cNvPr>
          <p:cNvSpPr txBox="1"/>
          <p:nvPr/>
        </p:nvSpPr>
        <p:spPr>
          <a:xfrm>
            <a:off x="4508887" y="2577460"/>
            <a:ext cx="8888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Pilier 3</a:t>
            </a:r>
          </a:p>
        </p:txBody>
      </p:sp>
      <p:sp>
        <p:nvSpPr>
          <p:cNvPr id="16" name="Accolade ouvrante 15">
            <a:extLst>
              <a:ext uri="{FF2B5EF4-FFF2-40B4-BE49-F238E27FC236}">
                <a16:creationId xmlns:a16="http://schemas.microsoft.com/office/drawing/2014/main" id="{D388B751-F930-3C97-C2A7-EE2D357E5D6F}"/>
              </a:ext>
            </a:extLst>
          </p:cNvPr>
          <p:cNvSpPr/>
          <p:nvPr/>
        </p:nvSpPr>
        <p:spPr>
          <a:xfrm>
            <a:off x="1421779" y="4621129"/>
            <a:ext cx="630045" cy="1140675"/>
          </a:xfrm>
          <a:prstGeom prst="leftBrace">
            <a:avLst>
              <a:gd name="adj1" fmla="val 0"/>
              <a:gd name="adj2" fmla="val 51035"/>
            </a:avLst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5DDC69A2-18E6-7689-6A74-3F4F276EDD5A}"/>
              </a:ext>
            </a:extLst>
          </p:cNvPr>
          <p:cNvSpPr txBox="1"/>
          <p:nvPr/>
        </p:nvSpPr>
        <p:spPr>
          <a:xfrm>
            <a:off x="1626183" y="4731300"/>
            <a:ext cx="165709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i="1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Capitalisation</a:t>
            </a:r>
          </a:p>
          <a:p>
            <a:pPr algn="ctr"/>
            <a:r>
              <a:rPr lang="fr-FR" sz="1100" b="1" i="1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2,5%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19DE1C40-5D43-187E-6145-3FA2B29F0B9B}"/>
              </a:ext>
            </a:extLst>
          </p:cNvPr>
          <p:cNvSpPr txBox="1"/>
          <p:nvPr/>
        </p:nvSpPr>
        <p:spPr>
          <a:xfrm>
            <a:off x="-28811" y="4782200"/>
            <a:ext cx="16570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 i="1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Taux de cotisation</a:t>
            </a:r>
          </a:p>
          <a:p>
            <a:pPr algn="ctr"/>
            <a:r>
              <a:rPr lang="fr-FR" sz="1200" b="1" i="1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Pilier 1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84CFB1B4-48CF-1102-7D68-74B915D51733}"/>
              </a:ext>
            </a:extLst>
          </p:cNvPr>
          <p:cNvSpPr txBox="1"/>
          <p:nvPr/>
        </p:nvSpPr>
        <p:spPr>
          <a:xfrm>
            <a:off x="-30908" y="5268767"/>
            <a:ext cx="16570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18,5%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A90049A-90B8-CA37-EA93-F3787B29B7B6}"/>
              </a:ext>
            </a:extLst>
          </p:cNvPr>
          <p:cNvSpPr txBox="1"/>
          <p:nvPr/>
        </p:nvSpPr>
        <p:spPr>
          <a:xfrm>
            <a:off x="1566858" y="5176609"/>
            <a:ext cx="165709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i="1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Répartition</a:t>
            </a:r>
          </a:p>
          <a:p>
            <a:pPr algn="ctr"/>
            <a:r>
              <a:rPr lang="fr-FR" sz="1100" b="1" i="1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16%</a:t>
            </a:r>
          </a:p>
        </p:txBody>
      </p:sp>
      <p:pic>
        <p:nvPicPr>
          <p:cNvPr id="9" name="Image 8" descr="Une image contenant symbole, jaune, Bleu électrique, bleu&#10;&#10;Description générée automatiquement">
            <a:extLst>
              <a:ext uri="{FF2B5EF4-FFF2-40B4-BE49-F238E27FC236}">
                <a16:creationId xmlns:a16="http://schemas.microsoft.com/office/drawing/2014/main" id="{A8EAE30B-082A-4248-76B4-43058180CB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8878" y="432540"/>
            <a:ext cx="1852331" cy="1255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128117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68441-B305-16FB-3C8B-2FEDC0FA3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R" dirty="0"/>
              <a:t>Ratio d’équilibre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00E66E6-9763-0766-8E36-C5329EBF3470}"/>
              </a:ext>
            </a:extLst>
          </p:cNvPr>
          <p:cNvSpPr txBox="1"/>
          <p:nvPr/>
        </p:nvSpPr>
        <p:spPr>
          <a:xfrm>
            <a:off x="3145972" y="4553404"/>
            <a:ext cx="7526101" cy="1170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chemeClr val="bg1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Si le ratio &lt;1, le taux de revalorisation des pensions baisse. 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chemeClr val="bg1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Si le ratio d’équilibre &gt;1, il y a un rattrapage des pensions.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L’essentiel du temps, le ratio =1 </a:t>
            </a:r>
          </a:p>
        </p:txBody>
      </p:sp>
      <p:sp>
        <p:nvSpPr>
          <p:cNvPr id="5" name="Flèche vers le bas 7">
            <a:extLst>
              <a:ext uri="{FF2B5EF4-FFF2-40B4-BE49-F238E27FC236}">
                <a16:creationId xmlns:a16="http://schemas.microsoft.com/office/drawing/2014/main" id="{9F0AE17F-01CB-D7E0-CB81-66FDB8F3864B}"/>
              </a:ext>
            </a:extLst>
          </p:cNvPr>
          <p:cNvSpPr/>
          <p:nvPr/>
        </p:nvSpPr>
        <p:spPr>
          <a:xfrm>
            <a:off x="6217535" y="3853484"/>
            <a:ext cx="588539" cy="434797"/>
          </a:xfrm>
          <a:prstGeom prst="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ZoneTexte 2">
            <a:extLst>
              <a:ext uri="{FF2B5EF4-FFF2-40B4-BE49-F238E27FC236}">
                <a16:creationId xmlns:a16="http://schemas.microsoft.com/office/drawing/2014/main" id="{ACEACAEC-3BB4-4EDF-0650-05B88BAEB0F4}"/>
              </a:ext>
            </a:extLst>
          </p:cNvPr>
          <p:cNvSpPr txBox="1"/>
          <p:nvPr/>
        </p:nvSpPr>
        <p:spPr>
          <a:xfrm>
            <a:off x="3299837" y="2992876"/>
            <a:ext cx="17160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Ratio d’équilibre =  </a:t>
            </a:r>
          </a:p>
        </p:txBody>
      </p:sp>
      <p:sp>
        <p:nvSpPr>
          <p:cNvPr id="7" name="ZoneTexte 5">
            <a:extLst>
              <a:ext uri="{FF2B5EF4-FFF2-40B4-BE49-F238E27FC236}">
                <a16:creationId xmlns:a16="http://schemas.microsoft.com/office/drawing/2014/main" id="{A09E720C-EC4F-0051-05E8-3F29F77F6C4B}"/>
              </a:ext>
            </a:extLst>
          </p:cNvPr>
          <p:cNvSpPr txBox="1"/>
          <p:nvPr/>
        </p:nvSpPr>
        <p:spPr>
          <a:xfrm>
            <a:off x="5136368" y="2776287"/>
            <a:ext cx="42185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Actifs des fonds de réserve + actifs de cotisations</a:t>
            </a:r>
          </a:p>
        </p:txBody>
      </p:sp>
      <p:sp>
        <p:nvSpPr>
          <p:cNvPr id="8" name="ZoneTexte 8">
            <a:extLst>
              <a:ext uri="{FF2B5EF4-FFF2-40B4-BE49-F238E27FC236}">
                <a16:creationId xmlns:a16="http://schemas.microsoft.com/office/drawing/2014/main" id="{908D404D-D094-3285-B93A-8F6E1C9AD7D8}"/>
              </a:ext>
            </a:extLst>
          </p:cNvPr>
          <p:cNvSpPr txBox="1"/>
          <p:nvPr/>
        </p:nvSpPr>
        <p:spPr>
          <a:xfrm>
            <a:off x="5015903" y="3217715"/>
            <a:ext cx="45651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Passif envers les retraités + Passif envers les cotisants </a:t>
            </a:r>
          </a:p>
        </p:txBody>
      </p:sp>
      <p:cxnSp>
        <p:nvCxnSpPr>
          <p:cNvPr id="9" name="Connecteur droit 10">
            <a:extLst>
              <a:ext uri="{FF2B5EF4-FFF2-40B4-BE49-F238E27FC236}">
                <a16:creationId xmlns:a16="http://schemas.microsoft.com/office/drawing/2014/main" id="{8E7F656F-4512-0CE6-5032-3E4988003893}"/>
              </a:ext>
            </a:extLst>
          </p:cNvPr>
          <p:cNvCxnSpPr>
            <a:cxnSpLocks/>
          </p:cNvCxnSpPr>
          <p:nvPr/>
        </p:nvCxnSpPr>
        <p:spPr>
          <a:xfrm flipV="1">
            <a:off x="5015903" y="3175488"/>
            <a:ext cx="4565103" cy="885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B882386F-745B-1221-A169-DA1E21BCAA68}"/>
              </a:ext>
            </a:extLst>
          </p:cNvPr>
          <p:cNvSpPr/>
          <p:nvPr/>
        </p:nvSpPr>
        <p:spPr>
          <a:xfrm>
            <a:off x="3299837" y="2679798"/>
            <a:ext cx="6386362" cy="991074"/>
          </a:xfrm>
          <a:prstGeom prst="rect">
            <a:avLst/>
          </a:prstGeom>
          <a:noFill/>
          <a:ln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1" name="Image 8" descr="Une image contenant symbole, jaune, Bleu électrique, bleu&#10;&#10;Description générée automatiquement">
            <a:extLst>
              <a:ext uri="{FF2B5EF4-FFF2-40B4-BE49-F238E27FC236}">
                <a16:creationId xmlns:a16="http://schemas.microsoft.com/office/drawing/2014/main" id="{06D78CEA-8E24-DDCD-3396-B5258347CA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8878" y="432540"/>
            <a:ext cx="1852331" cy="1255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394157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EA4C71-2ED7-776B-456D-D34E973EF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49900"/>
          </a:xfrm>
        </p:spPr>
        <p:txBody>
          <a:bodyPr/>
          <a:lstStyle/>
          <a:p>
            <a:r>
              <a:rPr lang="fr-FR" b="1" dirty="0"/>
              <a:t>Pilier 2 : capitalisation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A2A5470-AB43-DF5F-1AF1-11F39DC470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2890" y="1944121"/>
            <a:ext cx="6101219" cy="883778"/>
          </a:xfrm>
        </p:spPr>
        <p:txBody>
          <a:bodyPr>
            <a:normAutofit/>
          </a:bodyPr>
          <a:lstStyle/>
          <a:p>
            <a:r>
              <a:rPr lang="fr-FR" sz="2000" dirty="0"/>
              <a:t>Le pilier 2 existe depuis 1973 et s’applique à 90% des travailleurs suédois.</a:t>
            </a:r>
          </a:p>
        </p:txBody>
      </p:sp>
      <p:pic>
        <p:nvPicPr>
          <p:cNvPr id="4" name="Image 3" descr="Une image contenant symbole, jaune, Bleu électrique, bleu&#10;&#10;Description générée automatiquement">
            <a:extLst>
              <a:ext uri="{FF2B5EF4-FFF2-40B4-BE49-F238E27FC236}">
                <a16:creationId xmlns:a16="http://schemas.microsoft.com/office/drawing/2014/main" id="{6B0F6A5E-DDC8-DDDA-D278-434E8FE0CF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8822" y="491018"/>
            <a:ext cx="702387" cy="476250"/>
          </a:xfrm>
          <a:prstGeom prst="rect">
            <a:avLst/>
          </a:prstGeom>
        </p:spPr>
      </p:pic>
      <p:sp>
        <p:nvSpPr>
          <p:cNvPr id="5" name="Titre 1">
            <a:extLst>
              <a:ext uri="{FF2B5EF4-FFF2-40B4-BE49-F238E27FC236}">
                <a16:creationId xmlns:a16="http://schemas.microsoft.com/office/drawing/2014/main" id="{95076A4A-D12D-2930-DAA6-CC88440A2414}"/>
              </a:ext>
            </a:extLst>
          </p:cNvPr>
          <p:cNvSpPr txBox="1">
            <a:spLocks/>
          </p:cNvSpPr>
          <p:nvPr/>
        </p:nvSpPr>
        <p:spPr>
          <a:xfrm>
            <a:off x="838200" y="942828"/>
            <a:ext cx="10515600" cy="7193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Questrial" pitchFamily="2" charset="77"/>
                <a:ea typeface="+mj-ea"/>
                <a:cs typeface="+mj-cs"/>
              </a:defRPr>
            </a:lvl1pPr>
          </a:lstStyle>
          <a:p>
            <a:r>
              <a:rPr lang="fr-FR" sz="2800" dirty="0"/>
              <a:t>Premium pension</a:t>
            </a:r>
          </a:p>
        </p:txBody>
      </p:sp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1728EFBE-1FFF-72FC-3B74-EC4383A41DC1}"/>
              </a:ext>
            </a:extLst>
          </p:cNvPr>
          <p:cNvCxnSpPr>
            <a:cxnSpLocks/>
          </p:cNvCxnSpPr>
          <p:nvPr/>
        </p:nvCxnSpPr>
        <p:spPr>
          <a:xfrm flipV="1">
            <a:off x="2261592" y="1893230"/>
            <a:ext cx="0" cy="3924167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62A75A7B-C8B1-E789-67DE-4984DF98B783}"/>
              </a:ext>
            </a:extLst>
          </p:cNvPr>
          <p:cNvCxnSpPr>
            <a:cxnSpLocks/>
          </p:cNvCxnSpPr>
          <p:nvPr/>
        </p:nvCxnSpPr>
        <p:spPr>
          <a:xfrm>
            <a:off x="1697921" y="4083613"/>
            <a:ext cx="1315232" cy="0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ZoneTexte 12">
            <a:extLst>
              <a:ext uri="{FF2B5EF4-FFF2-40B4-BE49-F238E27FC236}">
                <a16:creationId xmlns:a16="http://schemas.microsoft.com/office/drawing/2014/main" id="{FB16E410-EB60-3687-4462-C9672D243DF3}"/>
              </a:ext>
            </a:extLst>
          </p:cNvPr>
          <p:cNvSpPr txBox="1"/>
          <p:nvPr/>
        </p:nvSpPr>
        <p:spPr>
          <a:xfrm>
            <a:off x="858676" y="4157353"/>
            <a:ext cx="1703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44 375 SEK*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E071C7F9-7535-24C5-E8F3-418F3F85D179}"/>
              </a:ext>
            </a:extLst>
          </p:cNvPr>
          <p:cNvSpPr txBox="1"/>
          <p:nvPr/>
        </p:nvSpPr>
        <p:spPr>
          <a:xfrm>
            <a:off x="1347193" y="5534999"/>
            <a:ext cx="1703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0 SEK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25E853DC-4049-F824-91C7-4F38EF4B1AC5}"/>
              </a:ext>
            </a:extLst>
          </p:cNvPr>
          <p:cNvSpPr txBox="1"/>
          <p:nvPr/>
        </p:nvSpPr>
        <p:spPr>
          <a:xfrm>
            <a:off x="2806468" y="4426081"/>
            <a:ext cx="170353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4,5% </a:t>
            </a:r>
          </a:p>
          <a:p>
            <a:pPr algn="ctr"/>
            <a:r>
              <a:rPr lang="fr-FR" sz="16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de cotisations patronales sur le salaire brut</a:t>
            </a:r>
          </a:p>
        </p:txBody>
      </p:sp>
      <p:sp>
        <p:nvSpPr>
          <p:cNvPr id="18" name="Accolade fermante 17">
            <a:extLst>
              <a:ext uri="{FF2B5EF4-FFF2-40B4-BE49-F238E27FC236}">
                <a16:creationId xmlns:a16="http://schemas.microsoft.com/office/drawing/2014/main" id="{23BF9805-7984-65D6-F956-6BF57DA17AE0}"/>
              </a:ext>
            </a:extLst>
          </p:cNvPr>
          <p:cNvSpPr/>
          <p:nvPr/>
        </p:nvSpPr>
        <p:spPr>
          <a:xfrm>
            <a:off x="2436965" y="2084304"/>
            <a:ext cx="187878" cy="1911252"/>
          </a:xfrm>
          <a:prstGeom prst="rightBrace">
            <a:avLst>
              <a:gd name="adj1" fmla="val 0"/>
              <a:gd name="adj2" fmla="val 50000"/>
            </a:avLst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bg1"/>
              </a:solidFill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B9356748-7BFE-C054-E4A9-E473BB75A8A0}"/>
              </a:ext>
            </a:extLst>
          </p:cNvPr>
          <p:cNvSpPr txBox="1"/>
          <p:nvPr/>
        </p:nvSpPr>
        <p:spPr>
          <a:xfrm>
            <a:off x="2806468" y="2391549"/>
            <a:ext cx="170353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34,5% </a:t>
            </a:r>
          </a:p>
          <a:p>
            <a:pPr algn="ctr"/>
            <a:r>
              <a:rPr lang="fr-FR" sz="16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de cotisations patronales sur le salaire brut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D8C5A36B-D19F-E196-74E1-D6DD77487F26}"/>
              </a:ext>
            </a:extLst>
          </p:cNvPr>
          <p:cNvSpPr txBox="1"/>
          <p:nvPr/>
        </p:nvSpPr>
        <p:spPr>
          <a:xfrm>
            <a:off x="670791" y="1803835"/>
            <a:ext cx="17035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i="1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Salaire brut</a:t>
            </a:r>
            <a:endParaRPr lang="fr-FR" sz="1000" i="1" dirty="0">
              <a:solidFill>
                <a:schemeClr val="bg1"/>
              </a:solidFill>
              <a:latin typeface="Questrial" pitchFamily="2" charset="77"/>
              <a:ea typeface="Questrial" pitchFamily="2" charset="77"/>
              <a:cs typeface="Questrial" pitchFamily="2" charset="77"/>
            </a:endParaRP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50392763-E566-A556-43CA-72324F2FB2B0}"/>
              </a:ext>
            </a:extLst>
          </p:cNvPr>
          <p:cNvSpPr txBox="1"/>
          <p:nvPr/>
        </p:nvSpPr>
        <p:spPr>
          <a:xfrm>
            <a:off x="8580331" y="6317706"/>
            <a:ext cx="17035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*env. 3900€</a:t>
            </a:r>
          </a:p>
        </p:txBody>
      </p:sp>
      <p:sp>
        <p:nvSpPr>
          <p:cNvPr id="22" name="Espace réservé du contenu 2">
            <a:extLst>
              <a:ext uri="{FF2B5EF4-FFF2-40B4-BE49-F238E27FC236}">
                <a16:creationId xmlns:a16="http://schemas.microsoft.com/office/drawing/2014/main" id="{0CB91743-DC28-1A28-62BA-D61581AB99EE}"/>
              </a:ext>
            </a:extLst>
          </p:cNvPr>
          <p:cNvSpPr txBox="1">
            <a:spLocks/>
          </p:cNvSpPr>
          <p:nvPr/>
        </p:nvSpPr>
        <p:spPr>
          <a:xfrm>
            <a:off x="5385790" y="2871753"/>
            <a:ext cx="6101219" cy="88377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000" dirty="0"/>
              <a:t>La sur-cotisation sur les tranches élevées de revenu permet de compenser le plafonnement de cotisations du pilier 1.</a:t>
            </a:r>
          </a:p>
        </p:txBody>
      </p:sp>
      <p:sp>
        <p:nvSpPr>
          <p:cNvPr id="23" name="Espace réservé du contenu 2">
            <a:extLst>
              <a:ext uri="{FF2B5EF4-FFF2-40B4-BE49-F238E27FC236}">
                <a16:creationId xmlns:a16="http://schemas.microsoft.com/office/drawing/2014/main" id="{055B8730-2357-72C0-555B-CF45BFB01709}"/>
              </a:ext>
            </a:extLst>
          </p:cNvPr>
          <p:cNvSpPr txBox="1">
            <a:spLocks/>
          </p:cNvSpPr>
          <p:nvPr/>
        </p:nvSpPr>
        <p:spPr>
          <a:xfrm>
            <a:off x="5374172" y="4029623"/>
            <a:ext cx="6101219" cy="8837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000" dirty="0"/>
              <a:t>Les partenaires sociaux gèrent les relations et contrats avec les fonds.</a:t>
            </a:r>
          </a:p>
        </p:txBody>
      </p:sp>
      <p:sp>
        <p:nvSpPr>
          <p:cNvPr id="24" name="Espace réservé du contenu 2">
            <a:extLst>
              <a:ext uri="{FF2B5EF4-FFF2-40B4-BE49-F238E27FC236}">
                <a16:creationId xmlns:a16="http://schemas.microsoft.com/office/drawing/2014/main" id="{FFFA178E-8B23-F96C-F2A6-EA9CD36783EB}"/>
              </a:ext>
            </a:extLst>
          </p:cNvPr>
          <p:cNvSpPr txBox="1">
            <a:spLocks/>
          </p:cNvSpPr>
          <p:nvPr/>
        </p:nvSpPr>
        <p:spPr>
          <a:xfrm>
            <a:off x="5419990" y="4959993"/>
            <a:ext cx="6101219" cy="8837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000" dirty="0"/>
              <a:t>Les pensions peuvent être versées à partir de 55 ans, sur une durée choisie. </a:t>
            </a:r>
          </a:p>
        </p:txBody>
      </p:sp>
      <p:sp>
        <p:nvSpPr>
          <p:cNvPr id="26" name="Accolade fermante 25">
            <a:extLst>
              <a:ext uri="{FF2B5EF4-FFF2-40B4-BE49-F238E27FC236}">
                <a16:creationId xmlns:a16="http://schemas.microsoft.com/office/drawing/2014/main" id="{2AADE205-BE81-6A3C-02F8-510FAFA3F4C0}"/>
              </a:ext>
            </a:extLst>
          </p:cNvPr>
          <p:cNvSpPr/>
          <p:nvPr/>
        </p:nvSpPr>
        <p:spPr>
          <a:xfrm>
            <a:off x="2462021" y="4218449"/>
            <a:ext cx="156538" cy="1598947"/>
          </a:xfrm>
          <a:prstGeom prst="rightBrace">
            <a:avLst>
              <a:gd name="adj1" fmla="val 0"/>
              <a:gd name="adj2" fmla="val 50000"/>
            </a:avLst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77600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EBC7B-50E6-C170-0992-B20BABE2D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7F990D4-F4AA-178C-930D-4DE4ECB0C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9178"/>
            <a:ext cx="10515600" cy="849900"/>
          </a:xfrm>
        </p:spPr>
        <p:txBody>
          <a:bodyPr>
            <a:normAutofit/>
          </a:bodyPr>
          <a:lstStyle/>
          <a:p>
            <a:r>
              <a:rPr lang="fr-FR" sz="4000" b="1" dirty="0"/>
              <a:t>Des rendements élevés</a:t>
            </a:r>
          </a:p>
        </p:txBody>
      </p:sp>
      <p:pic>
        <p:nvPicPr>
          <p:cNvPr id="4" name="Image 3" descr="Une image contenant symbole, jaune, Bleu électrique, bleu&#10;&#10;Description générée automatiquement">
            <a:extLst>
              <a:ext uri="{FF2B5EF4-FFF2-40B4-BE49-F238E27FC236}">
                <a16:creationId xmlns:a16="http://schemas.microsoft.com/office/drawing/2014/main" id="{28031FD5-B47F-F50A-4F97-961152C11A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3720" y="491017"/>
            <a:ext cx="2117489" cy="1435753"/>
          </a:xfrm>
          <a:prstGeom prst="rect">
            <a:avLst/>
          </a:prstGeom>
        </p:spPr>
      </p:pic>
      <p:pic>
        <p:nvPicPr>
          <p:cNvPr id="9" name="Espace réservé du contenu 4" descr="Une image contenant texte, ligne, Tracé, diagramme&#10;&#10;Description générée automatiquement">
            <a:extLst>
              <a:ext uri="{FF2B5EF4-FFF2-40B4-BE49-F238E27FC236}">
                <a16:creationId xmlns:a16="http://schemas.microsoft.com/office/drawing/2014/main" id="{2866D7BF-E839-348D-D7C7-71038990D2C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483" t="8120" r="26183" b="12213"/>
          <a:stretch/>
        </p:blipFill>
        <p:spPr>
          <a:xfrm>
            <a:off x="2514931" y="2450910"/>
            <a:ext cx="5193885" cy="3283882"/>
          </a:xfrm>
          <a:prstGeom prst="rect">
            <a:avLst/>
          </a:prstGeom>
        </p:spPr>
      </p:pic>
      <p:sp>
        <p:nvSpPr>
          <p:cNvPr id="10" name="Espace réservé du contenu 2">
            <a:extLst>
              <a:ext uri="{FF2B5EF4-FFF2-40B4-BE49-F238E27FC236}">
                <a16:creationId xmlns:a16="http://schemas.microsoft.com/office/drawing/2014/main" id="{7CF50785-05F5-A365-300D-2FB1FC2A9CE6}"/>
              </a:ext>
            </a:extLst>
          </p:cNvPr>
          <p:cNvSpPr txBox="1">
            <a:spLocks/>
          </p:cNvSpPr>
          <p:nvPr/>
        </p:nvSpPr>
        <p:spPr>
          <a:xfrm>
            <a:off x="3475503" y="2098996"/>
            <a:ext cx="3385380" cy="26320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600" b="1" u="sng" dirty="0"/>
              <a:t>Evolution de la valeur de 100 SEK</a:t>
            </a:r>
          </a:p>
        </p:txBody>
      </p:sp>
      <p:sp>
        <p:nvSpPr>
          <p:cNvPr id="12" name="Espace réservé du contenu 2">
            <a:extLst>
              <a:ext uri="{FF2B5EF4-FFF2-40B4-BE49-F238E27FC236}">
                <a16:creationId xmlns:a16="http://schemas.microsoft.com/office/drawing/2014/main" id="{83E543A3-0452-61C1-A6CD-DAF054E46A54}"/>
              </a:ext>
            </a:extLst>
          </p:cNvPr>
          <p:cNvSpPr txBox="1">
            <a:spLocks/>
          </p:cNvSpPr>
          <p:nvPr/>
        </p:nvSpPr>
        <p:spPr>
          <a:xfrm>
            <a:off x="7708816" y="2450909"/>
            <a:ext cx="3241501" cy="7073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800" dirty="0"/>
              <a:t>Pilier 1 – Part capitalisation (fonds AP7)</a:t>
            </a:r>
          </a:p>
        </p:txBody>
      </p:sp>
      <p:sp>
        <p:nvSpPr>
          <p:cNvPr id="25" name="Espace réservé du contenu 2">
            <a:extLst>
              <a:ext uri="{FF2B5EF4-FFF2-40B4-BE49-F238E27FC236}">
                <a16:creationId xmlns:a16="http://schemas.microsoft.com/office/drawing/2014/main" id="{6E56CD88-F316-27BF-B211-05471EDAFD89}"/>
              </a:ext>
            </a:extLst>
          </p:cNvPr>
          <p:cNvSpPr txBox="1">
            <a:spLocks/>
          </p:cNvSpPr>
          <p:nvPr/>
        </p:nvSpPr>
        <p:spPr>
          <a:xfrm>
            <a:off x="7732566" y="3204675"/>
            <a:ext cx="3621234" cy="37918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600" dirty="0"/>
              <a:t>Pilier 2 - Capitalisation</a:t>
            </a:r>
          </a:p>
        </p:txBody>
      </p:sp>
      <p:sp>
        <p:nvSpPr>
          <p:cNvPr id="26" name="Espace réservé du contenu 2">
            <a:extLst>
              <a:ext uri="{FF2B5EF4-FFF2-40B4-BE49-F238E27FC236}">
                <a16:creationId xmlns:a16="http://schemas.microsoft.com/office/drawing/2014/main" id="{18E2122E-70FC-355C-3E3D-3995B6ED5AEE}"/>
              </a:ext>
            </a:extLst>
          </p:cNvPr>
          <p:cNvSpPr txBox="1">
            <a:spLocks/>
          </p:cNvSpPr>
          <p:nvPr/>
        </p:nvSpPr>
        <p:spPr>
          <a:xfrm>
            <a:off x="7727902" y="4203334"/>
            <a:ext cx="3621234" cy="37918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600" dirty="0"/>
              <a:t>Pilier 1 – Part répartition</a:t>
            </a:r>
          </a:p>
        </p:txBody>
      </p:sp>
      <p:sp>
        <p:nvSpPr>
          <p:cNvPr id="27" name="Espace réservé du contenu 2">
            <a:extLst>
              <a:ext uri="{FF2B5EF4-FFF2-40B4-BE49-F238E27FC236}">
                <a16:creationId xmlns:a16="http://schemas.microsoft.com/office/drawing/2014/main" id="{2FE772CF-1B9C-E175-2CD2-2B257996DFD7}"/>
              </a:ext>
            </a:extLst>
          </p:cNvPr>
          <p:cNvSpPr txBox="1">
            <a:spLocks/>
          </p:cNvSpPr>
          <p:nvPr/>
        </p:nvSpPr>
        <p:spPr>
          <a:xfrm>
            <a:off x="7727902" y="4640564"/>
            <a:ext cx="1487132" cy="3791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400" dirty="0"/>
              <a:t>Inflation</a:t>
            </a:r>
          </a:p>
        </p:txBody>
      </p:sp>
    </p:spTree>
    <p:extLst>
      <p:ext uri="{BB962C8B-B14F-4D97-AF65-F5344CB8AC3E}">
        <p14:creationId xmlns:p14="http://schemas.microsoft.com/office/powerpoint/2010/main" val="356504266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C2C448-B063-8A72-7E42-0B9346201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Exemples de pays ayant mis en place une dose de capitalisation obligatoire</a:t>
            </a:r>
          </a:p>
        </p:txBody>
      </p:sp>
      <p:pic>
        <p:nvPicPr>
          <p:cNvPr id="5" name="Image 4" descr="Une image contenant symbole, jaune, Bleu électrique, bleu&#10;&#10;Description générée automatiquement">
            <a:extLst>
              <a:ext uri="{FF2B5EF4-FFF2-40B4-BE49-F238E27FC236}">
                <a16:creationId xmlns:a16="http://schemas.microsoft.com/office/drawing/2014/main" id="{4059BB74-B7CB-FE6F-D0EC-7C40BFBB2A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5" y="2802469"/>
            <a:ext cx="702387" cy="476250"/>
          </a:xfrm>
          <a:prstGeom prst="rect">
            <a:avLst/>
          </a:prstGeom>
        </p:spPr>
      </p:pic>
      <p:pic>
        <p:nvPicPr>
          <p:cNvPr id="6" name="Image 5" descr="Une image contenant symbole, Symétrie, ligne, rouge&#10;&#10;Description générée automatiquement">
            <a:extLst>
              <a:ext uri="{FF2B5EF4-FFF2-40B4-BE49-F238E27FC236}">
                <a16:creationId xmlns:a16="http://schemas.microsoft.com/office/drawing/2014/main" id="{D88EE42F-398C-4DAF-4C2A-ABF047B6BF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4043673" y="2855638"/>
            <a:ext cx="717176" cy="449889"/>
          </a:xfrm>
          <a:prstGeom prst="rect">
            <a:avLst/>
          </a:prstGeom>
        </p:spPr>
      </p:pic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E4967890-9E02-C213-D2E8-CEF7760DBA0D}"/>
              </a:ext>
            </a:extLst>
          </p:cNvPr>
          <p:cNvSpPr txBox="1">
            <a:spLocks/>
          </p:cNvSpPr>
          <p:nvPr/>
        </p:nvSpPr>
        <p:spPr>
          <a:xfrm>
            <a:off x="3584401" y="1840537"/>
            <a:ext cx="1207308" cy="4498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fr-FR" sz="2000" b="1" dirty="0"/>
              <a:t>Europe</a:t>
            </a:r>
          </a:p>
        </p:txBody>
      </p:sp>
      <p:sp>
        <p:nvSpPr>
          <p:cNvPr id="14" name="Espace réservé du contenu 2">
            <a:extLst>
              <a:ext uri="{FF2B5EF4-FFF2-40B4-BE49-F238E27FC236}">
                <a16:creationId xmlns:a16="http://schemas.microsoft.com/office/drawing/2014/main" id="{FCD5ACFC-5605-69B7-8E3A-A01D8A09322B}"/>
              </a:ext>
            </a:extLst>
          </p:cNvPr>
          <p:cNvSpPr txBox="1">
            <a:spLocks/>
          </p:cNvSpPr>
          <p:nvPr/>
        </p:nvSpPr>
        <p:spPr>
          <a:xfrm>
            <a:off x="7190321" y="1855539"/>
            <a:ext cx="4154558" cy="4498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fr-FR" sz="2000" b="1" dirty="0"/>
              <a:t>Amérique, Asie, Océanie, Afrique </a:t>
            </a:r>
          </a:p>
        </p:txBody>
      </p: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424D8048-3EDD-A1D6-F6CA-0205AC758241}"/>
              </a:ext>
            </a:extLst>
          </p:cNvPr>
          <p:cNvCxnSpPr>
            <a:cxnSpLocks/>
          </p:cNvCxnSpPr>
          <p:nvPr/>
        </p:nvCxnSpPr>
        <p:spPr>
          <a:xfrm>
            <a:off x="932075" y="2290427"/>
            <a:ext cx="102303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" name="Image 21" descr="Une image contenant symbole, rouge&#10;&#10;Description générée automatiquement">
            <a:extLst>
              <a:ext uri="{FF2B5EF4-FFF2-40B4-BE49-F238E27FC236}">
                <a16:creationId xmlns:a16="http://schemas.microsoft.com/office/drawing/2014/main" id="{63E9EE2A-F78D-D224-B418-54DDB850FA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831" y="5497932"/>
            <a:ext cx="711200" cy="476250"/>
          </a:xfrm>
          <a:prstGeom prst="rect">
            <a:avLst/>
          </a:prstGeom>
        </p:spPr>
      </p:pic>
      <p:pic>
        <p:nvPicPr>
          <p:cNvPr id="24" name="Image 23" descr="Une image contenant symbole, drapeau, étoile&#10;&#10;Description générée automatiquement">
            <a:extLst>
              <a:ext uri="{FF2B5EF4-FFF2-40B4-BE49-F238E27FC236}">
                <a16:creationId xmlns:a16="http://schemas.microsoft.com/office/drawing/2014/main" id="{2971AD97-17F3-8398-010F-B7665F6ABC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3530" y="2682411"/>
            <a:ext cx="711200" cy="476250"/>
          </a:xfrm>
          <a:prstGeom prst="rect">
            <a:avLst/>
          </a:prstGeom>
        </p:spPr>
      </p:pic>
      <p:pic>
        <p:nvPicPr>
          <p:cNvPr id="26" name="Image 25" descr="Une image contenant fleur, Graphique, conception&#10;&#10;Description générée automatiquement">
            <a:extLst>
              <a:ext uri="{FF2B5EF4-FFF2-40B4-BE49-F238E27FC236}">
                <a16:creationId xmlns:a16="http://schemas.microsoft.com/office/drawing/2014/main" id="{12C7BA9D-B17E-2B8C-EDD4-4C268E28E4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7346" y="3637469"/>
            <a:ext cx="711200" cy="476250"/>
          </a:xfrm>
          <a:prstGeom prst="rect">
            <a:avLst/>
          </a:prstGeom>
        </p:spPr>
      </p:pic>
      <p:pic>
        <p:nvPicPr>
          <p:cNvPr id="38" name="Image 37" descr="Une image contenant drapeau, symbole&#10;&#10;Description générée automatiquement">
            <a:extLst>
              <a:ext uri="{FF2B5EF4-FFF2-40B4-BE49-F238E27FC236}">
                <a16:creationId xmlns:a16="http://schemas.microsoft.com/office/drawing/2014/main" id="{23655BB3-3FD7-6FF0-5960-EA8E9C88F9B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52431" y="4581736"/>
            <a:ext cx="702388" cy="467483"/>
          </a:xfrm>
          <a:prstGeom prst="rect">
            <a:avLst/>
          </a:prstGeom>
        </p:spPr>
      </p:pic>
      <p:pic>
        <p:nvPicPr>
          <p:cNvPr id="40" name="Image 39" descr="Une image contenant drapeau, Drapeau des États-Unis, Jour du drapeau (USA), Journée de l’indépendance&#10;&#10;Description générée automatiquement">
            <a:extLst>
              <a:ext uri="{FF2B5EF4-FFF2-40B4-BE49-F238E27FC236}">
                <a16:creationId xmlns:a16="http://schemas.microsoft.com/office/drawing/2014/main" id="{99660970-44B8-7FA1-23E7-336DFE04A71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83986" y="5664937"/>
            <a:ext cx="714350" cy="476233"/>
          </a:xfrm>
          <a:prstGeom prst="rect">
            <a:avLst/>
          </a:prstGeom>
        </p:spPr>
      </p:pic>
      <p:sp>
        <p:nvSpPr>
          <p:cNvPr id="43" name="Espace réservé du contenu 2">
            <a:extLst>
              <a:ext uri="{FF2B5EF4-FFF2-40B4-BE49-F238E27FC236}">
                <a16:creationId xmlns:a16="http://schemas.microsoft.com/office/drawing/2014/main" id="{3CA0EC08-8400-6450-DD57-0B57A91364B7}"/>
              </a:ext>
            </a:extLst>
          </p:cNvPr>
          <p:cNvSpPr txBox="1">
            <a:spLocks/>
          </p:cNvSpPr>
          <p:nvPr/>
        </p:nvSpPr>
        <p:spPr>
          <a:xfrm>
            <a:off x="8398786" y="5498227"/>
            <a:ext cx="2746176" cy="5751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fr-FR" sz="1200" b="1" dirty="0"/>
              <a:t>3 piliers : retraite publique, capitalisation employeur (401(k), capitalisation privée (</a:t>
            </a:r>
            <a:r>
              <a:rPr lang="fr-FR" sz="1200" b="1" dirty="0" err="1"/>
              <a:t>Individual</a:t>
            </a:r>
            <a:r>
              <a:rPr lang="fr-FR" sz="1200" b="1" dirty="0"/>
              <a:t> Retirement </a:t>
            </a:r>
            <a:r>
              <a:rPr lang="fr-FR" sz="1200" b="1" dirty="0" err="1"/>
              <a:t>Accounts</a:t>
            </a:r>
            <a:r>
              <a:rPr lang="fr-FR" sz="1200" b="1" dirty="0"/>
              <a:t>)</a:t>
            </a:r>
          </a:p>
        </p:txBody>
      </p:sp>
      <p:sp>
        <p:nvSpPr>
          <p:cNvPr id="45" name="Espace réservé du contenu 2">
            <a:extLst>
              <a:ext uri="{FF2B5EF4-FFF2-40B4-BE49-F238E27FC236}">
                <a16:creationId xmlns:a16="http://schemas.microsoft.com/office/drawing/2014/main" id="{E8D85612-E772-34EC-E1D9-6DC7DD5A81F5}"/>
              </a:ext>
            </a:extLst>
          </p:cNvPr>
          <p:cNvSpPr txBox="1">
            <a:spLocks/>
          </p:cNvSpPr>
          <p:nvPr/>
        </p:nvSpPr>
        <p:spPr>
          <a:xfrm>
            <a:off x="8374912" y="4398741"/>
            <a:ext cx="2553179" cy="8510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fr-FR" sz="1200" b="0" i="0" u="none" strike="noStrike" dirty="0">
                <a:effectLst/>
                <a:ea typeface="Questrial" pitchFamily="2" charset="77"/>
                <a:cs typeface="Questrial" pitchFamily="2" charset="77"/>
              </a:rPr>
              <a:t>Modèle 100% capitalisation : les travailleurs cotisent10 % de leur salaire à des </a:t>
            </a:r>
            <a:r>
              <a:rPr lang="fr-FR" sz="1200" b="0" i="0" u="none" strike="noStrike" dirty="0" err="1">
                <a:effectLst/>
                <a:ea typeface="Questrial" pitchFamily="2" charset="77"/>
                <a:cs typeface="Questrial" pitchFamily="2" charset="77"/>
              </a:rPr>
              <a:t>Administradoras</a:t>
            </a:r>
            <a:r>
              <a:rPr lang="fr-FR" sz="1200" b="0" i="0" u="none" strike="noStrike" dirty="0">
                <a:effectLst/>
                <a:ea typeface="Questrial" pitchFamily="2" charset="77"/>
                <a:cs typeface="Questrial" pitchFamily="2" charset="77"/>
              </a:rPr>
              <a:t> de </a:t>
            </a:r>
            <a:r>
              <a:rPr lang="fr-FR" sz="1200" b="0" i="0" u="none" strike="noStrike" dirty="0" err="1">
                <a:effectLst/>
                <a:ea typeface="Questrial" pitchFamily="2" charset="77"/>
                <a:cs typeface="Questrial" pitchFamily="2" charset="77"/>
              </a:rPr>
              <a:t>Fondos</a:t>
            </a:r>
            <a:r>
              <a:rPr lang="fr-FR" sz="1200" b="0" i="0" u="none" strike="noStrike" dirty="0">
                <a:effectLst/>
                <a:ea typeface="Questrial" pitchFamily="2" charset="77"/>
                <a:cs typeface="Questrial" pitchFamily="2" charset="77"/>
              </a:rPr>
              <a:t> de </a:t>
            </a:r>
            <a:r>
              <a:rPr lang="fr-FR" sz="1200" b="0" i="0" u="none" strike="noStrike" dirty="0" err="1">
                <a:effectLst/>
                <a:ea typeface="Questrial" pitchFamily="2" charset="77"/>
                <a:cs typeface="Questrial" pitchFamily="2" charset="77"/>
              </a:rPr>
              <a:t>Pensiones</a:t>
            </a:r>
            <a:r>
              <a:rPr lang="fr-FR" sz="1200" b="0" i="0" u="none" strike="noStrike" dirty="0">
                <a:effectLst/>
                <a:ea typeface="Questrial" pitchFamily="2" charset="77"/>
                <a:cs typeface="Questrial" pitchFamily="2" charset="77"/>
              </a:rPr>
              <a:t> (AFP), des fonds privés de retraite.</a:t>
            </a:r>
            <a:endParaRPr lang="fr-FR" sz="1200" b="1" dirty="0">
              <a:ea typeface="Questrial" pitchFamily="2" charset="77"/>
              <a:cs typeface="Questrial" pitchFamily="2" charset="77"/>
            </a:endParaRPr>
          </a:p>
        </p:txBody>
      </p:sp>
      <p:sp>
        <p:nvSpPr>
          <p:cNvPr id="47" name="Espace réservé du contenu 2">
            <a:extLst>
              <a:ext uri="{FF2B5EF4-FFF2-40B4-BE49-F238E27FC236}">
                <a16:creationId xmlns:a16="http://schemas.microsoft.com/office/drawing/2014/main" id="{FD12526E-0337-8EDD-AAFD-E56C53D17A73}"/>
              </a:ext>
            </a:extLst>
          </p:cNvPr>
          <p:cNvSpPr txBox="1">
            <a:spLocks/>
          </p:cNvSpPr>
          <p:nvPr/>
        </p:nvSpPr>
        <p:spPr>
          <a:xfrm>
            <a:off x="4856913" y="2416955"/>
            <a:ext cx="2203100" cy="8510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200" b="1" dirty="0"/>
              <a:t>3 piliers. 1/State Pension</a:t>
            </a:r>
            <a:r>
              <a:rPr lang="fr-FR" sz="1200" dirty="0"/>
              <a:t> : Système public. 2/ </a:t>
            </a:r>
            <a:r>
              <a:rPr lang="fr-FR" sz="1200" b="1" dirty="0"/>
              <a:t>Workplace Pensions</a:t>
            </a:r>
            <a:r>
              <a:rPr lang="fr-FR" sz="1200" dirty="0"/>
              <a:t> : les employeurs inscrivent automatiquement les salariés à un fonds de pension. 3/ </a:t>
            </a:r>
            <a:r>
              <a:rPr lang="fr-FR" sz="1200" b="1" dirty="0" err="1"/>
              <a:t>Private</a:t>
            </a:r>
            <a:r>
              <a:rPr lang="fr-FR" sz="1200" b="1" dirty="0"/>
              <a:t> Pensions</a:t>
            </a:r>
            <a:r>
              <a:rPr lang="fr-FR" sz="1200" dirty="0"/>
              <a:t> : Les individus peuvent souscrire des plans supplémentaires.</a:t>
            </a:r>
          </a:p>
        </p:txBody>
      </p:sp>
      <p:sp>
        <p:nvSpPr>
          <p:cNvPr id="48" name="Espace réservé du contenu 2">
            <a:extLst>
              <a:ext uri="{FF2B5EF4-FFF2-40B4-BE49-F238E27FC236}">
                <a16:creationId xmlns:a16="http://schemas.microsoft.com/office/drawing/2014/main" id="{12D8BB5D-81F7-FCAA-617A-CE458CA8C5EB}"/>
              </a:ext>
            </a:extLst>
          </p:cNvPr>
          <p:cNvSpPr txBox="1">
            <a:spLocks/>
          </p:cNvSpPr>
          <p:nvPr/>
        </p:nvSpPr>
        <p:spPr>
          <a:xfrm>
            <a:off x="5271631" y="6424222"/>
            <a:ext cx="2220825" cy="4498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fr-FR" sz="1100" b="1" dirty="0"/>
              <a:t>Liste non exhaustive</a:t>
            </a:r>
          </a:p>
        </p:txBody>
      </p:sp>
      <p:sp>
        <p:nvSpPr>
          <p:cNvPr id="49" name="Espace réservé du contenu 2">
            <a:extLst>
              <a:ext uri="{FF2B5EF4-FFF2-40B4-BE49-F238E27FC236}">
                <a16:creationId xmlns:a16="http://schemas.microsoft.com/office/drawing/2014/main" id="{6021FF15-16FB-8BC9-41E4-FAC5E23B317A}"/>
              </a:ext>
            </a:extLst>
          </p:cNvPr>
          <p:cNvSpPr txBox="1">
            <a:spLocks/>
          </p:cNvSpPr>
          <p:nvPr/>
        </p:nvSpPr>
        <p:spPr>
          <a:xfrm>
            <a:off x="1683217" y="5433453"/>
            <a:ext cx="2410218" cy="8510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200" b="1" dirty="0"/>
              <a:t>3 piliers aussi. Le troisième pilier présente de forts avantages fiscaux. </a:t>
            </a:r>
            <a:endParaRPr lang="fr-FR" sz="1200" dirty="0"/>
          </a:p>
        </p:txBody>
      </p:sp>
      <p:sp>
        <p:nvSpPr>
          <p:cNvPr id="50" name="Espace réservé du contenu 2">
            <a:extLst>
              <a:ext uri="{FF2B5EF4-FFF2-40B4-BE49-F238E27FC236}">
                <a16:creationId xmlns:a16="http://schemas.microsoft.com/office/drawing/2014/main" id="{8F9DB338-920C-B18F-1539-0E0545C598DD}"/>
              </a:ext>
            </a:extLst>
          </p:cNvPr>
          <p:cNvSpPr txBox="1">
            <a:spLocks/>
          </p:cNvSpPr>
          <p:nvPr/>
        </p:nvSpPr>
        <p:spPr>
          <a:xfrm>
            <a:off x="1683217" y="2445044"/>
            <a:ext cx="2203100" cy="8510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200" b="1" dirty="0"/>
              <a:t>3 piliers. Le système inclut également un principe d’équilibre financier du système, qui ajuste les pensions à la hausse ou à la baisse en fonction du contexte macroéconomique.</a:t>
            </a:r>
            <a:endParaRPr lang="fr-FR" sz="1200" dirty="0"/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DF213137-A3AA-D616-B549-A11F4F433DC9}"/>
              </a:ext>
            </a:extLst>
          </p:cNvPr>
          <p:cNvSpPr txBox="1"/>
          <p:nvPr/>
        </p:nvSpPr>
        <p:spPr>
          <a:xfrm>
            <a:off x="8322899" y="2416955"/>
            <a:ext cx="274617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Le </a:t>
            </a:r>
            <a:r>
              <a:rPr lang="fr-FR" sz="1200" dirty="0" err="1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Superannuation</a:t>
            </a:r>
            <a:r>
              <a:rPr lang="fr-FR" sz="12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 Scheme oblige les employeurs à cotiser 11 % du salaire des employés dans des fonds de pension. Les fonds sont gérés par des institutions financières privées.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0F2C3AA4-D3F7-EDCA-9E2B-0BEF7C13DFD1}"/>
              </a:ext>
            </a:extLst>
          </p:cNvPr>
          <p:cNvSpPr txBox="1"/>
          <p:nvPr/>
        </p:nvSpPr>
        <p:spPr>
          <a:xfrm>
            <a:off x="8347347" y="3595149"/>
            <a:ext cx="27461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b="0" i="0" u="none" strike="noStrike" dirty="0">
                <a:solidFill>
                  <a:schemeClr val="bg1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Le </a:t>
            </a:r>
            <a:r>
              <a:rPr lang="fr-FR" sz="1200" b="0" i="0" u="none" strike="noStrike" dirty="0" err="1">
                <a:solidFill>
                  <a:schemeClr val="bg1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Mandatory</a:t>
            </a:r>
            <a:r>
              <a:rPr lang="fr-FR" sz="1200" b="0" i="0" u="none" strike="noStrike" dirty="0">
                <a:solidFill>
                  <a:schemeClr val="bg1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 Provident </a:t>
            </a:r>
            <a:r>
              <a:rPr lang="fr-FR" sz="1200" b="0" i="0" u="none" strike="noStrike" dirty="0" err="1">
                <a:solidFill>
                  <a:schemeClr val="bg1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Fund</a:t>
            </a:r>
            <a:r>
              <a:rPr lang="fr-FR" sz="1200" b="0" i="0" u="none" strike="noStrike" dirty="0">
                <a:solidFill>
                  <a:schemeClr val="bg1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 (MPF) est un système obligatoire de capitalisation.</a:t>
            </a:r>
            <a:endParaRPr lang="fr-FR" sz="1200" dirty="0">
              <a:solidFill>
                <a:schemeClr val="bg1"/>
              </a:solidFill>
              <a:latin typeface="Questrial" pitchFamily="2" charset="77"/>
              <a:ea typeface="Questrial" pitchFamily="2" charset="77"/>
              <a:cs typeface="Questrial" pitchFamily="2" charset="77"/>
            </a:endParaRPr>
          </a:p>
        </p:txBody>
      </p:sp>
      <p:sp>
        <p:nvSpPr>
          <p:cNvPr id="56" name="Espace réservé du contenu 2">
            <a:extLst>
              <a:ext uri="{FF2B5EF4-FFF2-40B4-BE49-F238E27FC236}">
                <a16:creationId xmlns:a16="http://schemas.microsoft.com/office/drawing/2014/main" id="{65F82D3D-7FD0-3EDA-D6E7-DEB0B16191AC}"/>
              </a:ext>
            </a:extLst>
          </p:cNvPr>
          <p:cNvSpPr txBox="1">
            <a:spLocks/>
          </p:cNvSpPr>
          <p:nvPr/>
        </p:nvSpPr>
        <p:spPr>
          <a:xfrm>
            <a:off x="4863506" y="4276357"/>
            <a:ext cx="2150204" cy="12176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200" dirty="0"/>
              <a:t>Les </a:t>
            </a:r>
            <a:r>
              <a:rPr lang="fr-FR" sz="1200" b="1" dirty="0"/>
              <a:t>fonds de pension obligatoires</a:t>
            </a:r>
            <a:r>
              <a:rPr lang="fr-FR" sz="1200" dirty="0"/>
              <a:t> (gérés par des secteurs professionnels) couvrent la plupart des salariés. Les employeurs et les employés cotisent généralement </a:t>
            </a:r>
            <a:r>
              <a:rPr lang="fr-FR" sz="1200" b="1" dirty="0"/>
              <a:t>12 % à 15 %</a:t>
            </a:r>
            <a:r>
              <a:rPr lang="fr-FR" sz="1200" dirty="0"/>
              <a:t> des revenus dans ces fonds.</a:t>
            </a:r>
          </a:p>
        </p:txBody>
      </p:sp>
      <p:sp>
        <p:nvSpPr>
          <p:cNvPr id="57" name="Espace réservé du contenu 2">
            <a:extLst>
              <a:ext uri="{FF2B5EF4-FFF2-40B4-BE49-F238E27FC236}">
                <a16:creationId xmlns:a16="http://schemas.microsoft.com/office/drawing/2014/main" id="{CD8D4855-444F-336E-7CF3-6C8827DE40A6}"/>
              </a:ext>
            </a:extLst>
          </p:cNvPr>
          <p:cNvSpPr txBox="1">
            <a:spLocks/>
          </p:cNvSpPr>
          <p:nvPr/>
        </p:nvSpPr>
        <p:spPr>
          <a:xfrm>
            <a:off x="1683217" y="4216755"/>
            <a:ext cx="1983026" cy="8510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200" b="1" dirty="0"/>
              <a:t>3 piliers. Plus de 90 % des salariés participent à un fonds de pension collectif. </a:t>
            </a:r>
            <a:endParaRPr lang="fr-FR" sz="1200" dirty="0"/>
          </a:p>
        </p:txBody>
      </p:sp>
      <p:pic>
        <p:nvPicPr>
          <p:cNvPr id="59" name="Image 58" descr="Une image contenant drapeau, Rectangle, capture d’écran&#10;&#10;Description générée automatiquement">
            <a:extLst>
              <a:ext uri="{FF2B5EF4-FFF2-40B4-BE49-F238E27FC236}">
                <a16:creationId xmlns:a16="http://schemas.microsoft.com/office/drawing/2014/main" id="{797F0644-7E17-5A56-E3C2-8039CB85D56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6734" y="4325835"/>
            <a:ext cx="700908" cy="476233"/>
          </a:xfrm>
          <a:prstGeom prst="rect">
            <a:avLst/>
          </a:prstGeom>
        </p:spPr>
      </p:pic>
      <p:pic>
        <p:nvPicPr>
          <p:cNvPr id="61" name="Image 60" descr="Une image contenant Rectangle, rouge, motif, carré&#10;&#10;Description générée automatiquement">
            <a:extLst>
              <a:ext uri="{FF2B5EF4-FFF2-40B4-BE49-F238E27FC236}">
                <a16:creationId xmlns:a16="http://schemas.microsoft.com/office/drawing/2014/main" id="{C40C3903-8180-8E27-01B7-FE01CC2B6D0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43673" y="4694740"/>
            <a:ext cx="711200" cy="476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32136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9C8D22-DE4A-94A0-6C84-F12EF36B7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08853-8165-6758-B05B-89ED0BFCA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R" dirty="0"/>
              <a:t>Retraite par capitalisation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1D69A5-BC6C-1EB8-FC07-2FB96B81D3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FR" dirty="0"/>
              <a:t>Impact macro et fonds de pension</a:t>
            </a:r>
          </a:p>
        </p:txBody>
      </p:sp>
    </p:spTree>
    <p:extLst>
      <p:ext uri="{BB962C8B-B14F-4D97-AF65-F5344CB8AC3E}">
        <p14:creationId xmlns:p14="http://schemas.microsoft.com/office/powerpoint/2010/main" val="371768074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A4584-75D7-58C0-B691-E4ED22603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712" y="2311300"/>
            <a:ext cx="3310345" cy="1325563"/>
          </a:xfrm>
        </p:spPr>
        <p:txBody>
          <a:bodyPr>
            <a:noAutofit/>
          </a:bodyPr>
          <a:lstStyle/>
          <a:p>
            <a:r>
              <a:rPr lang="fr-FR" sz="2000" dirty="0"/>
              <a:t>En Suède, les dépenses publiques de retraite ne représentent que 9,3% du PIB, contre 13,9% en France, soit un écart de 4,6 points, en 2019.</a:t>
            </a:r>
            <a:br>
              <a:rPr lang="fr-FR" sz="2000" dirty="0"/>
            </a:br>
            <a:br>
              <a:rPr lang="fr-FR" sz="2000" dirty="0"/>
            </a:br>
            <a:r>
              <a:rPr lang="fr-FR" sz="2000" dirty="0"/>
              <a:t>Cela correspond à un écart équivalent à 125 Md€ de dépenses publiques. </a:t>
            </a:r>
            <a:br>
              <a:rPr lang="fr-FR" sz="2000" dirty="0"/>
            </a:br>
            <a:br>
              <a:rPr lang="fr-FR" sz="2000" dirty="0"/>
            </a:br>
            <a:r>
              <a:rPr lang="fr-FR" sz="2000" dirty="0"/>
              <a:t>Si on s'aligne sur le niveau du Royaume-Uni (8,2 points d’écart), cela représente près de 225 Md€ de différence.</a:t>
            </a:r>
          </a:p>
        </p:txBody>
      </p: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3" name="Graphique 12">
                <a:extLst>
                  <a:ext uri="{FF2B5EF4-FFF2-40B4-BE49-F238E27FC236}">
                    <a16:creationId xmlns:a16="http://schemas.microsoft.com/office/drawing/2014/main" id="{C176BC8D-7B30-2B65-341C-EEB90F21D254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084985801"/>
                  </p:ext>
                </p:extLst>
              </p:nvPr>
            </p:nvGraphicFramePr>
            <p:xfrm>
              <a:off x="5059147" y="598714"/>
              <a:ext cx="6326445" cy="5661397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3" name="Graphique 12">
                <a:extLst>
                  <a:ext uri="{FF2B5EF4-FFF2-40B4-BE49-F238E27FC236}">
                    <a16:creationId xmlns:a16="http://schemas.microsoft.com/office/drawing/2014/main" id="{C176BC8D-7B30-2B65-341C-EEB90F21D25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059147" y="598714"/>
                <a:ext cx="6326445" cy="5661397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ZoneTexte 13">
            <a:extLst>
              <a:ext uri="{FF2B5EF4-FFF2-40B4-BE49-F238E27FC236}">
                <a16:creationId xmlns:a16="http://schemas.microsoft.com/office/drawing/2014/main" id="{6270714A-A9EE-AD3F-B714-9D03C6A0CEBA}"/>
              </a:ext>
            </a:extLst>
          </p:cNvPr>
          <p:cNvSpPr txBox="1"/>
          <p:nvPr/>
        </p:nvSpPr>
        <p:spPr>
          <a:xfrm>
            <a:off x="5659429" y="604564"/>
            <a:ext cx="13557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380</a:t>
            </a:r>
          </a:p>
          <a:p>
            <a:r>
              <a:rPr lang="fr-FR" sz="20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Md€</a:t>
            </a:r>
          </a:p>
        </p:txBody>
      </p:sp>
      <p:sp>
        <p:nvSpPr>
          <p:cNvPr id="17" name="ZoneTexte 14">
            <a:extLst>
              <a:ext uri="{FF2B5EF4-FFF2-40B4-BE49-F238E27FC236}">
                <a16:creationId xmlns:a16="http://schemas.microsoft.com/office/drawing/2014/main" id="{97C60087-EC36-7DCF-2BCA-7D05D35F2CA3}"/>
              </a:ext>
            </a:extLst>
          </p:cNvPr>
          <p:cNvSpPr txBox="1"/>
          <p:nvPr/>
        </p:nvSpPr>
        <p:spPr>
          <a:xfrm>
            <a:off x="6846003" y="972195"/>
            <a:ext cx="13483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- 95</a:t>
            </a:r>
          </a:p>
        </p:txBody>
      </p:sp>
      <p:sp>
        <p:nvSpPr>
          <p:cNvPr id="18" name="ZoneTexte 15">
            <a:extLst>
              <a:ext uri="{FF2B5EF4-FFF2-40B4-BE49-F238E27FC236}">
                <a16:creationId xmlns:a16="http://schemas.microsoft.com/office/drawing/2014/main" id="{A0C0E68A-BD2D-C71E-5952-9EB7FDA1E533}"/>
              </a:ext>
            </a:extLst>
          </p:cNvPr>
          <p:cNvSpPr txBox="1"/>
          <p:nvPr/>
        </p:nvSpPr>
        <p:spPr>
          <a:xfrm>
            <a:off x="7968596" y="2283909"/>
            <a:ext cx="13483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- 125</a:t>
            </a:r>
          </a:p>
        </p:txBody>
      </p:sp>
      <p:sp>
        <p:nvSpPr>
          <p:cNvPr id="19" name="ZoneTexte 16">
            <a:extLst>
              <a:ext uri="{FF2B5EF4-FFF2-40B4-BE49-F238E27FC236}">
                <a16:creationId xmlns:a16="http://schemas.microsoft.com/office/drawing/2014/main" id="{C51CF410-6BC1-972A-59E6-B4FB979A8AD9}"/>
              </a:ext>
            </a:extLst>
          </p:cNvPr>
          <p:cNvSpPr txBox="1"/>
          <p:nvPr/>
        </p:nvSpPr>
        <p:spPr>
          <a:xfrm>
            <a:off x="9220655" y="2747425"/>
            <a:ext cx="105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- 156</a:t>
            </a:r>
          </a:p>
        </p:txBody>
      </p:sp>
      <p:sp>
        <p:nvSpPr>
          <p:cNvPr id="20" name="ZoneTexte 17">
            <a:extLst>
              <a:ext uri="{FF2B5EF4-FFF2-40B4-BE49-F238E27FC236}">
                <a16:creationId xmlns:a16="http://schemas.microsoft.com/office/drawing/2014/main" id="{F4F5CB0F-EE92-C74C-5B94-2B6DB62B1BE4}"/>
              </a:ext>
            </a:extLst>
          </p:cNvPr>
          <p:cNvSpPr txBox="1"/>
          <p:nvPr/>
        </p:nvSpPr>
        <p:spPr>
          <a:xfrm>
            <a:off x="10401559" y="3116757"/>
            <a:ext cx="12110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- 225</a:t>
            </a:r>
          </a:p>
        </p:txBody>
      </p:sp>
      <p:pic>
        <p:nvPicPr>
          <p:cNvPr id="21" name="Image 18" descr="Une image contenant orange, jaune, rouge, Caractère coloré&#10;&#10;Description générée automatiquement">
            <a:extLst>
              <a:ext uri="{FF2B5EF4-FFF2-40B4-BE49-F238E27FC236}">
                <a16:creationId xmlns:a16="http://schemas.microsoft.com/office/drawing/2014/main" id="{FAC51A9C-9AFE-C854-4BDC-0D728E36CB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3345" y="498636"/>
            <a:ext cx="728156" cy="428913"/>
          </a:xfrm>
          <a:prstGeom prst="rect">
            <a:avLst/>
          </a:prstGeom>
        </p:spPr>
      </p:pic>
      <p:pic>
        <p:nvPicPr>
          <p:cNvPr id="22" name="Image 19" descr="Une image contenant symbole, jaune, Bleu électrique, bleu&#10;&#10;Description générée automatiquement">
            <a:extLst>
              <a:ext uri="{FF2B5EF4-FFF2-40B4-BE49-F238E27FC236}">
                <a16:creationId xmlns:a16="http://schemas.microsoft.com/office/drawing/2014/main" id="{FA54E4DE-0733-EA5C-B449-75234BF76C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4796" y="1783348"/>
            <a:ext cx="708984" cy="444749"/>
          </a:xfrm>
          <a:prstGeom prst="rect">
            <a:avLst/>
          </a:prstGeom>
        </p:spPr>
      </p:pic>
      <p:pic>
        <p:nvPicPr>
          <p:cNvPr id="23" name="Image 20" descr="Une image contenant symbole, Symétrie, ligne, rouge&#10;&#10;Description générée automatiquement">
            <a:extLst>
              <a:ext uri="{FF2B5EF4-FFF2-40B4-BE49-F238E27FC236}">
                <a16:creationId xmlns:a16="http://schemas.microsoft.com/office/drawing/2014/main" id="{EEA22944-E8F1-EFBB-1A43-6AD016C966A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10510107" y="2653241"/>
            <a:ext cx="620954" cy="389529"/>
          </a:xfrm>
          <a:prstGeom prst="rect">
            <a:avLst/>
          </a:prstGeom>
        </p:spPr>
      </p:pic>
      <p:pic>
        <p:nvPicPr>
          <p:cNvPr id="24" name="Image 21" descr="Une image contenant Graphique, graphisme, cercle, logo&#10;&#10;Description générée automatiquement">
            <a:extLst>
              <a:ext uri="{FF2B5EF4-FFF2-40B4-BE49-F238E27FC236}">
                <a16:creationId xmlns:a16="http://schemas.microsoft.com/office/drawing/2014/main" id="{E944F5A1-1607-3EA1-9044-49C36A57717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32044" y="2452011"/>
            <a:ext cx="1159013" cy="295414"/>
          </a:xfrm>
          <a:prstGeom prst="rect">
            <a:avLst/>
          </a:prstGeom>
        </p:spPr>
      </p:pic>
      <p:sp>
        <p:nvSpPr>
          <p:cNvPr id="25" name="Title 15">
            <a:extLst>
              <a:ext uri="{FF2B5EF4-FFF2-40B4-BE49-F238E27FC236}">
                <a16:creationId xmlns:a16="http://schemas.microsoft.com/office/drawing/2014/main" id="{6F279F65-E65D-1469-60B6-C1F30D23271E}"/>
              </a:ext>
            </a:extLst>
          </p:cNvPr>
          <p:cNvSpPr txBox="1">
            <a:spLocks/>
          </p:cNvSpPr>
          <p:nvPr/>
        </p:nvSpPr>
        <p:spPr>
          <a:xfrm>
            <a:off x="8453145" y="309413"/>
            <a:ext cx="315942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Questrial" pitchFamily="2" charset="77"/>
                <a:ea typeface="+mj-ea"/>
                <a:cs typeface="+mj-cs"/>
              </a:defRPr>
            </a:lvl1pPr>
          </a:lstStyle>
          <a:p>
            <a:r>
              <a:rPr lang="fr-FR" sz="1600" b="1" u="sng" dirty="0"/>
              <a:t>Baisse de dépenses publiques de retraite si la France aligne son modèle sur les pays suivants</a:t>
            </a:r>
            <a:endParaRPr lang="en-FR" sz="2800" u="sng" dirty="0"/>
          </a:p>
        </p:txBody>
      </p:sp>
    </p:spTree>
    <p:extLst>
      <p:ext uri="{BB962C8B-B14F-4D97-AF65-F5344CB8AC3E}">
        <p14:creationId xmlns:p14="http://schemas.microsoft.com/office/powerpoint/2010/main" val="359661263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CB32C6-501F-D248-A601-145818BF9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Les fonds de pension suédois participent activement au financement de l’économie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5CD2641-2D16-D334-54E5-65C53A5A71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2196"/>
            <a:ext cx="5257800" cy="961901"/>
          </a:xfrm>
        </p:spPr>
        <p:txBody>
          <a:bodyPr>
            <a:noAutofit/>
          </a:bodyPr>
          <a:lstStyle/>
          <a:p>
            <a:r>
              <a:rPr lang="fr-FR" sz="1400" dirty="0"/>
              <a:t>Les fonds de réserve du </a:t>
            </a:r>
            <a:r>
              <a:rPr lang="fr-FR" sz="1400" u="sng" dirty="0"/>
              <a:t>pilier 1</a:t>
            </a:r>
            <a:r>
              <a:rPr lang="fr-FR" sz="1400" dirty="0"/>
              <a:t> (fonds AP) investissent entre 10% et 20% dans des actions suédoises et sont habilités à investir dans des entreprises non cotées. </a:t>
            </a:r>
          </a:p>
        </p:txBody>
      </p:sp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58867A11-B1B6-C322-C092-87D039E48BCF}"/>
              </a:ext>
            </a:extLst>
          </p:cNvPr>
          <p:cNvSpPr txBox="1">
            <a:spLocks/>
          </p:cNvSpPr>
          <p:nvPr/>
        </p:nvSpPr>
        <p:spPr>
          <a:xfrm>
            <a:off x="6488875" y="1892196"/>
            <a:ext cx="5257800" cy="11756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400" dirty="0"/>
              <a:t>Les principaux fonds du </a:t>
            </a:r>
            <a:r>
              <a:rPr lang="fr-FR" sz="1400" u="sng" dirty="0"/>
              <a:t>pilier 2</a:t>
            </a:r>
            <a:r>
              <a:rPr lang="fr-FR" sz="1400" dirty="0"/>
              <a:t> participent également activement au financement des entreprises suédoises.</a:t>
            </a:r>
          </a:p>
        </p:txBody>
      </p:sp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0E66ACF1-22FA-36E9-7C21-5420DFA38ED8}"/>
              </a:ext>
            </a:extLst>
          </p:cNvPr>
          <p:cNvGraphicFramePr>
            <a:graphicFrameLocks noGrp="1"/>
          </p:cNvGraphicFramePr>
          <p:nvPr/>
        </p:nvGraphicFramePr>
        <p:xfrm>
          <a:off x="1034636" y="2718165"/>
          <a:ext cx="5257801" cy="32992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26809">
                  <a:extLst>
                    <a:ext uri="{9D8B030D-6E8A-4147-A177-3AD203B41FA5}">
                      <a16:colId xmlns:a16="http://schemas.microsoft.com/office/drawing/2014/main" val="2899819767"/>
                    </a:ext>
                  </a:extLst>
                </a:gridCol>
                <a:gridCol w="1007748">
                  <a:extLst>
                    <a:ext uri="{9D8B030D-6E8A-4147-A177-3AD203B41FA5}">
                      <a16:colId xmlns:a16="http://schemas.microsoft.com/office/drawing/2014/main" val="3766924788"/>
                    </a:ext>
                  </a:extLst>
                </a:gridCol>
                <a:gridCol w="1007748">
                  <a:extLst>
                    <a:ext uri="{9D8B030D-6E8A-4147-A177-3AD203B41FA5}">
                      <a16:colId xmlns:a16="http://schemas.microsoft.com/office/drawing/2014/main" val="4241573854"/>
                    </a:ext>
                  </a:extLst>
                </a:gridCol>
                <a:gridCol w="1007748">
                  <a:extLst>
                    <a:ext uri="{9D8B030D-6E8A-4147-A177-3AD203B41FA5}">
                      <a16:colId xmlns:a16="http://schemas.microsoft.com/office/drawing/2014/main" val="2623258517"/>
                    </a:ext>
                  </a:extLst>
                </a:gridCol>
                <a:gridCol w="1007748">
                  <a:extLst>
                    <a:ext uri="{9D8B030D-6E8A-4147-A177-3AD203B41FA5}">
                      <a16:colId xmlns:a16="http://schemas.microsoft.com/office/drawing/2014/main" val="246159000"/>
                    </a:ext>
                  </a:extLst>
                </a:gridCol>
              </a:tblGrid>
              <a:tr h="331140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Fonds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707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AP1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707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AP2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707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AP3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707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AP4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707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684755"/>
                  </a:ext>
                </a:extLst>
              </a:tr>
              <a:tr h="443988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Actions suédoises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707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22,1%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9%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12,5%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16%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76121389"/>
                  </a:ext>
                </a:extLst>
              </a:tr>
              <a:tr h="44398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Actions étrangères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707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39,2%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32%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38,3%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36%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95801653"/>
                  </a:ext>
                </a:extLst>
              </a:tr>
              <a:tr h="331140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Obligations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707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24,9%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30,5%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24,6%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27%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81855795"/>
                  </a:ext>
                </a:extLst>
              </a:tr>
              <a:tr h="538102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Immobilier et infrastructures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707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15,8%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16,5%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18,6%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16%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90655587"/>
                  </a:ext>
                </a:extLst>
              </a:tr>
              <a:tr h="331140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Capital risque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707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6,9%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10%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7,4%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69682988"/>
                  </a:ext>
                </a:extLst>
              </a:tr>
              <a:tr h="331140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Autres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707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0,3%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2%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0,6%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39696958"/>
                  </a:ext>
                </a:extLst>
              </a:tr>
              <a:tr h="53810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Taux de rendement sur 10 ans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707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6,8%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8,7%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8,5%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48967676"/>
                  </a:ext>
                </a:extLst>
              </a:tr>
            </a:tbl>
          </a:graphicData>
        </a:graphic>
      </p:graphicFrame>
      <p:pic>
        <p:nvPicPr>
          <p:cNvPr id="7" name="Image 6" descr="Une image contenant symbole, jaune, Bleu électrique, bleu&#10;&#10;Description générée automatiquement">
            <a:extLst>
              <a:ext uri="{FF2B5EF4-FFF2-40B4-BE49-F238E27FC236}">
                <a16:creationId xmlns:a16="http://schemas.microsoft.com/office/drawing/2014/main" id="{7F12C6AE-1D99-ADBA-91F2-5829A658A4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0910" y="676074"/>
            <a:ext cx="1025780" cy="695525"/>
          </a:xfrm>
          <a:prstGeom prst="rect">
            <a:avLst/>
          </a:prstGeom>
        </p:spPr>
      </p:pic>
      <p:graphicFrame>
        <p:nvGraphicFramePr>
          <p:cNvPr id="9" name="Tableau 8">
            <a:extLst>
              <a:ext uri="{FF2B5EF4-FFF2-40B4-BE49-F238E27FC236}">
                <a16:creationId xmlns:a16="http://schemas.microsoft.com/office/drawing/2014/main" id="{586E68FD-0633-A803-6B39-9679E40B8245}"/>
              </a:ext>
            </a:extLst>
          </p:cNvPr>
          <p:cNvGraphicFramePr>
            <a:graphicFrameLocks noGrp="1"/>
          </p:cNvGraphicFramePr>
          <p:nvPr/>
        </p:nvGraphicFramePr>
        <p:xfrm>
          <a:off x="6934199" y="2716370"/>
          <a:ext cx="4812475" cy="32992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20923">
                  <a:extLst>
                    <a:ext uri="{9D8B030D-6E8A-4147-A177-3AD203B41FA5}">
                      <a16:colId xmlns:a16="http://schemas.microsoft.com/office/drawing/2014/main" val="2899819767"/>
                    </a:ext>
                  </a:extLst>
                </a:gridCol>
                <a:gridCol w="1495776">
                  <a:extLst>
                    <a:ext uri="{9D8B030D-6E8A-4147-A177-3AD203B41FA5}">
                      <a16:colId xmlns:a16="http://schemas.microsoft.com/office/drawing/2014/main" val="3766924788"/>
                    </a:ext>
                  </a:extLst>
                </a:gridCol>
                <a:gridCol w="1495776">
                  <a:extLst>
                    <a:ext uri="{9D8B030D-6E8A-4147-A177-3AD203B41FA5}">
                      <a16:colId xmlns:a16="http://schemas.microsoft.com/office/drawing/2014/main" val="2623258517"/>
                    </a:ext>
                  </a:extLst>
                </a:gridCol>
              </a:tblGrid>
              <a:tr h="36808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Fonds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707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AMF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707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 err="1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Alecta</a:t>
                      </a:r>
                      <a:endParaRPr lang="fr-FR" sz="1000" dirty="0">
                        <a:solidFill>
                          <a:schemeClr val="bg1"/>
                        </a:solidFill>
                        <a:latin typeface="Questrial" pitchFamily="2" charset="77"/>
                        <a:ea typeface="Questrial" pitchFamily="2" charset="77"/>
                        <a:cs typeface="Questrial" pitchFamily="2" charset="7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707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684755"/>
                  </a:ext>
                </a:extLst>
              </a:tr>
              <a:tr h="49352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Actions suédoises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707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kern="12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23%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000" kern="12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47,5%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76121389"/>
                  </a:ext>
                </a:extLst>
              </a:tr>
              <a:tr h="49352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Actions étrangères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707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kern="12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11%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fr-FR" sz="1000" dirty="0">
                        <a:solidFill>
                          <a:schemeClr val="bg1"/>
                        </a:solidFill>
                        <a:latin typeface="Questrial" pitchFamily="2" charset="77"/>
                        <a:ea typeface="Questrial" pitchFamily="2" charset="77"/>
                        <a:cs typeface="Questrial" pitchFamily="2" charset="7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95801653"/>
                  </a:ext>
                </a:extLst>
              </a:tr>
              <a:tr h="36808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Obligations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707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29%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000" kern="12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33,8%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81855795"/>
                  </a:ext>
                </a:extLst>
              </a:tr>
              <a:tr h="598137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Immobilier et infrastructures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707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29%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000" kern="12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18,7%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90655587"/>
                  </a:ext>
                </a:extLst>
              </a:tr>
              <a:tr h="36808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Autres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707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8%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000" kern="12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39696958"/>
                  </a:ext>
                </a:extLst>
              </a:tr>
              <a:tr h="60984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Taux de rendement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707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7%</a:t>
                      </a:r>
                    </a:p>
                    <a:p>
                      <a:pPr algn="ctr"/>
                      <a:endParaRPr lang="fr-FR" sz="1000" dirty="0">
                        <a:solidFill>
                          <a:schemeClr val="bg1"/>
                        </a:solidFill>
                        <a:latin typeface="Questrial" pitchFamily="2" charset="77"/>
                        <a:ea typeface="Questrial" pitchFamily="2" charset="77"/>
                        <a:cs typeface="Questrial" pitchFamily="2" charset="77"/>
                      </a:endParaRPr>
                    </a:p>
                    <a:p>
                      <a:pPr algn="ctr"/>
                      <a:r>
                        <a:rPr lang="fr-FR" sz="10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(sur 10 ans)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5,6%</a:t>
                      </a:r>
                    </a:p>
                    <a:p>
                      <a:pPr algn="ctr"/>
                      <a:endParaRPr lang="fr-FR" sz="1000" dirty="0">
                        <a:solidFill>
                          <a:schemeClr val="bg1"/>
                        </a:solidFill>
                        <a:latin typeface="Questrial" pitchFamily="2" charset="77"/>
                        <a:ea typeface="Questrial" pitchFamily="2" charset="77"/>
                        <a:cs typeface="Questrial" pitchFamily="2" charset="77"/>
                      </a:endParaRPr>
                    </a:p>
                    <a:p>
                      <a:pPr algn="ctr"/>
                      <a:r>
                        <a:rPr lang="fr-FR" sz="10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(sur 5 ans)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48967676"/>
                  </a:ext>
                </a:extLst>
              </a:tr>
            </a:tbl>
          </a:graphicData>
        </a:graphic>
      </p:graphicFrame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4EBDA937-5F9E-A74F-19DC-E3DC15E79177}"/>
              </a:ext>
            </a:extLst>
          </p:cNvPr>
          <p:cNvSpPr txBox="1">
            <a:spLocks/>
          </p:cNvSpPr>
          <p:nvPr/>
        </p:nvSpPr>
        <p:spPr>
          <a:xfrm>
            <a:off x="931786" y="6042023"/>
            <a:ext cx="3529263" cy="3594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fr-FR" sz="900" b="1" dirty="0"/>
              <a:t>Source : Rapports annuels</a:t>
            </a:r>
          </a:p>
        </p:txBody>
      </p:sp>
      <p:sp>
        <p:nvSpPr>
          <p:cNvPr id="8" name="Espace réservé du contenu 2">
            <a:extLst>
              <a:ext uri="{FF2B5EF4-FFF2-40B4-BE49-F238E27FC236}">
                <a16:creationId xmlns:a16="http://schemas.microsoft.com/office/drawing/2014/main" id="{39BAD93D-62D8-4978-FF18-19B8F3868986}"/>
              </a:ext>
            </a:extLst>
          </p:cNvPr>
          <p:cNvSpPr txBox="1">
            <a:spLocks/>
          </p:cNvSpPr>
          <p:nvPr/>
        </p:nvSpPr>
        <p:spPr>
          <a:xfrm>
            <a:off x="6843148" y="6084872"/>
            <a:ext cx="3529263" cy="3594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fr-FR" sz="900" b="1" dirty="0"/>
              <a:t>Source : Rapports annuels</a:t>
            </a:r>
          </a:p>
        </p:txBody>
      </p:sp>
    </p:spTree>
    <p:extLst>
      <p:ext uri="{BB962C8B-B14F-4D97-AF65-F5344CB8AC3E}">
        <p14:creationId xmlns:p14="http://schemas.microsoft.com/office/powerpoint/2010/main" val="137206109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514522-4A56-3B65-96B9-27E7319F1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4000" dirty="0"/>
              <a:t>L’essentiel des actifs de retraite se situent logiquement en Amérique du Nord</a:t>
            </a:r>
          </a:p>
        </p:txBody>
      </p:sp>
      <p:graphicFrame>
        <p:nvGraphicFramePr>
          <p:cNvPr id="10" name="Tableau 9">
            <a:extLst>
              <a:ext uri="{FF2B5EF4-FFF2-40B4-BE49-F238E27FC236}">
                <a16:creationId xmlns:a16="http://schemas.microsoft.com/office/drawing/2014/main" id="{6A8F4F5C-CCD3-FCAE-AE7D-80F598E40226}"/>
              </a:ext>
            </a:extLst>
          </p:cNvPr>
          <p:cNvGraphicFramePr>
            <a:graphicFrameLocks noGrp="1"/>
          </p:cNvGraphicFramePr>
          <p:nvPr/>
        </p:nvGraphicFramePr>
        <p:xfrm>
          <a:off x="957119" y="1959027"/>
          <a:ext cx="4873526" cy="426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5423">
                  <a:extLst>
                    <a:ext uri="{9D8B030D-6E8A-4147-A177-3AD203B41FA5}">
                      <a16:colId xmlns:a16="http://schemas.microsoft.com/office/drawing/2014/main" val="199167262"/>
                    </a:ext>
                  </a:extLst>
                </a:gridCol>
                <a:gridCol w="1811356">
                  <a:extLst>
                    <a:ext uri="{9D8B030D-6E8A-4147-A177-3AD203B41FA5}">
                      <a16:colId xmlns:a16="http://schemas.microsoft.com/office/drawing/2014/main" val="2298889410"/>
                    </a:ext>
                  </a:extLst>
                </a:gridCol>
                <a:gridCol w="763585">
                  <a:extLst>
                    <a:ext uri="{9D8B030D-6E8A-4147-A177-3AD203B41FA5}">
                      <a16:colId xmlns:a16="http://schemas.microsoft.com/office/drawing/2014/main" val="1966519187"/>
                    </a:ext>
                  </a:extLst>
                </a:gridCol>
                <a:gridCol w="1783162">
                  <a:extLst>
                    <a:ext uri="{9D8B030D-6E8A-4147-A177-3AD203B41FA5}">
                      <a16:colId xmlns:a16="http://schemas.microsoft.com/office/drawing/2014/main" val="537435045"/>
                    </a:ext>
                  </a:extLst>
                </a:gridCol>
              </a:tblGrid>
              <a:tr h="231996">
                <a:tc>
                  <a:txBody>
                    <a:bodyPr/>
                    <a:lstStyle/>
                    <a:p>
                      <a:pPr algn="ctr"/>
                      <a:r>
                        <a:rPr lang="fr-FR" sz="700" b="1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Rang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707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700" dirty="0"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Fonds 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707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700" dirty="0"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Pays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707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700" dirty="0"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Actifs sous gestion </a:t>
                      </a:r>
                    </a:p>
                    <a:p>
                      <a:pPr algn="ctr"/>
                      <a:r>
                        <a:rPr lang="fr-FR" sz="700" dirty="0"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(milliards de dollars US)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707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6927437"/>
                  </a:ext>
                </a:extLst>
              </a:tr>
              <a:tr h="149140">
                <a:tc>
                  <a:txBody>
                    <a:bodyPr/>
                    <a:lstStyle/>
                    <a:p>
                      <a:pPr algn="ctr"/>
                      <a:r>
                        <a:rPr lang="fr-FR" sz="700" b="1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707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700" b="1" dirty="0" err="1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Government</a:t>
                      </a:r>
                      <a:r>
                        <a:rPr lang="fr-FR" sz="700" b="1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 Pension Investment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7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Japon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7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1 449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8564457"/>
                  </a:ext>
                </a:extLst>
              </a:tr>
              <a:tr h="149140">
                <a:tc>
                  <a:txBody>
                    <a:bodyPr/>
                    <a:lstStyle/>
                    <a:p>
                      <a:pPr algn="ctr"/>
                      <a:r>
                        <a:rPr lang="fr-FR" sz="700" b="1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707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700" b="1" dirty="0" err="1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Government</a:t>
                      </a:r>
                      <a:r>
                        <a:rPr lang="fr-FR" sz="700" b="1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 Pension </a:t>
                      </a:r>
                      <a:r>
                        <a:rPr lang="fr-FR" sz="700" b="1" dirty="0" err="1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Fund</a:t>
                      </a:r>
                      <a:endParaRPr lang="fr-FR" sz="700" b="1" dirty="0">
                        <a:solidFill>
                          <a:schemeClr val="bg1"/>
                        </a:solidFill>
                        <a:latin typeface="Questrial" pitchFamily="2" charset="77"/>
                        <a:ea typeface="Questrial" pitchFamily="2" charset="77"/>
                        <a:cs typeface="Questrial" pitchFamily="2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7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Norvège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7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1300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4528036"/>
                  </a:ext>
                </a:extLst>
              </a:tr>
              <a:tr h="149140">
                <a:tc>
                  <a:txBody>
                    <a:bodyPr/>
                    <a:lstStyle/>
                    <a:p>
                      <a:pPr algn="ctr"/>
                      <a:r>
                        <a:rPr lang="fr-FR" sz="700" b="1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707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700" b="1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National Pension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7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Corée du Sud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7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706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2897439"/>
                  </a:ext>
                </a:extLst>
              </a:tr>
              <a:tr h="149140">
                <a:tc>
                  <a:txBody>
                    <a:bodyPr/>
                    <a:lstStyle/>
                    <a:p>
                      <a:pPr algn="ctr"/>
                      <a:r>
                        <a:rPr lang="fr-FR" sz="700" b="1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707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700" b="1" dirty="0" err="1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Federal</a:t>
                      </a:r>
                      <a:r>
                        <a:rPr lang="fr-FR" sz="700" b="1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 Retirement </a:t>
                      </a:r>
                      <a:r>
                        <a:rPr lang="fr-FR" sz="700" b="1" dirty="0" err="1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Thrift</a:t>
                      </a:r>
                      <a:endParaRPr lang="fr-FR" sz="700" b="1" dirty="0">
                        <a:solidFill>
                          <a:schemeClr val="bg1"/>
                        </a:solidFill>
                        <a:latin typeface="Questrial" pitchFamily="2" charset="77"/>
                        <a:ea typeface="Questrial" pitchFamily="2" charset="77"/>
                        <a:cs typeface="Questrial" pitchFamily="2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7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Etats-Unis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7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690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3038813"/>
                  </a:ext>
                </a:extLst>
              </a:tr>
              <a:tr h="149140">
                <a:tc>
                  <a:txBody>
                    <a:bodyPr/>
                    <a:lstStyle/>
                    <a:p>
                      <a:pPr algn="ctr"/>
                      <a:r>
                        <a:rPr lang="fr-FR" sz="700" b="1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707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700" b="1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ABP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7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Pays-Bas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7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490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1737194"/>
                  </a:ext>
                </a:extLst>
              </a:tr>
              <a:tr h="149140">
                <a:tc>
                  <a:txBody>
                    <a:bodyPr/>
                    <a:lstStyle/>
                    <a:p>
                      <a:pPr algn="ctr"/>
                      <a:r>
                        <a:rPr lang="fr-FR" sz="700" b="1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707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700" b="1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California Public </a:t>
                      </a:r>
                      <a:r>
                        <a:rPr lang="fr-FR" sz="700" b="1" dirty="0" err="1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Employees</a:t>
                      </a:r>
                      <a:endParaRPr lang="fr-FR" sz="700" b="1" dirty="0">
                        <a:solidFill>
                          <a:schemeClr val="bg1"/>
                        </a:solidFill>
                        <a:latin typeface="Questrial" pitchFamily="2" charset="77"/>
                        <a:ea typeface="Questrial" pitchFamily="2" charset="77"/>
                        <a:cs typeface="Questrial" pitchFamily="2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7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Etats-Unis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7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432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8258353"/>
                  </a:ext>
                </a:extLst>
              </a:tr>
              <a:tr h="149140">
                <a:tc>
                  <a:txBody>
                    <a:bodyPr/>
                    <a:lstStyle/>
                    <a:p>
                      <a:pPr algn="ctr"/>
                      <a:r>
                        <a:rPr lang="fr-FR" sz="700" b="1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707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700" b="1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Canada Pension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7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Canada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7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421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103998"/>
                  </a:ext>
                </a:extLst>
              </a:tr>
              <a:tr h="149140">
                <a:tc>
                  <a:txBody>
                    <a:bodyPr/>
                    <a:lstStyle/>
                    <a:p>
                      <a:pPr algn="ctr"/>
                      <a:r>
                        <a:rPr lang="fr-FR" sz="700" b="1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707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700" b="1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Central Provident </a:t>
                      </a:r>
                      <a:r>
                        <a:rPr lang="fr-FR" sz="700" b="1" dirty="0" err="1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Fund</a:t>
                      </a:r>
                      <a:endParaRPr lang="fr-FR" sz="700" b="1" dirty="0">
                        <a:solidFill>
                          <a:schemeClr val="bg1"/>
                        </a:solidFill>
                        <a:latin typeface="Questrial" pitchFamily="2" charset="77"/>
                        <a:ea typeface="Questrial" pitchFamily="2" charset="77"/>
                        <a:cs typeface="Questrial" pitchFamily="2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7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Singapour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7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407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2473240"/>
                  </a:ext>
                </a:extLst>
              </a:tr>
              <a:tr h="149140">
                <a:tc>
                  <a:txBody>
                    <a:bodyPr/>
                    <a:lstStyle/>
                    <a:p>
                      <a:pPr algn="ctr"/>
                      <a:r>
                        <a:rPr lang="fr-FR" sz="700" b="1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707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700" b="1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National Social Security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7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Chine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7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347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8075663"/>
                  </a:ext>
                </a:extLst>
              </a:tr>
              <a:tr h="149140">
                <a:tc>
                  <a:txBody>
                    <a:bodyPr/>
                    <a:lstStyle/>
                    <a:p>
                      <a:pPr algn="ctr"/>
                      <a:r>
                        <a:rPr lang="fr-FR" sz="700" b="1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707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700" b="1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California State </a:t>
                      </a:r>
                      <a:r>
                        <a:rPr lang="fr-FR" sz="700" b="1" dirty="0" err="1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Teachers</a:t>
                      </a:r>
                      <a:endParaRPr lang="fr-FR" sz="700" b="1" dirty="0">
                        <a:solidFill>
                          <a:schemeClr val="bg1"/>
                        </a:solidFill>
                        <a:latin typeface="Questrial" pitchFamily="2" charset="77"/>
                        <a:ea typeface="Questrial" pitchFamily="2" charset="77"/>
                        <a:cs typeface="Questrial" pitchFamily="2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7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Etats-Unis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7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290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3138570"/>
                  </a:ext>
                </a:extLst>
              </a:tr>
              <a:tr h="149140">
                <a:tc>
                  <a:txBody>
                    <a:bodyPr/>
                    <a:lstStyle/>
                    <a:p>
                      <a:pPr algn="ctr"/>
                      <a:r>
                        <a:rPr lang="fr-FR" sz="700" b="1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11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707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700" b="1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New York State Common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7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Etats-Unis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7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233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5605675"/>
                  </a:ext>
                </a:extLst>
              </a:tr>
              <a:tr h="149140">
                <a:tc>
                  <a:txBody>
                    <a:bodyPr/>
                    <a:lstStyle/>
                    <a:p>
                      <a:pPr algn="ctr"/>
                      <a:r>
                        <a:rPr lang="fr-FR" sz="700" b="1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12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707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700" b="1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PFZW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7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Pays-Bas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7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232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3140868"/>
                  </a:ext>
                </a:extLst>
              </a:tr>
              <a:tr h="149140">
                <a:tc>
                  <a:txBody>
                    <a:bodyPr/>
                    <a:lstStyle/>
                    <a:p>
                      <a:pPr algn="ctr"/>
                      <a:r>
                        <a:rPr lang="fr-FR" sz="700" b="1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13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707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700" b="1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New York City Retirement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7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Etats-Unis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7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228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5396416"/>
                  </a:ext>
                </a:extLst>
              </a:tr>
              <a:tr h="149140">
                <a:tc>
                  <a:txBody>
                    <a:bodyPr/>
                    <a:lstStyle/>
                    <a:p>
                      <a:pPr algn="ctr"/>
                      <a:r>
                        <a:rPr lang="fr-FR" sz="700" b="1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14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707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700" b="1" dirty="0" err="1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Employees</a:t>
                      </a:r>
                      <a:r>
                        <a:rPr lang="fr-FR" sz="700" b="1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 Provident </a:t>
                      </a:r>
                      <a:r>
                        <a:rPr lang="fr-FR" sz="700" b="1" dirty="0" err="1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Fund</a:t>
                      </a:r>
                      <a:endParaRPr lang="fr-FR" sz="700" b="1" dirty="0">
                        <a:solidFill>
                          <a:schemeClr val="bg1"/>
                        </a:solidFill>
                        <a:latin typeface="Questrial" pitchFamily="2" charset="77"/>
                        <a:ea typeface="Questrial" pitchFamily="2" charset="77"/>
                        <a:cs typeface="Questrial" pitchFamily="2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7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Malaisie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7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228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6902157"/>
                  </a:ext>
                </a:extLst>
              </a:tr>
              <a:tr h="149140">
                <a:tc>
                  <a:txBody>
                    <a:bodyPr/>
                    <a:lstStyle/>
                    <a:p>
                      <a:pPr algn="ctr"/>
                      <a:r>
                        <a:rPr lang="fr-FR" sz="700" b="1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15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707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700" b="1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Local </a:t>
                      </a:r>
                      <a:r>
                        <a:rPr lang="fr-FR" sz="700" b="1" dirty="0" err="1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Government</a:t>
                      </a:r>
                      <a:r>
                        <a:rPr lang="fr-FR" sz="700" b="1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 </a:t>
                      </a:r>
                      <a:r>
                        <a:rPr lang="fr-FR" sz="700" b="1" dirty="0" err="1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Officials</a:t>
                      </a:r>
                      <a:endParaRPr lang="fr-FR" sz="700" b="1" dirty="0">
                        <a:solidFill>
                          <a:schemeClr val="bg1"/>
                        </a:solidFill>
                        <a:latin typeface="Questrial" pitchFamily="2" charset="77"/>
                        <a:ea typeface="Questrial" pitchFamily="2" charset="77"/>
                        <a:cs typeface="Questrial" pitchFamily="2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7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Japon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7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207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344303"/>
                  </a:ext>
                </a:extLst>
              </a:tr>
              <a:tr h="149140">
                <a:tc>
                  <a:txBody>
                    <a:bodyPr/>
                    <a:lstStyle/>
                    <a:p>
                      <a:pPr algn="ctr"/>
                      <a:r>
                        <a:rPr lang="fr-FR" sz="700" b="1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16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707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700" b="1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Florida State </a:t>
                      </a:r>
                      <a:r>
                        <a:rPr lang="fr-FR" sz="700" b="1" dirty="0" err="1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Board</a:t>
                      </a:r>
                      <a:endParaRPr lang="fr-FR" sz="700" b="1" dirty="0">
                        <a:solidFill>
                          <a:schemeClr val="bg1"/>
                        </a:solidFill>
                        <a:latin typeface="Questrial" pitchFamily="2" charset="77"/>
                        <a:ea typeface="Questrial" pitchFamily="2" charset="77"/>
                        <a:cs typeface="Questrial" pitchFamily="2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7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Etats-Unis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7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183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3426911"/>
                  </a:ext>
                </a:extLst>
              </a:tr>
              <a:tr h="149140">
                <a:tc>
                  <a:txBody>
                    <a:bodyPr/>
                    <a:lstStyle/>
                    <a:p>
                      <a:pPr algn="ctr"/>
                      <a:r>
                        <a:rPr lang="fr-FR" sz="700" b="1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17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707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700" b="1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Ontario </a:t>
                      </a:r>
                      <a:r>
                        <a:rPr lang="fr-FR" sz="700" b="1" dirty="0" err="1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Teachers</a:t>
                      </a:r>
                      <a:endParaRPr lang="fr-FR" sz="700" b="1" dirty="0">
                        <a:solidFill>
                          <a:schemeClr val="bg1"/>
                        </a:solidFill>
                        <a:latin typeface="Questrial" pitchFamily="2" charset="77"/>
                        <a:ea typeface="Questrial" pitchFamily="2" charset="77"/>
                        <a:cs typeface="Questrial" pitchFamily="2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7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Canada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7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182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4778229"/>
                  </a:ext>
                </a:extLst>
              </a:tr>
              <a:tr h="149140">
                <a:tc>
                  <a:txBody>
                    <a:bodyPr/>
                    <a:lstStyle/>
                    <a:p>
                      <a:pPr algn="ctr"/>
                      <a:r>
                        <a:rPr lang="fr-FR" sz="700" b="1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18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707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700" b="1" dirty="0" err="1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Australian</a:t>
                      </a:r>
                      <a:r>
                        <a:rPr lang="fr-FR" sz="700" b="1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 Super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7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Australie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7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176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4193167"/>
                  </a:ext>
                </a:extLst>
              </a:tr>
              <a:tr h="149140">
                <a:tc>
                  <a:txBody>
                    <a:bodyPr/>
                    <a:lstStyle/>
                    <a:p>
                      <a:pPr algn="ctr"/>
                      <a:r>
                        <a:rPr lang="fr-FR" sz="700" b="1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19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707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700" b="1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Texas </a:t>
                      </a:r>
                      <a:r>
                        <a:rPr lang="fr-FR" sz="700" b="1" dirty="0" err="1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Teachers</a:t>
                      </a:r>
                      <a:endParaRPr lang="fr-FR" sz="700" b="1" dirty="0">
                        <a:solidFill>
                          <a:schemeClr val="bg1"/>
                        </a:solidFill>
                        <a:latin typeface="Questrial" pitchFamily="2" charset="77"/>
                        <a:ea typeface="Questrial" pitchFamily="2" charset="77"/>
                        <a:cs typeface="Questrial" pitchFamily="2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7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Etats-Unis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7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173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676613"/>
                  </a:ext>
                </a:extLst>
              </a:tr>
              <a:tr h="149140">
                <a:tc>
                  <a:txBody>
                    <a:bodyPr/>
                    <a:lstStyle/>
                    <a:p>
                      <a:pPr algn="ctr"/>
                      <a:r>
                        <a:rPr lang="fr-FR" sz="700" b="1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20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707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700" b="1" dirty="0" err="1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Employees</a:t>
                      </a:r>
                      <a:r>
                        <a:rPr lang="fr-FR" sz="700" b="1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 Provident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7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Inde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700" dirty="0">
                          <a:solidFill>
                            <a:schemeClr val="bg1"/>
                          </a:solidFill>
                          <a:latin typeface="Questrial" pitchFamily="2" charset="77"/>
                          <a:ea typeface="Questrial" pitchFamily="2" charset="77"/>
                          <a:cs typeface="Questrial" pitchFamily="2" charset="77"/>
                        </a:rPr>
                        <a:t>159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6072359"/>
                  </a:ext>
                </a:extLst>
              </a:tr>
            </a:tbl>
          </a:graphicData>
        </a:graphic>
      </p:graphicFrame>
      <p:sp>
        <p:nvSpPr>
          <p:cNvPr id="11" name="ZoneTexte 10">
            <a:extLst>
              <a:ext uri="{FF2B5EF4-FFF2-40B4-BE49-F238E27FC236}">
                <a16:creationId xmlns:a16="http://schemas.microsoft.com/office/drawing/2014/main" id="{307D2254-372A-1BA2-B10D-1CBF8D555E61}"/>
              </a:ext>
            </a:extLst>
          </p:cNvPr>
          <p:cNvSpPr txBox="1"/>
          <p:nvPr/>
        </p:nvSpPr>
        <p:spPr>
          <a:xfrm>
            <a:off x="1556737" y="1624249"/>
            <a:ext cx="44653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u="sng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Top 20 des fonds de pension dans le monde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084C64BF-9E18-F32E-A1C2-6D8A062F7B04}"/>
              </a:ext>
            </a:extLst>
          </p:cNvPr>
          <p:cNvSpPr txBox="1"/>
          <p:nvPr/>
        </p:nvSpPr>
        <p:spPr>
          <a:xfrm>
            <a:off x="3043317" y="6323598"/>
            <a:ext cx="21116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Source : </a:t>
            </a:r>
            <a:r>
              <a:rPr lang="fr-FR" sz="800" dirty="0" err="1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Thinking</a:t>
            </a:r>
            <a:r>
              <a:rPr lang="fr-FR" sz="8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 </a:t>
            </a:r>
            <a:r>
              <a:rPr lang="fr-FR" sz="800" dirty="0" err="1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Ahead</a:t>
            </a:r>
            <a:r>
              <a:rPr lang="fr-FR" sz="8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 Institute, Global top 300 pension </a:t>
            </a:r>
            <a:r>
              <a:rPr lang="fr-FR" sz="800" dirty="0" err="1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funds</a:t>
            </a:r>
            <a:r>
              <a:rPr lang="fr-FR" sz="8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, 2023</a:t>
            </a: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C165A5E1-F57B-770C-CDFB-D78291D1B04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4079"/>
          <a:stretch/>
        </p:blipFill>
        <p:spPr>
          <a:xfrm>
            <a:off x="5460493" y="2448274"/>
            <a:ext cx="6551411" cy="3312957"/>
          </a:xfrm>
          <a:prstGeom prst="rect">
            <a:avLst/>
          </a:prstGeom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5A152EFA-E4D5-A6FE-7CE5-15ABD2A88000}"/>
              </a:ext>
            </a:extLst>
          </p:cNvPr>
          <p:cNvSpPr txBox="1"/>
          <p:nvPr/>
        </p:nvSpPr>
        <p:spPr>
          <a:xfrm>
            <a:off x="6399703" y="1619996"/>
            <a:ext cx="53013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1" u="sng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Répartition des actifs des 300 plus gros </a:t>
            </a:r>
          </a:p>
          <a:p>
            <a:pPr algn="ctr"/>
            <a:r>
              <a:rPr lang="fr-FR" sz="1400" b="1" u="sng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fonds de pensions mondiaux</a:t>
            </a:r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497B458F-1B4E-E2A2-F806-5F31EB98E05F}"/>
              </a:ext>
            </a:extLst>
          </p:cNvPr>
          <p:cNvSpPr/>
          <p:nvPr/>
        </p:nvSpPr>
        <p:spPr>
          <a:xfrm>
            <a:off x="6683512" y="2714527"/>
            <a:ext cx="1150883" cy="1119352"/>
          </a:xfrm>
          <a:prstGeom prst="ellipse">
            <a:avLst/>
          </a:prstGeom>
          <a:solidFill>
            <a:srgbClr val="1707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latin typeface="Questrial" pitchFamily="2" charset="77"/>
                <a:ea typeface="Questrial" pitchFamily="2" charset="77"/>
                <a:cs typeface="Questrial" pitchFamily="2" charset="77"/>
              </a:rPr>
              <a:t>Amérique du Nord</a:t>
            </a:r>
          </a:p>
          <a:p>
            <a:pPr algn="ctr"/>
            <a:r>
              <a:rPr lang="fr-FR" sz="1400" dirty="0">
                <a:latin typeface="Questrial" pitchFamily="2" charset="77"/>
                <a:ea typeface="Questrial" pitchFamily="2" charset="77"/>
                <a:cs typeface="Questrial" pitchFamily="2" charset="77"/>
              </a:rPr>
              <a:t>45,6%</a:t>
            </a:r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6B5A3459-82A4-A1E8-F796-817795B53173}"/>
              </a:ext>
            </a:extLst>
          </p:cNvPr>
          <p:cNvSpPr/>
          <p:nvPr/>
        </p:nvSpPr>
        <p:spPr>
          <a:xfrm>
            <a:off x="8369433" y="3024120"/>
            <a:ext cx="970925" cy="809759"/>
          </a:xfrm>
          <a:prstGeom prst="ellipse">
            <a:avLst/>
          </a:prstGeom>
          <a:solidFill>
            <a:srgbClr val="1707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/>
              <a:t>Europe</a:t>
            </a:r>
            <a:r>
              <a:rPr lang="fr-FR" sz="1200" dirty="0"/>
              <a:t>24,1%</a:t>
            </a: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45E75DC6-C816-7812-0B2E-6437DEB04003}"/>
              </a:ext>
            </a:extLst>
          </p:cNvPr>
          <p:cNvSpPr/>
          <p:nvPr/>
        </p:nvSpPr>
        <p:spPr>
          <a:xfrm>
            <a:off x="10208991" y="3235570"/>
            <a:ext cx="1025890" cy="942292"/>
          </a:xfrm>
          <a:prstGeom prst="ellipse">
            <a:avLst/>
          </a:prstGeom>
          <a:solidFill>
            <a:srgbClr val="1707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dirty="0"/>
              <a:t>Asie-Pacifique</a:t>
            </a:r>
          </a:p>
          <a:p>
            <a:pPr algn="ctr"/>
            <a:r>
              <a:rPr lang="fr-FR" sz="1200" dirty="0"/>
              <a:t>26,4%</a:t>
            </a:r>
          </a:p>
        </p:txBody>
      </p:sp>
    </p:spTree>
    <p:extLst>
      <p:ext uri="{BB962C8B-B14F-4D97-AF65-F5344CB8AC3E}">
        <p14:creationId xmlns:p14="http://schemas.microsoft.com/office/powerpoint/2010/main" val="372047605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55B00EA-DD0B-D452-C0B5-3040B975B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rendements des fonds de réserve sont élevés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D9ED98B3-BDE9-8B87-533F-3F95DA7E3D7C}"/>
              </a:ext>
            </a:extLst>
          </p:cNvPr>
          <p:cNvSpPr txBox="1"/>
          <p:nvPr/>
        </p:nvSpPr>
        <p:spPr>
          <a:xfrm>
            <a:off x="7832630" y="6525573"/>
            <a:ext cx="335638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Source : OCDE, Pensions at </a:t>
            </a:r>
            <a:r>
              <a:rPr lang="fr-FR" sz="800" dirty="0" err="1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Glance</a:t>
            </a:r>
            <a:r>
              <a:rPr lang="fr-FR" sz="8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, 2023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C219E2F-DA2C-C473-0A04-2CE9640A8ACC}"/>
              </a:ext>
            </a:extLst>
          </p:cNvPr>
          <p:cNvSpPr txBox="1"/>
          <p:nvPr/>
        </p:nvSpPr>
        <p:spPr>
          <a:xfrm>
            <a:off x="11189016" y="5134806"/>
            <a:ext cx="9775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7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Rendement du système de retraite français actuel: 0,3%</a:t>
            </a:r>
          </a:p>
        </p:txBody>
      </p:sp>
      <p:graphicFrame>
        <p:nvGraphicFramePr>
          <p:cNvPr id="4" name="Graphique 3">
            <a:extLst>
              <a:ext uri="{FF2B5EF4-FFF2-40B4-BE49-F238E27FC236}">
                <a16:creationId xmlns:a16="http://schemas.microsoft.com/office/drawing/2014/main" id="{3E3C650B-61F9-9ADD-3D4A-02DE427BF5F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76215136"/>
              </p:ext>
            </p:extLst>
          </p:nvPr>
        </p:nvGraphicFramePr>
        <p:xfrm>
          <a:off x="911225" y="1947856"/>
          <a:ext cx="10369550" cy="41750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33E9B5CE-DE83-7DE6-16FC-B33D6EFF853A}"/>
              </a:ext>
            </a:extLst>
          </p:cNvPr>
          <p:cNvCxnSpPr/>
          <p:nvPr/>
        </p:nvCxnSpPr>
        <p:spPr>
          <a:xfrm>
            <a:off x="1193769" y="5396416"/>
            <a:ext cx="9995247" cy="0"/>
          </a:xfrm>
          <a:prstGeom prst="line">
            <a:avLst/>
          </a:prstGeom>
          <a:ln>
            <a:solidFill>
              <a:schemeClr val="bg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390949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5FF7BAC-833C-5216-745C-FF42A6CBF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6245" y="3865311"/>
            <a:ext cx="3932237" cy="1600200"/>
          </a:xfrm>
        </p:spPr>
        <p:txBody>
          <a:bodyPr>
            <a:noAutofit/>
          </a:bodyPr>
          <a:lstStyle/>
          <a:p>
            <a:r>
              <a:rPr lang="fr-FR" sz="4400" dirty="0"/>
              <a:t>Les fonds de pension ont une allocation diversifiée, qui permet de maîtriser le risque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B105EAA4-A1C6-D356-F195-E423BF138898}"/>
              </a:ext>
            </a:extLst>
          </p:cNvPr>
          <p:cNvSpPr txBox="1"/>
          <p:nvPr/>
        </p:nvSpPr>
        <p:spPr>
          <a:xfrm>
            <a:off x="5681578" y="6459279"/>
            <a:ext cx="269432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ts val="375"/>
              </a:spcBef>
            </a:pPr>
            <a:r>
              <a:rPr lang="fr-FR" sz="1000" dirty="0">
                <a:solidFill>
                  <a:schemeClr val="bg1"/>
                </a:solidFill>
                <a:latin typeface="Questrial" pitchFamily="2" charset="77"/>
              </a:rPr>
              <a:t>Source: OCDE, Pensions at </a:t>
            </a:r>
            <a:r>
              <a:rPr lang="fr-FR" sz="1000" dirty="0" err="1">
                <a:solidFill>
                  <a:schemeClr val="bg1"/>
                </a:solidFill>
                <a:latin typeface="Questrial" pitchFamily="2" charset="77"/>
              </a:rPr>
              <a:t>Glance</a:t>
            </a:r>
            <a:r>
              <a:rPr lang="fr-FR" sz="1000" dirty="0">
                <a:solidFill>
                  <a:schemeClr val="bg1"/>
                </a:solidFill>
                <a:latin typeface="Questrial" pitchFamily="2" charset="77"/>
              </a:rPr>
              <a:t> 2023</a:t>
            </a:r>
          </a:p>
        </p:txBody>
      </p:sp>
      <p:graphicFrame>
        <p:nvGraphicFramePr>
          <p:cNvPr id="5" name="Graphique 4">
            <a:extLst>
              <a:ext uri="{FF2B5EF4-FFF2-40B4-BE49-F238E27FC236}">
                <a16:creationId xmlns:a16="http://schemas.microsoft.com/office/drawing/2014/main" id="{BFCD220F-00A6-5048-9A68-9CD1C8C704C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93756663"/>
              </p:ext>
            </p:extLst>
          </p:nvPr>
        </p:nvGraphicFramePr>
        <p:xfrm>
          <a:off x="5290456" y="297024"/>
          <a:ext cx="6727371" cy="56555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23429766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740C0-9604-8BFE-D7D4-AC1497187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FR" dirty="0"/>
              <a:t>La gestion du risque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3B380B-97A5-C5FC-E341-B7F281210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84779" cy="4351338"/>
          </a:xfrm>
        </p:spPr>
        <p:txBody>
          <a:bodyPr>
            <a:normAutofit/>
          </a:bodyPr>
          <a:lstStyle/>
          <a:p>
            <a:r>
              <a:rPr lang="en-FR" sz="3200" dirty="0"/>
              <a:t>Un cadre d’investissement clairement défini</a:t>
            </a:r>
          </a:p>
          <a:p>
            <a:r>
              <a:rPr lang="en-FR" sz="3200" dirty="0"/>
              <a:t>Des investissements qui évoluent en fonction de l’âge </a:t>
            </a:r>
          </a:p>
          <a:p>
            <a:r>
              <a:rPr lang="en-FR" sz="3200" dirty="0"/>
              <a:t>Une gestion par des professionnels dont c’est le métier</a:t>
            </a:r>
          </a:p>
        </p:txBody>
      </p:sp>
      <p:graphicFrame>
        <p:nvGraphicFramePr>
          <p:cNvPr id="4" name="Graphique 11">
            <a:extLst>
              <a:ext uri="{FF2B5EF4-FFF2-40B4-BE49-F238E27FC236}">
                <a16:creationId xmlns:a16="http://schemas.microsoft.com/office/drawing/2014/main" id="{3B3223DE-7914-1EED-16A3-B6E362303EF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94097079"/>
              </p:ext>
            </p:extLst>
          </p:nvPr>
        </p:nvGraphicFramePr>
        <p:xfrm>
          <a:off x="6589296" y="1174524"/>
          <a:ext cx="5284971" cy="45089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50592337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8EE6B-DFEB-B0D5-CD34-7E27BC833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R" dirty="0"/>
              <a:t>Les marchés financiers sont haussiers à long terme</a:t>
            </a:r>
          </a:p>
        </p:txBody>
      </p:sp>
      <p:sp>
        <p:nvSpPr>
          <p:cNvPr id="6" name="ZoneTexte 16">
            <a:extLst>
              <a:ext uri="{FF2B5EF4-FFF2-40B4-BE49-F238E27FC236}">
                <a16:creationId xmlns:a16="http://schemas.microsoft.com/office/drawing/2014/main" id="{9438F3C1-F5E9-A5AD-882A-D488E4502168}"/>
              </a:ext>
            </a:extLst>
          </p:cNvPr>
          <p:cNvSpPr txBox="1"/>
          <p:nvPr/>
        </p:nvSpPr>
        <p:spPr>
          <a:xfrm>
            <a:off x="3293192" y="6367026"/>
            <a:ext cx="219417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Source : AMF, Reuters, 2024</a:t>
            </a:r>
          </a:p>
        </p:txBody>
      </p:sp>
      <p:pic>
        <p:nvPicPr>
          <p:cNvPr id="15" name="Picture 14" descr="A graph of a number of people&#10;&#10;AI-generated content may be incorrect.">
            <a:extLst>
              <a:ext uri="{FF2B5EF4-FFF2-40B4-BE49-F238E27FC236}">
                <a16:creationId xmlns:a16="http://schemas.microsoft.com/office/drawing/2014/main" id="{1AE00BCD-6010-A109-CA7A-7278ED71FB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436" y="2212258"/>
            <a:ext cx="6558732" cy="415476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0AE5DDD-B833-6B6D-E90F-935AA3126F09}"/>
              </a:ext>
            </a:extLst>
          </p:cNvPr>
          <p:cNvSpPr txBox="1"/>
          <p:nvPr/>
        </p:nvSpPr>
        <p:spPr>
          <a:xfrm>
            <a:off x="3743898" y="1570416"/>
            <a:ext cx="57458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2250"/>
              </a:spcAft>
              <a:buNone/>
            </a:pPr>
            <a:r>
              <a:rPr lang="en-GB" sz="1600" b="0" i="0" u="none" strike="noStrike" dirty="0" err="1">
                <a:solidFill>
                  <a:schemeClr val="bg1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Évolutions</a:t>
            </a:r>
            <a:r>
              <a:rPr lang="en-GB" sz="1600" b="0" i="0" u="none" strike="noStrike" dirty="0">
                <a:solidFill>
                  <a:schemeClr val="bg1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 du CAC 40 « nu » (sans </a:t>
            </a:r>
            <a:r>
              <a:rPr lang="en-GB" sz="1600" b="0" i="0" u="none" strike="noStrike" dirty="0" err="1">
                <a:solidFill>
                  <a:schemeClr val="bg1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dividendes</a:t>
            </a:r>
            <a:r>
              <a:rPr lang="en-GB" sz="1600" b="0" i="0" u="none" strike="noStrike" dirty="0">
                <a:solidFill>
                  <a:schemeClr val="bg1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) et du CAC 40 </a:t>
            </a:r>
            <a:r>
              <a:rPr lang="en-GB" sz="1600" b="0" i="0" u="none" strike="noStrike" dirty="0" err="1">
                <a:solidFill>
                  <a:schemeClr val="bg1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dividendes</a:t>
            </a:r>
            <a:r>
              <a:rPr lang="en-GB" sz="1600" b="0" i="0" u="none" strike="noStrike" dirty="0">
                <a:solidFill>
                  <a:schemeClr val="bg1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 </a:t>
            </a:r>
            <a:r>
              <a:rPr lang="en-GB" sz="1600" b="0" i="0" u="none" strike="noStrike" dirty="0" err="1">
                <a:solidFill>
                  <a:schemeClr val="bg1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réinvestis</a:t>
            </a:r>
            <a:r>
              <a:rPr lang="en-GB" sz="1600" b="0" i="0" u="none" strike="noStrike" dirty="0">
                <a:solidFill>
                  <a:schemeClr val="bg1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 </a:t>
            </a:r>
            <a:r>
              <a:rPr lang="en-GB" sz="1600" b="0" i="0" u="none" strike="noStrike" dirty="0" err="1">
                <a:solidFill>
                  <a:schemeClr val="bg1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depuis</a:t>
            </a:r>
            <a:r>
              <a:rPr lang="en-GB" sz="1600" b="0" i="0" u="none" strike="noStrike" dirty="0">
                <a:solidFill>
                  <a:schemeClr val="bg1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 1998</a:t>
            </a:r>
          </a:p>
        </p:txBody>
      </p:sp>
    </p:spTree>
    <p:extLst>
      <p:ext uri="{BB962C8B-B14F-4D97-AF65-F5344CB8AC3E}">
        <p14:creationId xmlns:p14="http://schemas.microsoft.com/office/powerpoint/2010/main" val="218150033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68232-59D5-7292-2004-AA959B552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R" dirty="0"/>
              <a:t>Logement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7AEA6D-55D6-1468-8A63-BB5BB2AF6F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91643221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53128-20D7-0717-590E-4AE1D86FA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R" dirty="0"/>
              <a:t>Une chute de la construction neuve et des transactions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A7C4AD-009D-091A-DA48-53934BD583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566836"/>
            <a:ext cx="5157787" cy="823912"/>
          </a:xfrm>
        </p:spPr>
        <p:txBody>
          <a:bodyPr>
            <a:normAutofit/>
          </a:bodyPr>
          <a:lstStyle/>
          <a:p>
            <a:r>
              <a:rPr lang="en-FR" sz="2000" dirty="0"/>
              <a:t>La baisse de volume de la construction neuve s’accélère (2022-2023)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D9B91A69-0678-DB98-8E9B-18B486118406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839788" y="2418630"/>
          <a:ext cx="5157787" cy="36845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8768DA4-72C6-5791-AB10-5CC08A6BB7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94427" y="1566836"/>
            <a:ext cx="5183188" cy="823912"/>
          </a:xfrm>
        </p:spPr>
        <p:txBody>
          <a:bodyPr>
            <a:normAutofit/>
          </a:bodyPr>
          <a:lstStyle/>
          <a:p>
            <a:r>
              <a:rPr lang="en-FR" sz="1900" dirty="0"/>
              <a:t>La baisse des transactions dans l’ancien est la plus forte depuis 50 ans</a:t>
            </a:r>
          </a:p>
        </p:txBody>
      </p:sp>
      <p:graphicFrame>
        <p:nvGraphicFramePr>
          <p:cNvPr id="23" name="Content Placeholder 22">
            <a:extLst>
              <a:ext uri="{FF2B5EF4-FFF2-40B4-BE49-F238E27FC236}">
                <a16:creationId xmlns:a16="http://schemas.microsoft.com/office/drawing/2014/main" id="{D67E0616-B38E-681E-98C8-D33EFEEC8B6F}"/>
              </a:ext>
            </a:extLst>
          </p:cNvPr>
          <p:cNvGraphicFramePr>
            <a:graphicFrameLocks noGrp="1"/>
          </p:cNvGraphicFramePr>
          <p:nvPr>
            <p:ph sz="quarter" idx="4"/>
          </p:nvPr>
        </p:nvGraphicFramePr>
        <p:xfrm>
          <a:off x="6172200" y="2505075"/>
          <a:ext cx="5183188" cy="36845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A93D0B70-C0F3-4143-9CBD-0EDD269E8F8A}"/>
              </a:ext>
            </a:extLst>
          </p:cNvPr>
          <p:cNvSpPr txBox="1"/>
          <p:nvPr/>
        </p:nvSpPr>
        <p:spPr>
          <a:xfrm>
            <a:off x="836611" y="6004997"/>
            <a:ext cx="42009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R" sz="1050" dirty="0">
                <a:solidFill>
                  <a:srgbClr val="FFFFFF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Source : Rapport du Sénat sur la crise du logement, 2024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80323C5-1CBA-AF1A-1AAF-77A985DBAAA2}"/>
              </a:ext>
            </a:extLst>
          </p:cNvPr>
          <p:cNvCxnSpPr>
            <a:cxnSpLocks/>
          </p:cNvCxnSpPr>
          <p:nvPr/>
        </p:nvCxnSpPr>
        <p:spPr>
          <a:xfrm>
            <a:off x="2294313" y="3092335"/>
            <a:ext cx="415635" cy="472782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9DE6906-F8B4-BA57-18DE-EA69625FD522}"/>
              </a:ext>
            </a:extLst>
          </p:cNvPr>
          <p:cNvCxnSpPr>
            <a:cxnSpLocks/>
          </p:cNvCxnSpPr>
          <p:nvPr/>
        </p:nvCxnSpPr>
        <p:spPr>
          <a:xfrm>
            <a:off x="3773977" y="3643201"/>
            <a:ext cx="302026" cy="26064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374DDEF-26BA-D49A-E54C-582AD309995B}"/>
              </a:ext>
            </a:extLst>
          </p:cNvPr>
          <p:cNvCxnSpPr>
            <a:cxnSpLocks/>
          </p:cNvCxnSpPr>
          <p:nvPr/>
        </p:nvCxnSpPr>
        <p:spPr>
          <a:xfrm>
            <a:off x="5153894" y="4771506"/>
            <a:ext cx="200199" cy="132634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">
            <a:extLst>
              <a:ext uri="{FF2B5EF4-FFF2-40B4-BE49-F238E27FC236}">
                <a16:creationId xmlns:a16="http://schemas.microsoft.com/office/drawing/2014/main" id="{A62EF8D1-2BC9-814F-9B4B-627DED96888C}"/>
              </a:ext>
            </a:extLst>
          </p:cNvPr>
          <p:cNvSpPr txBox="1"/>
          <p:nvPr/>
        </p:nvSpPr>
        <p:spPr>
          <a:xfrm>
            <a:off x="5257375" y="4543945"/>
            <a:ext cx="903419" cy="488371"/>
          </a:xfrm>
          <a:prstGeom prst="rect">
            <a:avLst/>
          </a:prstGeom>
        </p:spPr>
        <p:txBody>
          <a:bodyPr wrap="squar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FR" sz="1600" kern="1200" dirty="0">
                <a:solidFill>
                  <a:srgbClr val="FFFFFF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-</a:t>
            </a:r>
            <a:r>
              <a:rPr lang="en-FR" sz="1600" dirty="0">
                <a:solidFill>
                  <a:srgbClr val="FFFFFF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30</a:t>
            </a:r>
            <a:r>
              <a:rPr lang="en-FR" sz="1600" kern="1200" dirty="0">
                <a:solidFill>
                  <a:srgbClr val="FFFFFF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%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B4E41DB-48D7-6F57-599C-F6B35A98A7A7}"/>
              </a:ext>
            </a:extLst>
          </p:cNvPr>
          <p:cNvCxnSpPr>
            <a:cxnSpLocks/>
          </p:cNvCxnSpPr>
          <p:nvPr/>
        </p:nvCxnSpPr>
        <p:spPr>
          <a:xfrm>
            <a:off x="9130143" y="2880925"/>
            <a:ext cx="944882" cy="44780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620FF5BC-0B50-341D-1341-824CFF84D032}"/>
              </a:ext>
            </a:extLst>
          </p:cNvPr>
          <p:cNvSpPr txBox="1"/>
          <p:nvPr/>
        </p:nvSpPr>
        <p:spPr>
          <a:xfrm>
            <a:off x="6019801" y="6103218"/>
            <a:ext cx="42009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R" sz="1050" dirty="0">
                <a:solidFill>
                  <a:srgbClr val="FFFFFF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Source : Rapport du Sénat sur la crise du logement, Notaires, 2024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16D5EC0-F9B3-0F02-089F-5DD34990B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868CB-5B44-3E4F-9E7D-17B01CBB6C29}" type="slidenum">
              <a:rPr lang="fr-FR" smtClean="0"/>
              <a:t>66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643982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1B612-9268-CF5D-45D9-463EDD6DE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FR" sz="3200" dirty="0"/>
              <a:t>Un effondrement des offres de location longue durée qui conduit à une explosion de la demande de logement social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578559-E6AF-D694-17BE-72EB620814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FR" sz="2000" dirty="0"/>
              <a:t>Baisse des offres de location longue durée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CB0037-E8DD-497C-4DD4-02606EADF3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776451"/>
            <a:ext cx="5157787" cy="3413212"/>
          </a:xfrm>
        </p:spPr>
        <p:txBody>
          <a:bodyPr/>
          <a:lstStyle/>
          <a:p>
            <a:pPr marL="0" indent="0">
              <a:buNone/>
            </a:pPr>
            <a:r>
              <a:rPr lang="en-FR" sz="6000" dirty="0"/>
              <a:t>-36% </a:t>
            </a:r>
            <a:r>
              <a:rPr lang="en-FR" dirty="0"/>
              <a:t>de 2021 à 2023 en France</a:t>
            </a:r>
          </a:p>
          <a:p>
            <a:pPr marL="0" indent="0">
              <a:buNone/>
            </a:pPr>
            <a:r>
              <a:rPr lang="en-FR" sz="6000" dirty="0"/>
              <a:t>-76% </a:t>
            </a:r>
            <a:r>
              <a:rPr lang="en-FR" dirty="0"/>
              <a:t>de 2020 à 2023 à Paris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D0A1A8-0EB7-BC0B-6188-85704460CB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n-FR" sz="2000" dirty="0"/>
              <a:t>Hausse de la demande de logement social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2D57FE44-D162-DD28-E82F-EA22D7D0A0CB}"/>
              </a:ext>
            </a:extLst>
          </p:cNvPr>
          <p:cNvGraphicFramePr>
            <a:graphicFrameLocks noGrp="1"/>
          </p:cNvGraphicFramePr>
          <p:nvPr>
            <p:ph sz="quarter" idx="4"/>
          </p:nvPr>
        </p:nvGraphicFramePr>
        <p:xfrm>
          <a:off x="6172200" y="2604828"/>
          <a:ext cx="5183188" cy="36845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7294D8D-4012-52D0-907F-18AE97C94FE1}"/>
              </a:ext>
            </a:extLst>
          </p:cNvPr>
          <p:cNvCxnSpPr>
            <a:cxnSpLocks/>
          </p:cNvCxnSpPr>
          <p:nvPr/>
        </p:nvCxnSpPr>
        <p:spPr>
          <a:xfrm flipV="1">
            <a:off x="8509464" y="2973476"/>
            <a:ext cx="505071" cy="497724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">
            <a:extLst>
              <a:ext uri="{FF2B5EF4-FFF2-40B4-BE49-F238E27FC236}">
                <a16:creationId xmlns:a16="http://schemas.microsoft.com/office/drawing/2014/main" id="{EB4F9AE1-0DFE-25BD-39D3-C85E336213B9}"/>
              </a:ext>
            </a:extLst>
          </p:cNvPr>
          <p:cNvSpPr txBox="1"/>
          <p:nvPr/>
        </p:nvSpPr>
        <p:spPr>
          <a:xfrm>
            <a:off x="7919554" y="2802362"/>
            <a:ext cx="1382092" cy="488371"/>
          </a:xfrm>
          <a:prstGeom prst="rect">
            <a:avLst/>
          </a:prstGeom>
        </p:spPr>
        <p:txBody>
          <a:bodyPr wrap="squar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FR" sz="2400" dirty="0">
                <a:solidFill>
                  <a:srgbClr val="FFFFFF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+28</a:t>
            </a:r>
            <a:r>
              <a:rPr lang="en-FR" sz="2400" kern="1200" dirty="0">
                <a:solidFill>
                  <a:srgbClr val="FFFFFF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%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C9FC9F-CA89-0584-D74E-9D02EEB8104F}"/>
              </a:ext>
            </a:extLst>
          </p:cNvPr>
          <p:cNvSpPr txBox="1"/>
          <p:nvPr/>
        </p:nvSpPr>
        <p:spPr>
          <a:xfrm>
            <a:off x="836611" y="6004997"/>
            <a:ext cx="42009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R" sz="1050" dirty="0">
                <a:solidFill>
                  <a:srgbClr val="FFFFFF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Source : Rapport du Sénat sur la crise du logement, 2024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2354652-02EE-AE4E-CB62-30897484186C}"/>
              </a:ext>
            </a:extLst>
          </p:cNvPr>
          <p:cNvSpPr txBox="1"/>
          <p:nvPr/>
        </p:nvSpPr>
        <p:spPr>
          <a:xfrm>
            <a:off x="6096000" y="6058858"/>
            <a:ext cx="42009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R" sz="1050" dirty="0">
                <a:solidFill>
                  <a:srgbClr val="FFFFFF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Source : Banque des Territoires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1738404-E85D-8A82-6FAD-D5BB5AE56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868CB-5B44-3E4F-9E7D-17B01CBB6C29}" type="slidenum">
              <a:rPr lang="fr-FR" smtClean="0"/>
              <a:t>67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6056159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D536D-2E8B-8E52-8979-1B8F1E4B2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FR" dirty="0"/>
              <a:t>Le poids des dépenses de logement augmente dans le budget des Français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AA29649-ABCD-0CCD-A57A-A7E62C26CF9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951323" y="1818526"/>
          <a:ext cx="4803169" cy="42865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FCCF0CC-CA1C-2657-FAB7-D1A7E75196CF}"/>
              </a:ext>
            </a:extLst>
          </p:cNvPr>
          <p:cNvSpPr txBox="1"/>
          <p:nvPr/>
        </p:nvSpPr>
        <p:spPr>
          <a:xfrm>
            <a:off x="6956460" y="6231265"/>
            <a:ext cx="18596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R" sz="11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Source : Insee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AF60D3D-7D04-F803-6D2A-3C4749E084D0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5418762" cy="183197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Questrial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FR" dirty="0"/>
              <a:t>Les dépenses de logement sont le premier poste de dépenses des ménages Français (28,5% en 2020), loin devant l’alimentation et les transports (19,5% et 11,8% respectivement).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35F2AA0A-630C-1868-6160-6BCCD9DF34AD}"/>
              </a:ext>
            </a:extLst>
          </p:cNvPr>
          <p:cNvGraphicFramePr/>
          <p:nvPr/>
        </p:nvGraphicFramePr>
        <p:xfrm>
          <a:off x="1078787" y="3544584"/>
          <a:ext cx="5017213" cy="26866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33091149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3F438-36FD-3966-9289-411435072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12" y="876992"/>
            <a:ext cx="3932237" cy="1600200"/>
          </a:xfrm>
        </p:spPr>
        <p:txBody>
          <a:bodyPr>
            <a:normAutofit fontScale="90000"/>
          </a:bodyPr>
          <a:lstStyle/>
          <a:p>
            <a:r>
              <a:rPr lang="en-FR" dirty="0"/>
              <a:t>Les prix de l’immobilier augmentent plus fortement que l’inflation et les revenus</a:t>
            </a:r>
          </a:p>
        </p:txBody>
      </p:sp>
      <p:pic>
        <p:nvPicPr>
          <p:cNvPr id="6" name="Content Placeholder 5" descr="A graph on a white background&#10;&#10;AI-generated content may be incorrect.">
            <a:extLst>
              <a:ext uri="{FF2B5EF4-FFF2-40B4-BE49-F238E27FC236}">
                <a16:creationId xmlns:a16="http://schemas.microsoft.com/office/drawing/2014/main" id="{A8577D99-960C-855F-735F-E8EA182285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-3709829" y="378946"/>
            <a:ext cx="3455273" cy="5567514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02E939-CE4D-AA49-E4F2-4DDCD85620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660073"/>
            <a:ext cx="3932237" cy="3208914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Entre 2001 et 2020, les prix dans </a:t>
            </a:r>
            <a:r>
              <a:rPr lang="en-GB" dirty="0" err="1"/>
              <a:t>l’ancien</a:t>
            </a:r>
            <a:r>
              <a:rPr lang="en-GB" dirty="0"/>
              <a:t> </a:t>
            </a:r>
            <a:r>
              <a:rPr lang="en-GB" dirty="0" err="1"/>
              <a:t>ont</a:t>
            </a:r>
            <a:r>
              <a:rPr lang="en-GB" dirty="0"/>
              <a:t> </a:t>
            </a:r>
            <a:r>
              <a:rPr lang="en-GB" dirty="0" err="1"/>
              <a:t>été</a:t>
            </a:r>
            <a:r>
              <a:rPr lang="en-GB" dirty="0"/>
              <a:t> </a:t>
            </a:r>
            <a:r>
              <a:rPr lang="en-GB" dirty="0" err="1"/>
              <a:t>multipliés</a:t>
            </a:r>
            <a:r>
              <a:rPr lang="en-GB" dirty="0"/>
              <a:t> par 2,3 </a:t>
            </a:r>
            <a:r>
              <a:rPr lang="en-GB" dirty="0" err="1"/>
              <a:t>en</a:t>
            </a:r>
            <a:r>
              <a:rPr lang="en-GB" dirty="0"/>
              <a:t> </a:t>
            </a:r>
            <a:r>
              <a:rPr lang="en-GB" dirty="0" err="1"/>
              <a:t>métropole</a:t>
            </a:r>
            <a:r>
              <a:rPr lang="en-GB" dirty="0"/>
              <a:t> et par 2,6 </a:t>
            </a:r>
            <a:r>
              <a:rPr lang="en-GB" dirty="0" err="1"/>
              <a:t>en</a:t>
            </a:r>
            <a:r>
              <a:rPr lang="en-GB" dirty="0"/>
              <a:t> Île-de-France, </a:t>
            </a:r>
            <a:r>
              <a:rPr lang="en-GB" dirty="0" err="1"/>
              <a:t>contre</a:t>
            </a:r>
            <a:r>
              <a:rPr lang="en-GB" dirty="0"/>
              <a:t> 1,3 à 1,4 pour </a:t>
            </a:r>
            <a:r>
              <a:rPr lang="en-GB" dirty="0" err="1"/>
              <a:t>l’indice</a:t>
            </a:r>
            <a:r>
              <a:rPr lang="en-GB" dirty="0"/>
              <a:t> des prix à la </a:t>
            </a:r>
            <a:r>
              <a:rPr lang="en-GB" dirty="0" err="1"/>
              <a:t>consommation</a:t>
            </a:r>
            <a:r>
              <a:rPr lang="en-GB" dirty="0"/>
              <a:t>, les </a:t>
            </a:r>
            <a:r>
              <a:rPr lang="en-GB" dirty="0" err="1"/>
              <a:t>loyers</a:t>
            </a:r>
            <a:r>
              <a:rPr lang="en-GB" dirty="0"/>
              <a:t> </a:t>
            </a:r>
            <a:r>
              <a:rPr lang="en-GB" dirty="0" err="1"/>
              <a:t>ou</a:t>
            </a:r>
            <a:r>
              <a:rPr lang="en-GB" dirty="0"/>
              <a:t> le </a:t>
            </a:r>
            <a:r>
              <a:rPr lang="en-GB" dirty="0" err="1"/>
              <a:t>revenu</a:t>
            </a:r>
            <a:r>
              <a:rPr lang="en-GB" dirty="0"/>
              <a:t> disponible brut par ménage.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Cette </a:t>
            </a:r>
            <a:r>
              <a:rPr lang="en-GB" dirty="0" err="1"/>
              <a:t>hausse</a:t>
            </a:r>
            <a:r>
              <a:rPr lang="en-GB" dirty="0"/>
              <a:t> des prix </a:t>
            </a:r>
            <a:r>
              <a:rPr lang="en-GB" dirty="0" err="1"/>
              <a:t>s’explique</a:t>
            </a:r>
            <a:r>
              <a:rPr lang="en-GB" dirty="0"/>
              <a:t> </a:t>
            </a:r>
            <a:r>
              <a:rPr lang="en-GB" dirty="0" err="1"/>
              <a:t>notamment</a:t>
            </a:r>
            <a:r>
              <a:rPr lang="en-GB" dirty="0"/>
              <a:t> par des </a:t>
            </a:r>
            <a:r>
              <a:rPr lang="en-GB" dirty="0" err="1"/>
              <a:t>taux</a:t>
            </a:r>
            <a:r>
              <a:rPr lang="en-GB" dirty="0"/>
              <a:t> </a:t>
            </a:r>
            <a:r>
              <a:rPr lang="en-GB" dirty="0" err="1"/>
              <a:t>d’intérêts</a:t>
            </a:r>
            <a:r>
              <a:rPr lang="en-GB" dirty="0"/>
              <a:t> </a:t>
            </a:r>
            <a:r>
              <a:rPr lang="en-GB" dirty="0" err="1"/>
              <a:t>durablement</a:t>
            </a:r>
            <a:r>
              <a:rPr lang="en-GB" dirty="0"/>
              <a:t> bas.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Ce context a </a:t>
            </a:r>
            <a:r>
              <a:rPr lang="en-GB" dirty="0" err="1"/>
              <a:t>brisé</a:t>
            </a:r>
            <a:r>
              <a:rPr lang="en-GB" dirty="0"/>
              <a:t> la tendance de très long </a:t>
            </a:r>
            <a:r>
              <a:rPr lang="en-GB" dirty="0" err="1"/>
              <a:t>terme</a:t>
            </a:r>
            <a:r>
              <a:rPr lang="en-GB" dirty="0"/>
              <a:t> qui </a:t>
            </a:r>
            <a:r>
              <a:rPr lang="en-GB" dirty="0" err="1"/>
              <a:t>conduisait</a:t>
            </a:r>
            <a:r>
              <a:rPr lang="en-GB" dirty="0"/>
              <a:t> les prix de </a:t>
            </a:r>
            <a:r>
              <a:rPr lang="en-GB" dirty="0" err="1"/>
              <a:t>l’immobilier</a:t>
            </a:r>
            <a:r>
              <a:rPr lang="en-GB" dirty="0"/>
              <a:t> à augmenter au </a:t>
            </a:r>
            <a:r>
              <a:rPr lang="en-GB" dirty="0" err="1"/>
              <a:t>même</a:t>
            </a:r>
            <a:r>
              <a:rPr lang="en-GB" dirty="0"/>
              <a:t> </a:t>
            </a:r>
            <a:r>
              <a:rPr lang="en-GB" dirty="0" err="1"/>
              <a:t>rythme</a:t>
            </a:r>
            <a:r>
              <a:rPr lang="en-GB" dirty="0"/>
              <a:t> que le </a:t>
            </a:r>
            <a:r>
              <a:rPr lang="en-GB" dirty="0" err="1"/>
              <a:t>revenu</a:t>
            </a:r>
            <a:r>
              <a:rPr lang="en-GB" dirty="0"/>
              <a:t> des ménages.</a:t>
            </a:r>
            <a:endParaRPr lang="en-FR" dirty="0"/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E59E9D08-7974-0330-3AEC-6E6878CC01C8}"/>
              </a:ext>
            </a:extLst>
          </p:cNvPr>
          <p:cNvGraphicFramePr/>
          <p:nvPr/>
        </p:nvGraphicFramePr>
        <p:xfrm>
          <a:off x="5087388" y="378946"/>
          <a:ext cx="6866313" cy="57593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4EF8224B-C8DD-7D2A-BA1C-FB9ED995B700}"/>
              </a:ext>
            </a:extLst>
          </p:cNvPr>
          <p:cNvSpPr txBox="1"/>
          <p:nvPr/>
        </p:nvSpPr>
        <p:spPr>
          <a:xfrm>
            <a:off x="5087388" y="6217444"/>
            <a:ext cx="42009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R" sz="1050" dirty="0">
                <a:solidFill>
                  <a:srgbClr val="FFFFFF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Source : Insee</a:t>
            </a:r>
          </a:p>
        </p:txBody>
      </p:sp>
    </p:spTree>
    <p:extLst>
      <p:ext uri="{BB962C8B-B14F-4D97-AF65-F5344CB8AC3E}">
        <p14:creationId xmlns:p14="http://schemas.microsoft.com/office/powerpoint/2010/main" val="314600030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28482-55A4-2952-8896-6D3B21250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R" dirty="0"/>
              <a:t>L’achat immobilier est de moins en moins accessible aux Français </a:t>
            </a:r>
          </a:p>
        </p:txBody>
      </p:sp>
      <p:pic>
        <p:nvPicPr>
          <p:cNvPr id="5" name="Content Placeholder 4" descr="A graph of a number of people&#10;&#10;AI-generated content may be incorrect.">
            <a:extLst>
              <a:ext uri="{FF2B5EF4-FFF2-40B4-BE49-F238E27FC236}">
                <a16:creationId xmlns:a16="http://schemas.microsoft.com/office/drawing/2014/main" id="{99E947F7-54EE-58FE-3C32-5382E80F27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-10332408" y="-291901"/>
            <a:ext cx="9206022" cy="7441802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0BD523F-A628-6852-600F-EA4EE050CD42}"/>
              </a:ext>
            </a:extLst>
          </p:cNvPr>
          <p:cNvSpPr txBox="1"/>
          <p:nvPr/>
        </p:nvSpPr>
        <p:spPr>
          <a:xfrm>
            <a:off x="6578600" y="1889810"/>
            <a:ext cx="523875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GB" sz="8000" b="1" i="0" u="none" strike="noStrike" dirty="0">
                <a:solidFill>
                  <a:schemeClr val="bg1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+31%</a:t>
            </a:r>
          </a:p>
          <a:p>
            <a:pPr algn="ctr">
              <a:buNone/>
            </a:pPr>
            <a:r>
              <a:rPr lang="en-GB" sz="36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augmentation </a:t>
            </a:r>
            <a:r>
              <a:rPr lang="en-GB" sz="3600" dirty="0" err="1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moyenne</a:t>
            </a:r>
            <a:r>
              <a:rPr lang="en-GB" sz="36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 des prix de </a:t>
            </a:r>
            <a:r>
              <a:rPr lang="en-GB" sz="3600" dirty="0" err="1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l'immobilier</a:t>
            </a:r>
            <a:r>
              <a:rPr lang="en-GB" sz="36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 </a:t>
            </a:r>
            <a:r>
              <a:rPr lang="en-GB" sz="3600" dirty="0" err="1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en</a:t>
            </a:r>
            <a:r>
              <a:rPr lang="en-GB" sz="36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 France </a:t>
            </a:r>
          </a:p>
          <a:p>
            <a:pPr algn="ctr">
              <a:buNone/>
            </a:pPr>
            <a:r>
              <a:rPr lang="en-GB" sz="36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de 2015 à 2023</a:t>
            </a:r>
            <a:endParaRPr lang="en-FR" sz="3600" dirty="0">
              <a:solidFill>
                <a:schemeClr val="bg1"/>
              </a:solidFill>
              <a:latin typeface="Questrial" pitchFamily="2" charset="77"/>
              <a:ea typeface="Questrial" pitchFamily="2" charset="77"/>
              <a:cs typeface="Questrial" pitchFamily="2" charset="77"/>
            </a:endParaRP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E8CF3EAA-9D2F-14A8-4DA9-193110DC8110}"/>
              </a:ext>
            </a:extLst>
          </p:cNvPr>
          <p:cNvGraphicFramePr/>
          <p:nvPr/>
        </p:nvGraphicFramePr>
        <p:xfrm>
          <a:off x="374650" y="1690688"/>
          <a:ext cx="6342034" cy="35394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3AFAC5F-7505-E82C-5196-67F007DB143E}"/>
              </a:ext>
            </a:extLst>
          </p:cNvPr>
          <p:cNvSpPr txBox="1"/>
          <p:nvPr/>
        </p:nvSpPr>
        <p:spPr>
          <a:xfrm>
            <a:off x="374650" y="5230118"/>
            <a:ext cx="6342034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100" b="1" i="1" u="none" strike="noStrike" dirty="0" err="1">
                <a:solidFill>
                  <a:srgbClr val="FFFFFF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L’indicateur</a:t>
            </a:r>
            <a:r>
              <a:rPr lang="en-GB" sz="1100" b="1" i="1" u="none" strike="noStrike" dirty="0">
                <a:solidFill>
                  <a:srgbClr val="FFFFFF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 de </a:t>
            </a:r>
            <a:r>
              <a:rPr lang="en-GB" sz="1100" b="1" i="1" u="none" strike="noStrike" dirty="0" err="1">
                <a:solidFill>
                  <a:srgbClr val="FFFFFF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pouvoir</a:t>
            </a:r>
            <a:r>
              <a:rPr lang="en-GB" sz="1100" b="1" i="1" u="none" strike="noStrike" dirty="0">
                <a:solidFill>
                  <a:srgbClr val="FFFFFF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 </a:t>
            </a:r>
            <a:r>
              <a:rPr lang="en-GB" sz="1100" b="1" i="1" u="none" strike="noStrike" dirty="0" err="1">
                <a:solidFill>
                  <a:srgbClr val="FFFFFF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d’achat</a:t>
            </a:r>
            <a:r>
              <a:rPr lang="en-GB" sz="1100" b="1" i="1" u="none" strike="noStrike" dirty="0">
                <a:solidFill>
                  <a:srgbClr val="FFFFFF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 </a:t>
            </a:r>
            <a:r>
              <a:rPr lang="en-GB" sz="1100" b="1" i="1" u="none" strike="noStrike" dirty="0" err="1">
                <a:solidFill>
                  <a:srgbClr val="FFFFFF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immobilier</a:t>
            </a:r>
            <a:r>
              <a:rPr lang="en-GB" sz="1100" b="1" i="1" u="none" strike="noStrike" dirty="0">
                <a:solidFill>
                  <a:srgbClr val="FFFFFF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 FNAIM (Fédération Nationale de </a:t>
            </a:r>
            <a:r>
              <a:rPr lang="en-GB" sz="1100" b="1" i="1" u="none" strike="noStrike" dirty="0" err="1">
                <a:solidFill>
                  <a:srgbClr val="FFFFFF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l’Immobilier</a:t>
            </a:r>
            <a:r>
              <a:rPr lang="en-GB" sz="1100" b="1" i="1" u="none" strike="noStrike" dirty="0">
                <a:solidFill>
                  <a:srgbClr val="FFFFFF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)</a:t>
            </a:r>
            <a:r>
              <a:rPr lang="en-GB" sz="1100" b="0" i="1" u="none" strike="noStrike" dirty="0">
                <a:solidFill>
                  <a:srgbClr val="FFFFFF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 </a:t>
            </a:r>
            <a:r>
              <a:rPr lang="en-GB" sz="1100" b="0" i="1" u="none" strike="noStrike" dirty="0" err="1">
                <a:solidFill>
                  <a:srgbClr val="FFFFFF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reflète</a:t>
            </a:r>
            <a:r>
              <a:rPr lang="en-GB" sz="1100" b="0" i="1" u="none" strike="noStrike" dirty="0">
                <a:solidFill>
                  <a:srgbClr val="FFFFFF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 la </a:t>
            </a:r>
            <a:r>
              <a:rPr lang="en-GB" sz="1100" b="0" i="1" u="none" strike="noStrike" dirty="0" err="1">
                <a:solidFill>
                  <a:srgbClr val="FFFFFF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quantité</a:t>
            </a:r>
            <a:r>
              <a:rPr lang="en-GB" sz="1100" b="0" i="1" u="none" strike="noStrike" dirty="0">
                <a:solidFill>
                  <a:srgbClr val="FFFFFF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 de surface </a:t>
            </a:r>
            <a:r>
              <a:rPr lang="en-GB" sz="1100" b="0" i="1" u="none" strike="noStrike" dirty="0" err="1">
                <a:solidFill>
                  <a:srgbClr val="FFFFFF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achetable</a:t>
            </a:r>
            <a:r>
              <a:rPr lang="en-GB" sz="1100" b="0" i="1" u="none" strike="noStrike" dirty="0">
                <a:solidFill>
                  <a:srgbClr val="FFFFFF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 </a:t>
            </a:r>
            <a:r>
              <a:rPr lang="en-GB" sz="1100" b="0" i="1" u="none" strike="noStrike" dirty="0" err="1">
                <a:solidFill>
                  <a:srgbClr val="FFFFFF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chaque</a:t>
            </a:r>
            <a:r>
              <a:rPr lang="en-GB" sz="1100" b="0" i="1" u="none" strike="noStrike" dirty="0">
                <a:solidFill>
                  <a:srgbClr val="FFFFFF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 </a:t>
            </a:r>
            <a:r>
              <a:rPr lang="en-GB" sz="1100" b="0" i="1" u="none" strike="noStrike" dirty="0" err="1">
                <a:solidFill>
                  <a:srgbClr val="FFFFFF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année</a:t>
            </a:r>
            <a:r>
              <a:rPr lang="en-GB" sz="1100" b="0" i="1" u="none" strike="noStrike" dirty="0">
                <a:solidFill>
                  <a:srgbClr val="FFFFFF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 dans </a:t>
            </a:r>
            <a:r>
              <a:rPr lang="en-GB" sz="1100" b="0" i="1" u="none" strike="noStrike" dirty="0" err="1">
                <a:solidFill>
                  <a:srgbClr val="FFFFFF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l’existant</a:t>
            </a:r>
            <a:r>
              <a:rPr lang="en-GB" sz="1100" b="0" i="1" u="none" strike="noStrike" dirty="0">
                <a:solidFill>
                  <a:srgbClr val="FFFFFF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 pour </a:t>
            </a:r>
            <a:r>
              <a:rPr lang="en-GB" sz="1100" b="0" i="1" u="none" strike="noStrike" dirty="0" err="1">
                <a:solidFill>
                  <a:srgbClr val="FFFFFF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une</a:t>
            </a:r>
            <a:r>
              <a:rPr lang="en-GB" sz="1100" b="0" i="1" u="none" strike="noStrike" dirty="0">
                <a:solidFill>
                  <a:srgbClr val="FFFFFF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 durée de </a:t>
            </a:r>
            <a:r>
              <a:rPr lang="en-GB" sz="1100" b="0" i="1" u="none" strike="noStrike" dirty="0" err="1">
                <a:solidFill>
                  <a:srgbClr val="FFFFFF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remboursement</a:t>
            </a:r>
            <a:r>
              <a:rPr lang="en-GB" sz="1100" b="0" i="1" u="none" strike="noStrike" dirty="0">
                <a:solidFill>
                  <a:srgbClr val="FFFFFF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 de 20 </a:t>
            </a:r>
            <a:r>
              <a:rPr lang="en-GB" sz="1100" b="0" i="1" u="none" strike="noStrike" dirty="0" err="1">
                <a:solidFill>
                  <a:srgbClr val="FFFFFF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ans</a:t>
            </a:r>
            <a:r>
              <a:rPr lang="en-GB" sz="1100" b="0" i="1" u="none" strike="noStrike" dirty="0">
                <a:solidFill>
                  <a:srgbClr val="FFFFFF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, des </a:t>
            </a:r>
            <a:r>
              <a:rPr lang="en-GB" sz="1100" b="0" i="1" u="none" strike="noStrike" dirty="0" err="1">
                <a:solidFill>
                  <a:srgbClr val="FFFFFF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taux</a:t>
            </a:r>
            <a:r>
              <a:rPr lang="en-GB" sz="1100" b="0" i="1" u="none" strike="noStrike" dirty="0">
                <a:solidFill>
                  <a:srgbClr val="FFFFFF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 </a:t>
            </a:r>
            <a:r>
              <a:rPr lang="en-GB" sz="1100" b="0" i="1" u="none" strike="noStrike" dirty="0" err="1">
                <a:solidFill>
                  <a:srgbClr val="FFFFFF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d’intérêts</a:t>
            </a:r>
            <a:r>
              <a:rPr lang="en-GB" sz="1100" b="0" i="1" u="none" strike="noStrike" dirty="0">
                <a:solidFill>
                  <a:srgbClr val="FFFFFF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 moyens </a:t>
            </a:r>
            <a:r>
              <a:rPr lang="en-GB" sz="1100" b="0" i="1" u="none" strike="noStrike" dirty="0" err="1">
                <a:solidFill>
                  <a:srgbClr val="FFFFFF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immobiliers</a:t>
            </a:r>
            <a:r>
              <a:rPr lang="en-GB" sz="1100" b="0" i="1" u="none" strike="noStrike" dirty="0">
                <a:solidFill>
                  <a:srgbClr val="FFFFFF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 (Banque de France) et </a:t>
            </a:r>
            <a:r>
              <a:rPr lang="en-GB" sz="1100" b="0" i="1" u="none" strike="noStrike" dirty="0" err="1">
                <a:solidFill>
                  <a:srgbClr val="FFFFFF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l’indice</a:t>
            </a:r>
            <a:r>
              <a:rPr lang="en-GB" sz="1100" b="0" i="1" u="none" strike="noStrike" dirty="0">
                <a:solidFill>
                  <a:srgbClr val="FFFFFF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 du prix des </a:t>
            </a:r>
            <a:r>
              <a:rPr lang="en-GB" sz="1100" b="0" i="1" u="none" strike="noStrike" dirty="0" err="1">
                <a:solidFill>
                  <a:srgbClr val="FFFFFF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logements</a:t>
            </a:r>
            <a:r>
              <a:rPr lang="en-GB" sz="1100" b="0" i="1" u="none" strike="noStrike" dirty="0">
                <a:solidFill>
                  <a:srgbClr val="FFFFFF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 FNAIM. Cette </a:t>
            </a:r>
            <a:r>
              <a:rPr lang="en-GB" sz="1100" b="0" i="1" u="none" strike="noStrike" dirty="0" err="1">
                <a:solidFill>
                  <a:srgbClr val="FFFFFF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approche</a:t>
            </a:r>
            <a:r>
              <a:rPr lang="en-GB" sz="1100" b="0" i="1" u="none" strike="noStrike" dirty="0">
                <a:solidFill>
                  <a:srgbClr val="FFFFFF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 </a:t>
            </a:r>
            <a:r>
              <a:rPr lang="en-GB" sz="1100" b="0" i="1" u="none" strike="noStrike" dirty="0" err="1">
                <a:solidFill>
                  <a:srgbClr val="FFFFFF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prend</a:t>
            </a:r>
            <a:r>
              <a:rPr lang="en-GB" sz="1100" b="0" i="1" u="none" strike="noStrike" dirty="0">
                <a:solidFill>
                  <a:srgbClr val="FFFFFF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 </a:t>
            </a:r>
            <a:r>
              <a:rPr lang="en-GB" sz="1100" b="0" i="1" u="none" strike="noStrike" dirty="0" err="1">
                <a:solidFill>
                  <a:srgbClr val="FFFFFF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également</a:t>
            </a:r>
            <a:r>
              <a:rPr lang="en-GB" sz="1100" b="0" i="1" u="none" strike="noStrike" dirty="0">
                <a:solidFill>
                  <a:srgbClr val="FFFFFF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 </a:t>
            </a:r>
            <a:r>
              <a:rPr lang="en-GB" sz="1100" b="0" i="1" u="none" strike="noStrike" dirty="0" err="1">
                <a:solidFill>
                  <a:srgbClr val="FFFFFF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en</a:t>
            </a:r>
            <a:r>
              <a:rPr lang="en-GB" sz="1100" b="0" i="1" u="none" strike="noStrike" dirty="0">
                <a:solidFill>
                  <a:srgbClr val="FFFFFF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 </a:t>
            </a:r>
            <a:r>
              <a:rPr lang="en-GB" sz="1100" b="0" i="1" u="none" strike="noStrike" dirty="0" err="1">
                <a:solidFill>
                  <a:srgbClr val="FFFFFF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compte</a:t>
            </a:r>
            <a:r>
              <a:rPr lang="en-GB" sz="1100" b="0" i="1" u="none" strike="noStrike" dirty="0">
                <a:solidFill>
                  <a:srgbClr val="FFFFFF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 </a:t>
            </a:r>
            <a:r>
              <a:rPr lang="en-GB" sz="1100" b="0" i="1" u="none" strike="noStrike" dirty="0" err="1">
                <a:solidFill>
                  <a:srgbClr val="FFFFFF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l’évolution</a:t>
            </a:r>
            <a:r>
              <a:rPr lang="en-GB" sz="1100" b="0" i="1" u="none" strike="noStrike" dirty="0">
                <a:solidFill>
                  <a:srgbClr val="FFFFFF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 du </a:t>
            </a:r>
            <a:r>
              <a:rPr lang="en-GB" sz="1100" b="0" i="1" u="none" strike="noStrike" dirty="0" err="1">
                <a:solidFill>
                  <a:srgbClr val="FFFFFF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revenu</a:t>
            </a:r>
            <a:r>
              <a:rPr lang="en-GB" sz="1100" b="0" i="1" u="none" strike="noStrike" dirty="0">
                <a:solidFill>
                  <a:srgbClr val="FFFFFF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 (</a:t>
            </a:r>
            <a:r>
              <a:rPr lang="en-GB" sz="1100" b="0" i="1" u="none" strike="noStrike" dirty="0" err="1">
                <a:solidFill>
                  <a:srgbClr val="FFFFFF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niveau</a:t>
            </a:r>
            <a:r>
              <a:rPr lang="en-GB" sz="1100" b="0" i="1" u="none" strike="noStrike" dirty="0">
                <a:solidFill>
                  <a:srgbClr val="FFFFFF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 de vie) </a:t>
            </a:r>
            <a:r>
              <a:rPr lang="en-GB" sz="1100" b="0" i="1" u="none" strike="noStrike" dirty="0" err="1">
                <a:solidFill>
                  <a:srgbClr val="FFFFFF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mais</a:t>
            </a:r>
            <a:r>
              <a:rPr lang="en-GB" sz="1100" b="0" i="1" u="none" strike="noStrike" dirty="0">
                <a:solidFill>
                  <a:srgbClr val="FFFFFF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 ne </a:t>
            </a:r>
            <a:r>
              <a:rPr lang="en-GB" sz="1100" b="0" i="1" u="none" strike="noStrike" dirty="0" err="1">
                <a:solidFill>
                  <a:srgbClr val="FFFFFF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tient</a:t>
            </a:r>
            <a:r>
              <a:rPr lang="en-GB" sz="1100" b="0" i="1" u="none" strike="noStrike" dirty="0">
                <a:solidFill>
                  <a:srgbClr val="FFFFFF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 pas </a:t>
            </a:r>
            <a:r>
              <a:rPr lang="en-GB" sz="1100" b="0" i="1" u="none" strike="noStrike" dirty="0" err="1">
                <a:solidFill>
                  <a:srgbClr val="FFFFFF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compte</a:t>
            </a:r>
            <a:r>
              <a:rPr lang="en-GB" sz="1100" b="0" i="1" u="none" strike="noStrike" dirty="0">
                <a:solidFill>
                  <a:srgbClr val="FFFFFF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 de </a:t>
            </a:r>
            <a:r>
              <a:rPr lang="en-GB" sz="1100" b="0" i="1" u="none" strike="noStrike" dirty="0" err="1">
                <a:solidFill>
                  <a:srgbClr val="FFFFFF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l’évolution</a:t>
            </a:r>
            <a:r>
              <a:rPr lang="en-GB" sz="1100" b="0" i="1" u="none" strike="noStrike" dirty="0">
                <a:solidFill>
                  <a:srgbClr val="FFFFFF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 des droits de mutations </a:t>
            </a:r>
            <a:r>
              <a:rPr lang="en-GB" sz="1100" b="0" i="1" u="none" strike="noStrike" dirty="0" err="1">
                <a:solidFill>
                  <a:srgbClr val="FFFFFF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ni</a:t>
            </a:r>
            <a:r>
              <a:rPr lang="en-GB" sz="1100" b="0" i="1" u="none" strike="noStrike" dirty="0">
                <a:solidFill>
                  <a:srgbClr val="FFFFFF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 de </a:t>
            </a:r>
            <a:r>
              <a:rPr lang="en-GB" sz="1100" b="0" i="1" u="none" strike="noStrike" dirty="0" err="1">
                <a:solidFill>
                  <a:srgbClr val="FFFFFF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l’apport</a:t>
            </a:r>
            <a:r>
              <a:rPr lang="en-GB" sz="1100" b="0" i="1" u="none" strike="noStrike" dirty="0">
                <a:solidFill>
                  <a:srgbClr val="FFFFFF"/>
                </a:solidFill>
                <a:effectLst/>
                <a:latin typeface="Questrial" pitchFamily="2" charset="77"/>
                <a:ea typeface="Questrial" pitchFamily="2" charset="77"/>
                <a:cs typeface="Questrial" pitchFamily="2" charset="77"/>
              </a:rPr>
              <a:t> personnel.</a:t>
            </a:r>
            <a:endParaRPr lang="en-FR" sz="1100" i="1" dirty="0">
              <a:solidFill>
                <a:srgbClr val="FFFFFF"/>
              </a:solidFill>
              <a:latin typeface="Questrial" pitchFamily="2" charset="77"/>
              <a:ea typeface="Questrial" pitchFamily="2" charset="77"/>
              <a:cs typeface="Questrial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38080574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1F280-8231-4F5F-F2AD-70CE80F05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R" dirty="0"/>
              <a:t>La France est un des pays d’Europe qui dépense le plus pour le logement social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A9D9283-D21C-DB69-62A6-2224903CC17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7543488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2D43C44-B6CF-F006-EA66-67199F9F1923}"/>
              </a:ext>
            </a:extLst>
          </p:cNvPr>
          <p:cNvSpPr txBox="1"/>
          <p:nvPr/>
        </p:nvSpPr>
        <p:spPr>
          <a:xfrm>
            <a:off x="5650029" y="6311900"/>
            <a:ext cx="26661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R" sz="14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Source : OCDE</a:t>
            </a:r>
          </a:p>
        </p:txBody>
      </p:sp>
    </p:spTree>
    <p:extLst>
      <p:ext uri="{BB962C8B-B14F-4D97-AF65-F5344CB8AC3E}">
        <p14:creationId xmlns:p14="http://schemas.microsoft.com/office/powerpoint/2010/main" val="219322365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0F549-8299-FFF1-4028-DF0C07B91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R" dirty="0"/>
              <a:t>Les aides au logement font augmenter les loyers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2F2E4D-A977-A00E-15E2-9B5CA4E8F2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54078" cy="4351338"/>
          </a:xfrm>
        </p:spPr>
        <p:txBody>
          <a:bodyPr>
            <a:normAutofit/>
          </a:bodyPr>
          <a:lstStyle/>
          <a:p>
            <a:r>
              <a:rPr lang="en-FR" dirty="0"/>
              <a:t>78% du montant des aides est répercuté à la hausse sur les loyers.</a:t>
            </a:r>
          </a:p>
          <a:p>
            <a:r>
              <a:rPr lang="en-FR" dirty="0"/>
              <a:t>L’augmentation des loyers est d’autant plus forte que l’offre n’augmente pas.</a:t>
            </a:r>
          </a:p>
          <a:p>
            <a:r>
              <a:rPr lang="en-FR" dirty="0"/>
              <a:t>Il est donc indispensable d’associer une réforme des aides au logement à une augmentation de l’offre.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F9EE23-F311-558A-A9DD-027D67DF935C}"/>
              </a:ext>
            </a:extLst>
          </p:cNvPr>
          <p:cNvSpPr txBox="1"/>
          <p:nvPr/>
        </p:nvSpPr>
        <p:spPr>
          <a:xfrm>
            <a:off x="2984879" y="6176963"/>
            <a:ext cx="73874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Source : Fack, Gabrielle, 2006. "</a:t>
            </a:r>
            <a:r>
              <a:rPr lang="en-GB" sz="1200" b="1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Are housing benefit an effective way to redistribute income? Evidence from a natural experiment in France</a:t>
            </a:r>
            <a:r>
              <a:rPr lang="en-GB" sz="12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," </a:t>
            </a:r>
            <a:r>
              <a:rPr lang="en-GB" sz="12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Labour Economics</a:t>
            </a:r>
            <a:r>
              <a:rPr lang="en-GB" sz="12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, Elsevier, vol. 13(6), pages 747-771, December.</a:t>
            </a:r>
            <a:endParaRPr lang="en-FR" sz="1200" dirty="0">
              <a:solidFill>
                <a:schemeClr val="bg1"/>
              </a:solidFill>
              <a:latin typeface="Questrial" pitchFamily="2" charset="77"/>
              <a:ea typeface="Questrial" pitchFamily="2" charset="77"/>
              <a:cs typeface="Questrial" pitchFamily="2" charset="77"/>
            </a:endParaRP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696A8852-869F-6814-96F0-E59AC16129AD}"/>
              </a:ext>
            </a:extLst>
          </p:cNvPr>
          <p:cNvGraphicFramePr/>
          <p:nvPr/>
        </p:nvGraphicFramePr>
        <p:xfrm>
          <a:off x="6373503" y="1758156"/>
          <a:ext cx="3841087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525E680-197B-795A-FCA2-7FB35151EC7E}"/>
              </a:ext>
            </a:extLst>
          </p:cNvPr>
          <p:cNvSpPr txBox="1"/>
          <p:nvPr/>
        </p:nvSpPr>
        <p:spPr>
          <a:xfrm>
            <a:off x="9095093" y="3279760"/>
            <a:ext cx="26067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R" sz="20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Répercussion en hausses de loyer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107C69-0E19-C185-5660-D930DB250CDA}"/>
              </a:ext>
            </a:extLst>
          </p:cNvPr>
          <p:cNvSpPr txBox="1"/>
          <p:nvPr/>
        </p:nvSpPr>
        <p:spPr>
          <a:xfrm>
            <a:off x="9095093" y="4497529"/>
            <a:ext cx="28330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R" sz="16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Part réellement récupérée par les locataires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DC4832-B52C-F16B-9E39-8BF3EE788CD2}"/>
              </a:ext>
            </a:extLst>
          </p:cNvPr>
          <p:cNvSpPr txBox="1"/>
          <p:nvPr/>
        </p:nvSpPr>
        <p:spPr>
          <a:xfrm>
            <a:off x="7161284" y="1619289"/>
            <a:ext cx="26067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R" sz="2000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Total : 23 Md€</a:t>
            </a:r>
          </a:p>
        </p:txBody>
      </p:sp>
    </p:spTree>
    <p:extLst>
      <p:ext uri="{BB962C8B-B14F-4D97-AF65-F5344CB8AC3E}">
        <p14:creationId xmlns:p14="http://schemas.microsoft.com/office/powerpoint/2010/main" val="105020457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EE53B-A692-422E-3AC1-8FF1E4F8C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7D0A27A-327F-F854-1624-537472361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5756"/>
            <a:ext cx="3502794" cy="1244875"/>
          </a:xfrm>
        </p:spPr>
        <p:txBody>
          <a:bodyPr>
            <a:normAutofit/>
          </a:bodyPr>
          <a:lstStyle/>
          <a:p>
            <a:r>
              <a:rPr lang="fr-FR" sz="3200" dirty="0"/>
              <a:t>Qui occupe les HLM ?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A69B96A-1A81-EC98-ED23-651040C0A5FA}"/>
              </a:ext>
            </a:extLst>
          </p:cNvPr>
          <p:cNvSpPr txBox="1"/>
          <p:nvPr/>
        </p:nvSpPr>
        <p:spPr>
          <a:xfrm>
            <a:off x="4560848" y="6453201"/>
            <a:ext cx="348187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spcBef>
                <a:spcPts val="375"/>
              </a:spcBef>
            </a:pPr>
            <a:r>
              <a:rPr lang="fr-FR" sz="1000" dirty="0">
                <a:solidFill>
                  <a:schemeClr val="bg1"/>
                </a:solidFill>
                <a:latin typeface="Questrial" pitchFamily="2" charset="77"/>
              </a:rPr>
              <a:t>Source : INSEE, recensement de la population 2017</a:t>
            </a:r>
          </a:p>
        </p:txBody>
      </p:sp>
      <p:graphicFrame>
        <p:nvGraphicFramePr>
          <p:cNvPr id="7" name="Graphique 6">
            <a:extLst>
              <a:ext uri="{FF2B5EF4-FFF2-40B4-BE49-F238E27FC236}">
                <a16:creationId xmlns:a16="http://schemas.microsoft.com/office/drawing/2014/main" id="{BD13579E-B37A-38AB-6B05-945C81776532}"/>
              </a:ext>
            </a:extLst>
          </p:cNvPr>
          <p:cNvGraphicFramePr>
            <a:graphicFrameLocks/>
          </p:cNvGraphicFramePr>
          <p:nvPr/>
        </p:nvGraphicFramePr>
        <p:xfrm>
          <a:off x="4560848" y="593954"/>
          <a:ext cx="7449015" cy="58592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ZoneTexte 7">
            <a:extLst>
              <a:ext uri="{FF2B5EF4-FFF2-40B4-BE49-F238E27FC236}">
                <a16:creationId xmlns:a16="http://schemas.microsoft.com/office/drawing/2014/main" id="{8DF7F516-B5C2-1175-0C3D-3AA690BC5576}"/>
              </a:ext>
            </a:extLst>
          </p:cNvPr>
          <p:cNvSpPr txBox="1"/>
          <p:nvPr/>
        </p:nvSpPr>
        <p:spPr>
          <a:xfrm>
            <a:off x="838200" y="1837521"/>
            <a:ext cx="295507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i="1" dirty="0">
                <a:solidFill>
                  <a:schemeClr val="bg1"/>
                </a:solidFill>
                <a:latin typeface="Questrial" pitchFamily="2" charset="77"/>
              </a:rPr>
              <a:t>Lecture du graphe</a:t>
            </a:r>
          </a:p>
          <a:p>
            <a:endParaRPr lang="fr-FR" dirty="0">
              <a:solidFill>
                <a:schemeClr val="bg1"/>
              </a:solidFill>
              <a:latin typeface="Questrial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  <a:latin typeface="Questrial" pitchFamily="2" charset="77"/>
              </a:rPr>
              <a:t>50% des personnes nées en Algérie occupent un HLM, et 21% sont locataires non-HLM </a:t>
            </a:r>
          </a:p>
          <a:p>
            <a:endParaRPr lang="fr-FR" dirty="0">
              <a:solidFill>
                <a:schemeClr val="bg1"/>
              </a:solidFill>
              <a:latin typeface="Questrial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  <a:latin typeface="Questrial" pitchFamily="2" charset="77"/>
              </a:rPr>
              <a:t>15% des personnes nées au Portugal occupent un HLM, quand 24% sont locataires non-HLM</a:t>
            </a:r>
          </a:p>
        </p:txBody>
      </p:sp>
    </p:spTree>
    <p:extLst>
      <p:ext uri="{BB962C8B-B14F-4D97-AF65-F5344CB8AC3E}">
        <p14:creationId xmlns:p14="http://schemas.microsoft.com/office/powerpoint/2010/main" val="92397830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B6E4-4225-916D-02D2-97719154C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949" y="1794914"/>
            <a:ext cx="4448695" cy="1325563"/>
          </a:xfrm>
        </p:spPr>
        <p:txBody>
          <a:bodyPr>
            <a:normAutofit fontScale="90000"/>
          </a:bodyPr>
          <a:lstStyle/>
          <a:p>
            <a:r>
              <a:rPr lang="en-GB" dirty="0"/>
              <a:t>L</a:t>
            </a:r>
            <a:r>
              <a:rPr lang="en-FR" dirty="0"/>
              <a:t>e Livret A finance le logement social</a:t>
            </a:r>
          </a:p>
        </p:txBody>
      </p:sp>
      <p:pic>
        <p:nvPicPr>
          <p:cNvPr id="4" name="Content Placeholder 3" descr="Image">
            <a:extLst>
              <a:ext uri="{FF2B5EF4-FFF2-40B4-BE49-F238E27FC236}">
                <a16:creationId xmlns:a16="http://schemas.microsoft.com/office/drawing/2014/main" id="{1CD33007-9997-EEDC-DAF0-362C42584F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0" y="352973"/>
            <a:ext cx="5782929" cy="6152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68913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65368-0AF1-AB09-642D-6A3834DAB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R" dirty="0"/>
              <a:t>Sortir du piège de la politique sociale du logement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8D021A-6153-3CC3-5674-E075F4AD0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86075"/>
            <a:ext cx="10515600" cy="2628174"/>
          </a:xfrm>
        </p:spPr>
        <p:txBody>
          <a:bodyPr>
            <a:noAutofit/>
          </a:bodyPr>
          <a:lstStyle/>
          <a:p>
            <a:r>
              <a:rPr lang="en-GB" sz="1800" dirty="0" err="1"/>
              <a:t>Abroger</a:t>
            </a:r>
            <a:r>
              <a:rPr lang="en-GB" sz="1800" dirty="0"/>
              <a:t> la </a:t>
            </a:r>
            <a:r>
              <a:rPr lang="en-GB" sz="1800" dirty="0" err="1"/>
              <a:t>loi</a:t>
            </a:r>
            <a:r>
              <a:rPr lang="en-GB" sz="1800" dirty="0"/>
              <a:t> SRU</a:t>
            </a:r>
          </a:p>
          <a:p>
            <a:r>
              <a:rPr lang="en-GB" sz="1800" dirty="0"/>
              <a:t>Fin du </a:t>
            </a:r>
            <a:r>
              <a:rPr lang="en-GB" sz="1800" dirty="0" err="1"/>
              <a:t>logement</a:t>
            </a:r>
            <a:r>
              <a:rPr lang="en-GB" sz="1800" dirty="0"/>
              <a:t> social à vie</a:t>
            </a:r>
          </a:p>
          <a:p>
            <a:r>
              <a:rPr lang="en-GB" sz="1800" dirty="0"/>
              <a:t>Privatiser </a:t>
            </a:r>
            <a:r>
              <a:rPr lang="en-GB" sz="1800" dirty="0" err="1"/>
              <a:t>progressivement</a:t>
            </a:r>
            <a:r>
              <a:rPr lang="en-GB" sz="1800" dirty="0"/>
              <a:t> </a:t>
            </a:r>
            <a:r>
              <a:rPr lang="en-GB" sz="1800" dirty="0" err="1"/>
              <a:t>l’essentiel</a:t>
            </a:r>
            <a:r>
              <a:rPr lang="en-GB" sz="1800" dirty="0"/>
              <a:t> </a:t>
            </a:r>
            <a:r>
              <a:rPr lang="en-GB" sz="1800" dirty="0" err="1"/>
              <a:t>logement</a:t>
            </a:r>
            <a:r>
              <a:rPr lang="en-GB" sz="1800" dirty="0"/>
              <a:t> social</a:t>
            </a:r>
          </a:p>
          <a:p>
            <a:r>
              <a:rPr lang="en-GB" sz="1800" dirty="0" err="1"/>
              <a:t>Réserver</a:t>
            </a:r>
            <a:r>
              <a:rPr lang="en-GB" sz="1800" dirty="0"/>
              <a:t> </a:t>
            </a:r>
            <a:r>
              <a:rPr lang="en-GB" sz="1800" dirty="0" err="1"/>
              <a:t>une</a:t>
            </a:r>
            <a:r>
              <a:rPr lang="en-GB" sz="1800" dirty="0"/>
              <a:t> part du </a:t>
            </a:r>
            <a:r>
              <a:rPr lang="en-GB" sz="1800" dirty="0" err="1"/>
              <a:t>logement</a:t>
            </a:r>
            <a:r>
              <a:rPr lang="en-GB" sz="1800" dirty="0"/>
              <a:t> social à </a:t>
            </a:r>
            <a:r>
              <a:rPr lang="en-GB" sz="1800" dirty="0" err="1"/>
              <a:t>l’hébergement</a:t>
            </a:r>
            <a:r>
              <a:rPr lang="en-GB" sz="1800" dirty="0"/>
              <a:t> </a:t>
            </a:r>
            <a:r>
              <a:rPr lang="en-GB" sz="1800" dirty="0" err="1"/>
              <a:t>d’urgence</a:t>
            </a:r>
            <a:r>
              <a:rPr lang="en-GB" sz="1800" dirty="0"/>
              <a:t> et ménages très </a:t>
            </a:r>
            <a:r>
              <a:rPr lang="en-GB" sz="1800" dirty="0" err="1"/>
              <a:t>précaires</a:t>
            </a:r>
            <a:endParaRPr lang="en-GB" sz="1800" dirty="0"/>
          </a:p>
          <a:p>
            <a:r>
              <a:rPr lang="en-GB" sz="1800" dirty="0" err="1"/>
              <a:t>Libérer</a:t>
            </a:r>
            <a:r>
              <a:rPr lang="en-GB" sz="1800" dirty="0"/>
              <a:t> la construction : </a:t>
            </a:r>
            <a:r>
              <a:rPr lang="en-GB" sz="1800" dirty="0" err="1"/>
              <a:t>permis</a:t>
            </a:r>
            <a:r>
              <a:rPr lang="en-GB" sz="1800" dirty="0"/>
              <a:t> express, conversion des bureaux</a:t>
            </a:r>
          </a:p>
          <a:p>
            <a:r>
              <a:rPr lang="en-GB" sz="1800" dirty="0" err="1"/>
              <a:t>Supprimer</a:t>
            </a:r>
            <a:r>
              <a:rPr lang="en-GB" sz="1800" dirty="0"/>
              <a:t> les niches </a:t>
            </a:r>
            <a:r>
              <a:rPr lang="en-GB" sz="1800" dirty="0" err="1"/>
              <a:t>fiscales</a:t>
            </a:r>
            <a:r>
              <a:rPr lang="en-GB" sz="1800" dirty="0"/>
              <a:t> </a:t>
            </a:r>
            <a:r>
              <a:rPr lang="en-GB" sz="1800" dirty="0" err="1"/>
              <a:t>inefficaces</a:t>
            </a:r>
            <a:endParaRPr lang="en-GB" sz="1800" dirty="0"/>
          </a:p>
          <a:p>
            <a:r>
              <a:rPr lang="en-GB" sz="1800" dirty="0"/>
              <a:t>Simplifier les aides : allocation unique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206619-4C9E-B491-B914-97FF01BB5B65}"/>
              </a:ext>
            </a:extLst>
          </p:cNvPr>
          <p:cNvSpPr txBox="1"/>
          <p:nvPr/>
        </p:nvSpPr>
        <p:spPr>
          <a:xfrm>
            <a:off x="1328887" y="5290078"/>
            <a:ext cx="2502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R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Effets attendus</a:t>
            </a:r>
          </a:p>
        </p:txBody>
      </p:sp>
      <p:sp>
        <p:nvSpPr>
          <p:cNvPr id="5" name="Right Arrow 4">
            <a:extLst>
              <a:ext uri="{FF2B5EF4-FFF2-40B4-BE49-F238E27FC236}">
                <a16:creationId xmlns:a16="http://schemas.microsoft.com/office/drawing/2014/main" id="{C4B6A3F7-B5FC-8FB2-7C70-42E968958836}"/>
              </a:ext>
            </a:extLst>
          </p:cNvPr>
          <p:cNvSpPr/>
          <p:nvPr/>
        </p:nvSpPr>
        <p:spPr>
          <a:xfrm>
            <a:off x="3270183" y="5290078"/>
            <a:ext cx="741145" cy="36576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DE6E7C-1073-5FDE-3D6E-6FDBA1C17252}"/>
              </a:ext>
            </a:extLst>
          </p:cNvPr>
          <p:cNvSpPr txBox="1"/>
          <p:nvPr/>
        </p:nvSpPr>
        <p:spPr>
          <a:xfrm>
            <a:off x="4277827" y="5030098"/>
            <a:ext cx="67469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FR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Baisse du prix du foncier en zones tendues</a:t>
            </a:r>
          </a:p>
          <a:p>
            <a:pPr marL="457200" indent="-457200">
              <a:buAutoNum type="arabicPeriod"/>
            </a:pPr>
            <a:r>
              <a:rPr lang="en-FR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Hausse de la construction</a:t>
            </a:r>
          </a:p>
          <a:p>
            <a:pPr marL="457200" indent="-457200">
              <a:buAutoNum type="arabicPeriod"/>
            </a:pPr>
            <a:r>
              <a:rPr lang="en-FR" dirty="0">
                <a:solidFill>
                  <a:schemeClr val="bg1"/>
                </a:solidFill>
                <a:latin typeface="Questrial" pitchFamily="2" charset="77"/>
                <a:ea typeface="Questrial" pitchFamily="2" charset="77"/>
                <a:cs typeface="Questrial" pitchFamily="2" charset="77"/>
              </a:rPr>
              <a:t>Ralentissement puis baisse des loyers et prix de l’immobilier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EAFE0AA-A0F7-8BAF-FB30-BA3306A56C80}"/>
              </a:ext>
            </a:extLst>
          </p:cNvPr>
          <p:cNvSpPr/>
          <p:nvPr/>
        </p:nvSpPr>
        <p:spPr>
          <a:xfrm>
            <a:off x="1167260" y="5030098"/>
            <a:ext cx="9857479" cy="923330"/>
          </a:xfrm>
          <a:prstGeom prst="rect">
            <a:avLst/>
          </a:pr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02960003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DBB25-E25E-3B1C-967A-DBE84412F7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386958"/>
            <a:ext cx="9144000" cy="2387600"/>
          </a:xfrm>
        </p:spPr>
        <p:txBody>
          <a:bodyPr/>
          <a:lstStyle/>
          <a:p>
            <a:r>
              <a:rPr lang="en-FR" dirty="0"/>
              <a:t>Comment les autres pays ont fait ?</a:t>
            </a:r>
          </a:p>
        </p:txBody>
      </p:sp>
    </p:spTree>
    <p:extLst>
      <p:ext uri="{BB962C8B-B14F-4D97-AF65-F5344CB8AC3E}">
        <p14:creationId xmlns:p14="http://schemas.microsoft.com/office/powerpoint/2010/main" val="251399530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1FB9F-92D4-E534-9EB2-63723557E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R" dirty="0"/>
              <a:t>Canada : années 90</a:t>
            </a:r>
          </a:p>
        </p:txBody>
      </p:sp>
      <p:pic>
        <p:nvPicPr>
          <p:cNvPr id="1026" name="Picture 2" descr="Jean Chrétien — Wikipédia">
            <a:extLst>
              <a:ext uri="{FF2B5EF4-FFF2-40B4-BE49-F238E27FC236}">
                <a16:creationId xmlns:a16="http://schemas.microsoft.com/office/drawing/2014/main" id="{2D28BC9B-74D6-54DC-54DA-F8FEBA7817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524007"/>
            <a:ext cx="1968500" cy="25747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graph with red lines and numbers&#10;&#10;AI-generated content may be incorrect.">
            <a:extLst>
              <a:ext uri="{FF2B5EF4-FFF2-40B4-BE49-F238E27FC236}">
                <a16:creationId xmlns:a16="http://schemas.microsoft.com/office/drawing/2014/main" id="{1F85676E-A89C-2B56-F871-0F2D4F05DD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2513" y="2278516"/>
            <a:ext cx="3710215" cy="3065780"/>
          </a:xfrm>
          <a:prstGeom prst="rect">
            <a:avLst/>
          </a:prstGeom>
        </p:spPr>
      </p:pic>
      <p:pic>
        <p:nvPicPr>
          <p:cNvPr id="5" name="Picture 4" descr="A graph of a financial report&#10;&#10;AI-generated content may be incorrect.">
            <a:extLst>
              <a:ext uri="{FF2B5EF4-FFF2-40B4-BE49-F238E27FC236}">
                <a16:creationId xmlns:a16="http://schemas.microsoft.com/office/drawing/2014/main" id="{29478D64-45E0-50A9-B37D-FBCA3209DC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8445" y="2278516"/>
            <a:ext cx="4295140" cy="306578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0672BED2-1E8D-455F-7923-7C64676913FE}"/>
              </a:ext>
            </a:extLst>
          </p:cNvPr>
          <p:cNvSpPr txBox="1">
            <a:spLocks/>
          </p:cNvSpPr>
          <p:nvPr/>
        </p:nvSpPr>
        <p:spPr>
          <a:xfrm>
            <a:off x="1034143" y="5199970"/>
            <a:ext cx="2231571" cy="6238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Questrial" pitchFamily="2" charset="77"/>
                <a:ea typeface="+mj-ea"/>
                <a:cs typeface="+mj-cs"/>
              </a:defRPr>
            </a:lvl1pPr>
          </a:lstStyle>
          <a:p>
            <a:r>
              <a:rPr lang="en-FR" sz="1800" dirty="0"/>
              <a:t>Jean Chrétien</a:t>
            </a:r>
          </a:p>
        </p:txBody>
      </p:sp>
    </p:spTree>
    <p:extLst>
      <p:ext uri="{BB962C8B-B14F-4D97-AF65-F5344CB8AC3E}">
        <p14:creationId xmlns:p14="http://schemas.microsoft.com/office/powerpoint/2010/main" val="111630657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576A2-4C25-663D-FD05-040530A87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R" dirty="0"/>
              <a:t>Canada : le Program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C9E2A2-E6E3-7328-83DD-7A85B69670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/>
            <a:r>
              <a:rPr lang="en-FR" dirty="0"/>
              <a:t>Intérêt public : le programme répond-il à un besoin public légitime ?</a:t>
            </a:r>
          </a:p>
          <a:p>
            <a:pPr lvl="0"/>
            <a:r>
              <a:rPr lang="en-FR" dirty="0"/>
              <a:t>Rôle du gouvernement : le gouvernement fédéral est-il la meilleure entité pour offrir ce service ?</a:t>
            </a:r>
          </a:p>
          <a:p>
            <a:pPr lvl="0"/>
            <a:r>
              <a:rPr lang="en-FR" dirty="0"/>
              <a:t>Rôle fédéral : ce programme relève-t-il de la compétence fédérale ou devrait-il être transféré aux provinces ?</a:t>
            </a:r>
          </a:p>
          <a:p>
            <a:pPr lvl="0"/>
            <a:r>
              <a:rPr lang="en-FR" dirty="0"/>
              <a:t>Partenariats : peut-il être offert en collaboration avec le secteur privé ou d’autres entités ?</a:t>
            </a:r>
          </a:p>
          <a:p>
            <a:pPr lvl="0"/>
            <a:r>
              <a:rPr lang="en-FR" dirty="0"/>
              <a:t>Efficacité : le programme atteint-il ses objectifs de manière efficiente ?</a:t>
            </a:r>
          </a:p>
          <a:p>
            <a:pPr lvl="0"/>
            <a:r>
              <a:rPr lang="en-FR" dirty="0"/>
              <a:t>Abordabilité : le Canada peut-il se permettre de maintenir ce programme ? </a:t>
            </a:r>
          </a:p>
          <a:p>
            <a:endParaRPr lang="en-FR" dirty="0"/>
          </a:p>
        </p:txBody>
      </p:sp>
    </p:spTree>
    <p:extLst>
      <p:ext uri="{BB962C8B-B14F-4D97-AF65-F5344CB8AC3E}">
        <p14:creationId xmlns:p14="http://schemas.microsoft.com/office/powerpoint/2010/main" val="266814621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0A0EA-2714-C831-CFC6-377811E5A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R" dirty="0"/>
              <a:t>Argentine : J. Milei</a:t>
            </a:r>
          </a:p>
        </p:txBody>
      </p:sp>
      <p:pic>
        <p:nvPicPr>
          <p:cNvPr id="4" name="Picture 3" descr="A person holding a saw over his head&#10;&#10;AI-generated content may be incorrect.">
            <a:extLst>
              <a:ext uri="{FF2B5EF4-FFF2-40B4-BE49-F238E27FC236}">
                <a16:creationId xmlns:a16="http://schemas.microsoft.com/office/drawing/2014/main" id="{99109197-092A-E01E-18AA-92529197B3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7700" y="303135"/>
            <a:ext cx="3080659" cy="1732871"/>
          </a:xfrm>
          <a:prstGeom prst="rect">
            <a:avLst/>
          </a:prstGeom>
        </p:spPr>
      </p:pic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E3B84FD9-2D55-BC63-86CE-0DED39EFF0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77104383"/>
              </p:ext>
            </p:extLst>
          </p:nvPr>
        </p:nvGraphicFramePr>
        <p:xfrm>
          <a:off x="495300" y="2318657"/>
          <a:ext cx="3848100" cy="38909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7F2BE5EB-6741-3822-0C06-9738E0BB0ED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73205649"/>
              </p:ext>
            </p:extLst>
          </p:nvPr>
        </p:nvGraphicFramePr>
        <p:xfrm>
          <a:off x="4493194" y="2381325"/>
          <a:ext cx="3570514" cy="36732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E43B7A95-C46C-DE6F-6D3C-16810FBB285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51506633"/>
              </p:ext>
            </p:extLst>
          </p:nvPr>
        </p:nvGraphicFramePr>
        <p:xfrm>
          <a:off x="8213502" y="2381325"/>
          <a:ext cx="3760784" cy="35779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191145372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29239-3C9F-EB9C-A585-973919DE0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buNone/>
            </a:pPr>
            <a:r>
              <a:rPr lang="fr-FR" sz="8800" b="1" dirty="0">
                <a:solidFill>
                  <a:srgbClr val="FFFFFF"/>
                </a:solidFill>
              </a:rPr>
              <a:t>Les atouts français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E6A313-7B82-1CB3-1712-A7FCFAA576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87755364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9696C-FDB1-F835-18E5-6A7033477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>
                <a:solidFill>
                  <a:srgbClr val="FFFFFF"/>
                </a:solidFill>
              </a:rPr>
              <a:t>Tout </a:t>
            </a:r>
            <a:r>
              <a:rPr lang="en-GB" b="1" dirty="0" err="1">
                <a:solidFill>
                  <a:srgbClr val="FFFFFF"/>
                </a:solidFill>
              </a:rPr>
              <a:t>n’est</a:t>
            </a:r>
            <a:r>
              <a:rPr lang="en-GB" b="1" dirty="0">
                <a:solidFill>
                  <a:srgbClr val="FFFFFF"/>
                </a:solidFill>
              </a:rPr>
              <a:t> pas sombre</a:t>
            </a:r>
            <a:endParaRPr lang="en-FR" b="1" dirty="0">
              <a:solidFill>
                <a:srgbClr val="FFFFFF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F2F722-4935-8227-D3A1-008E278CA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868CB-5B44-3E4F-9E7D-17B01CBB6C29}" type="slidenum">
              <a:rPr lang="fr-FR" smtClean="0"/>
              <a:t>81</a:t>
            </a:fld>
            <a:endParaRPr lang="fr-F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22D879-B8FA-C74A-BC6A-8B53BD59BE1B}"/>
              </a:ext>
            </a:extLst>
          </p:cNvPr>
          <p:cNvSpPr txBox="1"/>
          <p:nvPr/>
        </p:nvSpPr>
        <p:spPr>
          <a:xfrm>
            <a:off x="1016000" y="2095500"/>
            <a:ext cx="4572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6600" b="1">
                <a:solidFill>
                  <a:srgbClr val="00B050"/>
                </a:solidFill>
              </a:rPr>
              <a:t>n°1</a:t>
            </a:r>
            <a:endParaRPr lang="en-FR" sz="6600" b="1">
              <a:solidFill>
                <a:srgbClr val="00B05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FC7ED6-642E-EA4D-B8B1-5F8D96F3CE17}"/>
              </a:ext>
            </a:extLst>
          </p:cNvPr>
          <p:cNvSpPr txBox="1"/>
          <p:nvPr/>
        </p:nvSpPr>
        <p:spPr>
          <a:xfrm>
            <a:off x="1016000" y="3048000"/>
            <a:ext cx="457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2000" b="1" dirty="0" err="1">
                <a:solidFill>
                  <a:srgbClr val="FFFFFF"/>
                </a:solidFill>
              </a:rPr>
              <a:t>mondial</a:t>
            </a:r>
            <a:r>
              <a:rPr lang="en-GB" sz="2000" b="1" dirty="0">
                <a:solidFill>
                  <a:srgbClr val="FFFFFF"/>
                </a:solidFill>
              </a:rPr>
              <a:t> du luxe</a:t>
            </a:r>
            <a:endParaRPr lang="en-FR" sz="2000" b="1" dirty="0">
              <a:solidFill>
                <a:srgbClr val="FFFFFF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2C418C-F84C-4D45-AF7E-488D7E099E94}"/>
              </a:ext>
            </a:extLst>
          </p:cNvPr>
          <p:cNvSpPr txBox="1"/>
          <p:nvPr/>
        </p:nvSpPr>
        <p:spPr>
          <a:xfrm>
            <a:off x="1016000" y="3467100"/>
            <a:ext cx="457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600" i="1" dirty="0">
                <a:solidFill>
                  <a:srgbClr val="BDC3C7"/>
                </a:solidFill>
              </a:rPr>
              <a:t>LVMH, Hermès, Kering, L'Oréal</a:t>
            </a:r>
            <a:endParaRPr lang="en-FR" sz="1600" i="1" dirty="0">
              <a:solidFill>
                <a:srgbClr val="BDC3C7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1A68EF-D955-ED46-A077-10C0792A5FC9}"/>
              </a:ext>
            </a:extLst>
          </p:cNvPr>
          <p:cNvSpPr txBox="1"/>
          <p:nvPr/>
        </p:nvSpPr>
        <p:spPr>
          <a:xfrm>
            <a:off x="6477000" y="2095500"/>
            <a:ext cx="4572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6600" b="1" dirty="0">
                <a:solidFill>
                  <a:srgbClr val="00B050"/>
                </a:solidFill>
              </a:rPr>
              <a:t>n°1</a:t>
            </a:r>
            <a:endParaRPr lang="en-FR" sz="6600" b="1" dirty="0">
              <a:solidFill>
                <a:srgbClr val="00B05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E7ECEA-11CE-854F-82D6-E94C7CE25342}"/>
              </a:ext>
            </a:extLst>
          </p:cNvPr>
          <p:cNvSpPr txBox="1"/>
          <p:nvPr/>
        </p:nvSpPr>
        <p:spPr>
          <a:xfrm>
            <a:off x="6477000" y="3048000"/>
            <a:ext cx="457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2000" b="1">
                <a:solidFill>
                  <a:srgbClr val="FFFFFF"/>
                </a:solidFill>
              </a:rPr>
              <a:t>mondial de l'aéronautique civile</a:t>
            </a:r>
            <a:endParaRPr lang="en-FR" sz="2000" b="1">
              <a:solidFill>
                <a:srgbClr val="FFFFFF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AA48DD-6313-F244-B329-4C5F9FC2FB5B}"/>
              </a:ext>
            </a:extLst>
          </p:cNvPr>
          <p:cNvSpPr txBox="1"/>
          <p:nvPr/>
        </p:nvSpPr>
        <p:spPr>
          <a:xfrm>
            <a:off x="6477000" y="3467100"/>
            <a:ext cx="457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600" i="1">
                <a:solidFill>
                  <a:srgbClr val="BDC3C7"/>
                </a:solidFill>
              </a:rPr>
              <a:t>Airbus devant Boeing depuis 2019</a:t>
            </a:r>
            <a:endParaRPr lang="en-FR" sz="1600" i="1">
              <a:solidFill>
                <a:srgbClr val="BDC3C7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E75AE5-6E56-EB4F-A3B6-027B78B4664D}"/>
              </a:ext>
            </a:extLst>
          </p:cNvPr>
          <p:cNvSpPr txBox="1"/>
          <p:nvPr/>
        </p:nvSpPr>
        <p:spPr>
          <a:xfrm>
            <a:off x="1016000" y="4064000"/>
            <a:ext cx="4572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6600" b="1" dirty="0">
                <a:solidFill>
                  <a:srgbClr val="00B050"/>
                </a:solidFill>
              </a:rPr>
              <a:t>3ᵉ</a:t>
            </a:r>
            <a:endParaRPr lang="en-FR" sz="6600" b="1" dirty="0">
              <a:solidFill>
                <a:srgbClr val="00B05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5072D9-415C-EB42-9412-76A1BDE977E5}"/>
              </a:ext>
            </a:extLst>
          </p:cNvPr>
          <p:cNvSpPr txBox="1"/>
          <p:nvPr/>
        </p:nvSpPr>
        <p:spPr>
          <a:xfrm>
            <a:off x="1016000" y="5016500"/>
            <a:ext cx="457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2000" b="1">
                <a:solidFill>
                  <a:srgbClr val="FFFFFF"/>
                </a:solidFill>
              </a:rPr>
              <a:t>agriculture européenne</a:t>
            </a:r>
            <a:endParaRPr lang="en-FR" sz="2000" b="1">
              <a:solidFill>
                <a:srgbClr val="FFFFFF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FC676E-4BC3-CE4C-8E4D-A4665CF38070}"/>
              </a:ext>
            </a:extLst>
          </p:cNvPr>
          <p:cNvSpPr txBox="1"/>
          <p:nvPr/>
        </p:nvSpPr>
        <p:spPr>
          <a:xfrm>
            <a:off x="1016000" y="5435600"/>
            <a:ext cx="457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600" i="1">
                <a:solidFill>
                  <a:srgbClr val="BDC3C7"/>
                </a:solidFill>
              </a:rPr>
              <a:t>1ᵉʳ producteur agricole UE en valeur</a:t>
            </a:r>
            <a:endParaRPr lang="en-FR" sz="1600" i="1">
              <a:solidFill>
                <a:srgbClr val="BDC3C7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8FF00D-3B8A-C343-8987-FEC0C5767E8B}"/>
              </a:ext>
            </a:extLst>
          </p:cNvPr>
          <p:cNvSpPr txBox="1"/>
          <p:nvPr/>
        </p:nvSpPr>
        <p:spPr>
          <a:xfrm>
            <a:off x="6477000" y="4064000"/>
            <a:ext cx="4572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7200" b="1" dirty="0">
                <a:solidFill>
                  <a:srgbClr val="00B050"/>
                </a:solidFill>
              </a:rPr>
              <a:t>2ᵉ</a:t>
            </a:r>
            <a:endParaRPr lang="en-FR" sz="7200" b="1" dirty="0">
              <a:solidFill>
                <a:srgbClr val="00B05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616EA22-2AAD-4446-9A2A-A98FE0BFCE2B}"/>
              </a:ext>
            </a:extLst>
          </p:cNvPr>
          <p:cNvSpPr txBox="1"/>
          <p:nvPr/>
        </p:nvSpPr>
        <p:spPr>
          <a:xfrm>
            <a:off x="6477000" y="5016500"/>
            <a:ext cx="457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2400" b="1">
                <a:solidFill>
                  <a:srgbClr val="FFFFFF"/>
                </a:solidFill>
              </a:rPr>
              <a:t>destination touristique mondiale</a:t>
            </a:r>
            <a:endParaRPr lang="en-FR" sz="2400" b="1">
              <a:solidFill>
                <a:srgbClr val="FFFFFF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6DDF96A-BCCF-F94C-A7AB-5DC5C945313F}"/>
              </a:ext>
            </a:extLst>
          </p:cNvPr>
          <p:cNvSpPr txBox="1"/>
          <p:nvPr/>
        </p:nvSpPr>
        <p:spPr>
          <a:xfrm>
            <a:off x="838200" y="5969000"/>
            <a:ext cx="105156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endParaRPr lang="en-FR" sz="1400" b="1" i="1" dirty="0">
              <a:solidFill>
                <a:srgbClr val="F39C1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7220960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A7271-489E-1364-24C1-F0E129C35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800" b="1">
                <a:solidFill>
                  <a:srgbClr val="FFFFFF"/>
                </a:solidFill>
              </a:rPr>
              <a:t>Le nucléaire : un atout stratégique unique en Europe</a:t>
            </a:r>
            <a:endParaRPr lang="en-FR" sz="2800" b="1">
              <a:solidFill>
                <a:srgbClr val="FFFFFF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94B0E58-10AD-09ED-E456-D37D6AC53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868CB-5B44-3E4F-9E7D-17B01CBB6C29}" type="slidenum">
              <a:rPr lang="fr-FR" smtClean="0"/>
              <a:t>82</a:t>
            </a:fld>
            <a:endParaRPr lang="fr-F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8AEABB-487D-7F47-B721-EAE5C5BC8E5E}"/>
              </a:ext>
            </a:extLst>
          </p:cNvPr>
          <p:cNvSpPr txBox="1"/>
          <p:nvPr/>
        </p:nvSpPr>
        <p:spPr>
          <a:xfrm>
            <a:off x="1003300" y="1720013"/>
            <a:ext cx="45720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FR" sz="15800" b="1" dirty="0">
                <a:solidFill>
                  <a:srgbClr val="00B050"/>
                </a:solidFill>
              </a:rPr>
              <a:t>70 %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FD4788-7192-964B-BDED-FF74C5CF25CE}"/>
              </a:ext>
            </a:extLst>
          </p:cNvPr>
          <p:cNvSpPr txBox="1"/>
          <p:nvPr/>
        </p:nvSpPr>
        <p:spPr>
          <a:xfrm>
            <a:off x="1003300" y="4133013"/>
            <a:ext cx="4572000" cy="711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2800" b="1" dirty="0">
                <a:solidFill>
                  <a:srgbClr val="FFFFFF"/>
                </a:solidFill>
              </a:rPr>
              <a:t>de </a:t>
            </a:r>
            <a:r>
              <a:rPr lang="en-GB" sz="2800" b="1" dirty="0" err="1">
                <a:solidFill>
                  <a:srgbClr val="FFFFFF"/>
                </a:solidFill>
              </a:rPr>
              <a:t>l'électricité</a:t>
            </a:r>
            <a:r>
              <a:rPr lang="en-GB" sz="2800" b="1" dirty="0">
                <a:solidFill>
                  <a:srgbClr val="FFFFFF"/>
                </a:solidFill>
              </a:rPr>
              <a:t> française
</a:t>
            </a:r>
            <a:r>
              <a:rPr lang="en-GB" sz="2800" b="1" dirty="0" err="1">
                <a:solidFill>
                  <a:srgbClr val="FFFFFF"/>
                </a:solidFill>
              </a:rPr>
              <a:t>d'origine</a:t>
            </a:r>
            <a:r>
              <a:rPr lang="en-GB" sz="2800" b="1" dirty="0">
                <a:solidFill>
                  <a:srgbClr val="FFFFFF"/>
                </a:solidFill>
              </a:rPr>
              <a:t> </a:t>
            </a:r>
            <a:r>
              <a:rPr lang="en-GB" sz="2800" b="1" dirty="0" err="1">
                <a:solidFill>
                  <a:srgbClr val="FFFFFF"/>
                </a:solidFill>
              </a:rPr>
              <a:t>nucléaire</a:t>
            </a:r>
            <a:endParaRPr lang="en-FR" sz="2800" b="1" dirty="0">
              <a:solidFill>
                <a:srgbClr val="FFFFFF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9AF76E-1B99-4648-994E-83E9BAA3B0A4}"/>
              </a:ext>
            </a:extLst>
          </p:cNvPr>
          <p:cNvSpPr txBox="1"/>
          <p:nvPr/>
        </p:nvSpPr>
        <p:spPr>
          <a:xfrm>
            <a:off x="6477000" y="2095500"/>
            <a:ext cx="4826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2400" b="1" dirty="0" err="1">
                <a:solidFill>
                  <a:srgbClr val="F39C12"/>
                </a:solidFill>
              </a:rPr>
              <a:t>Émissions</a:t>
            </a:r>
            <a:r>
              <a:rPr lang="en-GB" sz="2400" b="1" dirty="0">
                <a:solidFill>
                  <a:srgbClr val="F39C12"/>
                </a:solidFill>
              </a:rPr>
              <a:t> CO₂ par kWh </a:t>
            </a:r>
            <a:r>
              <a:rPr lang="en-GB" sz="2400" b="1" dirty="0" err="1">
                <a:solidFill>
                  <a:srgbClr val="F39C12"/>
                </a:solidFill>
              </a:rPr>
              <a:t>produit</a:t>
            </a:r>
            <a:endParaRPr lang="en-FR" sz="2400" b="1" dirty="0">
              <a:solidFill>
                <a:srgbClr val="F39C12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3D0D0F-41DD-1741-9028-8197A5D56CED}"/>
              </a:ext>
            </a:extLst>
          </p:cNvPr>
          <p:cNvSpPr txBox="1"/>
          <p:nvPr/>
        </p:nvSpPr>
        <p:spPr>
          <a:xfrm>
            <a:off x="6170584" y="2965565"/>
            <a:ext cx="1944716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dirty="0" err="1">
                <a:solidFill>
                  <a:srgbClr val="FFFFFF"/>
                </a:solidFill>
              </a:rPr>
              <a:t>Pologne</a:t>
            </a:r>
            <a:endParaRPr lang="en-FR" dirty="0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945891E-5379-7A43-B8CF-3421A12E191F}"/>
              </a:ext>
            </a:extLst>
          </p:cNvPr>
          <p:cNvSpPr/>
          <p:nvPr/>
        </p:nvSpPr>
        <p:spPr>
          <a:xfrm>
            <a:off x="7810500" y="3060700"/>
            <a:ext cx="3048000" cy="203200"/>
          </a:xfrm>
          <a:prstGeom prst="rect">
            <a:avLst/>
          </a:prstGeom>
          <a:solidFill>
            <a:srgbClr val="C00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FR" sz="20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8659DB-D3D9-7745-A650-E1BE4AEF7C39}"/>
              </a:ext>
            </a:extLst>
          </p:cNvPr>
          <p:cNvSpPr txBox="1"/>
          <p:nvPr/>
        </p:nvSpPr>
        <p:spPr>
          <a:xfrm>
            <a:off x="10934700" y="3009900"/>
            <a:ext cx="76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400">
                <a:solidFill>
                  <a:srgbClr val="FFFFFF"/>
                </a:solidFill>
              </a:rPr>
              <a:t>660 g</a:t>
            </a:r>
            <a:endParaRPr lang="en-FR" sz="1400">
              <a:solidFill>
                <a:srgbClr val="FFFFFF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D39023-34F3-F845-91FB-4AED0615E2AA}"/>
              </a:ext>
            </a:extLst>
          </p:cNvPr>
          <p:cNvSpPr txBox="1"/>
          <p:nvPr/>
        </p:nvSpPr>
        <p:spPr>
          <a:xfrm>
            <a:off x="6170584" y="3371965"/>
            <a:ext cx="1944716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>
                <a:solidFill>
                  <a:srgbClr val="FFFFFF"/>
                </a:solidFill>
              </a:rPr>
              <a:t>Allemagne</a:t>
            </a:r>
            <a:endParaRPr lang="en-FR">
              <a:solidFill>
                <a:srgbClr val="FFFFFF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7BD2360-DD03-FA42-8301-66D6357E00EE}"/>
              </a:ext>
            </a:extLst>
          </p:cNvPr>
          <p:cNvSpPr/>
          <p:nvPr/>
        </p:nvSpPr>
        <p:spPr>
          <a:xfrm>
            <a:off x="7810500" y="3467100"/>
            <a:ext cx="1752600" cy="203200"/>
          </a:xfrm>
          <a:prstGeom prst="rect">
            <a:avLst/>
          </a:prstGeom>
          <a:solidFill>
            <a:srgbClr val="7F8C8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FR" sz="20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CF42BD5-2F9C-954F-A712-1EC443048B65}"/>
              </a:ext>
            </a:extLst>
          </p:cNvPr>
          <p:cNvSpPr txBox="1"/>
          <p:nvPr/>
        </p:nvSpPr>
        <p:spPr>
          <a:xfrm>
            <a:off x="9639300" y="3416300"/>
            <a:ext cx="76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400">
                <a:solidFill>
                  <a:srgbClr val="FFFFFF"/>
                </a:solidFill>
              </a:rPr>
              <a:t>380 g</a:t>
            </a:r>
            <a:endParaRPr lang="en-FR" sz="1400">
              <a:solidFill>
                <a:srgbClr val="FFFFFF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A603986-6D8E-2344-B426-E992CFBA3795}"/>
              </a:ext>
            </a:extLst>
          </p:cNvPr>
          <p:cNvSpPr txBox="1"/>
          <p:nvPr/>
        </p:nvSpPr>
        <p:spPr>
          <a:xfrm>
            <a:off x="6170584" y="3778365"/>
            <a:ext cx="1944716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>
                <a:solidFill>
                  <a:srgbClr val="FFFFFF"/>
                </a:solidFill>
              </a:rPr>
              <a:t>Italie</a:t>
            </a:r>
            <a:endParaRPr lang="en-FR">
              <a:solidFill>
                <a:srgbClr val="FFFFFF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9D55F5-99E3-9A41-B2C5-47635D352181}"/>
              </a:ext>
            </a:extLst>
          </p:cNvPr>
          <p:cNvSpPr/>
          <p:nvPr/>
        </p:nvSpPr>
        <p:spPr>
          <a:xfrm>
            <a:off x="7810500" y="3873500"/>
            <a:ext cx="1295400" cy="203200"/>
          </a:xfrm>
          <a:prstGeom prst="rect">
            <a:avLst/>
          </a:prstGeom>
          <a:solidFill>
            <a:srgbClr val="7F8C8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FR" sz="20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E4D3425-A8D6-C449-A778-D306008F3D3A}"/>
              </a:ext>
            </a:extLst>
          </p:cNvPr>
          <p:cNvSpPr txBox="1"/>
          <p:nvPr/>
        </p:nvSpPr>
        <p:spPr>
          <a:xfrm>
            <a:off x="9182100" y="3822700"/>
            <a:ext cx="76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400">
                <a:solidFill>
                  <a:srgbClr val="FFFFFF"/>
                </a:solidFill>
              </a:rPr>
              <a:t>280 g</a:t>
            </a:r>
            <a:endParaRPr lang="en-FR" sz="1400">
              <a:solidFill>
                <a:srgbClr val="FFFFFF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BD439CF-8B0F-DF4D-834B-5038AE3E5427}"/>
              </a:ext>
            </a:extLst>
          </p:cNvPr>
          <p:cNvSpPr txBox="1"/>
          <p:nvPr/>
        </p:nvSpPr>
        <p:spPr>
          <a:xfrm>
            <a:off x="6170584" y="4184765"/>
            <a:ext cx="1944716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>
                <a:solidFill>
                  <a:srgbClr val="FFFFFF"/>
                </a:solidFill>
              </a:rPr>
              <a:t>Royaume-Uni</a:t>
            </a:r>
            <a:endParaRPr lang="en-FR">
              <a:solidFill>
                <a:srgbClr val="FFFFFF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041642A-CD07-A041-98C1-CC7A306ECF7F}"/>
              </a:ext>
            </a:extLst>
          </p:cNvPr>
          <p:cNvSpPr/>
          <p:nvPr/>
        </p:nvSpPr>
        <p:spPr>
          <a:xfrm>
            <a:off x="7810500" y="4279900"/>
            <a:ext cx="965200" cy="203200"/>
          </a:xfrm>
          <a:prstGeom prst="rect">
            <a:avLst/>
          </a:prstGeom>
          <a:solidFill>
            <a:srgbClr val="7F8C8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FR" sz="20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79B0732-C444-234A-8EDC-FB09A0714E29}"/>
              </a:ext>
            </a:extLst>
          </p:cNvPr>
          <p:cNvSpPr txBox="1"/>
          <p:nvPr/>
        </p:nvSpPr>
        <p:spPr>
          <a:xfrm>
            <a:off x="8851900" y="4229100"/>
            <a:ext cx="76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400">
                <a:solidFill>
                  <a:srgbClr val="FFFFFF"/>
                </a:solidFill>
              </a:rPr>
              <a:t>210 g</a:t>
            </a:r>
            <a:endParaRPr lang="en-FR" sz="1400">
              <a:solidFill>
                <a:srgbClr val="FFFFFF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C585F35-04DD-0B4C-B1EA-1EE73BD7AC71}"/>
              </a:ext>
            </a:extLst>
          </p:cNvPr>
          <p:cNvSpPr txBox="1"/>
          <p:nvPr/>
        </p:nvSpPr>
        <p:spPr>
          <a:xfrm>
            <a:off x="6170584" y="4591165"/>
            <a:ext cx="1944716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b="1">
                <a:solidFill>
                  <a:srgbClr val="00B050"/>
                </a:solidFill>
              </a:rPr>
              <a:t>France</a:t>
            </a:r>
            <a:endParaRPr lang="en-FR" b="1">
              <a:solidFill>
                <a:srgbClr val="00B050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F1D25BC-F608-B84C-BFDB-E2C5CC63098E}"/>
              </a:ext>
            </a:extLst>
          </p:cNvPr>
          <p:cNvSpPr/>
          <p:nvPr/>
        </p:nvSpPr>
        <p:spPr>
          <a:xfrm>
            <a:off x="7810500" y="4686300"/>
            <a:ext cx="228600" cy="203200"/>
          </a:xfrm>
          <a:prstGeom prst="rect">
            <a:avLst/>
          </a:prstGeom>
          <a:solidFill>
            <a:srgbClr val="00B05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FR" sz="20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FEE77B7-4FE7-F74E-875F-CD76CAE66EEB}"/>
              </a:ext>
            </a:extLst>
          </p:cNvPr>
          <p:cNvSpPr txBox="1"/>
          <p:nvPr/>
        </p:nvSpPr>
        <p:spPr>
          <a:xfrm>
            <a:off x="8115300" y="4635500"/>
            <a:ext cx="76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400" b="1">
                <a:solidFill>
                  <a:srgbClr val="00B050"/>
                </a:solidFill>
              </a:rPr>
              <a:t>50 g</a:t>
            </a:r>
            <a:endParaRPr lang="en-FR" sz="1400" b="1">
              <a:solidFill>
                <a:srgbClr val="00B05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B8BED11-63BD-0146-93D7-94DB7F11C6E9}"/>
              </a:ext>
            </a:extLst>
          </p:cNvPr>
          <p:cNvSpPr txBox="1"/>
          <p:nvPr/>
        </p:nvSpPr>
        <p:spPr>
          <a:xfrm>
            <a:off x="838200" y="5969000"/>
            <a:ext cx="105156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2000" b="1" i="1" dirty="0">
                <a:solidFill>
                  <a:srgbClr val="F39C12"/>
                </a:solidFill>
              </a:rPr>
              <a:t>⚠ Mais : parc </a:t>
            </a:r>
            <a:r>
              <a:rPr lang="en-GB" sz="2000" b="1" i="1" dirty="0" err="1">
                <a:solidFill>
                  <a:srgbClr val="F39C12"/>
                </a:solidFill>
              </a:rPr>
              <a:t>vieillissant</a:t>
            </a:r>
            <a:r>
              <a:rPr lang="en-GB" sz="2000" b="1" i="1" dirty="0">
                <a:solidFill>
                  <a:srgbClr val="F39C12"/>
                </a:solidFill>
              </a:rPr>
              <a:t>, EPR2 </a:t>
            </a:r>
            <a:r>
              <a:rPr lang="en-GB" sz="2000" b="1" i="1" dirty="0" err="1">
                <a:solidFill>
                  <a:srgbClr val="F39C12"/>
                </a:solidFill>
              </a:rPr>
              <a:t>retardés</a:t>
            </a:r>
            <a:r>
              <a:rPr lang="en-GB" sz="2000" b="1" i="1" dirty="0">
                <a:solidFill>
                  <a:srgbClr val="F39C12"/>
                </a:solidFill>
              </a:rPr>
              <a:t>, </a:t>
            </a:r>
            <a:r>
              <a:rPr lang="en-GB" sz="2000" b="1" i="1" dirty="0" err="1">
                <a:solidFill>
                  <a:srgbClr val="F39C12"/>
                </a:solidFill>
              </a:rPr>
              <a:t>ingénieurs</a:t>
            </a:r>
            <a:r>
              <a:rPr lang="en-GB" sz="2000" b="1" i="1" dirty="0">
                <a:solidFill>
                  <a:srgbClr val="F39C12"/>
                </a:solidFill>
              </a:rPr>
              <a:t> qui </a:t>
            </a:r>
            <a:r>
              <a:rPr lang="en-GB" sz="2000" b="1" i="1" dirty="0" err="1">
                <a:solidFill>
                  <a:srgbClr val="F39C12"/>
                </a:solidFill>
              </a:rPr>
              <a:t>partent</a:t>
            </a:r>
            <a:r>
              <a:rPr lang="en-GB" sz="2000" b="1" i="1" dirty="0">
                <a:solidFill>
                  <a:srgbClr val="F39C12"/>
                </a:solidFill>
              </a:rPr>
              <a:t>. EDF </a:t>
            </a:r>
            <a:r>
              <a:rPr lang="en-GB" sz="2000" b="1" i="1" dirty="0" err="1">
                <a:solidFill>
                  <a:srgbClr val="F39C12"/>
                </a:solidFill>
              </a:rPr>
              <a:t>endettée</a:t>
            </a:r>
            <a:r>
              <a:rPr lang="en-GB" sz="2000" b="1" i="1" dirty="0">
                <a:solidFill>
                  <a:srgbClr val="F39C12"/>
                </a:solidFill>
              </a:rPr>
              <a:t> de 65 Md€.</a:t>
            </a:r>
            <a:endParaRPr lang="en-FR" sz="2000" b="1" i="1" dirty="0">
              <a:solidFill>
                <a:srgbClr val="F39C1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582550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8435D-9CF1-2BF4-70F6-5506C3B0D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>
                <a:solidFill>
                  <a:srgbClr val="FFFFFF"/>
                </a:solidFill>
              </a:rPr>
              <a:t>Soft Power</a:t>
            </a:r>
            <a:endParaRPr lang="en-FR" b="1" dirty="0">
              <a:solidFill>
                <a:srgbClr val="FFFFFF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83CE6B2-3E77-3244-3656-C743C7C4D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868CB-5B44-3E4F-9E7D-17B01CBB6C29}" type="slidenum">
              <a:rPr lang="fr-FR" smtClean="0"/>
              <a:t>83</a:t>
            </a:fld>
            <a:endParaRPr lang="fr-F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159EBE-39C2-7640-B1B5-34C367018BDB}"/>
              </a:ext>
            </a:extLst>
          </p:cNvPr>
          <p:cNvSpPr txBox="1"/>
          <p:nvPr/>
        </p:nvSpPr>
        <p:spPr>
          <a:xfrm>
            <a:off x="1016000" y="2743893"/>
            <a:ext cx="4572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6600" b="1" dirty="0">
                <a:solidFill>
                  <a:srgbClr val="00B050"/>
                </a:solidFill>
              </a:rPr>
              <a:t>321 M</a:t>
            </a:r>
            <a:endParaRPr lang="en-FR" sz="6600" b="1" dirty="0">
              <a:solidFill>
                <a:srgbClr val="00B05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AA2256-0BA6-8640-A52F-3D9FA7298F64}"/>
              </a:ext>
            </a:extLst>
          </p:cNvPr>
          <p:cNvSpPr txBox="1"/>
          <p:nvPr/>
        </p:nvSpPr>
        <p:spPr>
          <a:xfrm>
            <a:off x="1016000" y="3696393"/>
            <a:ext cx="457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2000" b="1">
                <a:solidFill>
                  <a:srgbClr val="FFFFFF"/>
                </a:solidFill>
              </a:rPr>
              <a:t>francophones dans le monde</a:t>
            </a:r>
            <a:endParaRPr lang="en-FR" sz="2000" b="1">
              <a:solidFill>
                <a:srgbClr val="FFFFFF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778BB7-5A04-C345-A78A-53CD051D5B1F}"/>
              </a:ext>
            </a:extLst>
          </p:cNvPr>
          <p:cNvSpPr txBox="1"/>
          <p:nvPr/>
        </p:nvSpPr>
        <p:spPr>
          <a:xfrm>
            <a:off x="1016000" y="4115493"/>
            <a:ext cx="5080000" cy="3683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2000" i="1" dirty="0">
                <a:solidFill>
                  <a:srgbClr val="BDC3C7"/>
                </a:solidFill>
              </a:rPr>
              <a:t>5ᵉ langue </a:t>
            </a:r>
            <a:r>
              <a:rPr lang="en-GB" sz="2000" i="1" dirty="0" err="1">
                <a:solidFill>
                  <a:srgbClr val="BDC3C7"/>
                </a:solidFill>
              </a:rPr>
              <a:t>parlée</a:t>
            </a:r>
            <a:r>
              <a:rPr lang="en-GB" sz="2000" i="1" dirty="0">
                <a:solidFill>
                  <a:srgbClr val="BDC3C7"/>
                </a:solidFill>
              </a:rPr>
              <a:t> — </a:t>
            </a:r>
            <a:r>
              <a:rPr lang="en-GB" sz="2000" i="1" dirty="0" err="1">
                <a:solidFill>
                  <a:srgbClr val="BDC3C7"/>
                </a:solidFill>
              </a:rPr>
              <a:t>devrait</a:t>
            </a:r>
            <a:r>
              <a:rPr lang="en-GB" sz="2000" i="1" dirty="0">
                <a:solidFill>
                  <a:srgbClr val="BDC3C7"/>
                </a:solidFill>
              </a:rPr>
              <a:t> </a:t>
            </a:r>
            <a:r>
              <a:rPr lang="en-GB" sz="2000" i="1" dirty="0" err="1">
                <a:solidFill>
                  <a:srgbClr val="BDC3C7"/>
                </a:solidFill>
              </a:rPr>
              <a:t>dépasser</a:t>
            </a:r>
            <a:r>
              <a:rPr lang="en-GB" sz="2000" i="1" dirty="0">
                <a:solidFill>
                  <a:srgbClr val="BDC3C7"/>
                </a:solidFill>
              </a:rPr>
              <a:t> 700 M </a:t>
            </a:r>
            <a:r>
              <a:rPr lang="en-GB" sz="2000" i="1" dirty="0" err="1">
                <a:solidFill>
                  <a:srgbClr val="BDC3C7"/>
                </a:solidFill>
              </a:rPr>
              <a:t>en</a:t>
            </a:r>
            <a:r>
              <a:rPr lang="en-GB" sz="2000" i="1" dirty="0">
                <a:solidFill>
                  <a:srgbClr val="BDC3C7"/>
                </a:solidFill>
              </a:rPr>
              <a:t> 2050</a:t>
            </a:r>
            <a:endParaRPr lang="en-FR" sz="2000" i="1" dirty="0">
              <a:solidFill>
                <a:srgbClr val="BDC3C7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14A484-C11D-304A-9FFD-93FD9F57400A}"/>
              </a:ext>
            </a:extLst>
          </p:cNvPr>
          <p:cNvSpPr txBox="1"/>
          <p:nvPr/>
        </p:nvSpPr>
        <p:spPr>
          <a:xfrm>
            <a:off x="6477000" y="2743893"/>
            <a:ext cx="4572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6600" b="1">
                <a:solidFill>
                  <a:srgbClr val="00B050"/>
                </a:solidFill>
              </a:rPr>
              <a:t>n°1</a:t>
            </a:r>
            <a:endParaRPr lang="en-FR" sz="6600" b="1">
              <a:solidFill>
                <a:srgbClr val="00B05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712C67-EF18-0344-BB0E-A982F125A4DE}"/>
              </a:ext>
            </a:extLst>
          </p:cNvPr>
          <p:cNvSpPr txBox="1"/>
          <p:nvPr/>
        </p:nvSpPr>
        <p:spPr>
          <a:xfrm>
            <a:off x="6477000" y="3696393"/>
            <a:ext cx="457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2000" b="1">
                <a:solidFill>
                  <a:srgbClr val="FFFFFF"/>
                </a:solidFill>
              </a:rPr>
              <a:t>force nucléaire UE</a:t>
            </a:r>
            <a:endParaRPr lang="en-FR" sz="2000" b="1">
              <a:solidFill>
                <a:srgbClr val="FFFFFF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5C2DA1-2E82-E745-AF7F-A048E834869E}"/>
              </a:ext>
            </a:extLst>
          </p:cNvPr>
          <p:cNvSpPr txBox="1"/>
          <p:nvPr/>
        </p:nvSpPr>
        <p:spPr>
          <a:xfrm>
            <a:off x="6476999" y="4115492"/>
            <a:ext cx="5079999" cy="394157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2000" i="1" dirty="0" err="1">
                <a:solidFill>
                  <a:srgbClr val="BDC3C7"/>
                </a:solidFill>
              </a:rPr>
              <a:t>Siège</a:t>
            </a:r>
            <a:r>
              <a:rPr lang="en-GB" sz="2000" i="1" dirty="0">
                <a:solidFill>
                  <a:srgbClr val="BDC3C7"/>
                </a:solidFill>
              </a:rPr>
              <a:t> permanent ONU, dissuasion </a:t>
            </a:r>
            <a:r>
              <a:rPr lang="en-GB" sz="2000" i="1" dirty="0" err="1">
                <a:solidFill>
                  <a:srgbClr val="BDC3C7"/>
                </a:solidFill>
              </a:rPr>
              <a:t>autonome</a:t>
            </a:r>
            <a:endParaRPr lang="en-FR" sz="2000" i="1" dirty="0">
              <a:solidFill>
                <a:srgbClr val="BDC3C7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1000792-092D-A446-8A14-99C9BD2D8400}"/>
              </a:ext>
            </a:extLst>
          </p:cNvPr>
          <p:cNvSpPr txBox="1"/>
          <p:nvPr/>
        </p:nvSpPr>
        <p:spPr>
          <a:xfrm>
            <a:off x="838200" y="6388100"/>
            <a:ext cx="762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100" i="1">
                <a:solidFill>
                  <a:srgbClr val="95A5A6"/>
                </a:solidFill>
              </a:rPr>
              <a:t>Sources : OIF, INSEE, Baromètre EY de l'attractivité 2025</a:t>
            </a:r>
            <a:endParaRPr lang="en-FR" sz="1100" i="1">
              <a:solidFill>
                <a:srgbClr val="95A5A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738546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854AE-EFFE-134C-50D6-C1482B89E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R" dirty="0"/>
              <a:t>Quelle France dans 20 ans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DC21B4-E8B2-6906-F91A-AE5DD3A592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FR" dirty="0"/>
              <a:t>40% de dépenses publiques </a:t>
            </a:r>
          </a:p>
          <a:p>
            <a:r>
              <a:rPr lang="en-FR" dirty="0"/>
              <a:t>Moins de dépenses sociales</a:t>
            </a:r>
          </a:p>
          <a:p>
            <a:r>
              <a:rPr lang="en-FR" dirty="0"/>
              <a:t>S</a:t>
            </a:r>
            <a:r>
              <a:rPr lang="en-GB" dirty="0"/>
              <a:t>o</a:t>
            </a:r>
            <a:r>
              <a:rPr lang="en-FR" dirty="0"/>
              <a:t>uveraineté militaire et technologique </a:t>
            </a:r>
          </a:p>
          <a:p>
            <a:r>
              <a:rPr lang="en-FR" dirty="0"/>
              <a:t>Des fonds de pension développés </a:t>
            </a:r>
          </a:p>
        </p:txBody>
      </p:sp>
    </p:spTree>
    <p:extLst>
      <p:ext uri="{BB962C8B-B14F-4D97-AF65-F5344CB8AC3E}">
        <p14:creationId xmlns:p14="http://schemas.microsoft.com/office/powerpoint/2010/main" val="257141858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IAP - Transition - Retraites" id="{E6741FAF-80AB-DF48-BAB2-D82465E8DC52}" vid="{56E58C82-7E9B-8844-AD46-9D3F4CE8B045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0715769-D40D-0549-B3CF-63EF404C942F}">
  <we:reference id="wa200010001" version="1.0.0.1" store="en-GB" storeType="OMEX"/>
  <we:alternateReferences>
    <we:reference id="WA200010001" version="1.0.0.1" store="" storeType="OMEX"/>
  </we:alternateReferences>
  <we:properties>
    <we:property name="claude.fileId" value="&quot;cf315df4-820a-4647-ab40-9ed5e56347b5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9402</TotalTime>
  <Words>4399</Words>
  <Application>Microsoft Macintosh PowerPoint</Application>
  <PresentationFormat>Widescreen</PresentationFormat>
  <Paragraphs>746</Paragraphs>
  <Slides>84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84</vt:i4>
      </vt:variant>
    </vt:vector>
  </HeadingPairs>
  <TitlesOfParts>
    <vt:vector size="89" baseType="lpstr">
      <vt:lpstr>Aptos</vt:lpstr>
      <vt:lpstr>Arial</vt:lpstr>
      <vt:lpstr>Police système Courant</vt:lpstr>
      <vt:lpstr>Questrial</vt:lpstr>
      <vt:lpstr>Thème Office</vt:lpstr>
      <vt:lpstr>IFP 2 mai 2026 Emmanuel Blézès</vt:lpstr>
      <vt:lpstr>PIB par habitant : la France 11ᵉ de l'UE, 4ᵉ année consécutive sous la moyenne</vt:lpstr>
      <vt:lpstr>PowerPoint Presentation</vt:lpstr>
      <vt:lpstr>La désindustrialisation : l'industrie n'est plus que 10 % du PIB</vt:lpstr>
      <vt:lpstr>La France est un guichet social</vt:lpstr>
      <vt:lpstr>Panorama de la dépense publique </vt:lpstr>
      <vt:lpstr>La France a le taux de dépenses publiques le plus élevé d’Europe</vt:lpstr>
      <vt:lpstr>Volume de dépenses publiques FR</vt:lpstr>
      <vt:lpstr>La France n’a pas eu de budget à l’équilibre depuis 1974</vt:lpstr>
      <vt:lpstr>170 Md€ : la France a le déficit public le plus élevé de la zone euro</vt:lpstr>
      <vt:lpstr>PowerPoint Presentation</vt:lpstr>
      <vt:lpstr>Les intérêts de la dette augmentent</vt:lpstr>
      <vt:lpstr>La dépense sociale représente près de 60% de la dépense publique totale en France</vt:lpstr>
      <vt:lpstr>Les Etats-Unis et la Chine sont les pays qui investissent le plus pour leur défense</vt:lpstr>
      <vt:lpstr>Les dépenses sociales de la France sont particulièrement élevées</vt:lpstr>
      <vt:lpstr>La France représente 0,8% de la population mais 5% des dépenses sociales mondiales</vt:lpstr>
      <vt:lpstr>Dépense sociale</vt:lpstr>
      <vt:lpstr>Explosion de la dépense sociale</vt:lpstr>
      <vt:lpstr>La dépense sociale est une dépense de prestations</vt:lpstr>
      <vt:lpstr>Le système social français est très redistributif</vt:lpstr>
      <vt:lpstr>Les Français ont-ils compris ?</vt:lpstr>
      <vt:lpstr>Un système très redistributif</vt:lpstr>
      <vt:lpstr>L’enfer fiscal</vt:lpstr>
      <vt:lpstr>Prélèvements obligatoires les plus élevés d’Europe</vt:lpstr>
      <vt:lpstr>PowerPoint Presentation</vt:lpstr>
      <vt:lpstr>Pour 100 € versés par l'employeur, 52,80 € arrivent au salarié</vt:lpstr>
      <vt:lpstr>Conséquence : un salaire net faible</vt:lpstr>
      <vt:lpstr>Resultat : des salaires faibles</vt:lpstr>
      <vt:lpstr>PowerPoint Presentation</vt:lpstr>
      <vt:lpstr>Retraites</vt:lpstr>
      <vt:lpstr>PowerPoint Presentation</vt:lpstr>
      <vt:lpstr>Le vieillissement est un phénomène des sociétés développées </vt:lpstr>
      <vt:lpstr>Les cotisations ne suffisent pas à financer le système de retraites </vt:lpstr>
      <vt:lpstr>Une injustice générationnelle</vt:lpstr>
      <vt:lpstr>Le rendement implicite du régime par répartition est extrêmement bas 0,3% </vt:lpstr>
      <vt:lpstr>Ce que j’obtiens si je cotise 500 euros par mois pendant 43 ans, avec le rendement du régime par répartition</vt:lpstr>
      <vt:lpstr>La génération du baby-boom a cotisé deux fois moins que son niveau de pension</vt:lpstr>
      <vt:lpstr>Retraite par capitalisation</vt:lpstr>
      <vt:lpstr>Répartition             vs.          Capitalisation</vt:lpstr>
      <vt:lpstr>La magie des intérêts composés</vt:lpstr>
      <vt:lpstr>PowerPoint Presentation</vt:lpstr>
      <vt:lpstr>La retraite par capitalisation permet d’accumuler du capital plus rapidement</vt:lpstr>
      <vt:lpstr>La retraite par capitalisation permet de payer moins de cotisations</vt:lpstr>
      <vt:lpstr>Les rendements des fonds de pension sont élevés</vt:lpstr>
      <vt:lpstr>Avec la capitalisation : cotiser moins pour gagner plus</vt:lpstr>
      <vt:lpstr>A terme, l’âge de départ à la retraite n’est plus un sujet</vt:lpstr>
      <vt:lpstr>Retraite par capitalisation</vt:lpstr>
      <vt:lpstr>La part des dépenses privées de retraite est très faible en France, en comparaison internationale</vt:lpstr>
      <vt:lpstr>Les pays ayant mis en place la retraite par capitalisation ont massivement libéré les volumes de capitaux disponibles</vt:lpstr>
      <vt:lpstr>La capitalisation obligatoire existe déjà pour les fonctionnaires : RAFP</vt:lpstr>
      <vt:lpstr>La Suède a mis en place la retraite par capitalisation il y a 25 ans</vt:lpstr>
      <vt:lpstr>Le système de retraites suédois </vt:lpstr>
      <vt:lpstr>Ratio d’équilibre</vt:lpstr>
      <vt:lpstr>Pilier 2 : capitalisation</vt:lpstr>
      <vt:lpstr>Des rendements élevés</vt:lpstr>
      <vt:lpstr>Exemples de pays ayant mis en place une dose de capitalisation obligatoire</vt:lpstr>
      <vt:lpstr>Retraite par capitalisation</vt:lpstr>
      <vt:lpstr>En Suède, les dépenses publiques de retraite ne représentent que 9,3% du PIB, contre 13,9% en France, soit un écart de 4,6 points, en 2019.  Cela correspond à un écart équivalent à 125 Md€ de dépenses publiques.   Si on s'aligne sur le niveau du Royaume-Uni (8,2 points d’écart), cela représente près de 225 Md€ de différence.</vt:lpstr>
      <vt:lpstr>Les fonds de pension suédois participent activement au financement de l’économie</vt:lpstr>
      <vt:lpstr>L’essentiel des actifs de retraite se situent logiquement en Amérique du Nord</vt:lpstr>
      <vt:lpstr>Les rendements des fonds de réserve sont élevés</vt:lpstr>
      <vt:lpstr>Les fonds de pension ont une allocation diversifiée, qui permet de maîtriser le risque</vt:lpstr>
      <vt:lpstr>La gestion du risque</vt:lpstr>
      <vt:lpstr>Les marchés financiers sont haussiers à long terme</vt:lpstr>
      <vt:lpstr>Logement</vt:lpstr>
      <vt:lpstr>Une chute de la construction neuve et des transactions</vt:lpstr>
      <vt:lpstr>Un effondrement des offres de location longue durée qui conduit à une explosion de la demande de logement social</vt:lpstr>
      <vt:lpstr>Le poids des dépenses de logement augmente dans le budget des Français</vt:lpstr>
      <vt:lpstr>Les prix de l’immobilier augmentent plus fortement que l’inflation et les revenus</vt:lpstr>
      <vt:lpstr>L’achat immobilier est de moins en moins accessible aux Français </vt:lpstr>
      <vt:lpstr>La France est un des pays d’Europe qui dépense le plus pour le logement social</vt:lpstr>
      <vt:lpstr>Les aides au logement font augmenter les loyers</vt:lpstr>
      <vt:lpstr>Qui occupe les HLM ?</vt:lpstr>
      <vt:lpstr>Le Livret A finance le logement social</vt:lpstr>
      <vt:lpstr>Sortir du piège de la politique sociale du logement</vt:lpstr>
      <vt:lpstr>Comment les autres pays ont fait ?</vt:lpstr>
      <vt:lpstr>Canada : années 90</vt:lpstr>
      <vt:lpstr>Canada : le Program Review</vt:lpstr>
      <vt:lpstr>Argentine : J. Milei</vt:lpstr>
      <vt:lpstr>Les atouts français</vt:lpstr>
      <vt:lpstr>Tout n’est pas sombre</vt:lpstr>
      <vt:lpstr>Le nucléaire : un atout stratégique unique en Europe</vt:lpstr>
      <vt:lpstr>Soft Power</vt:lpstr>
      <vt:lpstr>Quelle France dans 20 ans 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emmanuel blezes</dc:creator>
  <cp:lastModifiedBy>emmanuel blezes</cp:lastModifiedBy>
  <cp:revision>77</cp:revision>
  <dcterms:created xsi:type="dcterms:W3CDTF">2025-05-21T07:41:24Z</dcterms:created>
  <dcterms:modified xsi:type="dcterms:W3CDTF">2026-05-02T07:53:12Z</dcterms:modified>
</cp:coreProperties>
</file>