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4" d="100"/>
          <a:sy n="124" d="100"/>
        </p:scale>
        <p:origin x="108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2130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4023360" y="73152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00D4FF"/>
          </a:solidFill>
          <a:ln/>
          <a:effectLst>
            <a:outerShdw blurRad="127000" dist="50800" dir="16200000" algn="bl" rotWithShape="0">
              <a:srgbClr val="00D4FF">
                <a:alpha val="5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4023360" y="731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4846320" y="822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La Dépense Sociale</a:t>
            </a:r>
            <a:endParaRPr lang="en-US" sz="4800" dirty="0"/>
          </a:p>
        </p:txBody>
      </p:sp>
      <p:sp>
        <p:nvSpPr>
          <p:cNvPr id="22" name="Text 19"/>
          <p:cNvSpPr/>
          <p:nvPr/>
        </p:nvSpPr>
        <p:spPr>
          <a:xfrm>
            <a:off x="457200" y="2423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i="1" dirty="0" err="1">
                <a:solidFill>
                  <a:srgbClr val="00D4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</a:t>
            </a:r>
            <a:r>
              <a:rPr lang="en-US" sz="3600" i="1" dirty="0">
                <a:solidFill>
                  <a:srgbClr val="00D4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France</a:t>
            </a:r>
            <a:endParaRPr lang="en-US" sz="3600" dirty="0"/>
          </a:p>
        </p:txBody>
      </p:sp>
      <p:sp>
        <p:nvSpPr>
          <p:cNvPr id="23" name="Text 20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932 milliards d'euros | 31,9% du PIB | 1er rang européen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828800" y="374904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5" name="Text 22"/>
          <p:cNvSpPr/>
          <p:nvPr/>
        </p:nvSpPr>
        <p:spPr>
          <a:xfrm>
            <a:off x="1828800" y="3749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Protection sociale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291840" y="374904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7" name="Text 24"/>
          <p:cNvSpPr/>
          <p:nvPr/>
        </p:nvSpPr>
        <p:spPr>
          <a:xfrm>
            <a:off x="3291840" y="3749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Retraites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754880" y="374904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9" name="Text 26"/>
          <p:cNvSpPr/>
          <p:nvPr/>
        </p:nvSpPr>
        <p:spPr>
          <a:xfrm>
            <a:off x="4754880" y="3749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Santé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6217920" y="374904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1" name="Text 28"/>
          <p:cNvSpPr/>
          <p:nvPr/>
        </p:nvSpPr>
        <p:spPr>
          <a:xfrm>
            <a:off x="6217920" y="3749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Solidarité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36576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Conférence 2025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SOMMAIRE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Plan de la présentation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457200" y="1463040"/>
            <a:ext cx="2011680" cy="2926080"/>
          </a:xfrm>
          <a:prstGeom prst="roundRect">
            <a:avLst>
              <a:gd name="adj" fmla="val 6818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  <a:effectLst>
            <a:outerShdw blurRad="1016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25" name="Shape 22"/>
          <p:cNvSpPr/>
          <p:nvPr/>
        </p:nvSpPr>
        <p:spPr>
          <a:xfrm>
            <a:off x="594360" y="1645920"/>
            <a:ext cx="457200" cy="457200"/>
          </a:xfrm>
          <a:prstGeom prst="ellipse">
            <a:avLst/>
          </a:prstGeom>
          <a:solidFill>
            <a:srgbClr val="00D4FF"/>
          </a:solidFill>
          <a:ln/>
          <a:effectLst>
            <a:outerShdw blurRad="76200" dist="50800" dir="16200000" algn="bl" rotWithShape="0">
              <a:srgbClr val="00D4FF">
                <a:alpha val="4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26" name="Text 23"/>
          <p:cNvSpPr/>
          <p:nvPr/>
        </p:nvSpPr>
        <p:spPr>
          <a:xfrm>
            <a:off x="59436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594360" y="22402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État des lieux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594360" y="265176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Chiffres clés et répartition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2606040" y="1463040"/>
            <a:ext cx="2011680" cy="2926080"/>
          </a:xfrm>
          <a:prstGeom prst="roundRect">
            <a:avLst>
              <a:gd name="adj" fmla="val 6818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  <a:effectLst>
            <a:outerShdw blurRad="1016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30" name="Shape 27"/>
          <p:cNvSpPr/>
          <p:nvPr/>
        </p:nvSpPr>
        <p:spPr>
          <a:xfrm>
            <a:off x="2743200" y="1645920"/>
            <a:ext cx="457200" cy="457200"/>
          </a:xfrm>
          <a:prstGeom prst="ellipse">
            <a:avLst/>
          </a:prstGeom>
          <a:solidFill>
            <a:srgbClr val="00D4FF"/>
          </a:solidFill>
          <a:ln/>
          <a:effectLst>
            <a:outerShdw blurRad="76200" dist="50800" dir="16200000" algn="bl" rotWithShape="0">
              <a:srgbClr val="00D4FF">
                <a:alpha val="4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31" name="Text 28"/>
          <p:cNvSpPr/>
          <p:nvPr/>
        </p:nvSpPr>
        <p:spPr>
          <a:xfrm>
            <a:off x="274320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2743200" y="22402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Comparaisons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2743200" y="265176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Europe et évolution historique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754880" y="1463040"/>
            <a:ext cx="2011680" cy="2926080"/>
          </a:xfrm>
          <a:prstGeom prst="roundRect">
            <a:avLst>
              <a:gd name="adj" fmla="val 6818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  <a:effectLst>
            <a:outerShdw blurRad="1016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35" name="Shape 32"/>
          <p:cNvSpPr/>
          <p:nvPr/>
        </p:nvSpPr>
        <p:spPr>
          <a:xfrm>
            <a:off x="4892040" y="1645920"/>
            <a:ext cx="457200" cy="457200"/>
          </a:xfrm>
          <a:prstGeom prst="ellipse">
            <a:avLst/>
          </a:prstGeom>
          <a:solidFill>
            <a:srgbClr val="00D4FF"/>
          </a:solidFill>
          <a:ln/>
          <a:effectLst>
            <a:outerShdw blurRad="76200" dist="50800" dir="16200000" algn="bl" rotWithShape="0">
              <a:srgbClr val="00D4FF">
                <a:alpha val="4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36" name="Text 33"/>
          <p:cNvSpPr/>
          <p:nvPr/>
        </p:nvSpPr>
        <p:spPr>
          <a:xfrm>
            <a:off x="489204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4892040" y="22402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Financement</a:t>
            </a:r>
            <a:endParaRPr lang="en-US" sz="1500" dirty="0"/>
          </a:p>
        </p:txBody>
      </p:sp>
      <p:sp>
        <p:nvSpPr>
          <p:cNvPr id="38" name="Text 35"/>
          <p:cNvSpPr/>
          <p:nvPr/>
        </p:nvSpPr>
        <p:spPr>
          <a:xfrm>
            <a:off x="4892040" y="265176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Ressources et déficits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903720" y="1463040"/>
            <a:ext cx="2011680" cy="2926080"/>
          </a:xfrm>
          <a:prstGeom prst="roundRect">
            <a:avLst>
              <a:gd name="adj" fmla="val 6818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  <a:effectLst>
            <a:outerShdw blurRad="1016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40" name="Shape 37"/>
          <p:cNvSpPr/>
          <p:nvPr/>
        </p:nvSpPr>
        <p:spPr>
          <a:xfrm>
            <a:off x="7040880" y="1645920"/>
            <a:ext cx="457200" cy="457200"/>
          </a:xfrm>
          <a:prstGeom prst="ellipse">
            <a:avLst/>
          </a:prstGeom>
          <a:solidFill>
            <a:srgbClr val="00D4FF"/>
          </a:solidFill>
          <a:ln/>
          <a:effectLst>
            <a:outerShdw blurRad="76200" dist="50800" dir="16200000" algn="bl" rotWithShape="0">
              <a:srgbClr val="00D4FF">
                <a:alpha val="4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41" name="Text 38"/>
          <p:cNvSpPr/>
          <p:nvPr/>
        </p:nvSpPr>
        <p:spPr>
          <a:xfrm>
            <a:off x="704088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7040880" y="22402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Débats &amp; Enjeux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7040880" y="265176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Fraude, non-recours, réformes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45" name="Text 42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 France, </a:t>
            </a:r>
            <a:r>
              <a:rPr lang="en-US" sz="2800" i="1" dirty="0">
                <a:solidFill>
                  <a:srgbClr val="00D4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championne d'Europe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365760" y="1417320"/>
            <a:ext cx="8412480" cy="3063240"/>
          </a:xfrm>
          <a:prstGeom prst="roundRect">
            <a:avLst>
              <a:gd name="adj" fmla="val 4478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  <a:effectLst>
            <a:outerShdw blurRad="127000" dist="508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25" name="Text 22"/>
          <p:cNvSpPr/>
          <p:nvPr/>
        </p:nvSpPr>
        <p:spPr>
          <a:xfrm>
            <a:off x="548640" y="16002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🏆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1097280" y="1600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1er pays européen en dépenses sociales (% PIB) depuis 2016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548640" y="2286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💶</a:t>
            </a:r>
            <a:endParaRPr lang="en-US" sz="2400" dirty="0"/>
          </a:p>
        </p:txBody>
      </p:sp>
      <p:sp>
        <p:nvSpPr>
          <p:cNvPr id="28" name="Text 25"/>
          <p:cNvSpPr/>
          <p:nvPr/>
        </p:nvSpPr>
        <p:spPr>
          <a:xfrm>
            <a:off x="1097280" y="22860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932,5 milliards d'euros de prestations en 2024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548640" y="29718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1097280" y="29718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31,9% du PIB contre 27,3% en moyenne UE (+4,6 pts)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548640" y="3657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👥</a:t>
            </a:r>
            <a:endParaRPr lang="en-US" sz="2400" dirty="0"/>
          </a:p>
        </p:txBody>
      </p:sp>
      <p:sp>
        <p:nvSpPr>
          <p:cNvPr id="32" name="Text 29"/>
          <p:cNvSpPr/>
          <p:nvPr/>
        </p:nvSpPr>
        <p:spPr>
          <a:xfrm>
            <a:off x="1097280" y="36576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13 650€ de dépenses par habitant par an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4" name="Text 31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DREES, 2025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CHIFFRE CLÉ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kern="0" spc="3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PRESTATIONS SOCIALES EN 2024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57200" y="1371600"/>
            <a:ext cx="8229600" cy="1645920"/>
          </a:xfrm>
          <a:prstGeom prst="rect">
            <a:avLst/>
          </a:prstGeom>
          <a:noFill/>
          <a:ln/>
          <a:effectLst>
            <a:outerShdw blurRad="190500" dist="50800" dir="16200000" algn="bl" rotWithShape="0">
              <a:srgbClr val="00D4FF">
                <a:alpha val="50000"/>
              </a:srgbClr>
            </a:out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932</a:t>
            </a:r>
            <a:endParaRPr lang="en-US" sz="15000" dirty="0"/>
          </a:p>
        </p:txBody>
      </p:sp>
      <p:sp>
        <p:nvSpPr>
          <p:cNvPr id="25" name="Text 22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i="1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milliards d'euros</a:t>
            </a:r>
            <a:endParaRPr lang="en-US" sz="3200" dirty="0"/>
          </a:p>
        </p:txBody>
      </p:sp>
      <p:sp>
        <p:nvSpPr>
          <p:cNvPr id="26" name="Text 23"/>
          <p:cNvSpPr/>
          <p:nvPr/>
        </p:nvSpPr>
        <p:spPr>
          <a:xfrm>
            <a:off x="914400" y="35661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Soit </a:t>
            </a:r>
            <a:r>
              <a:rPr lang="en-US" sz="1400" b="1" dirty="0">
                <a:solidFill>
                  <a:srgbClr val="FFD700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31,9% du PIB</a:t>
            </a:r>
            <a:r>
              <a:rPr lang="en-US" sz="14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 — En hausse de </a:t>
            </a:r>
            <a:r>
              <a:rPr lang="en-US" sz="1400" b="1" dirty="0">
                <a:solidFill>
                  <a:srgbClr val="00FF8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+4,8%</a:t>
            </a:r>
            <a:r>
              <a:rPr lang="en-US" sz="14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 vs 2023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8" name="Text 25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DREES - Comptes de la protection sociale 2024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RÉPARTITION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Où va l'argent ?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274320" y="13716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Vieillesse-Survie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468880" y="1444752"/>
            <a:ext cx="530352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26" name="Shape 23"/>
          <p:cNvSpPr/>
          <p:nvPr/>
        </p:nvSpPr>
        <p:spPr>
          <a:xfrm>
            <a:off x="2468880" y="1444752"/>
            <a:ext cx="4773168" cy="347472"/>
          </a:xfrm>
          <a:prstGeom prst="roundRect">
            <a:avLst>
              <a:gd name="adj" fmla="val 15789"/>
            </a:avLst>
          </a:prstGeom>
          <a:solidFill>
            <a:srgbClr val="00D4FF"/>
          </a:solidFill>
          <a:ln/>
          <a:effectLst>
            <a:outerShdw blurRad="63500" dist="50800" dir="16200000" algn="bl" rotWithShape="0">
              <a:srgbClr val="00D4FF">
                <a:alpha val="4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27" name="Text 24"/>
          <p:cNvSpPr/>
          <p:nvPr/>
        </p:nvSpPr>
        <p:spPr>
          <a:xfrm>
            <a:off x="2468880" y="1444752"/>
            <a:ext cx="4681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400,7 Md€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7863840" y="13716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45%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274320" y="1901952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Santé-Maladie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468880" y="1975104"/>
            <a:ext cx="530352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31" name="Shape 28"/>
          <p:cNvSpPr/>
          <p:nvPr/>
        </p:nvSpPr>
        <p:spPr>
          <a:xfrm>
            <a:off x="2468880" y="1975104"/>
            <a:ext cx="3871570" cy="347472"/>
          </a:xfrm>
          <a:prstGeom prst="roundRect">
            <a:avLst>
              <a:gd name="adj" fmla="val 15789"/>
            </a:avLst>
          </a:prstGeom>
          <a:solidFill>
            <a:srgbClr val="FFD700"/>
          </a:solidFill>
          <a:ln/>
          <a:effectLst>
            <a:outerShdw blurRad="63500" dist="50800" dir="16200000" algn="bl" rotWithShape="0">
              <a:srgbClr val="FFD700">
                <a:alpha val="4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32" name="Text 29"/>
          <p:cNvSpPr/>
          <p:nvPr/>
        </p:nvSpPr>
        <p:spPr>
          <a:xfrm>
            <a:off x="2468880" y="1975104"/>
            <a:ext cx="378013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325,7 Md€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863840" y="19019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D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37%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274320" y="2432304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Famille-Enfants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468880" y="2505456"/>
            <a:ext cx="530352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36" name="Shape 33"/>
          <p:cNvSpPr/>
          <p:nvPr/>
        </p:nvSpPr>
        <p:spPr>
          <a:xfrm>
            <a:off x="2468880" y="2505456"/>
            <a:ext cx="742493" cy="347472"/>
          </a:xfrm>
          <a:prstGeom prst="roundRect">
            <a:avLst>
              <a:gd name="adj" fmla="val 15789"/>
            </a:avLst>
          </a:prstGeom>
          <a:solidFill>
            <a:srgbClr val="A855F7"/>
          </a:solidFill>
          <a:ln/>
          <a:effectLst>
            <a:outerShdw blurRad="63500" dist="50800" dir="16200000" algn="bl" rotWithShape="0">
              <a:srgbClr val="A855F7">
                <a:alpha val="4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37" name="Text 34"/>
          <p:cNvSpPr/>
          <p:nvPr/>
        </p:nvSpPr>
        <p:spPr>
          <a:xfrm>
            <a:off x="2468880" y="2505456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62,9 Md€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7863840" y="24323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85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7%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274320" y="2962656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Emploi-Chômage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2468880" y="3035808"/>
            <a:ext cx="530352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41" name="Shape 38"/>
          <p:cNvSpPr/>
          <p:nvPr/>
        </p:nvSpPr>
        <p:spPr>
          <a:xfrm>
            <a:off x="2468880" y="3035808"/>
            <a:ext cx="636422" cy="347472"/>
          </a:xfrm>
          <a:prstGeom prst="roundRect">
            <a:avLst>
              <a:gd name="adj" fmla="val 15789"/>
            </a:avLst>
          </a:prstGeom>
          <a:solidFill>
            <a:srgbClr val="00FF88"/>
          </a:solidFill>
          <a:ln/>
          <a:effectLst>
            <a:outerShdw blurRad="63500" dist="50800" dir="16200000" algn="bl" rotWithShape="0">
              <a:srgbClr val="00FF88">
                <a:alpha val="4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42" name="Text 39"/>
          <p:cNvSpPr/>
          <p:nvPr/>
        </p:nvSpPr>
        <p:spPr>
          <a:xfrm>
            <a:off x="2468880" y="303580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49,3 Md€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7863840" y="2962656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FF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6%</a:t>
            </a:r>
            <a:endParaRPr lang="en-US" sz="1200" dirty="0"/>
          </a:p>
        </p:txBody>
      </p:sp>
      <p:sp>
        <p:nvSpPr>
          <p:cNvPr id="44" name="Text 41"/>
          <p:cNvSpPr/>
          <p:nvPr/>
        </p:nvSpPr>
        <p:spPr>
          <a:xfrm>
            <a:off x="274320" y="3493008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Pauvreté-Exclusion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2468880" y="3566160"/>
            <a:ext cx="530352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46" name="Shape 43"/>
          <p:cNvSpPr/>
          <p:nvPr/>
        </p:nvSpPr>
        <p:spPr>
          <a:xfrm>
            <a:off x="2468880" y="3566160"/>
            <a:ext cx="424282" cy="347472"/>
          </a:xfrm>
          <a:prstGeom prst="roundRect">
            <a:avLst>
              <a:gd name="adj" fmla="val 15789"/>
            </a:avLst>
          </a:prstGeom>
          <a:solidFill>
            <a:srgbClr val="FF9F43"/>
          </a:solidFill>
          <a:ln/>
          <a:effectLst>
            <a:outerShdw blurRad="63500" dist="50800" dir="16200000" algn="bl" rotWithShape="0">
              <a:srgbClr val="FF9F43">
                <a:alpha val="4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47" name="Text 44"/>
          <p:cNvSpPr/>
          <p:nvPr/>
        </p:nvSpPr>
        <p:spPr>
          <a:xfrm>
            <a:off x="2468880" y="356616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35,2 Md€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7863840" y="349300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9F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4%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274320" y="40233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Logement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2468880" y="4096512"/>
            <a:ext cx="530352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51" name="Shape 48"/>
          <p:cNvSpPr/>
          <p:nvPr/>
        </p:nvSpPr>
        <p:spPr>
          <a:xfrm>
            <a:off x="2468880" y="4096512"/>
            <a:ext cx="212141" cy="347472"/>
          </a:xfrm>
          <a:prstGeom prst="roundRect">
            <a:avLst>
              <a:gd name="adj" fmla="val 25862"/>
            </a:avLst>
          </a:prstGeom>
          <a:solidFill>
            <a:srgbClr val="FF4757"/>
          </a:solidFill>
          <a:ln/>
          <a:effectLst>
            <a:outerShdw blurRad="63500" dist="50800" dir="16200000" algn="bl" rotWithShape="0">
              <a:srgbClr val="FF4757">
                <a:alpha val="4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52" name="Text 49"/>
          <p:cNvSpPr/>
          <p:nvPr/>
        </p:nvSpPr>
        <p:spPr>
          <a:xfrm>
            <a:off x="2468880" y="409651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15,8 Md€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7863840" y="40233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2%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INSEE, DREES - 2023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RETRAITES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Les retraites : </a:t>
            </a:r>
            <a:r>
              <a:rPr lang="en-US" sz="2600" b="1" dirty="0">
                <a:solidFill>
                  <a:srgbClr val="00D4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45%</a:t>
            </a: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des dépenses</a:t>
            </a:r>
            <a:endParaRPr lang="en-US" sz="2600" dirty="0"/>
          </a:p>
        </p:txBody>
      </p:sp>
      <p:sp>
        <p:nvSpPr>
          <p:cNvPr id="24" name="Shape 21"/>
          <p:cNvSpPr/>
          <p:nvPr/>
        </p:nvSpPr>
        <p:spPr>
          <a:xfrm>
            <a:off x="365760" y="1417320"/>
            <a:ext cx="4023360" cy="3063240"/>
          </a:xfrm>
          <a:prstGeom prst="roundRect">
            <a:avLst>
              <a:gd name="adj" fmla="val 4478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5" name="Text 22"/>
          <p:cNvSpPr/>
          <p:nvPr/>
        </p:nvSpPr>
        <p:spPr>
          <a:xfrm>
            <a:off x="365760" y="1554480"/>
            <a:ext cx="4023360" cy="731520"/>
          </a:xfrm>
          <a:prstGeom prst="rect">
            <a:avLst/>
          </a:prstGeom>
          <a:noFill/>
          <a:ln/>
          <a:effectLst>
            <a:outerShdw blurRad="101600" dist="50800" dir="16200000" algn="bl" rotWithShape="0">
              <a:srgbClr val="00D4FF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400,7 Md€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365760" y="22860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soit 14,2% du PIB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• 17 millions de retraités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• 1 629€ de pension moyenne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40080" y="3657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• Âge légal : 64 ans (2030)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0" y="1417320"/>
            <a:ext cx="4206240" cy="3063240"/>
          </a:xfrm>
          <a:prstGeom prst="roundRect">
            <a:avLst>
              <a:gd name="adj" fmla="val 4478"/>
            </a:avLst>
          </a:prstGeom>
          <a:solidFill>
            <a:srgbClr val="00D4FF">
              <a:alpha val="8000"/>
            </a:srgbClr>
          </a:solidFill>
          <a:ln w="12700">
            <a:solidFill>
              <a:srgbClr val="00D4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1" name="Shape 28"/>
          <p:cNvSpPr/>
          <p:nvPr/>
        </p:nvSpPr>
        <p:spPr>
          <a:xfrm>
            <a:off x="4572000" y="1417320"/>
            <a:ext cx="4206240" cy="45720"/>
          </a:xfrm>
          <a:prstGeom prst="rect">
            <a:avLst/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32" name="Text 29"/>
          <p:cNvSpPr/>
          <p:nvPr/>
        </p:nvSpPr>
        <p:spPr>
          <a:xfrm>
            <a:off x="4572000" y="15544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Comparaison UE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4846320" y="20116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France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6858000" y="20116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14,2%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4846320" y="25146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Italie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858000" y="25146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13,7%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4846320" y="30175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Allemagne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6858000" y="30175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10,2%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846320" y="35204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Moyenne UE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6858000" y="35204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11,9%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42" name="Text 39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COR, DREES 2024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SANTÉ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 santé : </a:t>
            </a:r>
            <a:r>
              <a:rPr lang="en-US" sz="2600" b="1" dirty="0">
                <a:solidFill>
                  <a:srgbClr val="FFD70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37%</a:t>
            </a: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des dépenses</a:t>
            </a:r>
            <a:endParaRPr lang="en-US" sz="2600" dirty="0"/>
          </a:p>
        </p:txBody>
      </p:sp>
      <p:sp>
        <p:nvSpPr>
          <p:cNvPr id="24" name="Shape 21"/>
          <p:cNvSpPr/>
          <p:nvPr/>
        </p:nvSpPr>
        <p:spPr>
          <a:xfrm>
            <a:off x="365760" y="1417320"/>
            <a:ext cx="8412480" cy="3063240"/>
          </a:xfrm>
          <a:prstGeom prst="roundRect">
            <a:avLst>
              <a:gd name="adj" fmla="val 4478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5" name="Text 22"/>
          <p:cNvSpPr/>
          <p:nvPr/>
        </p:nvSpPr>
        <p:spPr>
          <a:xfrm>
            <a:off x="365760" y="1645920"/>
            <a:ext cx="8412480" cy="731520"/>
          </a:xfrm>
          <a:prstGeom prst="rect">
            <a:avLst/>
          </a:prstGeom>
          <a:noFill/>
          <a:ln/>
          <a:effectLst>
            <a:outerShdw blurRad="127000" dist="50800" dir="16200000" algn="bl" rotWithShape="0">
              <a:srgbClr val="FFD700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D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325,7 Md€</a:t>
            </a:r>
            <a:endParaRPr lang="en-US" sz="4800" dirty="0"/>
          </a:p>
        </p:txBody>
      </p:sp>
      <p:sp>
        <p:nvSpPr>
          <p:cNvPr id="26" name="Text 23"/>
          <p:cNvSpPr/>
          <p:nvPr/>
        </p:nvSpPr>
        <p:spPr>
          <a:xfrm>
            <a:off x="365760" y="23774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soit 10% du PIB — le plus élevé d'Europe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40080" y="2926080"/>
            <a:ext cx="1920240" cy="1280160"/>
          </a:xfrm>
          <a:prstGeom prst="roundRect">
            <a:avLst>
              <a:gd name="adj" fmla="val 7143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8" name="Text 25"/>
          <p:cNvSpPr/>
          <p:nvPr/>
        </p:nvSpPr>
        <p:spPr>
          <a:xfrm>
            <a:off x="640080" y="30175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265 Md€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640080" y="36118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ONDAM 2025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2743200" y="2926080"/>
            <a:ext cx="1920240" cy="1280160"/>
          </a:xfrm>
          <a:prstGeom prst="roundRect">
            <a:avLst>
              <a:gd name="adj" fmla="val 7143"/>
            </a:avLst>
          </a:prstGeom>
          <a:solidFill>
            <a:srgbClr val="A855F7">
              <a:alpha val="15000"/>
            </a:srgbClr>
          </a:solidFill>
          <a:ln w="12700">
            <a:solidFill>
              <a:srgbClr val="A855F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1" name="Text 28"/>
          <p:cNvSpPr/>
          <p:nvPr/>
        </p:nvSpPr>
        <p:spPr>
          <a:xfrm>
            <a:off x="2743200" y="30175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5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45%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2743200" y="36118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Hôpital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846320" y="2926080"/>
            <a:ext cx="1920240" cy="1280160"/>
          </a:xfrm>
          <a:prstGeom prst="roundRect">
            <a:avLst>
              <a:gd name="adj" fmla="val 7143"/>
            </a:avLst>
          </a:prstGeom>
          <a:solidFill>
            <a:srgbClr val="00FF88">
              <a:alpha val="15000"/>
            </a:srgbClr>
          </a:solidFill>
          <a:ln w="12700">
            <a:solidFill>
              <a:srgbClr val="00FF8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4" name="Text 31"/>
          <p:cNvSpPr/>
          <p:nvPr/>
        </p:nvSpPr>
        <p:spPr>
          <a:xfrm>
            <a:off x="4846320" y="30175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FF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28%</a:t>
            </a:r>
            <a:endParaRPr lang="en-US" sz="2000" dirty="0"/>
          </a:p>
        </p:txBody>
      </p:sp>
      <p:sp>
        <p:nvSpPr>
          <p:cNvPr id="35" name="Text 32"/>
          <p:cNvSpPr/>
          <p:nvPr/>
        </p:nvSpPr>
        <p:spPr>
          <a:xfrm>
            <a:off x="4846320" y="36118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Soins de ville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949440" y="2926080"/>
            <a:ext cx="1920240" cy="1280160"/>
          </a:xfrm>
          <a:prstGeom prst="roundRect">
            <a:avLst>
              <a:gd name="adj" fmla="val 7143"/>
            </a:avLst>
          </a:prstGeom>
          <a:solidFill>
            <a:srgbClr val="FF9F43">
              <a:alpha val="15000"/>
            </a:srgbClr>
          </a:solidFill>
          <a:ln w="12700">
            <a:solidFill>
              <a:srgbClr val="FF9F43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7" name="Text 34"/>
          <p:cNvSpPr/>
          <p:nvPr/>
        </p:nvSpPr>
        <p:spPr>
          <a:xfrm>
            <a:off x="6949440" y="30175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9F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15%</a:t>
            </a:r>
            <a:endParaRPr lang="en-US" sz="2000" dirty="0"/>
          </a:p>
        </p:txBody>
      </p:sp>
      <p:sp>
        <p:nvSpPr>
          <p:cNvPr id="38" name="Text 35"/>
          <p:cNvSpPr/>
          <p:nvPr/>
        </p:nvSpPr>
        <p:spPr>
          <a:xfrm>
            <a:off x="6949440" y="36118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Médicaments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40" name="Text 37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Assurance Maladie, PLFSS 2025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AUTRES RISQUES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Les 18% restants</a:t>
            </a:r>
            <a:endParaRPr lang="en-US" sz="2600" dirty="0"/>
          </a:p>
        </p:txBody>
      </p:sp>
      <p:sp>
        <p:nvSpPr>
          <p:cNvPr id="24" name="Shape 21"/>
          <p:cNvSpPr/>
          <p:nvPr/>
        </p:nvSpPr>
        <p:spPr>
          <a:xfrm>
            <a:off x="365760" y="1371600"/>
            <a:ext cx="4114800" cy="1554480"/>
          </a:xfrm>
          <a:prstGeom prst="roundRect">
            <a:avLst>
              <a:gd name="adj" fmla="val 7059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A855F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5" name="Text 22"/>
          <p:cNvSpPr/>
          <p:nvPr/>
        </p:nvSpPr>
        <p:spPr>
          <a:xfrm>
            <a:off x="54864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👨‍👩‍👧‍👦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1188720" y="1600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Famille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2926080" y="16002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A85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62,9 Md€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48640" y="21945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Allocations familiales, PAJE, ASF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663440" y="1371600"/>
            <a:ext cx="4114800" cy="1554480"/>
          </a:xfrm>
          <a:prstGeom prst="roundRect">
            <a:avLst>
              <a:gd name="adj" fmla="val 7059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00FF8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0" name="Text 27"/>
          <p:cNvSpPr/>
          <p:nvPr/>
        </p:nvSpPr>
        <p:spPr>
          <a:xfrm>
            <a:off x="484632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💼</a:t>
            </a:r>
            <a:endParaRPr lang="en-US" sz="2800" dirty="0"/>
          </a:p>
        </p:txBody>
      </p:sp>
      <p:sp>
        <p:nvSpPr>
          <p:cNvPr id="31" name="Text 28"/>
          <p:cNvSpPr/>
          <p:nvPr/>
        </p:nvSpPr>
        <p:spPr>
          <a:xfrm>
            <a:off x="5486400" y="1600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Chômage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7223760" y="16002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0FF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49,3 Md€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4846320" y="21945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ARE, ASS, formation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365760" y="3063240"/>
            <a:ext cx="4114800" cy="1554480"/>
          </a:xfrm>
          <a:prstGeom prst="roundRect">
            <a:avLst>
              <a:gd name="adj" fmla="val 7059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FF9F43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5" name="Text 32"/>
          <p:cNvSpPr/>
          <p:nvPr/>
        </p:nvSpPr>
        <p:spPr>
          <a:xfrm>
            <a:off x="548640" y="3246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🏠</a:t>
            </a:r>
            <a:endParaRPr lang="en-US" sz="2800" dirty="0"/>
          </a:p>
        </p:txBody>
      </p:sp>
      <p:sp>
        <p:nvSpPr>
          <p:cNvPr id="36" name="Text 33"/>
          <p:cNvSpPr/>
          <p:nvPr/>
        </p:nvSpPr>
        <p:spPr>
          <a:xfrm>
            <a:off x="1188720" y="32918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Logement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2926080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9F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15,8 Md€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48640" y="38862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APL, ALF, ALS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663440" y="3063240"/>
            <a:ext cx="4114800" cy="1554480"/>
          </a:xfrm>
          <a:prstGeom prst="roundRect">
            <a:avLst>
              <a:gd name="adj" fmla="val 7059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FF475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40" name="Text 37"/>
          <p:cNvSpPr/>
          <p:nvPr/>
        </p:nvSpPr>
        <p:spPr>
          <a:xfrm>
            <a:off x="4846320" y="3246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🤝</a:t>
            </a:r>
            <a:endParaRPr lang="en-US" sz="2800" dirty="0"/>
          </a:p>
        </p:txBody>
      </p:sp>
      <p:sp>
        <p:nvSpPr>
          <p:cNvPr id="41" name="Text 38"/>
          <p:cNvSpPr/>
          <p:nvPr/>
        </p:nvSpPr>
        <p:spPr>
          <a:xfrm>
            <a:off x="5486400" y="32918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Pauvreté</a:t>
            </a:r>
            <a:endParaRPr lang="en-US" sz="1600" dirty="0"/>
          </a:p>
        </p:txBody>
      </p:sp>
      <p:sp>
        <p:nvSpPr>
          <p:cNvPr id="42" name="Text 39"/>
          <p:cNvSpPr/>
          <p:nvPr/>
        </p:nvSpPr>
        <p:spPr>
          <a:xfrm>
            <a:off x="7223760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35,2 Md€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4846320" y="38862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RSA, AAH, ASPA, prime activité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45" name="Text 42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DREES 2023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EUROPE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 France face à ses voisins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365760" y="14173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France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468880" y="1490472"/>
            <a:ext cx="502920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26" name="Shape 23"/>
          <p:cNvSpPr/>
          <p:nvPr/>
        </p:nvSpPr>
        <p:spPr>
          <a:xfrm>
            <a:off x="2468880" y="1490472"/>
            <a:ext cx="4583757" cy="347472"/>
          </a:xfrm>
          <a:prstGeom prst="roundRect">
            <a:avLst>
              <a:gd name="adj" fmla="val 15789"/>
            </a:avLst>
          </a:prstGeom>
          <a:solidFill>
            <a:srgbClr val="00D4FF"/>
          </a:solidFill>
          <a:ln/>
          <a:effectLst>
            <a:outerShdw blurRad="76200" dist="50800" dir="16200000" algn="bl" rotWithShape="0">
              <a:srgbClr val="00D4FF">
                <a:alpha val="5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27" name="Text 24"/>
          <p:cNvSpPr/>
          <p:nvPr/>
        </p:nvSpPr>
        <p:spPr>
          <a:xfrm>
            <a:off x="7589520" y="141732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31.9% PIB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65760" y="19476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Allemagne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468880" y="2020824"/>
            <a:ext cx="502920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30" name="Shape 27"/>
          <p:cNvSpPr/>
          <p:nvPr/>
        </p:nvSpPr>
        <p:spPr>
          <a:xfrm>
            <a:off x="2468880" y="2020824"/>
            <a:ext cx="4152682" cy="347472"/>
          </a:xfrm>
          <a:prstGeom prst="roundRect">
            <a:avLst>
              <a:gd name="adj" fmla="val 15789"/>
            </a:avLst>
          </a:prstGeom>
          <a:solidFill>
            <a:srgbClr val="8899A8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31" name="Text 28"/>
          <p:cNvSpPr/>
          <p:nvPr/>
        </p:nvSpPr>
        <p:spPr>
          <a:xfrm>
            <a:off x="7589520" y="1947672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899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28.9% PIB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365760" y="2478024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Italie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468880" y="2551176"/>
            <a:ext cx="502920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34" name="Shape 31"/>
          <p:cNvSpPr/>
          <p:nvPr/>
        </p:nvSpPr>
        <p:spPr>
          <a:xfrm>
            <a:off x="2468880" y="2551176"/>
            <a:ext cx="4037729" cy="347472"/>
          </a:xfrm>
          <a:prstGeom prst="roundRect">
            <a:avLst>
              <a:gd name="adj" fmla="val 15789"/>
            </a:avLst>
          </a:prstGeom>
          <a:solidFill>
            <a:srgbClr val="8899A8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35" name="Text 32"/>
          <p:cNvSpPr/>
          <p:nvPr/>
        </p:nvSpPr>
        <p:spPr>
          <a:xfrm>
            <a:off x="7589520" y="2478024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899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28.1% PIB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365760" y="3008376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Moyenne UE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2468880" y="3081528"/>
            <a:ext cx="502920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38" name="Shape 35"/>
          <p:cNvSpPr/>
          <p:nvPr/>
        </p:nvSpPr>
        <p:spPr>
          <a:xfrm>
            <a:off x="2468880" y="3081528"/>
            <a:ext cx="3922776" cy="347472"/>
          </a:xfrm>
          <a:prstGeom prst="roundRect">
            <a:avLst>
              <a:gd name="adj" fmla="val 15789"/>
            </a:avLst>
          </a:prstGeom>
          <a:solidFill>
            <a:srgbClr val="FFD70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39" name="Text 36"/>
          <p:cNvSpPr/>
          <p:nvPr/>
        </p:nvSpPr>
        <p:spPr>
          <a:xfrm>
            <a:off x="7589520" y="3008376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D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27.3% PIB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365760" y="353872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Espagne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2468880" y="3611880"/>
            <a:ext cx="502920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42" name="Shape 39"/>
          <p:cNvSpPr/>
          <p:nvPr/>
        </p:nvSpPr>
        <p:spPr>
          <a:xfrm>
            <a:off x="2468880" y="3611880"/>
            <a:ext cx="3606655" cy="347472"/>
          </a:xfrm>
          <a:prstGeom prst="roundRect">
            <a:avLst>
              <a:gd name="adj" fmla="val 15789"/>
            </a:avLst>
          </a:prstGeom>
          <a:solidFill>
            <a:srgbClr val="8899A8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43" name="Text 40"/>
          <p:cNvSpPr/>
          <p:nvPr/>
        </p:nvSpPr>
        <p:spPr>
          <a:xfrm>
            <a:off x="7589520" y="353872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899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25.1% PIB</a:t>
            </a:r>
            <a:endParaRPr lang="en-US" sz="1200" dirty="0"/>
          </a:p>
        </p:txBody>
      </p:sp>
      <p:sp>
        <p:nvSpPr>
          <p:cNvPr id="44" name="Text 41"/>
          <p:cNvSpPr/>
          <p:nvPr/>
        </p:nvSpPr>
        <p:spPr>
          <a:xfrm>
            <a:off x="365760" y="40690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Royaume-Uni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2468880" y="4142232"/>
            <a:ext cx="502920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46" name="Shape 43"/>
          <p:cNvSpPr/>
          <p:nvPr/>
        </p:nvSpPr>
        <p:spPr>
          <a:xfrm>
            <a:off x="2468880" y="4142232"/>
            <a:ext cx="3017520" cy="347472"/>
          </a:xfrm>
          <a:prstGeom prst="roundRect">
            <a:avLst>
              <a:gd name="adj" fmla="val 15789"/>
            </a:avLst>
          </a:prstGeom>
          <a:solidFill>
            <a:srgbClr val="8899A8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47" name="Text 44"/>
          <p:cNvSpPr/>
          <p:nvPr/>
        </p:nvSpPr>
        <p:spPr>
          <a:xfrm>
            <a:off x="7589520" y="40690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899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21% PIB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La France dépense 4,6 points de PIB de plus que la moyenne UE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0" name="Text 47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Eurostat 2023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ÉVOLUTION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10 ans de dépenses sociales</a:t>
            </a:r>
            <a:endParaRPr lang="en-US" sz="2600" dirty="0"/>
          </a:p>
        </p:txBody>
      </p:sp>
      <p:sp>
        <p:nvSpPr>
          <p:cNvPr id="24" name="Shape 21"/>
          <p:cNvSpPr/>
          <p:nvPr/>
        </p:nvSpPr>
        <p:spPr>
          <a:xfrm>
            <a:off x="1828800" y="1554480"/>
            <a:ext cx="0" cy="2834640"/>
          </a:xfrm>
          <a:prstGeom prst="line">
            <a:avLst/>
          </a:prstGeom>
          <a:noFill/>
          <a:ln w="381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5" name="Shape 22"/>
          <p:cNvSpPr/>
          <p:nvPr/>
        </p:nvSpPr>
        <p:spPr>
          <a:xfrm>
            <a:off x="1691640" y="1463040"/>
            <a:ext cx="274320" cy="274320"/>
          </a:xfrm>
          <a:prstGeom prst="ellipse">
            <a:avLst/>
          </a:prstGeom>
          <a:solidFill>
            <a:srgbClr val="111820"/>
          </a:solidFill>
          <a:ln w="254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6" name="Text 23"/>
          <p:cNvSpPr/>
          <p:nvPr/>
        </p:nvSpPr>
        <p:spPr>
          <a:xfrm>
            <a:off x="365760" y="1417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2014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2194560" y="14173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700 Md€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4114800" y="14173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31,9% du PIB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1691640" y="2331720"/>
            <a:ext cx="274320" cy="274320"/>
          </a:xfrm>
          <a:prstGeom prst="ellipse">
            <a:avLst/>
          </a:prstGeom>
          <a:solidFill>
            <a:srgbClr val="111820"/>
          </a:solidFill>
          <a:ln w="254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0" name="Text 27"/>
          <p:cNvSpPr/>
          <p:nvPr/>
        </p:nvSpPr>
        <p:spPr>
          <a:xfrm>
            <a:off x="365760" y="22860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2019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2194560" y="2286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762 Md€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4114800" y="2286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31,2% du PIB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94360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Pré-COVID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691640" y="3200400"/>
            <a:ext cx="274320" cy="274320"/>
          </a:xfrm>
          <a:prstGeom prst="ellipse">
            <a:avLst/>
          </a:prstGeom>
          <a:solidFill>
            <a:srgbClr val="00D4FF"/>
          </a:solidFill>
          <a:ln w="254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5" name="Text 32"/>
          <p:cNvSpPr/>
          <p:nvPr/>
        </p:nvSpPr>
        <p:spPr>
          <a:xfrm>
            <a:off x="365760" y="31546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2020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2194560" y="3154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D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822 Md€</a:t>
            </a:r>
            <a:endParaRPr lang="en-US" sz="1800" dirty="0"/>
          </a:p>
        </p:txBody>
      </p:sp>
      <p:sp>
        <p:nvSpPr>
          <p:cNvPr id="37" name="Text 34"/>
          <p:cNvSpPr/>
          <p:nvPr/>
        </p:nvSpPr>
        <p:spPr>
          <a:xfrm>
            <a:off x="4114800" y="31546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35,4% du PIB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59436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Pic COVID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691640" y="4069080"/>
            <a:ext cx="274320" cy="274320"/>
          </a:xfrm>
          <a:prstGeom prst="ellipse">
            <a:avLst/>
          </a:prstGeom>
          <a:solidFill>
            <a:srgbClr val="00D4FF"/>
          </a:solidFill>
          <a:ln w="254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40" name="Text 37"/>
          <p:cNvSpPr/>
          <p:nvPr/>
        </p:nvSpPr>
        <p:spPr>
          <a:xfrm>
            <a:off x="365760" y="40233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2024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2194560" y="4023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D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932 Md€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4114800" y="40233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31,9% du PIB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594360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+233 Md€ en 10 ans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45" name="Text 42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DREES, INSEE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FINANCEMENT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D'où vient l'argent ?</a:t>
            </a:r>
            <a:endParaRPr lang="en-US" sz="2600" dirty="0"/>
          </a:p>
        </p:txBody>
      </p:sp>
      <p:sp>
        <p:nvSpPr>
          <p:cNvPr id="24" name="Shape 21"/>
          <p:cNvSpPr/>
          <p:nvPr/>
        </p:nvSpPr>
        <p:spPr>
          <a:xfrm>
            <a:off x="457200" y="137160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820">
              <a:alpha val="85000"/>
            </a:srgbClr>
          </a:solidFill>
          <a:ln w="25400">
            <a:solidFill>
              <a:srgbClr val="00D4FF"/>
            </a:solidFill>
            <a:prstDash val="solid"/>
          </a:ln>
          <a:effectLst>
            <a:outerShdw blurRad="101600" dist="50800" dir="16200000" algn="bl" rotWithShape="0">
              <a:srgbClr val="00D4FF">
                <a:alpha val="3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25" name="Text 22"/>
          <p:cNvSpPr/>
          <p:nvPr/>
        </p:nvSpPr>
        <p:spPr>
          <a:xfrm>
            <a:off x="640080" y="150876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59%</a:t>
            </a:r>
            <a:endParaRPr lang="en-US" sz="3200" dirty="0"/>
          </a:p>
        </p:txBody>
      </p:sp>
      <p:sp>
        <p:nvSpPr>
          <p:cNvPr id="26" name="Text 23"/>
          <p:cNvSpPr/>
          <p:nvPr/>
        </p:nvSpPr>
        <p:spPr>
          <a:xfrm>
            <a:off x="1828800" y="1554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Cotisations sociales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828800" y="1965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99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428 Md€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754880" y="137160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820">
              <a:alpha val="85000"/>
            </a:srgbClr>
          </a:solidFill>
          <a:ln w="25400">
            <a:solidFill>
              <a:srgbClr val="FFD700"/>
            </a:solidFill>
            <a:prstDash val="solid"/>
          </a:ln>
          <a:effectLst>
            <a:outerShdw blurRad="101600" dist="50800" dir="16200000" algn="bl" rotWithShape="0">
              <a:srgbClr val="FFD700">
                <a:alpha val="3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29" name="Text 26"/>
          <p:cNvSpPr/>
          <p:nvPr/>
        </p:nvSpPr>
        <p:spPr>
          <a:xfrm>
            <a:off x="4937760" y="150876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D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21%</a:t>
            </a:r>
            <a:endParaRPr lang="en-US" sz="3200" dirty="0"/>
          </a:p>
        </p:txBody>
      </p:sp>
      <p:sp>
        <p:nvSpPr>
          <p:cNvPr id="30" name="Text 27"/>
          <p:cNvSpPr/>
          <p:nvPr/>
        </p:nvSpPr>
        <p:spPr>
          <a:xfrm>
            <a:off x="6126480" y="1554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CSG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6126480" y="1965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99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154 Md€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457200" y="297180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820">
              <a:alpha val="85000"/>
            </a:srgbClr>
          </a:solidFill>
          <a:ln w="25400">
            <a:solidFill>
              <a:srgbClr val="A855F7"/>
            </a:solidFill>
            <a:prstDash val="solid"/>
          </a:ln>
          <a:effectLst>
            <a:outerShdw blurRad="101600" dist="50800" dir="16200000" algn="bl" rotWithShape="0">
              <a:srgbClr val="A855F7">
                <a:alpha val="3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33" name="Text 30"/>
          <p:cNvSpPr/>
          <p:nvPr/>
        </p:nvSpPr>
        <p:spPr>
          <a:xfrm>
            <a:off x="640080" y="310896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A85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11%</a:t>
            </a:r>
            <a:endParaRPr lang="en-US" sz="3200" dirty="0"/>
          </a:p>
        </p:txBody>
      </p:sp>
      <p:sp>
        <p:nvSpPr>
          <p:cNvPr id="34" name="Text 31"/>
          <p:cNvSpPr/>
          <p:nvPr/>
        </p:nvSpPr>
        <p:spPr>
          <a:xfrm>
            <a:off x="1828800" y="31546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Impôts &amp; taxes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1828800" y="3566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99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80 Md€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4754880" y="297180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820">
              <a:alpha val="85000"/>
            </a:srgbClr>
          </a:solidFill>
          <a:ln w="25400">
            <a:solidFill>
              <a:srgbClr val="00FF88"/>
            </a:solidFill>
            <a:prstDash val="solid"/>
          </a:ln>
          <a:effectLst>
            <a:outerShdw blurRad="101600" dist="50800" dir="16200000" algn="bl" rotWithShape="0">
              <a:srgbClr val="00FF88">
                <a:alpha val="3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37" name="Text 34"/>
          <p:cNvSpPr/>
          <p:nvPr/>
        </p:nvSpPr>
        <p:spPr>
          <a:xfrm>
            <a:off x="4937760" y="310896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FF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9%</a:t>
            </a:r>
            <a:endParaRPr lang="en-US" sz="3200" dirty="0"/>
          </a:p>
        </p:txBody>
      </p:sp>
      <p:sp>
        <p:nvSpPr>
          <p:cNvPr id="38" name="Text 35"/>
          <p:cNvSpPr/>
          <p:nvPr/>
        </p:nvSpPr>
        <p:spPr>
          <a:xfrm>
            <a:off x="6126480" y="31546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Contributions État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6126480" y="3566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99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65 Md€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1 point de CSG = 17,5 Md€ de recettes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42" name="Text 39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DREES, La finance pour tous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DÉFICIT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Situation </a:t>
            </a:r>
            <a:r>
              <a:rPr lang="en-US" sz="2600" i="1" dirty="0">
                <a:solidFill>
                  <a:srgbClr val="FF475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alarmante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  <a:effectLst>
            <a:outerShdw blurRad="152400" dist="50800" dir="16200000" algn="bl" rotWithShape="0">
              <a:srgbClr val="FF4757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-22,1</a:t>
            </a:r>
            <a:endParaRPr lang="en-US" sz="9000" dirty="0"/>
          </a:p>
        </p:txBody>
      </p:sp>
      <p:sp>
        <p:nvSpPr>
          <p:cNvPr id="25" name="Text 22"/>
          <p:cNvSpPr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milliards € de déficit Sécu prévu en 2025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1188720" y="3017520"/>
            <a:ext cx="1645920" cy="1188720"/>
          </a:xfrm>
          <a:prstGeom prst="roundRect">
            <a:avLst>
              <a:gd name="adj" fmla="val 7692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FF475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7" name="Text 24"/>
          <p:cNvSpPr/>
          <p:nvPr/>
        </p:nvSpPr>
        <p:spPr>
          <a:xfrm>
            <a:off x="1188720" y="31089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2023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188720" y="35204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-10,8 Md€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3017520" y="3017520"/>
            <a:ext cx="1645920" cy="1188720"/>
          </a:xfrm>
          <a:prstGeom prst="roundRect">
            <a:avLst>
              <a:gd name="adj" fmla="val 7692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FF475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0" name="Text 27"/>
          <p:cNvSpPr/>
          <p:nvPr/>
        </p:nvSpPr>
        <p:spPr>
          <a:xfrm>
            <a:off x="3017520" y="31089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2024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3017520" y="35204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-15,3 Md€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4846320" y="3017520"/>
            <a:ext cx="1645920" cy="1188720"/>
          </a:xfrm>
          <a:prstGeom prst="roundRect">
            <a:avLst>
              <a:gd name="adj" fmla="val 7692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FF475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3" name="Text 30"/>
          <p:cNvSpPr/>
          <p:nvPr/>
        </p:nvSpPr>
        <p:spPr>
          <a:xfrm>
            <a:off x="4846320" y="31089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2025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846320" y="35204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-22,1 Md€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6675120" y="3017520"/>
            <a:ext cx="1645920" cy="1188720"/>
          </a:xfrm>
          <a:prstGeom prst="roundRect">
            <a:avLst>
              <a:gd name="adj" fmla="val 7692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FF475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6" name="Text 33"/>
          <p:cNvSpPr/>
          <p:nvPr/>
        </p:nvSpPr>
        <p:spPr>
          <a:xfrm>
            <a:off x="6675120" y="31089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2028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675120" y="35204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-24,1 Md€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9" name="Text 36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Cour des comptes, 2025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PROJECTIONS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Trajectoire des retraites</a:t>
            </a:r>
            <a:endParaRPr lang="en-US" sz="2600" dirty="0"/>
          </a:p>
        </p:txBody>
      </p:sp>
      <p:sp>
        <p:nvSpPr>
          <p:cNvPr id="24" name="Shape 21"/>
          <p:cNvSpPr/>
          <p:nvPr/>
        </p:nvSpPr>
        <p:spPr>
          <a:xfrm>
            <a:off x="365760" y="1371600"/>
            <a:ext cx="8412480" cy="3108960"/>
          </a:xfrm>
          <a:prstGeom prst="roundRect">
            <a:avLst>
              <a:gd name="adj" fmla="val 4412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5" name="Text 22"/>
          <p:cNvSpPr/>
          <p:nvPr/>
        </p:nvSpPr>
        <p:spPr>
          <a:xfrm>
            <a:off x="45720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Solde du système de retraites (% du PIB)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31520" y="2011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2030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731520" y="2468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-0,2%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731520" y="31089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-6,6 Md€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2834640" y="2011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2040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2834640" y="2468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-0,7%</a:t>
            </a:r>
            <a:endParaRPr lang="en-US" sz="2800" dirty="0"/>
          </a:p>
        </p:txBody>
      </p:sp>
      <p:sp>
        <p:nvSpPr>
          <p:cNvPr id="31" name="Text 28"/>
          <p:cNvSpPr/>
          <p:nvPr/>
        </p:nvSpPr>
        <p:spPr>
          <a:xfrm>
            <a:off x="2834640" y="31089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~-20 Md€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937760" y="2011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2050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4937760" y="2468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-1,1%</a:t>
            </a:r>
            <a:endParaRPr lang="en-US" sz="2800" dirty="0"/>
          </a:p>
        </p:txBody>
      </p:sp>
      <p:sp>
        <p:nvSpPr>
          <p:cNvPr id="34" name="Text 31"/>
          <p:cNvSpPr/>
          <p:nvPr/>
        </p:nvSpPr>
        <p:spPr>
          <a:xfrm>
            <a:off x="4937760" y="31089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~-35 Md€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7040880" y="2011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2070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7040880" y="2468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-1,4%</a:t>
            </a:r>
            <a:endParaRPr lang="en-US" sz="2800" dirty="0"/>
          </a:p>
        </p:txBody>
      </p:sp>
      <p:sp>
        <p:nvSpPr>
          <p:cNvPr id="37" name="Text 34"/>
          <p:cNvSpPr/>
          <p:nvPr/>
        </p:nvSpPr>
        <p:spPr>
          <a:xfrm>
            <a:off x="7040880" y="31089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~-50 Md€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Malgré la réforme de 2023, le système reste structurellement déficitaire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40" name="Text 37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COR - Rapport annuel 2025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RÉFORMES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Les réformes récentes</a:t>
            </a:r>
            <a:endParaRPr lang="en-US" sz="2600" dirty="0"/>
          </a:p>
        </p:txBody>
      </p:sp>
      <p:sp>
        <p:nvSpPr>
          <p:cNvPr id="24" name="Shape 21"/>
          <p:cNvSpPr/>
          <p:nvPr/>
        </p:nvSpPr>
        <p:spPr>
          <a:xfrm>
            <a:off x="365760" y="137160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00D4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5" name="Shape 22"/>
          <p:cNvSpPr/>
          <p:nvPr/>
        </p:nvSpPr>
        <p:spPr>
          <a:xfrm>
            <a:off x="365760" y="1371600"/>
            <a:ext cx="73152" cy="914400"/>
          </a:xfrm>
          <a:prstGeom prst="rect">
            <a:avLst/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26" name="Text 23"/>
          <p:cNvSpPr/>
          <p:nvPr/>
        </p:nvSpPr>
        <p:spPr>
          <a:xfrm>
            <a:off x="640080" y="1463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Retraites 2023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4008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Âge légal : 62 → 64 ans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0" y="1645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Économie : 0,2 pt PIB en 2030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65760" y="242316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FFD700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0" name="Shape 27"/>
          <p:cNvSpPr/>
          <p:nvPr/>
        </p:nvSpPr>
        <p:spPr>
          <a:xfrm>
            <a:off x="365760" y="2423160"/>
            <a:ext cx="73152" cy="914400"/>
          </a:xfrm>
          <a:prstGeom prst="rect">
            <a:avLst/>
          </a:prstGeom>
          <a:solidFill>
            <a:srgbClr val="FFD70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31" name="Text 28"/>
          <p:cNvSpPr/>
          <p:nvPr/>
        </p:nvSpPr>
        <p:spPr>
          <a:xfrm>
            <a:off x="640080" y="2514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700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Chômage 2025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40080" y="2880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Durée max : 24 → 18 mois (&lt;55 ans)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02920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Économie : 3,6 Md€/an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365760" y="347472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A855F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5" name="Shape 32"/>
          <p:cNvSpPr/>
          <p:nvPr/>
        </p:nvSpPr>
        <p:spPr>
          <a:xfrm>
            <a:off x="365760" y="3474720"/>
            <a:ext cx="73152" cy="914400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36" name="Text 33"/>
          <p:cNvSpPr/>
          <p:nvPr/>
        </p:nvSpPr>
        <p:spPr>
          <a:xfrm>
            <a:off x="640080" y="3566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855F7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RSA conditionnel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40080" y="3931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15-20h d'activité obligatoires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5029200" y="3749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Entrée en vigueur : janvier 2025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40" name="Text 37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Vie publique, Unédic, Service-public.fr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FACT-CHECK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Fraude sociale vs </a:t>
            </a:r>
            <a:r>
              <a:rPr lang="en-US" sz="2600" i="1" dirty="0">
                <a:solidFill>
                  <a:srgbClr val="FF475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fraude fiscale</a:t>
            </a:r>
            <a:endParaRPr lang="en-US" sz="2600" dirty="0"/>
          </a:p>
        </p:txBody>
      </p:sp>
      <p:sp>
        <p:nvSpPr>
          <p:cNvPr id="24" name="Shape 21"/>
          <p:cNvSpPr/>
          <p:nvPr/>
        </p:nvSpPr>
        <p:spPr>
          <a:xfrm>
            <a:off x="457200" y="1417320"/>
            <a:ext cx="4023360" cy="2286000"/>
          </a:xfrm>
          <a:prstGeom prst="roundRect">
            <a:avLst>
              <a:gd name="adj" fmla="val 4800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5" name="Text 22"/>
          <p:cNvSpPr/>
          <p:nvPr/>
        </p:nvSpPr>
        <p:spPr>
          <a:xfrm>
            <a:off x="457200" y="15544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9F43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Fraude sociale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57200" y="201168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13-14 Md€</a:t>
            </a:r>
            <a:endParaRPr lang="en-US" sz="3200" dirty="0"/>
          </a:p>
        </p:txBody>
      </p:sp>
      <p:sp>
        <p:nvSpPr>
          <p:cNvPr id="27" name="Text 24"/>
          <p:cNvSpPr/>
          <p:nvPr/>
        </p:nvSpPr>
        <p:spPr>
          <a:xfrm>
            <a:off x="457200" y="27432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dont 56% = entreprises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(travail dissimulé)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663440" y="1417320"/>
            <a:ext cx="4023360" cy="2286000"/>
          </a:xfrm>
          <a:prstGeom prst="roundRect">
            <a:avLst>
              <a:gd name="adj" fmla="val 4800"/>
            </a:avLst>
          </a:prstGeom>
          <a:solidFill>
            <a:srgbClr val="111820">
              <a:alpha val="85000"/>
            </a:srgbClr>
          </a:solidFill>
          <a:ln w="25400">
            <a:solidFill>
              <a:srgbClr val="FF4757"/>
            </a:solidFill>
            <a:prstDash val="solid"/>
          </a:ln>
          <a:effectLst>
            <a:outerShdw blurRad="101600" dist="50800" dir="16200000" algn="bl" rotWithShape="0">
              <a:srgbClr val="FF4757">
                <a:alpha val="3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29" name="Text 26"/>
          <p:cNvSpPr/>
          <p:nvPr/>
        </p:nvSpPr>
        <p:spPr>
          <a:xfrm>
            <a:off x="4663440" y="15544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4757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Fraude fiscale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663440" y="201168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80-120 Md€</a:t>
            </a:r>
            <a:endParaRPr lang="en-US" sz="3200" dirty="0"/>
          </a:p>
        </p:txBody>
      </p:sp>
      <p:sp>
        <p:nvSpPr>
          <p:cNvPr id="31" name="Text 28"/>
          <p:cNvSpPr/>
          <p:nvPr/>
        </p:nvSpPr>
        <p:spPr>
          <a:xfrm>
            <a:off x="4663440" y="27432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6 à 10 fois supérieure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à la fraude sociale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La fraude des allocataires (RSA, etc.) ne représente qu'une fraction de la fraude sociale totale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4" name="Text 31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HCFiPS, Solidaires Finances Publiques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NON-RECOURS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Le paradoxe du </a:t>
            </a:r>
            <a:r>
              <a:rPr lang="en-US" sz="2600" i="1" dirty="0">
                <a:solidFill>
                  <a:srgbClr val="A855F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non-recours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Des milliards d'euros d'aides non réclamées chaque année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Minimum vieillesse (ASPA)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97680" y="1810512"/>
            <a:ext cx="320040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27" name="Shape 24"/>
          <p:cNvSpPr/>
          <p:nvPr/>
        </p:nvSpPr>
        <p:spPr>
          <a:xfrm>
            <a:off x="4297680" y="1810512"/>
            <a:ext cx="2909455" cy="347472"/>
          </a:xfrm>
          <a:prstGeom prst="roundRect">
            <a:avLst>
              <a:gd name="adj" fmla="val 15789"/>
            </a:avLst>
          </a:prstGeom>
          <a:solidFill>
            <a:srgbClr val="FF4757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28" name="Text 25"/>
          <p:cNvSpPr/>
          <p:nvPr/>
        </p:nvSpPr>
        <p:spPr>
          <a:xfrm>
            <a:off x="7589520" y="17373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50%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57200" y="22860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Complémentaire santé (CSS)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297680" y="2359152"/>
            <a:ext cx="320040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31" name="Shape 28"/>
          <p:cNvSpPr/>
          <p:nvPr/>
        </p:nvSpPr>
        <p:spPr>
          <a:xfrm>
            <a:off x="4297680" y="2359152"/>
            <a:ext cx="2560320" cy="347472"/>
          </a:xfrm>
          <a:prstGeom prst="roundRect">
            <a:avLst>
              <a:gd name="adj" fmla="val 15789"/>
            </a:avLst>
          </a:prstGeom>
          <a:solidFill>
            <a:srgbClr val="FF9F43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32" name="Text 29"/>
          <p:cNvSpPr/>
          <p:nvPr/>
        </p:nvSpPr>
        <p:spPr>
          <a:xfrm>
            <a:off x="7589520" y="22860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F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44%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457200" y="2834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Prime d'activité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297680" y="2907792"/>
            <a:ext cx="320040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35" name="Shape 32"/>
          <p:cNvSpPr/>
          <p:nvPr/>
        </p:nvSpPr>
        <p:spPr>
          <a:xfrm>
            <a:off x="4297680" y="2907792"/>
            <a:ext cx="2269375" cy="347472"/>
          </a:xfrm>
          <a:prstGeom prst="roundRect">
            <a:avLst>
              <a:gd name="adj" fmla="val 15789"/>
            </a:avLst>
          </a:prstGeom>
          <a:solidFill>
            <a:srgbClr val="FFD70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36" name="Text 33"/>
          <p:cNvSpPr/>
          <p:nvPr/>
        </p:nvSpPr>
        <p:spPr>
          <a:xfrm>
            <a:off x="7589520" y="28346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39%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457200" y="3383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RSA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297680" y="3456432"/>
            <a:ext cx="320040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39" name="Shape 36"/>
          <p:cNvSpPr/>
          <p:nvPr/>
        </p:nvSpPr>
        <p:spPr>
          <a:xfrm>
            <a:off x="4297680" y="3456432"/>
            <a:ext cx="1978429" cy="347472"/>
          </a:xfrm>
          <a:prstGeom prst="roundRect">
            <a:avLst>
              <a:gd name="adj" fmla="val 15789"/>
            </a:avLst>
          </a:prstGeom>
          <a:solidFill>
            <a:srgbClr val="A855F7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40" name="Text 37"/>
          <p:cNvSpPr/>
          <p:nvPr/>
        </p:nvSpPr>
        <p:spPr>
          <a:xfrm>
            <a:off x="7589520" y="3383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85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34%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45720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Assurance chômage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297680" y="4005072"/>
            <a:ext cx="3200400" cy="347472"/>
          </a:xfrm>
          <a:prstGeom prst="roundRect">
            <a:avLst>
              <a:gd name="adj" fmla="val 15789"/>
            </a:avLst>
          </a:prstGeom>
          <a:solidFill>
            <a:srgbClr val="111820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43" name="Shape 40"/>
          <p:cNvSpPr/>
          <p:nvPr/>
        </p:nvSpPr>
        <p:spPr>
          <a:xfrm>
            <a:off x="4297680" y="4005072"/>
            <a:ext cx="1454727" cy="347472"/>
          </a:xfrm>
          <a:prstGeom prst="roundRect">
            <a:avLst>
              <a:gd name="adj" fmla="val 15789"/>
            </a:avLst>
          </a:prstGeom>
          <a:solidFill>
            <a:srgbClr val="00FF88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44" name="Text 41"/>
          <p:cNvSpPr/>
          <p:nvPr/>
        </p:nvSpPr>
        <p:spPr>
          <a:xfrm>
            <a:off x="7589520" y="3931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FF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25-42%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Non-recours au RSA seul : 3 à 5 milliards €/an non versés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47" name="Text 44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DREES, ODENORE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IMPACT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Effet sur la pauvreté</a:t>
            </a:r>
            <a:endParaRPr lang="en-US" sz="2600" dirty="0"/>
          </a:p>
        </p:txBody>
      </p:sp>
      <p:sp>
        <p:nvSpPr>
          <p:cNvPr id="24" name="Shape 21"/>
          <p:cNvSpPr/>
          <p:nvPr/>
        </p:nvSpPr>
        <p:spPr>
          <a:xfrm>
            <a:off x="457200" y="137160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5" name="Text 22"/>
          <p:cNvSpPr/>
          <p:nvPr/>
        </p:nvSpPr>
        <p:spPr>
          <a:xfrm>
            <a:off x="457200" y="15087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Avant redistribution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57200" y="192024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8899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21,7%</a:t>
            </a:r>
            <a:endParaRPr lang="en-US" sz="4800" dirty="0"/>
          </a:p>
        </p:txBody>
      </p:sp>
      <p:sp>
        <p:nvSpPr>
          <p:cNvPr id="27" name="Text 24"/>
          <p:cNvSpPr/>
          <p:nvPr/>
        </p:nvSpPr>
        <p:spPr>
          <a:xfrm>
            <a:off x="457200" y="26517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de taux de pauvreté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663440" y="137160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00FF88">
              <a:alpha val="10000"/>
            </a:srgbClr>
          </a:solidFill>
          <a:ln w="25400">
            <a:solidFill>
              <a:srgbClr val="00FF88"/>
            </a:solidFill>
            <a:prstDash val="solid"/>
          </a:ln>
          <a:effectLst>
            <a:outerShdw blurRad="101600" dist="50800" dir="16200000" algn="bl" rotWithShape="0">
              <a:srgbClr val="00FF88">
                <a:alpha val="3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29" name="Text 26"/>
          <p:cNvSpPr/>
          <p:nvPr/>
        </p:nvSpPr>
        <p:spPr>
          <a:xfrm>
            <a:off x="4663440" y="15087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Après redistribution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663440" y="192024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0FF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15,4%</a:t>
            </a:r>
            <a:endParaRPr lang="en-US" sz="4800" dirty="0"/>
          </a:p>
        </p:txBody>
      </p:sp>
      <p:sp>
        <p:nvSpPr>
          <p:cNvPr id="31" name="Text 28"/>
          <p:cNvSpPr/>
          <p:nvPr/>
        </p:nvSpPr>
        <p:spPr>
          <a:xfrm>
            <a:off x="4663440" y="26517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FF8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-6,3 points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114800" y="18288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D4FF"/>
                </a:solidFill>
              </a:rPr>
              <a:t>→</a:t>
            </a:r>
            <a:endParaRPr lang="en-US" sz="3600" dirty="0"/>
          </a:p>
        </p:txBody>
      </p:sp>
      <p:sp>
        <p:nvSpPr>
          <p:cNvPr id="33" name="Text 30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Le taux de pauvreté des enfants est divisé par 2 grâce aux prestations (34% → 17%)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286000" y="3840480"/>
            <a:ext cx="4572000" cy="594360"/>
          </a:xfrm>
          <a:prstGeom prst="roundRect">
            <a:avLst>
              <a:gd name="adj" fmla="val 15385"/>
            </a:avLst>
          </a:prstGeom>
          <a:solidFill>
            <a:srgbClr val="FF4757">
              <a:alpha val="15000"/>
            </a:srgbClr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5" name="Text 32"/>
          <p:cNvSpPr/>
          <p:nvPr/>
        </p:nvSpPr>
        <p:spPr>
          <a:xfrm>
            <a:off x="2286000" y="384048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4757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⚠️ Alerte : effet en baisse (7,7 pts en 2013 → 6,1 pts en 2023)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7" name="Text 34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INSEE, DREES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ENJEUX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Les défis à venir</a:t>
            </a:r>
            <a:endParaRPr lang="en-US" sz="2600" dirty="0"/>
          </a:p>
        </p:txBody>
      </p:sp>
      <p:sp>
        <p:nvSpPr>
          <p:cNvPr id="24" name="Shape 21"/>
          <p:cNvSpPr/>
          <p:nvPr/>
        </p:nvSpPr>
        <p:spPr>
          <a:xfrm>
            <a:off x="457200" y="137160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00D4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5" name="Text 22"/>
          <p:cNvSpPr/>
          <p:nvPr/>
        </p:nvSpPr>
        <p:spPr>
          <a:xfrm>
            <a:off x="64008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👴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1280160" y="1554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Vieillissement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280160" y="1965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+65 ans : 22% → 30%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1280160" y="24231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d'ici 2070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754880" y="137160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FF475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0" name="Text 27"/>
          <p:cNvSpPr/>
          <p:nvPr/>
        </p:nvSpPr>
        <p:spPr>
          <a:xfrm>
            <a:off x="493776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📉</a:t>
            </a:r>
            <a:endParaRPr lang="en-US" sz="2800" dirty="0"/>
          </a:p>
        </p:txBody>
      </p:sp>
      <p:sp>
        <p:nvSpPr>
          <p:cNvPr id="31" name="Text 28"/>
          <p:cNvSpPr/>
          <p:nvPr/>
        </p:nvSpPr>
        <p:spPr>
          <a:xfrm>
            <a:off x="5577840" y="1554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Dette sociale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577840" y="1965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~200 Md€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5577840" y="24231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projetée en 2030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297180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FFD700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35" name="Text 32"/>
          <p:cNvSpPr/>
          <p:nvPr/>
        </p:nvSpPr>
        <p:spPr>
          <a:xfrm>
            <a:off x="640080" y="3154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36" name="Text 33"/>
          <p:cNvSpPr/>
          <p:nvPr/>
        </p:nvSpPr>
        <p:spPr>
          <a:xfrm>
            <a:off x="1280160" y="3154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Ratio actifs/retraités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1280160" y="35661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D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1,7 → 1,3</a:t>
            </a:r>
            <a:endParaRPr lang="en-US" sz="2000" dirty="0"/>
          </a:p>
        </p:txBody>
      </p:sp>
      <p:sp>
        <p:nvSpPr>
          <p:cNvPr id="38" name="Text 35"/>
          <p:cNvSpPr/>
          <p:nvPr/>
        </p:nvSpPr>
        <p:spPr>
          <a:xfrm>
            <a:off x="1280160" y="4023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d'ici 2070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754880" y="297180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A855F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40" name="Text 37"/>
          <p:cNvSpPr/>
          <p:nvPr/>
        </p:nvSpPr>
        <p:spPr>
          <a:xfrm>
            <a:off x="4937760" y="3154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🏥</a:t>
            </a:r>
            <a:endParaRPr lang="en-US" sz="2800" dirty="0"/>
          </a:p>
        </p:txBody>
      </p:sp>
      <p:sp>
        <p:nvSpPr>
          <p:cNvPr id="41" name="Text 38"/>
          <p:cNvSpPr/>
          <p:nvPr/>
        </p:nvSpPr>
        <p:spPr>
          <a:xfrm>
            <a:off x="5577840" y="3154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Dépendance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5577840" y="35661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85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 → 2,8 M</a:t>
            </a:r>
            <a:endParaRPr lang="en-US" sz="2000" dirty="0"/>
          </a:p>
        </p:txBody>
      </p:sp>
      <p:sp>
        <p:nvSpPr>
          <p:cNvPr id="43" name="Text 40"/>
          <p:cNvSpPr/>
          <p:nvPr/>
        </p:nvSpPr>
        <p:spPr>
          <a:xfrm>
            <a:off x="5577840" y="4023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personnes en 2050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45" name="Text 42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INSEE, COR, Cour des comptes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PERSPECTIVES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Trois scénarios possibles</a:t>
            </a:r>
            <a:endParaRPr lang="en-US" sz="2600" dirty="0"/>
          </a:p>
        </p:txBody>
      </p:sp>
      <p:sp>
        <p:nvSpPr>
          <p:cNvPr id="24" name="Shape 21"/>
          <p:cNvSpPr/>
          <p:nvPr/>
        </p:nvSpPr>
        <p:spPr>
          <a:xfrm>
            <a:off x="457200" y="1371600"/>
            <a:ext cx="2651760" cy="3017520"/>
          </a:xfrm>
          <a:prstGeom prst="roundRect">
            <a:avLst>
              <a:gd name="adj" fmla="val 5172"/>
            </a:avLst>
          </a:prstGeom>
          <a:solidFill>
            <a:srgbClr val="111820">
              <a:alpha val="85000"/>
            </a:srgbClr>
          </a:solidFill>
          <a:ln w="25400">
            <a:solidFill>
              <a:srgbClr val="FF4757"/>
            </a:solidFill>
            <a:prstDash val="solid"/>
          </a:ln>
          <a:effectLst>
            <a:outerShdw blurRad="101600" dist="50800" dir="16200000" algn="bl" rotWithShape="0">
              <a:srgbClr val="FF4757">
                <a:alpha val="25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25" name="Shape 22"/>
          <p:cNvSpPr/>
          <p:nvPr/>
        </p:nvSpPr>
        <p:spPr>
          <a:xfrm>
            <a:off x="1417320" y="1554480"/>
            <a:ext cx="731520" cy="731520"/>
          </a:xfrm>
          <a:prstGeom prst="ellipse">
            <a:avLst/>
          </a:prstGeom>
          <a:solidFill>
            <a:srgbClr val="FF4757"/>
          </a:solidFill>
          <a:ln/>
          <a:effectLst>
            <a:outerShdw blurRad="76200" dist="50800" dir="16200000" algn="bl" rotWithShape="0">
              <a:srgbClr val="FF4757">
                <a:alpha val="4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26" name="Text 23"/>
          <p:cNvSpPr/>
          <p:nvPr/>
        </p:nvSpPr>
        <p:spPr>
          <a:xfrm>
            <a:off x="1417320" y="1554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2400" dirty="0"/>
          </a:p>
        </p:txBody>
      </p:sp>
      <p:sp>
        <p:nvSpPr>
          <p:cNvPr id="27" name="Text 24"/>
          <p:cNvSpPr/>
          <p:nvPr/>
        </p:nvSpPr>
        <p:spPr>
          <a:xfrm>
            <a:off x="594360" y="24688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Statu quo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94360" y="301752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Déficits chroniques, dette croissante, risque de crise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291840" y="1371600"/>
            <a:ext cx="2651760" cy="3017520"/>
          </a:xfrm>
          <a:prstGeom prst="roundRect">
            <a:avLst>
              <a:gd name="adj" fmla="val 5172"/>
            </a:avLst>
          </a:prstGeom>
          <a:solidFill>
            <a:srgbClr val="111820">
              <a:alpha val="85000"/>
            </a:srgbClr>
          </a:solidFill>
          <a:ln w="25400">
            <a:solidFill>
              <a:srgbClr val="FFD700"/>
            </a:solidFill>
            <a:prstDash val="solid"/>
          </a:ln>
          <a:effectLst>
            <a:outerShdw blurRad="101600" dist="50800" dir="16200000" algn="bl" rotWithShape="0">
              <a:srgbClr val="FFD700">
                <a:alpha val="25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30" name="Shape 27"/>
          <p:cNvSpPr/>
          <p:nvPr/>
        </p:nvSpPr>
        <p:spPr>
          <a:xfrm>
            <a:off x="4251960" y="1554480"/>
            <a:ext cx="731520" cy="731520"/>
          </a:xfrm>
          <a:prstGeom prst="ellipse">
            <a:avLst/>
          </a:prstGeom>
          <a:solidFill>
            <a:srgbClr val="FFD700"/>
          </a:solidFill>
          <a:ln/>
          <a:effectLst>
            <a:outerShdw blurRad="76200" dist="50800" dir="16200000" algn="bl" rotWithShape="0">
              <a:srgbClr val="FFD700">
                <a:alpha val="4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31" name="Text 28"/>
          <p:cNvSpPr/>
          <p:nvPr/>
        </p:nvSpPr>
        <p:spPr>
          <a:xfrm>
            <a:off x="4251960" y="1554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2400" dirty="0"/>
          </a:p>
        </p:txBody>
      </p:sp>
      <p:sp>
        <p:nvSpPr>
          <p:cNvPr id="32" name="Text 29"/>
          <p:cNvSpPr/>
          <p:nvPr/>
        </p:nvSpPr>
        <p:spPr>
          <a:xfrm>
            <a:off x="3429000" y="24688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Ajustements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3429000" y="301752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Nouvelles réformes, hausse CSG, contrôle ONDAM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126480" y="1371600"/>
            <a:ext cx="2651760" cy="3017520"/>
          </a:xfrm>
          <a:prstGeom prst="roundRect">
            <a:avLst>
              <a:gd name="adj" fmla="val 5172"/>
            </a:avLst>
          </a:prstGeom>
          <a:solidFill>
            <a:srgbClr val="111820">
              <a:alpha val="85000"/>
            </a:srgbClr>
          </a:solidFill>
          <a:ln w="25400">
            <a:solidFill>
              <a:srgbClr val="00FF88"/>
            </a:solidFill>
            <a:prstDash val="solid"/>
          </a:ln>
          <a:effectLst>
            <a:outerShdw blurRad="101600" dist="50800" dir="16200000" algn="bl" rotWithShape="0">
              <a:srgbClr val="00FF88">
                <a:alpha val="25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35" name="Shape 32"/>
          <p:cNvSpPr/>
          <p:nvPr/>
        </p:nvSpPr>
        <p:spPr>
          <a:xfrm>
            <a:off x="7086600" y="1554480"/>
            <a:ext cx="731520" cy="731520"/>
          </a:xfrm>
          <a:prstGeom prst="ellipse">
            <a:avLst/>
          </a:prstGeom>
          <a:solidFill>
            <a:srgbClr val="00FF88"/>
          </a:solidFill>
          <a:ln/>
          <a:effectLst>
            <a:outerShdw blurRad="76200" dist="50800" dir="16200000" algn="bl" rotWithShape="0">
              <a:srgbClr val="00FF88">
                <a:alpha val="4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36" name="Text 33"/>
          <p:cNvSpPr/>
          <p:nvPr/>
        </p:nvSpPr>
        <p:spPr>
          <a:xfrm>
            <a:off x="7086600" y="1554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2400" dirty="0"/>
          </a:p>
        </p:txBody>
      </p:sp>
      <p:sp>
        <p:nvSpPr>
          <p:cNvPr id="37" name="Text 34"/>
          <p:cNvSpPr/>
          <p:nvPr/>
        </p:nvSpPr>
        <p:spPr>
          <a:xfrm>
            <a:off x="6263640" y="24688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Refonte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263640" y="301752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Simplification, universalisation, nouveau financement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40" name="Text 37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Cour des comptes, COR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  <p:txBody>
          <a:bodyPr/>
          <a:lstStyle/>
          <a:p>
            <a:endParaRPr lang="en-FR"/>
          </a:p>
        </p:txBody>
      </p:sp>
      <p:pic>
        <p:nvPicPr>
          <p:cNvPr id="3" name="Image 0" descr="/Users/emmanuelblezes/Documents/08_Où va l'argent /Templates/PPT/workspace/glow-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8" name="Shape 15"/>
          <p:cNvSpPr/>
          <p:nvPr/>
        </p:nvSpPr>
        <p:spPr>
          <a:xfrm>
            <a:off x="4023360" y="91440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00D4FF"/>
          </a:solidFill>
          <a:ln/>
          <a:effectLst>
            <a:outerShdw blurRad="127000" dist="50800" dir="16200000" algn="bl" rotWithShape="0">
              <a:srgbClr val="00D4FF">
                <a:alpha val="50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19" name="Text 16"/>
          <p:cNvSpPr/>
          <p:nvPr/>
        </p:nvSpPr>
        <p:spPr>
          <a:xfrm>
            <a:off x="4023360" y="914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4846320" y="10058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  <a:effectLst>
            <a:outerShdw blurRad="101600" dist="50800" dir="16200000" algn="bl" rotWithShape="0">
              <a:srgbClr val="00D4FF">
                <a:alpha val="30000"/>
              </a:srgbClr>
            </a:out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i="1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Merci !</a:t>
            </a:r>
            <a:endParaRPr lang="en-US" sz="4800" dirty="0"/>
          </a:p>
        </p:txBody>
      </p:sp>
      <p:sp>
        <p:nvSpPr>
          <p:cNvPr id="22" name="Text 19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Des questions ?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2286000" y="3200400"/>
            <a:ext cx="4572000" cy="1097280"/>
          </a:xfrm>
          <a:prstGeom prst="roundRect">
            <a:avLst>
              <a:gd name="adj" fmla="val 8333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FR"/>
          </a:p>
        </p:txBody>
      </p:sp>
      <p:sp>
        <p:nvSpPr>
          <p:cNvPr id="24" name="Text 21"/>
          <p:cNvSpPr/>
          <p:nvPr/>
        </p:nvSpPr>
        <p:spPr>
          <a:xfrm>
            <a:off x="2286000" y="320040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899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@ouvalargent</a:t>
            </a:r>
            <a:endParaRPr lang="en-US" sz="1600" dirty="0"/>
          </a:p>
          <a:p>
            <a:pPr marL="0" indent="0" algn="ctr">
              <a:buNone/>
            </a:pPr>
            <a:endParaRPr lang="en-US" sz="1600" dirty="0"/>
          </a:p>
          <a:p>
            <a:pPr marL="0" indent="0" algn="ctr">
              <a:buNone/>
            </a:pPr>
            <a:endParaRPr lang="en-US" sz="16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Sources : DREES, INSEE, Eurostat, COR, Cour des comptes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1125</Words>
  <Application>Microsoft Macintosh PowerPoint</Application>
  <PresentationFormat>On-screen Show (16:9)</PresentationFormat>
  <Paragraphs>358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Instrument Serif</vt:lpstr>
      <vt:lpstr>JetBrains Mono</vt:lpstr>
      <vt:lpstr>Syne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Dépense Sociale en France</dc:title>
  <dc:subject>Présentation conférence</dc:subject>
  <dc:creator>Où Va l'Argent</dc:creator>
  <cp:lastModifiedBy>emmanuel blezes</cp:lastModifiedBy>
  <cp:revision>2</cp:revision>
  <dcterms:created xsi:type="dcterms:W3CDTF">2026-01-27T21:20:53Z</dcterms:created>
  <dcterms:modified xsi:type="dcterms:W3CDTF">2026-01-28T09:32:52Z</dcterms:modified>
</cp:coreProperties>
</file>