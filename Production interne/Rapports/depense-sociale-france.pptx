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73152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D4FF"/>
          </a:solidFill>
          <a:ln/>
          <a:effectLst>
            <a:outerShdw sx="100000" sy="100000" kx="0" ky="0" algn="bl" rotWithShape="0" blurRad="127000" dist="50800" dir="16200000">
              <a:srgbClr val="00d4ff">
                <a:alpha val="5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023360" y="731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4846320" y="822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Dépense Sociale</a:t>
            </a:r>
            <a:endParaRPr lang="en-US" sz="4800" dirty="0"/>
          </a:p>
        </p:txBody>
      </p:sp>
      <p:sp>
        <p:nvSpPr>
          <p:cNvPr id="22" name="Text 19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00D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 France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932 milliards d'euros | 31,9% du PIB | 1er rang européen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828800" y="3749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82880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Protection sociale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91840" y="3749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9184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Retraites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754880" y="3749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Santé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217920" y="3749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Solidarité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6576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Conférence 2025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SOMMAIRE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457200" y="146304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94360" y="1645920"/>
            <a:ext cx="457200" cy="45720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76200" dist="50800" dir="16200000">
              <a:srgbClr val="00d4ff">
                <a:alpha val="4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943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94360" y="2240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État des lieux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94360" y="26517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Chiffres clés et répartition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606040" y="146304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743200" y="1645920"/>
            <a:ext cx="457200" cy="45720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76200" dist="50800" dir="16200000">
              <a:srgbClr val="00d4ff">
                <a:alpha val="4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2743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2743200" y="2240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Comparaisons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2743200" y="26517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Europe et évolution historique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754880" y="146304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892040" y="1645920"/>
            <a:ext cx="457200" cy="45720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76200" dist="50800" dir="16200000">
              <a:srgbClr val="00d4ff">
                <a:alpha val="4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48920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4892040" y="2240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Financement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4892040" y="26517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Ressources et déficits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03720" y="146304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040880" y="1645920"/>
            <a:ext cx="457200" cy="45720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76200" dist="50800" dir="16200000">
              <a:srgbClr val="00d4ff">
                <a:alpha val="40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70408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7040880" y="2240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Débats &amp; Enjeux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7040880" y="26517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Fraude, non-recours, réformes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CONTEXTE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France, </a:t>
            </a:r>
            <a:pPr indent="0" marL="0">
              <a:buNone/>
            </a:pPr>
            <a:r>
              <a:rPr lang="en-US" sz="2800" i="1" dirty="0">
                <a:solidFill>
                  <a:srgbClr val="00D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championne d'Europe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365760" y="1417320"/>
            <a:ext cx="8412480" cy="3063240"/>
          </a:xfrm>
          <a:prstGeom prst="roundRect">
            <a:avLst>
              <a:gd name="adj" fmla="val 447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48640" y="1600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1097280" y="1600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1er pays européen en dépenses sociales (% PIB) depuis 2016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48640" y="2286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💶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09728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932,5 milliards d'euros de prestations en 2024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48640" y="2971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1097280" y="2971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31,9% du PIB contre 27,3% en moyenne UE (+4,6 pts)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48640" y="3657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109728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13 650€ de dépenses par habitant par an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DREES, 2025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CHIFFRE CLÉ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PRESTATIONS SOCIALES EN 2024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  <a:effectLst>
            <a:outerShdw sx="100000" sy="100000" kx="0" ky="0" algn="bl" rotWithShape="0" blurRad="190500" dist="50800" dir="16200000">
              <a:srgbClr val="00d4ff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932</a:t>
            </a:r>
            <a:endParaRPr lang="en-US" sz="15000" dirty="0"/>
          </a:p>
        </p:txBody>
      </p:sp>
      <p:sp>
        <p:nvSpPr>
          <p:cNvPr id="25" name="Text 2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milliards d'euros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Soit </a:t>
            </a:r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31,9% du PIB</a:t>
            </a:r>
            <a:pPr algn="ctr" indent="0" marL="0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En hausse de </a:t>
            </a:r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+4,8%</a:t>
            </a:r>
            <a:pPr algn="ctr" indent="0" marL="0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vs 2023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DREES - Comptes de la protection sociale 2024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RÉPARTITION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Où va l'argent ?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27432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Vieillesse-Survie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468880" y="1444752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111820"/>
          </a:solidFill>
          <a:ln/>
        </p:spPr>
      </p:sp>
      <p:sp>
        <p:nvSpPr>
          <p:cNvPr id="26" name="Shape 23"/>
          <p:cNvSpPr/>
          <p:nvPr/>
        </p:nvSpPr>
        <p:spPr>
          <a:xfrm>
            <a:off x="2468880" y="1444752"/>
            <a:ext cx="4773168" cy="347472"/>
          </a:xfrm>
          <a:prstGeom prst="roundRect">
            <a:avLst>
              <a:gd name="adj" fmla="val 15789"/>
            </a:avLst>
          </a:prstGeom>
          <a:solidFill>
            <a:srgbClr val="00D4FF"/>
          </a:solidFill>
          <a:ln/>
          <a:effectLst>
            <a:outerShdw sx="100000" sy="100000" kx="0" ky="0" algn="bl" rotWithShape="0" blurRad="63500" dist="50800" dir="16200000">
              <a:srgbClr val="00d4ff">
                <a:alpha val="4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2468880" y="1444752"/>
            <a:ext cx="4681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400,7 Md€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863840" y="1371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45%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74320" y="190195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Santé-Maladie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468880" y="1975104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111820"/>
          </a:solidFill>
          <a:ln/>
        </p:spPr>
      </p:sp>
      <p:sp>
        <p:nvSpPr>
          <p:cNvPr id="31" name="Shape 28"/>
          <p:cNvSpPr/>
          <p:nvPr/>
        </p:nvSpPr>
        <p:spPr>
          <a:xfrm>
            <a:off x="2468880" y="1975104"/>
            <a:ext cx="3871570" cy="347472"/>
          </a:xfrm>
          <a:prstGeom prst="roundRect">
            <a:avLst>
              <a:gd name="adj" fmla="val 15789"/>
            </a:avLst>
          </a:prstGeom>
          <a:solidFill>
            <a:srgbClr val="FFD700"/>
          </a:solidFill>
          <a:ln/>
          <a:effectLst>
            <a:outerShdw sx="100000" sy="100000" kx="0" ky="0" algn="bl" rotWithShape="0" blurRad="63500" dist="50800" dir="16200000">
              <a:srgbClr val="ffd700">
                <a:alpha val="4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2468880" y="1975104"/>
            <a:ext cx="37801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325,7 Md€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863840" y="19019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37%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74320" y="243230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Famille-Enfants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468880" y="2505456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111820"/>
          </a:solidFill>
          <a:ln/>
        </p:spPr>
      </p:sp>
      <p:sp>
        <p:nvSpPr>
          <p:cNvPr id="36" name="Shape 33"/>
          <p:cNvSpPr/>
          <p:nvPr/>
        </p:nvSpPr>
        <p:spPr>
          <a:xfrm>
            <a:off x="2468880" y="2505456"/>
            <a:ext cx="742493" cy="347472"/>
          </a:xfrm>
          <a:prstGeom prst="roundRect">
            <a:avLst>
              <a:gd name="adj" fmla="val 15789"/>
            </a:avLst>
          </a:prstGeom>
          <a:solidFill>
            <a:srgbClr val="A855F7"/>
          </a:solidFill>
          <a:ln/>
          <a:effectLst>
            <a:outerShdw sx="100000" sy="100000" kx="0" ky="0" algn="bl" rotWithShape="0" blurRad="63500" dist="50800" dir="16200000">
              <a:srgbClr val="a855f7">
                <a:alpha val="4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2468880" y="250545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62,9 Md€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863840" y="243230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7%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274320" y="29626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Emploi-Chômage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2468880" y="3035808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111820"/>
          </a:solidFill>
          <a:ln/>
        </p:spPr>
      </p:sp>
      <p:sp>
        <p:nvSpPr>
          <p:cNvPr id="41" name="Shape 38"/>
          <p:cNvSpPr/>
          <p:nvPr/>
        </p:nvSpPr>
        <p:spPr>
          <a:xfrm>
            <a:off x="2468880" y="3035808"/>
            <a:ext cx="636422" cy="347472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/>
          <a:effectLst>
            <a:outerShdw sx="100000" sy="100000" kx="0" ky="0" algn="bl" rotWithShape="0" blurRad="63500" dist="50800" dir="16200000">
              <a:srgbClr val="00ff88">
                <a:alpha val="40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2468880" y="30358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49,3 Md€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863840" y="296265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6%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74320" y="34930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Pauvreté-Exclusion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2468880" y="3566160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111820"/>
          </a:solidFill>
          <a:ln/>
        </p:spPr>
      </p:sp>
      <p:sp>
        <p:nvSpPr>
          <p:cNvPr id="46" name="Shape 43"/>
          <p:cNvSpPr/>
          <p:nvPr/>
        </p:nvSpPr>
        <p:spPr>
          <a:xfrm>
            <a:off x="2468880" y="3566160"/>
            <a:ext cx="424282" cy="347472"/>
          </a:xfrm>
          <a:prstGeom prst="roundRect">
            <a:avLst>
              <a:gd name="adj" fmla="val 15789"/>
            </a:avLst>
          </a:prstGeom>
          <a:solidFill>
            <a:srgbClr val="FF9F43"/>
          </a:solidFill>
          <a:ln/>
          <a:effectLst>
            <a:outerShdw sx="100000" sy="100000" kx="0" ky="0" algn="bl" rotWithShape="0" blurRad="63500" dist="50800" dir="16200000">
              <a:srgbClr val="ff9f43">
                <a:alpha val="4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2468880" y="35661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35,2 Md€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7863840" y="34930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4%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274320" y="4023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Logement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2468880" y="4096512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111820"/>
          </a:solidFill>
          <a:ln/>
        </p:spPr>
      </p:sp>
      <p:sp>
        <p:nvSpPr>
          <p:cNvPr id="51" name="Shape 48"/>
          <p:cNvSpPr/>
          <p:nvPr/>
        </p:nvSpPr>
        <p:spPr>
          <a:xfrm>
            <a:off x="2468880" y="4096512"/>
            <a:ext cx="212141" cy="347472"/>
          </a:xfrm>
          <a:prstGeom prst="roundRect">
            <a:avLst>
              <a:gd name="adj" fmla="val 25862"/>
            </a:avLst>
          </a:prstGeom>
          <a:solidFill>
            <a:srgbClr val="FF4757"/>
          </a:solidFill>
          <a:ln/>
          <a:effectLst>
            <a:outerShdw sx="100000" sy="100000" kx="0" ky="0" algn="bl" rotWithShape="0" blurRad="63500" dist="50800" dir="16200000">
              <a:srgbClr val="ff4757">
                <a:alpha val="40000"/>
              </a:srgbClr>
            </a:outerShdw>
          </a:effectLst>
        </p:spPr>
      </p:sp>
      <p:sp>
        <p:nvSpPr>
          <p:cNvPr id="52" name="Text 49"/>
          <p:cNvSpPr/>
          <p:nvPr/>
        </p:nvSpPr>
        <p:spPr>
          <a:xfrm>
            <a:off x="2468880" y="40965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15,8 Md€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7863840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2%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INSEE, DREES - 2023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RETRAITES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Les retraites : </a:t>
            </a:r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45%</a:t>
            </a:r>
            <a:pPr indent="0" marL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des dépenses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417320"/>
            <a:ext cx="4023360" cy="3063240"/>
          </a:xfrm>
          <a:prstGeom prst="roundRect">
            <a:avLst>
              <a:gd name="adj" fmla="val 447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1554480"/>
            <a:ext cx="402336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00d4ff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400,7 Md€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365760" y="2286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soit 14,2% du PIB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17 millions de retraités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1 629€ de pension moyenne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008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Âge légal : 64 ans (2030)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0" y="1417320"/>
            <a:ext cx="4206240" cy="3063240"/>
          </a:xfrm>
          <a:prstGeom prst="roundRect">
            <a:avLst>
              <a:gd name="adj" fmla="val 4478"/>
            </a:avLst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0" y="1417320"/>
            <a:ext cx="420624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0" y="1554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Comparaison UE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84632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France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85800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14,2%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84632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Italie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858000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13,7%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484632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Allemagne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85800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10,2%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846320" y="3520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Moyenne UE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858000" y="3520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11,9%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COR, DREES 2024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SANTÉ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santé : </a:t>
            </a:r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37%</a:t>
            </a:r>
            <a:pPr indent="0" marL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des dépenses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417320"/>
            <a:ext cx="8412480" cy="3063240"/>
          </a:xfrm>
          <a:prstGeom prst="roundRect">
            <a:avLst>
              <a:gd name="adj" fmla="val 447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1645920"/>
            <a:ext cx="841248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16200000">
              <a:srgbClr val="ffd700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325,7 Md€</a:t>
            </a:r>
            <a:endParaRPr lang="en-US" sz="4800" dirty="0"/>
          </a:p>
        </p:txBody>
      </p:sp>
      <p:sp>
        <p:nvSpPr>
          <p:cNvPr id="26" name="Text 23"/>
          <p:cNvSpPr/>
          <p:nvPr/>
        </p:nvSpPr>
        <p:spPr>
          <a:xfrm>
            <a:off x="365760" y="2377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soit 10% du PIB — le plus élevé d'Europe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0080" y="29260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265 Md€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640080" y="3611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ONDAM 2025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743200" y="29260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A855F7">
              <a:alpha val="15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45%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2743200" y="3611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Hôpital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846320" y="29260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00FF88">
              <a:alpha val="15000"/>
            </a:srgbClr>
          </a:solidFill>
          <a:ln w="1270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28%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4846320" y="3611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Soins de ville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949440" y="29260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9F43">
              <a:alpha val="15000"/>
            </a:srgbClr>
          </a:solidFill>
          <a:ln w="12700">
            <a:solidFill>
              <a:srgbClr val="FF9F43">
                <a:alpha val="5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94944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15%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6949440" y="3611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Médicaments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Assurance Maladie, PLFSS 2025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AUTRES RISQUES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Les 18% restants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37160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👨‍👩‍👧‍👦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118872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Famille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292608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62,9 Md€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48640" y="2194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Allocations familiales, PAJE, ASF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663440" y="137160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548640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Chômage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22376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49,3 Md€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846320" y="2194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ARE, ASS, formation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65760" y="306324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FF9F43">
                <a:alpha val="5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864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36" name="Text 33"/>
          <p:cNvSpPr/>
          <p:nvPr/>
        </p:nvSpPr>
        <p:spPr>
          <a:xfrm>
            <a:off x="118872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Logement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292608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15,8 Md€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48640" y="3886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APL, ALF, ALS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663440" y="306324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FF4757">
                <a:alpha val="5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4632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41" name="Text 38"/>
          <p:cNvSpPr/>
          <p:nvPr/>
        </p:nvSpPr>
        <p:spPr>
          <a:xfrm>
            <a:off x="548640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Pauvreté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22376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35,2 Md€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4846320" y="3886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RSA, AAH, ASPA, prime activité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DREES 2023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EUROPE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France face à ses voisins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365760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France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468880" y="1490472"/>
            <a:ext cx="5029200" cy="347472"/>
          </a:xfrm>
          <a:prstGeom prst="roundRect">
            <a:avLst>
              <a:gd name="adj" fmla="val 15789"/>
            </a:avLst>
          </a:prstGeom>
          <a:solidFill>
            <a:srgbClr val="111820"/>
          </a:solidFill>
          <a:ln/>
        </p:spPr>
      </p:sp>
      <p:sp>
        <p:nvSpPr>
          <p:cNvPr id="26" name="Shape 23"/>
          <p:cNvSpPr/>
          <p:nvPr/>
        </p:nvSpPr>
        <p:spPr>
          <a:xfrm>
            <a:off x="2468880" y="1490472"/>
            <a:ext cx="4583757" cy="347472"/>
          </a:xfrm>
          <a:prstGeom prst="roundRect">
            <a:avLst>
              <a:gd name="adj" fmla="val 15789"/>
            </a:avLst>
          </a:prstGeom>
          <a:solidFill>
            <a:srgbClr val="00D4FF"/>
          </a:solidFill>
          <a:ln/>
          <a:effectLst>
            <a:outerShdw sx="100000" sy="100000" kx="0" ky="0" algn="bl" rotWithShape="0" blurRad="76200" dist="50800" dir="16200000">
              <a:srgbClr val="00d4ff">
                <a:alpha val="5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589520" y="1417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31.9% PIB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65760" y="19476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Allemagne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468880" y="2020824"/>
            <a:ext cx="5029200" cy="347472"/>
          </a:xfrm>
          <a:prstGeom prst="roundRect">
            <a:avLst>
              <a:gd name="adj" fmla="val 15789"/>
            </a:avLst>
          </a:prstGeom>
          <a:solidFill>
            <a:srgbClr val="111820"/>
          </a:solidFill>
          <a:ln/>
        </p:spPr>
      </p:sp>
      <p:sp>
        <p:nvSpPr>
          <p:cNvPr id="30" name="Shape 27"/>
          <p:cNvSpPr/>
          <p:nvPr/>
        </p:nvSpPr>
        <p:spPr>
          <a:xfrm>
            <a:off x="2468880" y="2020824"/>
            <a:ext cx="4152682" cy="347472"/>
          </a:xfrm>
          <a:prstGeom prst="roundRect">
            <a:avLst>
              <a:gd name="adj" fmla="val 15789"/>
            </a:avLst>
          </a:prstGeom>
          <a:solidFill>
            <a:srgbClr val="8899A8"/>
          </a:solidFill>
          <a:ln/>
        </p:spPr>
      </p:sp>
      <p:sp>
        <p:nvSpPr>
          <p:cNvPr id="31" name="Text 28"/>
          <p:cNvSpPr/>
          <p:nvPr/>
        </p:nvSpPr>
        <p:spPr>
          <a:xfrm>
            <a:off x="7589520" y="194767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89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28.9% PIB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65760" y="247802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Italie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2468880" y="2551176"/>
            <a:ext cx="5029200" cy="347472"/>
          </a:xfrm>
          <a:prstGeom prst="roundRect">
            <a:avLst>
              <a:gd name="adj" fmla="val 15789"/>
            </a:avLst>
          </a:prstGeom>
          <a:solidFill>
            <a:srgbClr val="111820"/>
          </a:solidFill>
          <a:ln/>
        </p:spPr>
      </p:sp>
      <p:sp>
        <p:nvSpPr>
          <p:cNvPr id="34" name="Shape 31"/>
          <p:cNvSpPr/>
          <p:nvPr/>
        </p:nvSpPr>
        <p:spPr>
          <a:xfrm>
            <a:off x="2468880" y="2551176"/>
            <a:ext cx="4037729" cy="347472"/>
          </a:xfrm>
          <a:prstGeom prst="roundRect">
            <a:avLst>
              <a:gd name="adj" fmla="val 15789"/>
            </a:avLst>
          </a:prstGeom>
          <a:solidFill>
            <a:srgbClr val="8899A8"/>
          </a:solidFill>
          <a:ln/>
        </p:spPr>
      </p:sp>
      <p:sp>
        <p:nvSpPr>
          <p:cNvPr id="35" name="Text 32"/>
          <p:cNvSpPr/>
          <p:nvPr/>
        </p:nvSpPr>
        <p:spPr>
          <a:xfrm>
            <a:off x="7589520" y="247802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89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28.1% PIB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365760" y="300837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Moyenne UE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2468880" y="3081528"/>
            <a:ext cx="5029200" cy="347472"/>
          </a:xfrm>
          <a:prstGeom prst="roundRect">
            <a:avLst>
              <a:gd name="adj" fmla="val 15789"/>
            </a:avLst>
          </a:prstGeom>
          <a:solidFill>
            <a:srgbClr val="111820"/>
          </a:solidFill>
          <a:ln/>
        </p:spPr>
      </p:sp>
      <p:sp>
        <p:nvSpPr>
          <p:cNvPr id="38" name="Shape 35"/>
          <p:cNvSpPr/>
          <p:nvPr/>
        </p:nvSpPr>
        <p:spPr>
          <a:xfrm>
            <a:off x="2468880" y="3081528"/>
            <a:ext cx="3922776" cy="347472"/>
          </a:xfrm>
          <a:prstGeom prst="roundRect">
            <a:avLst>
              <a:gd name="adj" fmla="val 15789"/>
            </a:avLst>
          </a:prstGeom>
          <a:solidFill>
            <a:srgbClr val="FFD700"/>
          </a:solidFill>
          <a:ln/>
        </p:spPr>
      </p:sp>
      <p:sp>
        <p:nvSpPr>
          <p:cNvPr id="39" name="Text 36"/>
          <p:cNvSpPr/>
          <p:nvPr/>
        </p:nvSpPr>
        <p:spPr>
          <a:xfrm>
            <a:off x="7589520" y="300837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27.3% PIB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365760" y="35387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Espagne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2468880" y="3611880"/>
            <a:ext cx="5029200" cy="347472"/>
          </a:xfrm>
          <a:prstGeom prst="roundRect">
            <a:avLst>
              <a:gd name="adj" fmla="val 15789"/>
            </a:avLst>
          </a:prstGeom>
          <a:solidFill>
            <a:srgbClr val="111820"/>
          </a:solidFill>
          <a:ln/>
        </p:spPr>
      </p:sp>
      <p:sp>
        <p:nvSpPr>
          <p:cNvPr id="42" name="Shape 39"/>
          <p:cNvSpPr/>
          <p:nvPr/>
        </p:nvSpPr>
        <p:spPr>
          <a:xfrm>
            <a:off x="2468880" y="3611880"/>
            <a:ext cx="3606655" cy="347472"/>
          </a:xfrm>
          <a:prstGeom prst="roundRect">
            <a:avLst>
              <a:gd name="adj" fmla="val 15789"/>
            </a:avLst>
          </a:prstGeom>
          <a:solidFill>
            <a:srgbClr val="8899A8"/>
          </a:solidFill>
          <a:ln/>
        </p:spPr>
      </p:sp>
      <p:sp>
        <p:nvSpPr>
          <p:cNvPr id="43" name="Text 40"/>
          <p:cNvSpPr/>
          <p:nvPr/>
        </p:nvSpPr>
        <p:spPr>
          <a:xfrm>
            <a:off x="7589520" y="35387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89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25.1% PIB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365760" y="4069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Royaume-Uni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2468880" y="4142232"/>
            <a:ext cx="5029200" cy="347472"/>
          </a:xfrm>
          <a:prstGeom prst="roundRect">
            <a:avLst>
              <a:gd name="adj" fmla="val 15789"/>
            </a:avLst>
          </a:prstGeom>
          <a:solidFill>
            <a:srgbClr val="111820"/>
          </a:solidFill>
          <a:ln/>
        </p:spPr>
      </p:sp>
      <p:sp>
        <p:nvSpPr>
          <p:cNvPr id="46" name="Shape 43"/>
          <p:cNvSpPr/>
          <p:nvPr/>
        </p:nvSpPr>
        <p:spPr>
          <a:xfrm>
            <a:off x="2468880" y="4142232"/>
            <a:ext cx="3017520" cy="347472"/>
          </a:xfrm>
          <a:prstGeom prst="roundRect">
            <a:avLst>
              <a:gd name="adj" fmla="val 15789"/>
            </a:avLst>
          </a:prstGeom>
          <a:solidFill>
            <a:srgbClr val="8899A8"/>
          </a:solidFill>
          <a:ln/>
        </p:spPr>
      </p:sp>
      <p:sp>
        <p:nvSpPr>
          <p:cNvPr id="47" name="Text 44"/>
          <p:cNvSpPr/>
          <p:nvPr/>
        </p:nvSpPr>
        <p:spPr>
          <a:xfrm>
            <a:off x="7589520" y="4069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89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21% PIB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France dépense 4,6 points de PIB de plus que la moyenne UE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Eurostat 2023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ÉVOLUTION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10 ans de dépenses sociales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1828800" y="1554480"/>
            <a:ext cx="0" cy="283464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691640" y="1463040"/>
            <a:ext cx="274320" cy="274320"/>
          </a:xfrm>
          <a:prstGeom prst="ellipse">
            <a:avLst/>
          </a:prstGeom>
          <a:solidFill>
            <a:srgbClr val="111820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1417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2014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219456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700 Md€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114800" y="1417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31,9% du PIB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691640" y="2331720"/>
            <a:ext cx="274320" cy="274320"/>
          </a:xfrm>
          <a:prstGeom prst="ellipse">
            <a:avLst/>
          </a:prstGeom>
          <a:solidFill>
            <a:srgbClr val="111820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" y="2286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2019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219456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762 Md€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411480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31,2% du PIB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94360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Pré-COVID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691640" y="3200400"/>
            <a:ext cx="274320" cy="274320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" y="3154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2020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219456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822 Md€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4114800" y="3154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35,4% du PIB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9436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Pic COVID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691640" y="4069080"/>
            <a:ext cx="274320" cy="274320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6576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2024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219456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932 Md€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4114800" y="4023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31,9% du PIB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94360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+233 Md€ en 10 ans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DREES, INSEE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FINANCEMENT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D'où vient l'argent ?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457200" y="137160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11820">
              <a:alpha val="85000"/>
            </a:srgbClr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d4ff">
                <a:alpha val="3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40080" y="15087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59%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182880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Cotisations sociales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82880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428 Md€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754880" y="137160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11820">
              <a:alpha val="85000"/>
            </a:srgbClr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50800" dir="16200000">
              <a:srgbClr val="ffd700">
                <a:alpha val="3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937760" y="15087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21%</a:t>
            </a:r>
            <a:endParaRPr lang="en-US" sz="3200" dirty="0"/>
          </a:p>
        </p:txBody>
      </p:sp>
      <p:sp>
        <p:nvSpPr>
          <p:cNvPr id="30" name="Text 27"/>
          <p:cNvSpPr/>
          <p:nvPr/>
        </p:nvSpPr>
        <p:spPr>
          <a:xfrm>
            <a:off x="612648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CSG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12648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154 Md€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57200" y="297180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11820">
              <a:alpha val="85000"/>
            </a:srgbClr>
          </a:solidFill>
          <a:ln w="254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50800" dir="16200000">
              <a:srgbClr val="a855f7">
                <a:alpha val="3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40080" y="31089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11%</a:t>
            </a:r>
            <a:endParaRPr lang="en-US" sz="3200" dirty="0"/>
          </a:p>
        </p:txBody>
      </p:sp>
      <p:sp>
        <p:nvSpPr>
          <p:cNvPr id="34" name="Text 31"/>
          <p:cNvSpPr/>
          <p:nvPr/>
        </p:nvSpPr>
        <p:spPr>
          <a:xfrm>
            <a:off x="1828800" y="3154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Impôts &amp; taxes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82880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 Md€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754880" y="297180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11820">
              <a:alpha val="85000"/>
            </a:srgbClr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50800" dir="16200000">
              <a:srgbClr val="00ff88">
                <a:alpha val="3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4937760" y="31089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9%</a:t>
            </a:r>
            <a:endParaRPr lang="en-US" sz="3200" dirty="0"/>
          </a:p>
        </p:txBody>
      </p:sp>
      <p:sp>
        <p:nvSpPr>
          <p:cNvPr id="38" name="Text 35"/>
          <p:cNvSpPr/>
          <p:nvPr/>
        </p:nvSpPr>
        <p:spPr>
          <a:xfrm>
            <a:off x="6126480" y="3154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Contributions État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12648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65 Md€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 point de CSG = 17,5 Md€ de recettes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DREES, La finance pour tous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DÉFICIT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Situation </a:t>
            </a:r>
            <a:pPr indent="0" marL="0">
              <a:buNone/>
            </a:pPr>
            <a:r>
              <a:rPr lang="en-US" sz="2600" i="1" dirty="0">
                <a:solidFill>
                  <a:srgbClr val="FF475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alarmante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ff4757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-22,1</a:t>
            </a:r>
            <a:endParaRPr lang="en-US" sz="9000" dirty="0"/>
          </a:p>
        </p:txBody>
      </p:sp>
      <p:sp>
        <p:nvSpPr>
          <p:cNvPr id="25" name="Text 22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milliards € de déficit Sécu prévu en 2025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188720" y="3017520"/>
            <a:ext cx="1645920" cy="1188720"/>
          </a:xfrm>
          <a:prstGeom prst="roundRect">
            <a:avLst>
              <a:gd name="adj" fmla="val 7692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FF4757">
                <a:alpha val="5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8872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2023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88720" y="3520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-10,8 Md€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017520" y="3017520"/>
            <a:ext cx="1645920" cy="1188720"/>
          </a:xfrm>
          <a:prstGeom prst="roundRect">
            <a:avLst>
              <a:gd name="adj" fmla="val 7692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FF4757">
                <a:alpha val="5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01752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2024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017520" y="3520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-15,3 Md€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846320" y="3017520"/>
            <a:ext cx="1645920" cy="1188720"/>
          </a:xfrm>
          <a:prstGeom prst="roundRect">
            <a:avLst>
              <a:gd name="adj" fmla="val 7692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FF4757">
                <a:alpha val="5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2025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846320" y="3520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-22,1 Md€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675120" y="3017520"/>
            <a:ext cx="1645920" cy="1188720"/>
          </a:xfrm>
          <a:prstGeom prst="roundRect">
            <a:avLst>
              <a:gd name="adj" fmla="val 7692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FF4757">
                <a:alpha val="5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7512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2028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675120" y="3520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-24,1 Md€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Cour des comptes, 2025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PROJECTIONS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Trajectoire des retraites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371600"/>
            <a:ext cx="8412480" cy="3108960"/>
          </a:xfrm>
          <a:prstGeom prst="roundRect">
            <a:avLst>
              <a:gd name="adj" fmla="val 4412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Solde du système de retraites (% du PIB)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2030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3152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-0,2%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73152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-6,6 Md€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8346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2040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83464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-0,7%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283464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~-20 Md€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93776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2050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93776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-1,1%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493776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~-35 Md€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04088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2070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04088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-1,4%</a:t>
            </a:r>
            <a:endParaRPr lang="en-US" sz="2800" dirty="0"/>
          </a:p>
        </p:txBody>
      </p:sp>
      <p:sp>
        <p:nvSpPr>
          <p:cNvPr id="37" name="Text 34"/>
          <p:cNvSpPr/>
          <p:nvPr/>
        </p:nvSpPr>
        <p:spPr>
          <a:xfrm>
            <a:off x="704088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~-50 Md€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Malgré la réforme de 2023, le système reste structurellement déficitaire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COR - Rapport annuel 2025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RÉFORMES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Les réformes récentes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3716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5760" y="1371600"/>
            <a:ext cx="73152" cy="9144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Retraites 2023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Âge légal : 62 → 64 ans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02920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Économie : 0,2 pt PIB en 2030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65760" y="242316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65760" y="2423160"/>
            <a:ext cx="73152" cy="9144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Chômage 2025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Durée max : 24 → 18 mois (&lt;55 ans)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02920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Économie : 3,6 Md€/an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65760" y="347472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65760" y="3474720"/>
            <a:ext cx="73152" cy="9144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6" name="Text 33"/>
          <p:cNvSpPr/>
          <p:nvPr/>
        </p:nvSpPr>
        <p:spPr>
          <a:xfrm>
            <a:off x="6400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RSA conditionnel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4008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15-20h d'activité obligatoires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02920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Entrée en vigueur : janvier 2025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Vie publique, Unédic, Service-public.fr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FACT-CHECK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Fraude sociale vs </a:t>
            </a:r>
            <a:pPr indent="0" marL="0">
              <a:buNone/>
            </a:pPr>
            <a:r>
              <a:rPr lang="en-US" sz="2600" i="1" dirty="0">
                <a:solidFill>
                  <a:srgbClr val="FF475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fraude fiscale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457200" y="1417320"/>
            <a:ext cx="4023360" cy="2286000"/>
          </a:xfrm>
          <a:prstGeom prst="roundRect">
            <a:avLst>
              <a:gd name="adj" fmla="val 4800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F4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Fraude sociale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57200" y="20116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13-14 Md€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457200" y="27432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dont 56% = entreprises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(travail dissimulé)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63440" y="1417320"/>
            <a:ext cx="4023360" cy="2286000"/>
          </a:xfrm>
          <a:prstGeom prst="roundRect">
            <a:avLst>
              <a:gd name="adj" fmla="val 4800"/>
            </a:avLst>
          </a:prstGeom>
          <a:solidFill>
            <a:srgbClr val="111820">
              <a:alpha val="85000"/>
            </a:srgbClr>
          </a:solidFill>
          <a:ln w="254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50800" dir="16200000">
              <a:srgbClr val="ff4757">
                <a:alpha val="3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66344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Fraude fiscale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663440" y="20116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80-120 Md€</a:t>
            </a:r>
            <a:endParaRPr lang="en-US" sz="3200" dirty="0"/>
          </a:p>
        </p:txBody>
      </p:sp>
      <p:sp>
        <p:nvSpPr>
          <p:cNvPr id="31" name="Text 28"/>
          <p:cNvSpPr/>
          <p:nvPr/>
        </p:nvSpPr>
        <p:spPr>
          <a:xfrm>
            <a:off x="4663440" y="27432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 à 10 fois supérieure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à la fraude sociale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fraude des allocataires (RSA, etc.) ne représente qu'une fraction de la fraude sociale totale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HCFiPS, Solidaires Finances Publiques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NON-RECOURS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paradoxe du </a:t>
            </a:r>
            <a:pPr indent="0" marL="0">
              <a:buNone/>
            </a:pPr>
            <a:r>
              <a:rPr lang="en-US" sz="2600" i="1" dirty="0">
                <a:solidFill>
                  <a:srgbClr val="A855F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non-recours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 milliards d'euros d'aides non réclamées chaque année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Minimum vieillesse (ASPA)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97680" y="1810512"/>
            <a:ext cx="3200400" cy="347472"/>
          </a:xfrm>
          <a:prstGeom prst="roundRect">
            <a:avLst>
              <a:gd name="adj" fmla="val 15789"/>
            </a:avLst>
          </a:prstGeom>
          <a:solidFill>
            <a:srgbClr val="111820"/>
          </a:solidFill>
          <a:ln/>
        </p:spPr>
      </p:sp>
      <p:sp>
        <p:nvSpPr>
          <p:cNvPr id="27" name="Shape 24"/>
          <p:cNvSpPr/>
          <p:nvPr/>
        </p:nvSpPr>
        <p:spPr>
          <a:xfrm>
            <a:off x="4297680" y="1810512"/>
            <a:ext cx="2909455" cy="347472"/>
          </a:xfrm>
          <a:prstGeom prst="roundRect">
            <a:avLst>
              <a:gd name="adj" fmla="val 15789"/>
            </a:avLst>
          </a:prstGeom>
          <a:solidFill>
            <a:srgbClr val="FF4757"/>
          </a:solidFill>
          <a:ln/>
        </p:spPr>
      </p:sp>
      <p:sp>
        <p:nvSpPr>
          <p:cNvPr id="28" name="Text 25"/>
          <p:cNvSpPr/>
          <p:nvPr/>
        </p:nvSpPr>
        <p:spPr>
          <a:xfrm>
            <a:off x="7589520" y="1737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50%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Complémentaire santé (CSS)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297680" y="2359152"/>
            <a:ext cx="3200400" cy="347472"/>
          </a:xfrm>
          <a:prstGeom prst="roundRect">
            <a:avLst>
              <a:gd name="adj" fmla="val 15789"/>
            </a:avLst>
          </a:prstGeom>
          <a:solidFill>
            <a:srgbClr val="111820"/>
          </a:solidFill>
          <a:ln/>
        </p:spPr>
      </p:sp>
      <p:sp>
        <p:nvSpPr>
          <p:cNvPr id="31" name="Shape 28"/>
          <p:cNvSpPr/>
          <p:nvPr/>
        </p:nvSpPr>
        <p:spPr>
          <a:xfrm>
            <a:off x="4297680" y="2359152"/>
            <a:ext cx="2560320" cy="347472"/>
          </a:xfrm>
          <a:prstGeom prst="roundRect">
            <a:avLst>
              <a:gd name="adj" fmla="val 15789"/>
            </a:avLst>
          </a:prstGeom>
          <a:solidFill>
            <a:srgbClr val="FF9F43"/>
          </a:solidFill>
          <a:ln/>
        </p:spPr>
      </p:sp>
      <p:sp>
        <p:nvSpPr>
          <p:cNvPr id="32" name="Text 29"/>
          <p:cNvSpPr/>
          <p:nvPr/>
        </p:nvSpPr>
        <p:spPr>
          <a:xfrm>
            <a:off x="7589520" y="2286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44%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5720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Prime d'activité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297680" y="2907792"/>
            <a:ext cx="3200400" cy="347472"/>
          </a:xfrm>
          <a:prstGeom prst="roundRect">
            <a:avLst>
              <a:gd name="adj" fmla="val 15789"/>
            </a:avLst>
          </a:prstGeom>
          <a:solidFill>
            <a:srgbClr val="111820"/>
          </a:solidFill>
          <a:ln/>
        </p:spPr>
      </p:sp>
      <p:sp>
        <p:nvSpPr>
          <p:cNvPr id="35" name="Shape 32"/>
          <p:cNvSpPr/>
          <p:nvPr/>
        </p:nvSpPr>
        <p:spPr>
          <a:xfrm>
            <a:off x="4297680" y="2907792"/>
            <a:ext cx="2269375" cy="347472"/>
          </a:xfrm>
          <a:prstGeom prst="roundRect">
            <a:avLst>
              <a:gd name="adj" fmla="val 15789"/>
            </a:avLst>
          </a:prstGeom>
          <a:solidFill>
            <a:srgbClr val="FFD700"/>
          </a:solidFill>
          <a:ln/>
        </p:spPr>
      </p:sp>
      <p:sp>
        <p:nvSpPr>
          <p:cNvPr id="36" name="Text 33"/>
          <p:cNvSpPr/>
          <p:nvPr/>
        </p:nvSpPr>
        <p:spPr>
          <a:xfrm>
            <a:off x="7589520" y="2834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39%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45720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RSA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297680" y="3456432"/>
            <a:ext cx="3200400" cy="347472"/>
          </a:xfrm>
          <a:prstGeom prst="roundRect">
            <a:avLst>
              <a:gd name="adj" fmla="val 15789"/>
            </a:avLst>
          </a:prstGeom>
          <a:solidFill>
            <a:srgbClr val="111820"/>
          </a:solidFill>
          <a:ln/>
        </p:spPr>
      </p:sp>
      <p:sp>
        <p:nvSpPr>
          <p:cNvPr id="39" name="Shape 36"/>
          <p:cNvSpPr/>
          <p:nvPr/>
        </p:nvSpPr>
        <p:spPr>
          <a:xfrm>
            <a:off x="4297680" y="3456432"/>
            <a:ext cx="1978429" cy="347472"/>
          </a:xfrm>
          <a:prstGeom prst="roundRect">
            <a:avLst>
              <a:gd name="adj" fmla="val 15789"/>
            </a:avLst>
          </a:prstGeom>
          <a:solidFill>
            <a:srgbClr val="A855F7"/>
          </a:solidFill>
          <a:ln/>
        </p:spPr>
      </p:sp>
      <p:sp>
        <p:nvSpPr>
          <p:cNvPr id="40" name="Text 37"/>
          <p:cNvSpPr/>
          <p:nvPr/>
        </p:nvSpPr>
        <p:spPr>
          <a:xfrm>
            <a:off x="7589520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34%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45720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Assurance chômage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297680" y="4005072"/>
            <a:ext cx="3200400" cy="347472"/>
          </a:xfrm>
          <a:prstGeom prst="roundRect">
            <a:avLst>
              <a:gd name="adj" fmla="val 15789"/>
            </a:avLst>
          </a:prstGeom>
          <a:solidFill>
            <a:srgbClr val="111820"/>
          </a:solidFill>
          <a:ln/>
        </p:spPr>
      </p:sp>
      <p:sp>
        <p:nvSpPr>
          <p:cNvPr id="43" name="Shape 40"/>
          <p:cNvSpPr/>
          <p:nvPr/>
        </p:nvSpPr>
        <p:spPr>
          <a:xfrm>
            <a:off x="4297680" y="4005072"/>
            <a:ext cx="1454727" cy="347472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/>
        </p:spPr>
      </p:sp>
      <p:sp>
        <p:nvSpPr>
          <p:cNvPr id="44" name="Text 41"/>
          <p:cNvSpPr/>
          <p:nvPr/>
        </p:nvSpPr>
        <p:spPr>
          <a:xfrm>
            <a:off x="7589520" y="3931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25-42%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Non-recours au RSA seul : 3 à 5 milliards €/an non versés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DREES, ODENORE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IMPACT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Effet sur la pauvreté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457200" y="137160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1508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Avant redistribution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19202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89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21,7%</a:t>
            </a:r>
            <a:endParaRPr lang="en-US" sz="4800" dirty="0"/>
          </a:p>
        </p:txBody>
      </p:sp>
      <p:sp>
        <p:nvSpPr>
          <p:cNvPr id="27" name="Text 24"/>
          <p:cNvSpPr/>
          <p:nvPr/>
        </p:nvSpPr>
        <p:spPr>
          <a:xfrm>
            <a:off x="457200" y="2651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 taux de pauvreté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63440" y="137160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00FF88">
              <a:alpha val="10000"/>
            </a:srgbClr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50800" dir="16200000">
              <a:srgbClr val="00ff88">
                <a:alpha val="3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663440" y="1508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Après redistribution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663440" y="19202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15,4%</a:t>
            </a:r>
            <a:endParaRPr lang="en-US" sz="4800" dirty="0"/>
          </a:p>
        </p:txBody>
      </p:sp>
      <p:sp>
        <p:nvSpPr>
          <p:cNvPr id="31" name="Text 28"/>
          <p:cNvSpPr/>
          <p:nvPr/>
        </p:nvSpPr>
        <p:spPr>
          <a:xfrm>
            <a:off x="4663440" y="2651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-6,3 points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114800" y="18288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D4FF"/>
                </a:solidFill>
              </a:rPr>
              <a:t>→</a:t>
            </a:r>
            <a:endParaRPr lang="en-US" sz="3600" dirty="0"/>
          </a:p>
        </p:txBody>
      </p:sp>
      <p:sp>
        <p:nvSpPr>
          <p:cNvPr id="33" name="Text 30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taux de pauvreté des enfants est divisé par 2 grâce aux prestations (34% → 17%)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2286000" y="384048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FF4757">
              <a:alpha val="15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286000" y="38404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475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⚠️ Alerte : effet en baisse (7,7 pts en 2013 → 6,1 pts en 2023)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INSEE, DREES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ENJEUX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Les défis à venir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457200" y="137160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👴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1280160" y="1554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Vieillissement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280160" y="1965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+65 ans : 22% → 30%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1280160" y="2423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d'ici 2070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754880" y="137160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FF4757">
                <a:alpha val="5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377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5577840" y="1554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Dette sociale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577840" y="1965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~200 Md€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5577840" y="2423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projetée en 2030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297180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36" name="Text 33"/>
          <p:cNvSpPr/>
          <p:nvPr/>
        </p:nvSpPr>
        <p:spPr>
          <a:xfrm>
            <a:off x="128016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Ratio actifs/retraités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28016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1,7 → 1,3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1280160" y="4023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d'ici 2070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754880" y="297180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9377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41" name="Text 38"/>
          <p:cNvSpPr/>
          <p:nvPr/>
        </p:nvSpPr>
        <p:spPr>
          <a:xfrm>
            <a:off x="557784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Dépendance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557784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→ 2,8 M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5577840" y="4023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personnes en 2050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INSEE, COR, Cour des comptes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PERSPECTIVES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Trois scénarios possibles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457200" y="1371600"/>
            <a:ext cx="2651760" cy="3017520"/>
          </a:xfrm>
          <a:prstGeom prst="roundRect">
            <a:avLst>
              <a:gd name="adj" fmla="val 5172"/>
            </a:avLst>
          </a:prstGeom>
          <a:solidFill>
            <a:srgbClr val="111820">
              <a:alpha val="85000"/>
            </a:srgbClr>
          </a:solidFill>
          <a:ln w="254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50800" dir="16200000">
              <a:srgbClr val="ff4757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417320" y="1554480"/>
            <a:ext cx="731520" cy="731520"/>
          </a:xfrm>
          <a:prstGeom prst="ellipse">
            <a:avLst/>
          </a:prstGeom>
          <a:solidFill>
            <a:srgbClr val="FF4757"/>
          </a:solidFill>
          <a:ln/>
          <a:effectLst>
            <a:outerShdw sx="100000" sy="100000" kx="0" ky="0" algn="bl" rotWithShape="0" blurRad="76200" dist="50800" dir="16200000">
              <a:srgbClr val="ff4757">
                <a:alpha val="4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41732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59436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Statu quo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94360" y="3017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Déficits chroniques, dette croissante, risque de crise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91840" y="1371600"/>
            <a:ext cx="2651760" cy="3017520"/>
          </a:xfrm>
          <a:prstGeom prst="roundRect">
            <a:avLst>
              <a:gd name="adj" fmla="val 5172"/>
            </a:avLst>
          </a:prstGeom>
          <a:solidFill>
            <a:srgbClr val="111820">
              <a:alpha val="85000"/>
            </a:srgbClr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50800" dir="16200000">
              <a:srgbClr val="ffd7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251960" y="1554480"/>
            <a:ext cx="731520" cy="731520"/>
          </a:xfrm>
          <a:prstGeom prst="ellipse">
            <a:avLst/>
          </a:prstGeom>
          <a:solidFill>
            <a:srgbClr val="FFD700"/>
          </a:solidFill>
          <a:ln/>
          <a:effectLst>
            <a:outerShdw sx="100000" sy="100000" kx="0" ky="0" algn="bl" rotWithShape="0" blurRad="76200" dist="50800" dir="16200000">
              <a:srgbClr val="ffd700">
                <a:alpha val="4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25196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342900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Ajustements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3429000" y="3017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Nouvelles réformes, hausse CSG, contrôle ONDAM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126480" y="1371600"/>
            <a:ext cx="2651760" cy="3017520"/>
          </a:xfrm>
          <a:prstGeom prst="roundRect">
            <a:avLst>
              <a:gd name="adj" fmla="val 5172"/>
            </a:avLst>
          </a:prstGeom>
          <a:solidFill>
            <a:srgbClr val="111820">
              <a:alpha val="85000"/>
            </a:srgbClr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50800" dir="16200000">
              <a:srgbClr val="00ff88">
                <a:alpha val="2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086600" y="1554480"/>
            <a:ext cx="731520" cy="7315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76200" dist="50800" dir="16200000">
              <a:srgbClr val="00ff88">
                <a:alpha val="4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708660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400" dirty="0"/>
          </a:p>
        </p:txBody>
      </p:sp>
      <p:sp>
        <p:nvSpPr>
          <p:cNvPr id="37" name="Text 34"/>
          <p:cNvSpPr/>
          <p:nvPr/>
        </p:nvSpPr>
        <p:spPr>
          <a:xfrm>
            <a:off x="626364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Refonte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263640" y="3017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Simplification, universalisation, nouveau financement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Cour des comptes, COR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</p:sp>
      <p:pic>
        <p:nvPicPr>
          <p:cNvPr id="3" name="Image 0" descr="/Users/emmanuelblezes/Documents/08_Où va l'argent /Templates/PPT/workspace/glow-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9144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D4FF"/>
          </a:solidFill>
          <a:ln/>
          <a:effectLst>
            <a:outerShdw sx="100000" sy="100000" kx="0" ky="0" algn="bl" rotWithShape="0" blurRad="127000" dist="50800" dir="16200000">
              <a:srgbClr val="00d4ff">
                <a:alpha val="5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023360" y="914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4846320" y="1005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00d4ff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i="1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Merci !</a:t>
            </a:r>
            <a:endParaRPr lang="en-US" sz="4800" dirty="0"/>
          </a:p>
        </p:txBody>
      </p:sp>
      <p:sp>
        <p:nvSpPr>
          <p:cNvPr id="22" name="Text 19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 questions ?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286000" y="320040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286000" y="32004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@ouvalargent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Sources : DREES, INSEE, Eurostat, COR, Cour des comptes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Dépense Sociale en France</dc:title>
  <dc:subject>Présentation conférence</dc:subject>
  <dc:creator>Où Va l'Argent</dc:creator>
  <cp:lastModifiedBy>Où Va l'Argent</cp:lastModifiedBy>
  <cp:revision>1</cp:revision>
  <dcterms:created xsi:type="dcterms:W3CDTF">2026-01-27T21:20:53Z</dcterms:created>
  <dcterms:modified xsi:type="dcterms:W3CDTF">2026-01-27T21:20:53Z</dcterms:modified>
</cp:coreProperties>
</file>